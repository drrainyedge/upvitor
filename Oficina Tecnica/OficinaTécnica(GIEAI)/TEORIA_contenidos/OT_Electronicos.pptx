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2"/>
  </p:notesMasterIdLst>
  <p:sldIdLst>
    <p:sldId id="424" r:id="rId2"/>
    <p:sldId id="256" r:id="rId3"/>
    <p:sldId id="257" r:id="rId4"/>
    <p:sldId id="258" r:id="rId5"/>
    <p:sldId id="259" r:id="rId6"/>
    <p:sldId id="260" r:id="rId7"/>
    <p:sldId id="261" r:id="rId8"/>
    <p:sldId id="262" r:id="rId9"/>
    <p:sldId id="263" r:id="rId10"/>
    <p:sldId id="410" r:id="rId11"/>
    <p:sldId id="425" r:id="rId12"/>
    <p:sldId id="426" r:id="rId13"/>
    <p:sldId id="427" r:id="rId14"/>
    <p:sldId id="428" r:id="rId15"/>
    <p:sldId id="429" r:id="rId16"/>
    <p:sldId id="430" r:id="rId17"/>
    <p:sldId id="431" r:id="rId18"/>
    <p:sldId id="432" r:id="rId19"/>
    <p:sldId id="433" r:id="rId20"/>
    <p:sldId id="434" r:id="rId21"/>
    <p:sldId id="562" r:id="rId22"/>
    <p:sldId id="459" r:id="rId23"/>
    <p:sldId id="435" r:id="rId24"/>
    <p:sldId id="436" r:id="rId25"/>
    <p:sldId id="437" r:id="rId26"/>
    <p:sldId id="438" r:id="rId27"/>
    <p:sldId id="439" r:id="rId28"/>
    <p:sldId id="440" r:id="rId29"/>
    <p:sldId id="441" r:id="rId30"/>
    <p:sldId id="442" r:id="rId31"/>
    <p:sldId id="443" r:id="rId32"/>
    <p:sldId id="444" r:id="rId33"/>
    <p:sldId id="445" r:id="rId34"/>
    <p:sldId id="446" r:id="rId35"/>
    <p:sldId id="447" r:id="rId36"/>
    <p:sldId id="448" r:id="rId37"/>
    <p:sldId id="449" r:id="rId38"/>
    <p:sldId id="450" r:id="rId39"/>
    <p:sldId id="451" r:id="rId40"/>
    <p:sldId id="452" r:id="rId41"/>
    <p:sldId id="453" r:id="rId42"/>
    <p:sldId id="454" r:id="rId43"/>
    <p:sldId id="455" r:id="rId44"/>
    <p:sldId id="456" r:id="rId45"/>
    <p:sldId id="295" r:id="rId46"/>
    <p:sldId id="296" r:id="rId47"/>
    <p:sldId id="297" r:id="rId48"/>
    <p:sldId id="298" r:id="rId49"/>
    <p:sldId id="299" r:id="rId50"/>
    <p:sldId id="300" r:id="rId51"/>
    <p:sldId id="301" r:id="rId52"/>
    <p:sldId id="302" r:id="rId53"/>
    <p:sldId id="303" r:id="rId54"/>
    <p:sldId id="487" r:id="rId55"/>
    <p:sldId id="304" r:id="rId56"/>
    <p:sldId id="305" r:id="rId57"/>
    <p:sldId id="411" r:id="rId58"/>
    <p:sldId id="306" r:id="rId59"/>
    <p:sldId id="307" r:id="rId60"/>
    <p:sldId id="308" r:id="rId61"/>
    <p:sldId id="309" r:id="rId62"/>
    <p:sldId id="310" r:id="rId63"/>
    <p:sldId id="311" r:id="rId64"/>
    <p:sldId id="312" r:id="rId65"/>
    <p:sldId id="313" r:id="rId66"/>
    <p:sldId id="314" r:id="rId67"/>
    <p:sldId id="315" r:id="rId68"/>
    <p:sldId id="419" r:id="rId69"/>
    <p:sldId id="319" r:id="rId70"/>
    <p:sldId id="317" r:id="rId71"/>
    <p:sldId id="318" r:id="rId72"/>
    <p:sldId id="316" r:id="rId73"/>
    <p:sldId id="320" r:id="rId74"/>
    <p:sldId id="321" r:id="rId75"/>
    <p:sldId id="322" r:id="rId76"/>
    <p:sldId id="323" r:id="rId77"/>
    <p:sldId id="324" r:id="rId78"/>
    <p:sldId id="325" r:id="rId79"/>
    <p:sldId id="326" r:id="rId80"/>
    <p:sldId id="327" r:id="rId81"/>
    <p:sldId id="328" r:id="rId82"/>
    <p:sldId id="465" r:id="rId83"/>
    <p:sldId id="329" r:id="rId84"/>
    <p:sldId id="330" r:id="rId85"/>
    <p:sldId id="331" r:id="rId86"/>
    <p:sldId id="332" r:id="rId87"/>
    <p:sldId id="333" r:id="rId88"/>
    <p:sldId id="334" r:id="rId89"/>
    <p:sldId id="335" r:id="rId90"/>
    <p:sldId id="336" r:id="rId91"/>
    <p:sldId id="337" r:id="rId92"/>
    <p:sldId id="338" r:id="rId93"/>
    <p:sldId id="420" r:id="rId94"/>
    <p:sldId id="339" r:id="rId95"/>
    <p:sldId id="340" r:id="rId96"/>
    <p:sldId id="341" r:id="rId97"/>
    <p:sldId id="342" r:id="rId98"/>
    <p:sldId id="343" r:id="rId99"/>
    <p:sldId id="344" r:id="rId100"/>
    <p:sldId id="345" r:id="rId101"/>
    <p:sldId id="346" r:id="rId102"/>
    <p:sldId id="347" r:id="rId103"/>
    <p:sldId id="458" r:id="rId104"/>
    <p:sldId id="348" r:id="rId105"/>
    <p:sldId id="466" r:id="rId106"/>
    <p:sldId id="349" r:id="rId107"/>
    <p:sldId id="467" r:id="rId108"/>
    <p:sldId id="468" r:id="rId109"/>
    <p:sldId id="469" r:id="rId110"/>
    <p:sldId id="470" r:id="rId111"/>
    <p:sldId id="471" r:id="rId112"/>
    <p:sldId id="559" r:id="rId113"/>
    <p:sldId id="560" r:id="rId114"/>
    <p:sldId id="520" r:id="rId115"/>
    <p:sldId id="521" r:id="rId116"/>
    <p:sldId id="522" r:id="rId117"/>
    <p:sldId id="561" r:id="rId118"/>
    <p:sldId id="350" r:id="rId119"/>
    <p:sldId id="351" r:id="rId120"/>
    <p:sldId id="352" r:id="rId121"/>
    <p:sldId id="472" r:id="rId122"/>
    <p:sldId id="473" r:id="rId123"/>
    <p:sldId id="474" r:id="rId124"/>
    <p:sldId id="475" r:id="rId125"/>
    <p:sldId id="421" r:id="rId126"/>
    <p:sldId id="353" r:id="rId127"/>
    <p:sldId id="354" r:id="rId128"/>
    <p:sldId id="355" r:id="rId129"/>
    <p:sldId id="356" r:id="rId130"/>
    <p:sldId id="357" r:id="rId131"/>
    <p:sldId id="476" r:id="rId132"/>
    <p:sldId id="358" r:id="rId133"/>
    <p:sldId id="485" r:id="rId134"/>
    <p:sldId id="366" r:id="rId135"/>
    <p:sldId id="360" r:id="rId136"/>
    <p:sldId id="367" r:id="rId137"/>
    <p:sldId id="362" r:id="rId138"/>
    <p:sldId id="363" r:id="rId139"/>
    <p:sldId id="364" r:id="rId140"/>
    <p:sldId id="365" r:id="rId141"/>
    <p:sldId id="368" r:id="rId142"/>
    <p:sldId id="369" r:id="rId143"/>
    <p:sldId id="370" r:id="rId144"/>
    <p:sldId id="371" r:id="rId145"/>
    <p:sldId id="372" r:id="rId146"/>
    <p:sldId id="373" r:id="rId147"/>
    <p:sldId id="374" r:id="rId148"/>
    <p:sldId id="375" r:id="rId149"/>
    <p:sldId id="422" r:id="rId150"/>
    <p:sldId id="376" r:id="rId151"/>
    <p:sldId id="377" r:id="rId152"/>
    <p:sldId id="379" r:id="rId153"/>
    <p:sldId id="380" r:id="rId154"/>
    <p:sldId id="381" r:id="rId155"/>
    <p:sldId id="382" r:id="rId156"/>
    <p:sldId id="383" r:id="rId157"/>
    <p:sldId id="384" r:id="rId158"/>
    <p:sldId id="385" r:id="rId159"/>
    <p:sldId id="386" r:id="rId160"/>
    <p:sldId id="387" r:id="rId161"/>
    <p:sldId id="388" r:id="rId162"/>
    <p:sldId id="389" r:id="rId163"/>
    <p:sldId id="390" r:id="rId164"/>
    <p:sldId id="391" r:id="rId165"/>
    <p:sldId id="392" r:id="rId166"/>
    <p:sldId id="393" r:id="rId167"/>
    <p:sldId id="394" r:id="rId168"/>
    <p:sldId id="423" r:id="rId169"/>
    <p:sldId id="395" r:id="rId170"/>
    <p:sldId id="396" r:id="rId171"/>
    <p:sldId id="397" r:id="rId172"/>
    <p:sldId id="398" r:id="rId173"/>
    <p:sldId id="399" r:id="rId174"/>
    <p:sldId id="400" r:id="rId175"/>
    <p:sldId id="401" r:id="rId176"/>
    <p:sldId id="402" r:id="rId177"/>
    <p:sldId id="403" r:id="rId178"/>
    <p:sldId id="404" r:id="rId179"/>
    <p:sldId id="405" r:id="rId180"/>
    <p:sldId id="406" r:id="rId181"/>
    <p:sldId id="407" r:id="rId182"/>
    <p:sldId id="408" r:id="rId183"/>
    <p:sldId id="477" r:id="rId184"/>
    <p:sldId id="478" r:id="rId185"/>
    <p:sldId id="479" r:id="rId186"/>
    <p:sldId id="480" r:id="rId187"/>
    <p:sldId id="481" r:id="rId188"/>
    <p:sldId id="482" r:id="rId189"/>
    <p:sldId id="483" r:id="rId190"/>
    <p:sldId id="484" r:id="rId191"/>
  </p:sldIdLst>
  <p:sldSz cx="9144000" cy="6858000" type="screen4x3"/>
  <p:notesSz cx="6858000" cy="9144000"/>
  <p:custDataLst>
    <p:tags r:id="rId193"/>
  </p:custDataLst>
  <p:defaultTextStyle>
    <a:defPPr>
      <a:defRPr lang="es-ES"/>
    </a:defPPr>
    <a:lvl1pPr algn="l" rtl="0" eaLnBrk="0" fontAlgn="base" hangingPunct="0">
      <a:spcBef>
        <a:spcPct val="0"/>
      </a:spcBef>
      <a:spcAft>
        <a:spcPct val="0"/>
      </a:spcAft>
      <a:defRPr kern="1200">
        <a:solidFill>
          <a:schemeClr val="tx1"/>
        </a:solidFill>
        <a:latin typeface="Gill Sans MT" panose="020B0502020104020203" pitchFamily="34" charset="77"/>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Gill Sans MT" panose="020B0502020104020203" pitchFamily="34" charset="77"/>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Gill Sans MT" panose="020B0502020104020203" pitchFamily="34" charset="77"/>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Gill Sans MT" panose="020B0502020104020203" pitchFamily="34" charset="77"/>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Gill Sans MT" panose="020B0502020104020203" pitchFamily="34" charset="77"/>
        <a:ea typeface="ＭＳ Ｐゴシック" panose="020B0600070205080204" pitchFamily="34" charset="-128"/>
        <a:cs typeface="+mn-cs"/>
      </a:defRPr>
    </a:lvl5pPr>
    <a:lvl6pPr marL="2286000" algn="l" defTabSz="914400" rtl="0" eaLnBrk="1" latinLnBrk="0" hangingPunct="1">
      <a:defRPr kern="1200">
        <a:solidFill>
          <a:schemeClr val="tx1"/>
        </a:solidFill>
        <a:latin typeface="Gill Sans MT" panose="020B0502020104020203" pitchFamily="34" charset="77"/>
        <a:ea typeface="ＭＳ Ｐゴシック" panose="020B0600070205080204" pitchFamily="34" charset="-128"/>
        <a:cs typeface="+mn-cs"/>
      </a:defRPr>
    </a:lvl6pPr>
    <a:lvl7pPr marL="2743200" algn="l" defTabSz="914400" rtl="0" eaLnBrk="1" latinLnBrk="0" hangingPunct="1">
      <a:defRPr kern="1200">
        <a:solidFill>
          <a:schemeClr val="tx1"/>
        </a:solidFill>
        <a:latin typeface="Gill Sans MT" panose="020B0502020104020203" pitchFamily="34" charset="77"/>
        <a:ea typeface="ＭＳ Ｐゴシック" panose="020B0600070205080204" pitchFamily="34" charset="-128"/>
        <a:cs typeface="+mn-cs"/>
      </a:defRPr>
    </a:lvl7pPr>
    <a:lvl8pPr marL="3200400" algn="l" defTabSz="914400" rtl="0" eaLnBrk="1" latinLnBrk="0" hangingPunct="1">
      <a:defRPr kern="1200">
        <a:solidFill>
          <a:schemeClr val="tx1"/>
        </a:solidFill>
        <a:latin typeface="Gill Sans MT" panose="020B0502020104020203" pitchFamily="34" charset="77"/>
        <a:ea typeface="ＭＳ Ｐゴシック" panose="020B0600070205080204" pitchFamily="34" charset="-128"/>
        <a:cs typeface="+mn-cs"/>
      </a:defRPr>
    </a:lvl8pPr>
    <a:lvl9pPr marL="3657600" algn="l" defTabSz="914400" rtl="0" eaLnBrk="1" latinLnBrk="0" hangingPunct="1">
      <a:defRPr kern="1200">
        <a:solidFill>
          <a:schemeClr val="tx1"/>
        </a:solidFill>
        <a:latin typeface="Gill Sans MT" panose="020B0502020104020203" pitchFamily="34" charset="77"/>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B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19"/>
    <p:restoredTop sz="93688"/>
  </p:normalViewPr>
  <p:slideViewPr>
    <p:cSldViewPr>
      <p:cViewPr varScale="1">
        <p:scale>
          <a:sx n="110" d="100"/>
          <a:sy n="110" d="100"/>
        </p:scale>
        <p:origin x="728" y="176"/>
      </p:cViewPr>
      <p:guideLst>
        <p:guide orient="horz" pos="2160"/>
        <p:guide pos="2880"/>
      </p:guideLst>
    </p:cSldViewPr>
  </p:slideViewPr>
  <p:outlineViewPr>
    <p:cViewPr>
      <p:scale>
        <a:sx n="33" d="100"/>
        <a:sy n="33" d="100"/>
      </p:scale>
      <p:origin x="0" y="-170552"/>
    </p:cViewPr>
  </p:outlineViewPr>
  <p:notesTextViewPr>
    <p:cViewPr>
      <p:scale>
        <a:sx n="1" d="1"/>
        <a:sy n="1" d="1"/>
      </p:scale>
      <p:origin x="0" y="0"/>
    </p:cViewPr>
  </p:notesTextViewPr>
  <p:sorterViewPr>
    <p:cViewPr>
      <p:scale>
        <a:sx n="24" d="100"/>
        <a:sy n="24"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tags" Target="tags/tag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viewProps" Target="view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263E41C-51A1-E84F-90F5-B0C6E326EC9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Marcador de fecha 2">
            <a:extLst>
              <a:ext uri="{FF2B5EF4-FFF2-40B4-BE49-F238E27FC236}">
                <a16:creationId xmlns:a16="http://schemas.microsoft.com/office/drawing/2014/main" id="{9FE86DCF-6B60-E447-993D-A24AD16627D2}"/>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91DFC225-47EA-694B-BF0B-CF0A7C17B352}" type="datetimeFigureOut">
              <a:rPr lang="es-ES" altLang="es-ES"/>
              <a:pPr>
                <a:defRPr/>
              </a:pPr>
              <a:t>25/11/24</a:t>
            </a:fld>
            <a:endParaRPr lang="en-US" altLang="es-ES"/>
          </a:p>
        </p:txBody>
      </p:sp>
      <p:sp>
        <p:nvSpPr>
          <p:cNvPr id="4" name="Marcador de imagen de diapositiva 3">
            <a:extLst>
              <a:ext uri="{FF2B5EF4-FFF2-40B4-BE49-F238E27FC236}">
                <a16:creationId xmlns:a16="http://schemas.microsoft.com/office/drawing/2014/main" id="{2AB6C78E-157C-A447-9242-FB15D0893B9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Marcador de notas 4">
            <a:extLst>
              <a:ext uri="{FF2B5EF4-FFF2-40B4-BE49-F238E27FC236}">
                <a16:creationId xmlns:a16="http://schemas.microsoft.com/office/drawing/2014/main" id="{C621DBDE-E209-B041-B553-9A1EC105C1BE}"/>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s-ES_tradnl" altLang="es-ES" noProof="0"/>
              <a:t>Haga clic para modificar el estilo de texto del patrón</a:t>
            </a:r>
          </a:p>
          <a:p>
            <a:pPr lvl="1"/>
            <a:r>
              <a:rPr lang="es-ES_tradnl" altLang="es-ES" noProof="0"/>
              <a:t>Segundo nivel</a:t>
            </a:r>
          </a:p>
          <a:p>
            <a:pPr lvl="2"/>
            <a:r>
              <a:rPr lang="es-ES_tradnl" altLang="es-ES" noProof="0"/>
              <a:t>Tercer nivel</a:t>
            </a:r>
          </a:p>
          <a:p>
            <a:pPr lvl="3"/>
            <a:r>
              <a:rPr lang="es-ES_tradnl" altLang="es-ES" noProof="0"/>
              <a:t>Cuarto nivel</a:t>
            </a:r>
          </a:p>
          <a:p>
            <a:pPr lvl="4"/>
            <a:r>
              <a:rPr lang="es-ES_tradnl" altLang="es-ES" noProof="0"/>
              <a:t>Quinto nivel</a:t>
            </a:r>
            <a:endParaRPr lang="en-US" altLang="es-ES" noProof="0"/>
          </a:p>
        </p:txBody>
      </p:sp>
      <p:sp>
        <p:nvSpPr>
          <p:cNvPr id="6" name="Marcador de pie de página 5">
            <a:extLst>
              <a:ext uri="{FF2B5EF4-FFF2-40B4-BE49-F238E27FC236}">
                <a16:creationId xmlns:a16="http://schemas.microsoft.com/office/drawing/2014/main" id="{B62FD8F6-DC14-A045-ABB9-DF3E9861B8D6}"/>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Marcador de número de diapositiva 6">
            <a:extLst>
              <a:ext uri="{FF2B5EF4-FFF2-40B4-BE49-F238E27FC236}">
                <a16:creationId xmlns:a16="http://schemas.microsoft.com/office/drawing/2014/main" id="{6E6094F5-6B7E-6349-ABC2-34D9C531C2F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EAA75206-11E5-6C46-88B6-A7FD8291FCB8}" type="slidenum">
              <a:rPr lang="en-US" altLang="es-ES"/>
              <a:pPr>
                <a:defRPr/>
              </a:pPr>
              <a:t>‹Nº›</a:t>
            </a:fld>
            <a:endParaRPr lang="en-US" altLang="es-E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a:defRPr/>
            </a:pPr>
            <a:fld id="{EAA75206-11E5-6C46-88B6-A7FD8291FCB8}" type="slidenum">
              <a:rPr lang="en-US" altLang="es-ES" smtClean="0"/>
              <a:pPr>
                <a:defRPr/>
              </a:pPr>
              <a:t>13</a:t>
            </a:fld>
            <a:endParaRPr lang="en-US" altLang="es-ES"/>
          </a:p>
        </p:txBody>
      </p:sp>
    </p:spTree>
    <p:extLst>
      <p:ext uri="{BB962C8B-B14F-4D97-AF65-F5344CB8AC3E}">
        <p14:creationId xmlns:p14="http://schemas.microsoft.com/office/powerpoint/2010/main" val="2109104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a:defRPr/>
            </a:pPr>
            <a:fld id="{EAA75206-11E5-6C46-88B6-A7FD8291FCB8}" type="slidenum">
              <a:rPr lang="en-US" altLang="es-ES" smtClean="0"/>
              <a:pPr>
                <a:defRPr/>
              </a:pPr>
              <a:t>16</a:t>
            </a:fld>
            <a:endParaRPr lang="en-US" altLang="es-ES"/>
          </a:p>
        </p:txBody>
      </p:sp>
    </p:spTree>
    <p:extLst>
      <p:ext uri="{BB962C8B-B14F-4D97-AF65-F5344CB8AC3E}">
        <p14:creationId xmlns:p14="http://schemas.microsoft.com/office/powerpoint/2010/main" val="1922245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Marcador de imagen de diapositiva 1">
            <a:extLst>
              <a:ext uri="{FF2B5EF4-FFF2-40B4-BE49-F238E27FC236}">
                <a16:creationId xmlns:a16="http://schemas.microsoft.com/office/drawing/2014/main" id="{0A91069E-4B6C-9749-9F70-FC71CF3727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0" name="Marcador de notas 2">
            <a:extLst>
              <a:ext uri="{FF2B5EF4-FFF2-40B4-BE49-F238E27FC236}">
                <a16:creationId xmlns:a16="http://schemas.microsoft.com/office/drawing/2014/main" id="{4AC65FFD-4CE8-AE40-8825-E013599F96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s-ES">
              <a:ea typeface="ＭＳ Ｐゴシック" panose="020B0600070205080204" pitchFamily="34" charset="-128"/>
            </a:endParaRPr>
          </a:p>
        </p:txBody>
      </p:sp>
      <p:sp>
        <p:nvSpPr>
          <p:cNvPr id="89091" name="Marcador de número de diapositiva 3">
            <a:extLst>
              <a:ext uri="{FF2B5EF4-FFF2-40B4-BE49-F238E27FC236}">
                <a16:creationId xmlns:a16="http://schemas.microsoft.com/office/drawing/2014/main" id="{4336F532-91FD-4746-9AF1-1530B3D7C24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15F09DB2-3C18-404B-BECF-9418E47FB863}" type="slidenum">
              <a:rPr lang="en-US" altLang="es-ES"/>
              <a:pPr>
                <a:spcBef>
                  <a:spcPct val="0"/>
                </a:spcBef>
              </a:pPr>
              <a:t>70</a:t>
            </a:fld>
            <a:endParaRPr lang="en-US" alt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7 Elipse">
            <a:extLst>
              <a:ext uri="{FF2B5EF4-FFF2-40B4-BE49-F238E27FC236}">
                <a16:creationId xmlns:a16="http://schemas.microsoft.com/office/drawing/2014/main" id="{E9E6E762-C0CC-4941-87E5-53559BB6DD73}"/>
              </a:ext>
            </a:extLst>
          </p:cNvPr>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5" name="8 Elipse">
            <a:extLst>
              <a:ext uri="{FF2B5EF4-FFF2-40B4-BE49-F238E27FC236}">
                <a16:creationId xmlns:a16="http://schemas.microsoft.com/office/drawing/2014/main" id="{D48CE458-A596-A444-9300-52FD52C91F7D}"/>
              </a:ext>
            </a:extLst>
          </p:cNvPr>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14" name="13 Título"/>
          <p:cNvSpPr>
            <a:spLocks noGrp="1"/>
          </p:cNvSpPr>
          <p:nvPr>
            <p:ph type="ctrTitle"/>
          </p:nvPr>
        </p:nvSpPr>
        <p:spPr>
          <a:xfrm>
            <a:off x="1432560" y="359898"/>
            <a:ext cx="7406640" cy="1472184"/>
          </a:xfrm>
        </p:spPr>
        <p:txBody>
          <a:bodyPr anchor="b"/>
          <a:lstStyle>
            <a:lvl1pPr algn="l">
              <a:defRPr/>
            </a:lvl1pPr>
            <a:extLst/>
          </a:lstStyle>
          <a:p>
            <a:r>
              <a:rPr lang="es-ES"/>
              <a:t>Haga clic para modificar el estilo de título del patrón</a:t>
            </a:r>
            <a:endParaRPr lang="en-US"/>
          </a:p>
        </p:txBody>
      </p:sp>
      <p:sp>
        <p:nvSpPr>
          <p:cNvPr id="22" name="21 Subtítulo"/>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s-ES"/>
              <a:t>Haga clic para modificar el estilo de subtítulo del patrón</a:t>
            </a:r>
            <a:endParaRPr lang="en-US"/>
          </a:p>
        </p:txBody>
      </p:sp>
      <p:sp>
        <p:nvSpPr>
          <p:cNvPr id="6" name="6 Marcador de fecha">
            <a:extLst>
              <a:ext uri="{FF2B5EF4-FFF2-40B4-BE49-F238E27FC236}">
                <a16:creationId xmlns:a16="http://schemas.microsoft.com/office/drawing/2014/main" id="{0491079E-53F4-E342-9CB4-7F8891B8C12F}"/>
              </a:ext>
            </a:extLst>
          </p:cNvPr>
          <p:cNvSpPr>
            <a:spLocks noGrp="1"/>
          </p:cNvSpPr>
          <p:nvPr>
            <p:ph type="dt" sz="half" idx="10"/>
          </p:nvPr>
        </p:nvSpPr>
        <p:spPr/>
        <p:txBody>
          <a:bodyPr/>
          <a:lstStyle>
            <a:lvl1pPr>
              <a:defRPr smtClean="0"/>
            </a:lvl1pPr>
          </a:lstStyle>
          <a:p>
            <a:pPr>
              <a:defRPr/>
            </a:pPr>
            <a:fld id="{523F2D5A-6EE1-3C4F-B2E6-F3345C37EC7E}" type="datetimeFigureOut">
              <a:rPr lang="es-ES" altLang="es-ES"/>
              <a:pPr>
                <a:defRPr/>
              </a:pPr>
              <a:t>25/11/24</a:t>
            </a:fld>
            <a:endParaRPr lang="es-ES" altLang="es-ES"/>
          </a:p>
        </p:txBody>
      </p:sp>
      <p:sp>
        <p:nvSpPr>
          <p:cNvPr id="7" name="19 Marcador de pie de página">
            <a:extLst>
              <a:ext uri="{FF2B5EF4-FFF2-40B4-BE49-F238E27FC236}">
                <a16:creationId xmlns:a16="http://schemas.microsoft.com/office/drawing/2014/main" id="{2EBAA525-17D2-724F-94F6-C85FC5ACF2D3}"/>
              </a:ext>
            </a:extLst>
          </p:cNvPr>
          <p:cNvSpPr>
            <a:spLocks noGrp="1"/>
          </p:cNvSpPr>
          <p:nvPr>
            <p:ph type="ftr" sz="quarter" idx="11"/>
          </p:nvPr>
        </p:nvSpPr>
        <p:spPr/>
        <p:txBody>
          <a:bodyPr/>
          <a:lstStyle>
            <a:lvl1pPr>
              <a:defRPr/>
            </a:lvl1pPr>
            <a:extLst/>
          </a:lstStyle>
          <a:p>
            <a:pPr>
              <a:defRPr/>
            </a:pPr>
            <a:endParaRPr lang="es-ES"/>
          </a:p>
        </p:txBody>
      </p:sp>
      <p:sp>
        <p:nvSpPr>
          <p:cNvPr id="8" name="9 Marcador de número de diapositiva">
            <a:extLst>
              <a:ext uri="{FF2B5EF4-FFF2-40B4-BE49-F238E27FC236}">
                <a16:creationId xmlns:a16="http://schemas.microsoft.com/office/drawing/2014/main" id="{39217524-46DD-1E43-9B72-FD008519C6FA}"/>
              </a:ext>
            </a:extLst>
          </p:cNvPr>
          <p:cNvSpPr>
            <a:spLocks noGrp="1"/>
          </p:cNvSpPr>
          <p:nvPr>
            <p:ph type="sldNum" sz="quarter" idx="12"/>
          </p:nvPr>
        </p:nvSpPr>
        <p:spPr/>
        <p:txBody>
          <a:bodyPr/>
          <a:lstStyle>
            <a:lvl1pPr>
              <a:defRPr smtClean="0"/>
            </a:lvl1pPr>
          </a:lstStyle>
          <a:p>
            <a:pPr>
              <a:defRPr/>
            </a:pPr>
            <a:fld id="{BDDAA080-6372-0345-B801-B5AE1A63EAE4}" type="slidenum">
              <a:rPr lang="es-ES" altLang="es-ES"/>
              <a:pPr>
                <a:defRPr/>
              </a:pPr>
              <a:t>‹Nº›</a:t>
            </a:fld>
            <a:endParaRPr lang="es-ES" altLang="es-ES"/>
          </a:p>
        </p:txBody>
      </p:sp>
    </p:spTree>
    <p:extLst>
      <p:ext uri="{BB962C8B-B14F-4D97-AF65-F5344CB8AC3E}">
        <p14:creationId xmlns:p14="http://schemas.microsoft.com/office/powerpoint/2010/main" val="3539692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23 Marcador de fecha">
            <a:extLst>
              <a:ext uri="{FF2B5EF4-FFF2-40B4-BE49-F238E27FC236}">
                <a16:creationId xmlns:a16="http://schemas.microsoft.com/office/drawing/2014/main" id="{48674CF2-E3E9-F449-803A-0F6825E167F1}"/>
              </a:ext>
            </a:extLst>
          </p:cNvPr>
          <p:cNvSpPr>
            <a:spLocks noGrp="1"/>
          </p:cNvSpPr>
          <p:nvPr>
            <p:ph type="dt" sz="half" idx="10"/>
          </p:nvPr>
        </p:nvSpPr>
        <p:spPr/>
        <p:txBody>
          <a:bodyPr/>
          <a:lstStyle>
            <a:lvl1pPr>
              <a:defRPr/>
            </a:lvl1pPr>
          </a:lstStyle>
          <a:p>
            <a:pPr>
              <a:defRPr/>
            </a:pPr>
            <a:fld id="{6BEC6492-9B63-934A-A312-4F570B648A80}" type="datetimeFigureOut">
              <a:rPr lang="es-ES" altLang="es-ES"/>
              <a:pPr>
                <a:defRPr/>
              </a:pPr>
              <a:t>25/11/24</a:t>
            </a:fld>
            <a:endParaRPr lang="es-ES" altLang="es-ES"/>
          </a:p>
        </p:txBody>
      </p:sp>
      <p:sp>
        <p:nvSpPr>
          <p:cNvPr id="5" name="9 Marcador de pie de página">
            <a:extLst>
              <a:ext uri="{FF2B5EF4-FFF2-40B4-BE49-F238E27FC236}">
                <a16:creationId xmlns:a16="http://schemas.microsoft.com/office/drawing/2014/main" id="{851A63C8-20AD-854C-B851-1F768898B0DC}"/>
              </a:ext>
            </a:extLst>
          </p:cNvPr>
          <p:cNvSpPr>
            <a:spLocks noGrp="1"/>
          </p:cNvSpPr>
          <p:nvPr>
            <p:ph type="ftr" sz="quarter" idx="11"/>
          </p:nvPr>
        </p:nvSpPr>
        <p:spPr/>
        <p:txBody>
          <a:bodyPr/>
          <a:lstStyle>
            <a:lvl1pPr>
              <a:defRPr/>
            </a:lvl1pPr>
          </a:lstStyle>
          <a:p>
            <a:pPr>
              <a:defRPr/>
            </a:pPr>
            <a:endParaRPr lang="es-ES"/>
          </a:p>
        </p:txBody>
      </p:sp>
      <p:sp>
        <p:nvSpPr>
          <p:cNvPr id="6" name="21 Marcador de número de diapositiva">
            <a:extLst>
              <a:ext uri="{FF2B5EF4-FFF2-40B4-BE49-F238E27FC236}">
                <a16:creationId xmlns:a16="http://schemas.microsoft.com/office/drawing/2014/main" id="{7596AADF-B3B2-874A-8C72-C7140B48FC17}"/>
              </a:ext>
            </a:extLst>
          </p:cNvPr>
          <p:cNvSpPr>
            <a:spLocks noGrp="1"/>
          </p:cNvSpPr>
          <p:nvPr>
            <p:ph type="sldNum" sz="quarter" idx="12"/>
          </p:nvPr>
        </p:nvSpPr>
        <p:spPr/>
        <p:txBody>
          <a:bodyPr/>
          <a:lstStyle>
            <a:lvl1pPr>
              <a:defRPr/>
            </a:lvl1pPr>
          </a:lstStyle>
          <a:p>
            <a:pPr>
              <a:defRPr/>
            </a:pPr>
            <a:fld id="{D1D84C90-895A-5047-8F0F-6F4C01ECC270}" type="slidenum">
              <a:rPr lang="es-ES" altLang="es-ES"/>
              <a:pPr>
                <a:defRPr/>
              </a:pPr>
              <a:t>‹Nº›</a:t>
            </a:fld>
            <a:endParaRPr lang="es-ES" altLang="es-ES"/>
          </a:p>
        </p:txBody>
      </p:sp>
    </p:spTree>
    <p:extLst>
      <p:ext uri="{BB962C8B-B14F-4D97-AF65-F5344CB8AC3E}">
        <p14:creationId xmlns:p14="http://schemas.microsoft.com/office/powerpoint/2010/main" val="3068000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4" name="6 Rectángulo">
            <a:extLst>
              <a:ext uri="{FF2B5EF4-FFF2-40B4-BE49-F238E27FC236}">
                <a16:creationId xmlns:a16="http://schemas.microsoft.com/office/drawing/2014/main" id="{9A26F112-E334-7C4A-A8F2-6BA87C456072}"/>
              </a:ext>
            </a:extLst>
          </p:cNvPr>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9 Rectángulo">
            <a:extLst>
              <a:ext uri="{FF2B5EF4-FFF2-40B4-BE49-F238E27FC236}">
                <a16:creationId xmlns:a16="http://schemas.microsoft.com/office/drawing/2014/main" id="{EE4B768A-5EC7-F441-B0E5-5960D6F60889}"/>
              </a:ext>
            </a:extLst>
          </p:cNvPr>
          <p:cNvSpPr>
            <a:spLocks noChangeArrowheads="1"/>
          </p:cNvSpPr>
          <p:nvPr/>
        </p:nvSpPr>
        <p:spPr bwMode="invGray">
          <a:xfrm>
            <a:off x="2286000" y="0"/>
            <a:ext cx="76200" cy="6858000"/>
          </a:xfrm>
          <a:prstGeom prst="rect">
            <a:avLst/>
          </a:prstGeom>
          <a:solidFill>
            <a:schemeClr val="bg1"/>
          </a:solidFill>
          <a:ln>
            <a:noFill/>
          </a:ln>
          <a:effectLst>
            <a:outerShdw blurRad="38550" dist="38000" dir="10800000" algn="tl" rotWithShape="0">
              <a:srgbClr val="706B5F">
                <a:alpha val="25000"/>
              </a:srgbClr>
            </a:outerShdw>
          </a:effectLst>
          <a:extLst>
            <a:ext uri="{91240B29-F687-4F45-9708-019B960494DF}">
              <a14:hiddenLine xmlns:a14="http://schemas.microsoft.com/office/drawing/2010/main" w="25400" cap="rnd">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6" name="7 Elipse">
            <a:extLst>
              <a:ext uri="{FF2B5EF4-FFF2-40B4-BE49-F238E27FC236}">
                <a16:creationId xmlns:a16="http://schemas.microsoft.com/office/drawing/2014/main" id="{1777D253-497D-E548-988B-153F52D3A912}"/>
              </a:ext>
            </a:extLst>
          </p:cNvPr>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7" name="8 Elipse">
            <a:extLst>
              <a:ext uri="{FF2B5EF4-FFF2-40B4-BE49-F238E27FC236}">
                <a16:creationId xmlns:a16="http://schemas.microsoft.com/office/drawing/2014/main" id="{90BB0699-791F-8E42-AE6B-262C2E81F1B1}"/>
              </a:ext>
            </a:extLst>
          </p:cNvPr>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2" name="1 Título"/>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s-ES"/>
              <a:t>Haga clic para modificar el estilo de título del patrón</a:t>
            </a:r>
            <a:endParaRPr lang="en-US"/>
          </a:p>
        </p:txBody>
      </p:sp>
      <p:sp>
        <p:nvSpPr>
          <p:cNvPr id="3" name="2 Marcador de texto"/>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s-ES"/>
              <a:t>Haga clic para modificar el estilo de texto del patrón</a:t>
            </a:r>
          </a:p>
        </p:txBody>
      </p:sp>
      <p:sp>
        <p:nvSpPr>
          <p:cNvPr id="8" name="3 Marcador de fecha">
            <a:extLst>
              <a:ext uri="{FF2B5EF4-FFF2-40B4-BE49-F238E27FC236}">
                <a16:creationId xmlns:a16="http://schemas.microsoft.com/office/drawing/2014/main" id="{0748EAC2-5285-124E-9212-7D57072FB1C7}"/>
              </a:ext>
            </a:extLst>
          </p:cNvPr>
          <p:cNvSpPr>
            <a:spLocks noGrp="1"/>
          </p:cNvSpPr>
          <p:nvPr>
            <p:ph type="dt" sz="half" idx="10"/>
          </p:nvPr>
        </p:nvSpPr>
        <p:spPr/>
        <p:txBody>
          <a:bodyPr/>
          <a:lstStyle>
            <a:lvl1pPr>
              <a:defRPr smtClean="0"/>
            </a:lvl1pPr>
          </a:lstStyle>
          <a:p>
            <a:pPr>
              <a:defRPr/>
            </a:pPr>
            <a:fld id="{EF73EC2E-A4DC-964D-ABC6-4EE001BF88E0}" type="datetimeFigureOut">
              <a:rPr lang="es-ES" altLang="es-ES"/>
              <a:pPr>
                <a:defRPr/>
              </a:pPr>
              <a:t>25/11/24</a:t>
            </a:fld>
            <a:endParaRPr lang="es-ES" altLang="es-ES"/>
          </a:p>
        </p:txBody>
      </p:sp>
      <p:sp>
        <p:nvSpPr>
          <p:cNvPr id="9" name="4 Marcador de pie de página">
            <a:extLst>
              <a:ext uri="{FF2B5EF4-FFF2-40B4-BE49-F238E27FC236}">
                <a16:creationId xmlns:a16="http://schemas.microsoft.com/office/drawing/2014/main" id="{817EF5D8-EEE2-134E-8735-82EE15F1DFD1}"/>
              </a:ext>
            </a:extLst>
          </p:cNvPr>
          <p:cNvSpPr>
            <a:spLocks noGrp="1"/>
          </p:cNvSpPr>
          <p:nvPr>
            <p:ph type="ftr" sz="quarter" idx="11"/>
          </p:nvPr>
        </p:nvSpPr>
        <p:spPr/>
        <p:txBody>
          <a:bodyPr/>
          <a:lstStyle>
            <a:lvl1pPr>
              <a:defRPr/>
            </a:lvl1pPr>
            <a:extLst/>
          </a:lstStyle>
          <a:p>
            <a:pPr>
              <a:defRPr/>
            </a:pPr>
            <a:endParaRPr lang="es-ES"/>
          </a:p>
        </p:txBody>
      </p:sp>
      <p:sp>
        <p:nvSpPr>
          <p:cNvPr id="10" name="5 Marcador de número de diapositiva">
            <a:extLst>
              <a:ext uri="{FF2B5EF4-FFF2-40B4-BE49-F238E27FC236}">
                <a16:creationId xmlns:a16="http://schemas.microsoft.com/office/drawing/2014/main" id="{1E6E2FAA-6FE4-4045-9625-2836CCD0C377}"/>
              </a:ext>
            </a:extLst>
          </p:cNvPr>
          <p:cNvSpPr>
            <a:spLocks noGrp="1"/>
          </p:cNvSpPr>
          <p:nvPr>
            <p:ph type="sldNum" sz="quarter" idx="12"/>
          </p:nvPr>
        </p:nvSpPr>
        <p:spPr/>
        <p:txBody>
          <a:bodyPr/>
          <a:lstStyle>
            <a:lvl1pPr>
              <a:defRPr smtClean="0"/>
            </a:lvl1pPr>
          </a:lstStyle>
          <a:p>
            <a:pPr>
              <a:defRPr/>
            </a:pPr>
            <a:fld id="{ECF4CC81-1566-2F4A-8AB9-CFE94E6226E9}" type="slidenum">
              <a:rPr lang="es-ES" altLang="es-ES"/>
              <a:pPr>
                <a:defRPr/>
              </a:pPr>
              <a:t>‹Nº›</a:t>
            </a:fld>
            <a:endParaRPr lang="es-ES" altLang="es-ES"/>
          </a:p>
        </p:txBody>
      </p:sp>
    </p:spTree>
    <p:extLst>
      <p:ext uri="{BB962C8B-B14F-4D97-AF65-F5344CB8AC3E}">
        <p14:creationId xmlns:p14="http://schemas.microsoft.com/office/powerpoint/2010/main" val="4277538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1435608" y="274320"/>
            <a:ext cx="7498080" cy="1143000"/>
          </a:xfrm>
        </p:spPr>
        <p:txBody>
          <a:bodyPr/>
          <a:lstStyle/>
          <a:p>
            <a:r>
              <a:rPr lang="es-ES"/>
              <a:t>Haga clic para modificar el estilo de título del patrón</a:t>
            </a:r>
            <a:endParaRPr lang="en-US"/>
          </a:p>
        </p:txBody>
      </p:sp>
      <p:sp>
        <p:nvSpPr>
          <p:cNvPr id="3" name="2 Marcador de contenido"/>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contenido"/>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23 Marcador de fecha">
            <a:extLst>
              <a:ext uri="{FF2B5EF4-FFF2-40B4-BE49-F238E27FC236}">
                <a16:creationId xmlns:a16="http://schemas.microsoft.com/office/drawing/2014/main" id="{5A5B59F1-F1E3-1344-A633-ACCC59A13393}"/>
              </a:ext>
            </a:extLst>
          </p:cNvPr>
          <p:cNvSpPr>
            <a:spLocks noGrp="1"/>
          </p:cNvSpPr>
          <p:nvPr>
            <p:ph type="dt" sz="half" idx="10"/>
          </p:nvPr>
        </p:nvSpPr>
        <p:spPr/>
        <p:txBody>
          <a:bodyPr/>
          <a:lstStyle>
            <a:lvl1pPr>
              <a:defRPr/>
            </a:lvl1pPr>
          </a:lstStyle>
          <a:p>
            <a:pPr>
              <a:defRPr/>
            </a:pPr>
            <a:fld id="{35604B7B-709C-0144-886B-188C77DF6B4F}" type="datetimeFigureOut">
              <a:rPr lang="es-ES" altLang="es-ES"/>
              <a:pPr>
                <a:defRPr/>
              </a:pPr>
              <a:t>25/11/24</a:t>
            </a:fld>
            <a:endParaRPr lang="es-ES" altLang="es-ES"/>
          </a:p>
        </p:txBody>
      </p:sp>
      <p:sp>
        <p:nvSpPr>
          <p:cNvPr id="6" name="9 Marcador de pie de página">
            <a:extLst>
              <a:ext uri="{FF2B5EF4-FFF2-40B4-BE49-F238E27FC236}">
                <a16:creationId xmlns:a16="http://schemas.microsoft.com/office/drawing/2014/main" id="{64EEF2C0-0FE4-D04A-8BD1-53438DA90232}"/>
              </a:ext>
            </a:extLst>
          </p:cNvPr>
          <p:cNvSpPr>
            <a:spLocks noGrp="1"/>
          </p:cNvSpPr>
          <p:nvPr>
            <p:ph type="ftr" sz="quarter" idx="11"/>
          </p:nvPr>
        </p:nvSpPr>
        <p:spPr/>
        <p:txBody>
          <a:bodyPr/>
          <a:lstStyle>
            <a:lvl1pPr>
              <a:defRPr/>
            </a:lvl1pPr>
          </a:lstStyle>
          <a:p>
            <a:pPr>
              <a:defRPr/>
            </a:pPr>
            <a:endParaRPr lang="es-ES"/>
          </a:p>
        </p:txBody>
      </p:sp>
      <p:sp>
        <p:nvSpPr>
          <p:cNvPr id="7" name="21 Marcador de número de diapositiva">
            <a:extLst>
              <a:ext uri="{FF2B5EF4-FFF2-40B4-BE49-F238E27FC236}">
                <a16:creationId xmlns:a16="http://schemas.microsoft.com/office/drawing/2014/main" id="{1A384D27-843A-2748-B24C-A61BC34506D7}"/>
              </a:ext>
            </a:extLst>
          </p:cNvPr>
          <p:cNvSpPr>
            <a:spLocks noGrp="1"/>
          </p:cNvSpPr>
          <p:nvPr>
            <p:ph type="sldNum" sz="quarter" idx="12"/>
          </p:nvPr>
        </p:nvSpPr>
        <p:spPr/>
        <p:txBody>
          <a:bodyPr/>
          <a:lstStyle>
            <a:lvl1pPr>
              <a:defRPr/>
            </a:lvl1pPr>
          </a:lstStyle>
          <a:p>
            <a:pPr>
              <a:defRPr/>
            </a:pPr>
            <a:fld id="{8B0773E5-AFA9-314F-B95B-05E2FA3AB02B}" type="slidenum">
              <a:rPr lang="es-ES" altLang="es-ES"/>
              <a:pPr>
                <a:defRPr/>
              </a:pPr>
              <a:t>‹Nº›</a:t>
            </a:fld>
            <a:endParaRPr lang="es-ES" altLang="es-ES"/>
          </a:p>
        </p:txBody>
      </p:sp>
    </p:spTree>
    <p:extLst>
      <p:ext uri="{BB962C8B-B14F-4D97-AF65-F5344CB8AC3E}">
        <p14:creationId xmlns:p14="http://schemas.microsoft.com/office/powerpoint/2010/main" val="2382849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5160336"/>
            <a:ext cx="8229600" cy="1143000"/>
          </a:xfrm>
        </p:spPr>
        <p:txBody>
          <a:bodyPr/>
          <a:lstStyle>
            <a:lvl1pPr algn="ctr">
              <a:defRPr sz="4500" b="1" cap="none" baseline="0"/>
            </a:lvl1pPr>
            <a:extLst/>
          </a:lstStyle>
          <a:p>
            <a:r>
              <a:rPr lang="es-ES"/>
              <a:t>Haga clic para modificar el estilo de título del patrón</a:t>
            </a:r>
            <a:endParaRPr lang="en-US"/>
          </a:p>
        </p:txBody>
      </p:sp>
      <p:sp>
        <p:nvSpPr>
          <p:cNvPr id="3" name="2 Marcador de texto"/>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s-ES"/>
              <a:t>Haga clic para modificar el estilo de texto del patrón</a:t>
            </a:r>
          </a:p>
        </p:txBody>
      </p:sp>
      <p:sp>
        <p:nvSpPr>
          <p:cNvPr id="4" name="3 Marcador de texto"/>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s-ES"/>
              <a:t>Haga clic para modificar el estilo de texto del patrón</a:t>
            </a:r>
          </a:p>
        </p:txBody>
      </p:sp>
      <p:sp>
        <p:nvSpPr>
          <p:cNvPr id="5" name="4 Marcador de contenido"/>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5 Marcador de contenido"/>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6 Marcador de fecha">
            <a:extLst>
              <a:ext uri="{FF2B5EF4-FFF2-40B4-BE49-F238E27FC236}">
                <a16:creationId xmlns:a16="http://schemas.microsoft.com/office/drawing/2014/main" id="{FDA3FABE-4E72-3548-9C58-48CA0B0E5C32}"/>
              </a:ext>
            </a:extLst>
          </p:cNvPr>
          <p:cNvSpPr>
            <a:spLocks noGrp="1"/>
          </p:cNvSpPr>
          <p:nvPr>
            <p:ph type="dt" sz="half" idx="10"/>
          </p:nvPr>
        </p:nvSpPr>
        <p:spPr/>
        <p:txBody>
          <a:bodyPr/>
          <a:lstStyle>
            <a:lvl1pPr>
              <a:defRPr smtClean="0"/>
            </a:lvl1pPr>
          </a:lstStyle>
          <a:p>
            <a:pPr>
              <a:defRPr/>
            </a:pPr>
            <a:fld id="{051775D8-11D8-0C4D-80DB-DE6A6D288E51}" type="datetimeFigureOut">
              <a:rPr lang="es-ES" altLang="es-ES"/>
              <a:pPr>
                <a:defRPr/>
              </a:pPr>
              <a:t>25/11/24</a:t>
            </a:fld>
            <a:endParaRPr lang="es-ES" altLang="es-ES"/>
          </a:p>
        </p:txBody>
      </p:sp>
      <p:sp>
        <p:nvSpPr>
          <p:cNvPr id="8" name="7 Marcador de pie de página">
            <a:extLst>
              <a:ext uri="{FF2B5EF4-FFF2-40B4-BE49-F238E27FC236}">
                <a16:creationId xmlns:a16="http://schemas.microsoft.com/office/drawing/2014/main" id="{53E4B20D-17A9-C747-A545-C711026553CD}"/>
              </a:ext>
            </a:extLst>
          </p:cNvPr>
          <p:cNvSpPr>
            <a:spLocks noGrp="1"/>
          </p:cNvSpPr>
          <p:nvPr>
            <p:ph type="ftr" sz="quarter" idx="11"/>
          </p:nvPr>
        </p:nvSpPr>
        <p:spPr/>
        <p:txBody>
          <a:bodyPr/>
          <a:lstStyle>
            <a:lvl1pPr>
              <a:defRPr/>
            </a:lvl1pPr>
            <a:extLst/>
          </a:lstStyle>
          <a:p>
            <a:pPr>
              <a:defRPr/>
            </a:pPr>
            <a:endParaRPr lang="es-ES"/>
          </a:p>
        </p:txBody>
      </p:sp>
      <p:sp>
        <p:nvSpPr>
          <p:cNvPr id="9" name="8 Marcador de número de diapositiva">
            <a:extLst>
              <a:ext uri="{FF2B5EF4-FFF2-40B4-BE49-F238E27FC236}">
                <a16:creationId xmlns:a16="http://schemas.microsoft.com/office/drawing/2014/main" id="{36E2CFF0-EBC3-8D4C-94C6-D6E92D352A98}"/>
              </a:ext>
            </a:extLst>
          </p:cNvPr>
          <p:cNvSpPr>
            <a:spLocks noGrp="1"/>
          </p:cNvSpPr>
          <p:nvPr>
            <p:ph type="sldNum" sz="quarter" idx="12"/>
          </p:nvPr>
        </p:nvSpPr>
        <p:spPr/>
        <p:txBody>
          <a:bodyPr/>
          <a:lstStyle>
            <a:lvl1pPr>
              <a:defRPr smtClean="0"/>
            </a:lvl1pPr>
          </a:lstStyle>
          <a:p>
            <a:pPr>
              <a:defRPr/>
            </a:pPr>
            <a:fld id="{04FBFC82-A3DC-6344-B4B2-F3D78A4FAB51}" type="slidenum">
              <a:rPr lang="es-ES" altLang="es-ES"/>
              <a:pPr>
                <a:defRPr/>
              </a:pPr>
              <a:t>‹Nº›</a:t>
            </a:fld>
            <a:endParaRPr lang="es-ES" altLang="es-ES"/>
          </a:p>
        </p:txBody>
      </p:sp>
    </p:spTree>
    <p:extLst>
      <p:ext uri="{BB962C8B-B14F-4D97-AF65-F5344CB8AC3E}">
        <p14:creationId xmlns:p14="http://schemas.microsoft.com/office/powerpoint/2010/main" val="735598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1435608" y="274320"/>
            <a:ext cx="7498080" cy="1143000"/>
          </a:xfrm>
        </p:spPr>
        <p:txBody>
          <a:bodyPr/>
          <a:lstStyle/>
          <a:p>
            <a:r>
              <a:rPr lang="es-ES"/>
              <a:t>Haga clic para modificar el estilo de título del patrón</a:t>
            </a:r>
            <a:endParaRPr lang="en-US"/>
          </a:p>
        </p:txBody>
      </p:sp>
      <p:sp>
        <p:nvSpPr>
          <p:cNvPr id="3" name="23 Marcador de fecha">
            <a:extLst>
              <a:ext uri="{FF2B5EF4-FFF2-40B4-BE49-F238E27FC236}">
                <a16:creationId xmlns:a16="http://schemas.microsoft.com/office/drawing/2014/main" id="{B1A98564-B490-684B-BB65-563524220429}"/>
              </a:ext>
            </a:extLst>
          </p:cNvPr>
          <p:cNvSpPr>
            <a:spLocks noGrp="1"/>
          </p:cNvSpPr>
          <p:nvPr>
            <p:ph type="dt" sz="half" idx="10"/>
          </p:nvPr>
        </p:nvSpPr>
        <p:spPr/>
        <p:txBody>
          <a:bodyPr/>
          <a:lstStyle>
            <a:lvl1pPr>
              <a:defRPr/>
            </a:lvl1pPr>
          </a:lstStyle>
          <a:p>
            <a:pPr>
              <a:defRPr/>
            </a:pPr>
            <a:fld id="{D341FCFC-F5B5-6D43-9467-3DA68E62A270}" type="datetimeFigureOut">
              <a:rPr lang="es-ES" altLang="es-ES"/>
              <a:pPr>
                <a:defRPr/>
              </a:pPr>
              <a:t>25/11/24</a:t>
            </a:fld>
            <a:endParaRPr lang="es-ES" altLang="es-ES"/>
          </a:p>
        </p:txBody>
      </p:sp>
      <p:sp>
        <p:nvSpPr>
          <p:cNvPr id="4" name="9 Marcador de pie de página">
            <a:extLst>
              <a:ext uri="{FF2B5EF4-FFF2-40B4-BE49-F238E27FC236}">
                <a16:creationId xmlns:a16="http://schemas.microsoft.com/office/drawing/2014/main" id="{95B6CA84-84C9-0A49-8792-CD638450DF3E}"/>
              </a:ext>
            </a:extLst>
          </p:cNvPr>
          <p:cNvSpPr>
            <a:spLocks noGrp="1"/>
          </p:cNvSpPr>
          <p:nvPr>
            <p:ph type="ftr" sz="quarter" idx="11"/>
          </p:nvPr>
        </p:nvSpPr>
        <p:spPr/>
        <p:txBody>
          <a:bodyPr/>
          <a:lstStyle>
            <a:lvl1pPr>
              <a:defRPr/>
            </a:lvl1pPr>
          </a:lstStyle>
          <a:p>
            <a:pPr>
              <a:defRPr/>
            </a:pPr>
            <a:endParaRPr lang="es-ES"/>
          </a:p>
        </p:txBody>
      </p:sp>
      <p:sp>
        <p:nvSpPr>
          <p:cNvPr id="5" name="21 Marcador de número de diapositiva">
            <a:extLst>
              <a:ext uri="{FF2B5EF4-FFF2-40B4-BE49-F238E27FC236}">
                <a16:creationId xmlns:a16="http://schemas.microsoft.com/office/drawing/2014/main" id="{3F8193F9-DB4C-B04F-A297-9495876988D9}"/>
              </a:ext>
            </a:extLst>
          </p:cNvPr>
          <p:cNvSpPr>
            <a:spLocks noGrp="1"/>
          </p:cNvSpPr>
          <p:nvPr>
            <p:ph type="sldNum" sz="quarter" idx="12"/>
          </p:nvPr>
        </p:nvSpPr>
        <p:spPr/>
        <p:txBody>
          <a:bodyPr/>
          <a:lstStyle>
            <a:lvl1pPr>
              <a:defRPr/>
            </a:lvl1pPr>
          </a:lstStyle>
          <a:p>
            <a:pPr>
              <a:defRPr/>
            </a:pPr>
            <a:fld id="{6BEBBBB7-FD60-0949-89BD-AB0E7B2D59D7}" type="slidenum">
              <a:rPr lang="es-ES" altLang="es-ES"/>
              <a:pPr>
                <a:defRPr/>
              </a:pPr>
              <a:t>‹Nº›</a:t>
            </a:fld>
            <a:endParaRPr lang="es-ES" altLang="es-ES"/>
          </a:p>
        </p:txBody>
      </p:sp>
    </p:spTree>
    <p:extLst>
      <p:ext uri="{BB962C8B-B14F-4D97-AF65-F5344CB8AC3E}">
        <p14:creationId xmlns:p14="http://schemas.microsoft.com/office/powerpoint/2010/main" val="340705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4 Rectángulo">
            <a:extLst>
              <a:ext uri="{FF2B5EF4-FFF2-40B4-BE49-F238E27FC236}">
                <a16:creationId xmlns:a16="http://schemas.microsoft.com/office/drawing/2014/main" id="{39011086-14CD-3542-8F96-9F5767C82746}"/>
              </a:ext>
            </a:extLst>
          </p:cNvPr>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5 Rectángulo">
            <a:extLst>
              <a:ext uri="{FF2B5EF4-FFF2-40B4-BE49-F238E27FC236}">
                <a16:creationId xmlns:a16="http://schemas.microsoft.com/office/drawing/2014/main" id="{B21EC90A-52B4-6E48-9E0F-CCDCCA9358DC}"/>
              </a:ext>
            </a:extLst>
          </p:cNvPr>
          <p:cNvSpPr>
            <a:spLocks noChangeArrowheads="1"/>
          </p:cNvSpPr>
          <p:nvPr/>
        </p:nvSpPr>
        <p:spPr bwMode="invGray">
          <a:xfrm>
            <a:off x="1014413" y="0"/>
            <a:ext cx="73025" cy="6858000"/>
          </a:xfrm>
          <a:prstGeom prst="rect">
            <a:avLst/>
          </a:prstGeom>
          <a:solidFill>
            <a:schemeClr val="bg1"/>
          </a:solidFill>
          <a:ln>
            <a:noFill/>
          </a:ln>
          <a:effectLst>
            <a:outerShdw blurRad="38550" dist="38000" dir="10800000" algn="tl" rotWithShape="0">
              <a:srgbClr val="706B5F">
                <a:alpha val="25000"/>
              </a:srgbClr>
            </a:outerShdw>
          </a:effectLst>
          <a:extLst>
            <a:ext uri="{91240B29-F687-4F45-9708-019B960494DF}">
              <a14:hiddenLine xmlns:a14="http://schemas.microsoft.com/office/drawing/2010/main" w="25400" cap="rnd">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4" name="1 Marcador de fecha">
            <a:extLst>
              <a:ext uri="{FF2B5EF4-FFF2-40B4-BE49-F238E27FC236}">
                <a16:creationId xmlns:a16="http://schemas.microsoft.com/office/drawing/2014/main" id="{601A248C-0572-264D-9B28-E4AABB12E4F1}"/>
              </a:ext>
            </a:extLst>
          </p:cNvPr>
          <p:cNvSpPr>
            <a:spLocks noGrp="1"/>
          </p:cNvSpPr>
          <p:nvPr>
            <p:ph type="dt" sz="half" idx="10"/>
          </p:nvPr>
        </p:nvSpPr>
        <p:spPr/>
        <p:txBody>
          <a:bodyPr/>
          <a:lstStyle>
            <a:lvl1pPr>
              <a:defRPr smtClean="0"/>
            </a:lvl1pPr>
          </a:lstStyle>
          <a:p>
            <a:pPr>
              <a:defRPr/>
            </a:pPr>
            <a:fld id="{1B966F54-C722-1945-AE5D-6DA6B2E27AC9}" type="datetimeFigureOut">
              <a:rPr lang="es-ES" altLang="es-ES"/>
              <a:pPr>
                <a:defRPr/>
              </a:pPr>
              <a:t>25/11/24</a:t>
            </a:fld>
            <a:endParaRPr lang="es-ES" altLang="es-ES"/>
          </a:p>
        </p:txBody>
      </p:sp>
      <p:sp>
        <p:nvSpPr>
          <p:cNvPr id="5" name="2 Marcador de pie de página">
            <a:extLst>
              <a:ext uri="{FF2B5EF4-FFF2-40B4-BE49-F238E27FC236}">
                <a16:creationId xmlns:a16="http://schemas.microsoft.com/office/drawing/2014/main" id="{B1CBB6B7-5625-B742-8F66-1E46EB10899B}"/>
              </a:ext>
            </a:extLst>
          </p:cNvPr>
          <p:cNvSpPr>
            <a:spLocks noGrp="1"/>
          </p:cNvSpPr>
          <p:nvPr>
            <p:ph type="ftr" sz="quarter" idx="11"/>
          </p:nvPr>
        </p:nvSpPr>
        <p:spPr/>
        <p:txBody>
          <a:bodyPr/>
          <a:lstStyle>
            <a:lvl1pPr>
              <a:defRPr/>
            </a:lvl1pPr>
            <a:extLst/>
          </a:lstStyle>
          <a:p>
            <a:pPr>
              <a:defRPr/>
            </a:pPr>
            <a:endParaRPr lang="es-ES"/>
          </a:p>
        </p:txBody>
      </p:sp>
      <p:sp>
        <p:nvSpPr>
          <p:cNvPr id="6" name="3 Marcador de número de diapositiva">
            <a:extLst>
              <a:ext uri="{FF2B5EF4-FFF2-40B4-BE49-F238E27FC236}">
                <a16:creationId xmlns:a16="http://schemas.microsoft.com/office/drawing/2014/main" id="{523F7436-BC6A-4F4D-B18F-4426E355F4D6}"/>
              </a:ext>
            </a:extLst>
          </p:cNvPr>
          <p:cNvSpPr>
            <a:spLocks noGrp="1"/>
          </p:cNvSpPr>
          <p:nvPr>
            <p:ph type="sldNum" sz="quarter" idx="12"/>
          </p:nvPr>
        </p:nvSpPr>
        <p:spPr/>
        <p:txBody>
          <a:bodyPr/>
          <a:lstStyle>
            <a:lvl1pPr>
              <a:defRPr smtClean="0"/>
            </a:lvl1pPr>
          </a:lstStyle>
          <a:p>
            <a:pPr>
              <a:defRPr/>
            </a:pPr>
            <a:fld id="{AA4C34EB-7313-6A4E-B4AE-728609381B63}" type="slidenum">
              <a:rPr lang="es-ES" altLang="es-ES"/>
              <a:pPr>
                <a:defRPr/>
              </a:pPr>
              <a:t>‹Nº›</a:t>
            </a:fld>
            <a:endParaRPr lang="es-ES" altLang="es-ES"/>
          </a:p>
        </p:txBody>
      </p:sp>
    </p:spTree>
    <p:extLst>
      <p:ext uri="{BB962C8B-B14F-4D97-AF65-F5344CB8AC3E}">
        <p14:creationId xmlns:p14="http://schemas.microsoft.com/office/powerpoint/2010/main" val="3410596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s-ES"/>
              <a:t>Haga clic para modificar el estilo de título del patrón</a:t>
            </a:r>
            <a:endParaRPr lang="en-US"/>
          </a:p>
        </p:txBody>
      </p:sp>
      <p:sp>
        <p:nvSpPr>
          <p:cNvPr id="3" name="2 Marcador de texto"/>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s-ES"/>
              <a:t>Haga clic para modificar el estilo de texto del patrón</a:t>
            </a:r>
          </a:p>
        </p:txBody>
      </p:sp>
      <p:sp>
        <p:nvSpPr>
          <p:cNvPr id="4" name="3 Marcador de contenido"/>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4 Marcador de fecha">
            <a:extLst>
              <a:ext uri="{FF2B5EF4-FFF2-40B4-BE49-F238E27FC236}">
                <a16:creationId xmlns:a16="http://schemas.microsoft.com/office/drawing/2014/main" id="{1E306E0F-3B0D-9B49-9EB2-26C036C0586B}"/>
              </a:ext>
            </a:extLst>
          </p:cNvPr>
          <p:cNvSpPr>
            <a:spLocks noGrp="1"/>
          </p:cNvSpPr>
          <p:nvPr>
            <p:ph type="dt" sz="half" idx="10"/>
          </p:nvPr>
        </p:nvSpPr>
        <p:spPr/>
        <p:txBody>
          <a:bodyPr/>
          <a:lstStyle>
            <a:lvl1pPr>
              <a:defRPr smtClean="0"/>
            </a:lvl1pPr>
          </a:lstStyle>
          <a:p>
            <a:pPr>
              <a:defRPr/>
            </a:pPr>
            <a:fld id="{919F19F3-E326-8C43-92B3-49841883CAA7}" type="datetimeFigureOut">
              <a:rPr lang="es-ES" altLang="es-ES"/>
              <a:pPr>
                <a:defRPr/>
              </a:pPr>
              <a:t>25/11/24</a:t>
            </a:fld>
            <a:endParaRPr lang="es-ES" altLang="es-ES"/>
          </a:p>
        </p:txBody>
      </p:sp>
      <p:sp>
        <p:nvSpPr>
          <p:cNvPr id="6" name="5 Marcador de pie de página">
            <a:extLst>
              <a:ext uri="{FF2B5EF4-FFF2-40B4-BE49-F238E27FC236}">
                <a16:creationId xmlns:a16="http://schemas.microsoft.com/office/drawing/2014/main" id="{87123B3B-B4A5-6245-964D-0B477FAC1D6D}"/>
              </a:ext>
            </a:extLst>
          </p:cNvPr>
          <p:cNvSpPr>
            <a:spLocks noGrp="1"/>
          </p:cNvSpPr>
          <p:nvPr>
            <p:ph type="ftr" sz="quarter" idx="11"/>
          </p:nvPr>
        </p:nvSpPr>
        <p:spPr/>
        <p:txBody>
          <a:bodyPr/>
          <a:lstStyle>
            <a:lvl1pPr>
              <a:defRPr/>
            </a:lvl1pPr>
            <a:extLst/>
          </a:lstStyle>
          <a:p>
            <a:pPr>
              <a:defRPr/>
            </a:pPr>
            <a:endParaRPr lang="es-ES"/>
          </a:p>
        </p:txBody>
      </p:sp>
      <p:sp>
        <p:nvSpPr>
          <p:cNvPr id="7" name="6 Marcador de número de diapositiva">
            <a:extLst>
              <a:ext uri="{FF2B5EF4-FFF2-40B4-BE49-F238E27FC236}">
                <a16:creationId xmlns:a16="http://schemas.microsoft.com/office/drawing/2014/main" id="{28712510-CCBB-2D42-A1BF-59F0BE478B78}"/>
              </a:ext>
            </a:extLst>
          </p:cNvPr>
          <p:cNvSpPr>
            <a:spLocks noGrp="1"/>
          </p:cNvSpPr>
          <p:nvPr>
            <p:ph type="sldNum" sz="quarter" idx="12"/>
          </p:nvPr>
        </p:nvSpPr>
        <p:spPr/>
        <p:txBody>
          <a:bodyPr/>
          <a:lstStyle>
            <a:lvl1pPr>
              <a:defRPr smtClean="0"/>
            </a:lvl1pPr>
          </a:lstStyle>
          <a:p>
            <a:pPr>
              <a:defRPr/>
            </a:pPr>
            <a:fld id="{2719721C-5621-8145-ACAF-EAFD388F4672}" type="slidenum">
              <a:rPr lang="es-ES" altLang="es-ES"/>
              <a:pPr>
                <a:defRPr/>
              </a:pPr>
              <a:t>‹Nº›</a:t>
            </a:fld>
            <a:endParaRPr lang="es-ES" altLang="es-ES"/>
          </a:p>
        </p:txBody>
      </p:sp>
    </p:spTree>
    <p:extLst>
      <p:ext uri="{BB962C8B-B14F-4D97-AF65-F5344CB8AC3E}">
        <p14:creationId xmlns:p14="http://schemas.microsoft.com/office/powerpoint/2010/main" val="3535743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7 Rectángulo">
            <a:extLst>
              <a:ext uri="{FF2B5EF4-FFF2-40B4-BE49-F238E27FC236}">
                <a16:creationId xmlns:a16="http://schemas.microsoft.com/office/drawing/2014/main" id="{B1B758D9-7672-3C47-BA76-B6011776802B}"/>
              </a:ext>
            </a:extLst>
          </p:cNvPr>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eaLnBrk="1" fontAlgn="auto" hangingPunct="1">
              <a:lnSpc>
                <a:spcPts val="3000"/>
              </a:lnSpc>
              <a:spcBef>
                <a:spcPts val="600"/>
              </a:spcBef>
              <a:spcAft>
                <a:spcPts val="0"/>
              </a:spcAft>
              <a:buClr>
                <a:schemeClr val="accent1"/>
              </a:buClr>
              <a:buSzPct val="80000"/>
              <a:buFont typeface="Wingdings 2"/>
              <a:buNone/>
              <a:defRPr/>
            </a:pPr>
            <a:endParaRPr lang="en-US" sz="3200">
              <a:latin typeface="+mn-lt"/>
              <a:ea typeface="+mn-ea"/>
            </a:endParaRPr>
          </a:p>
        </p:txBody>
      </p:sp>
      <p:sp>
        <p:nvSpPr>
          <p:cNvPr id="6" name="8 Proceso">
            <a:extLst>
              <a:ext uri="{FF2B5EF4-FFF2-40B4-BE49-F238E27FC236}">
                <a16:creationId xmlns:a16="http://schemas.microsoft.com/office/drawing/2014/main" id="{D7E02042-F2E6-0447-B1A2-5DAD5F7EC0CF}"/>
              </a:ext>
            </a:extLst>
          </p:cNvPr>
          <p:cNvSpPr>
            <a:spLocks noChangeArrowheads="1"/>
          </p:cNvSpPr>
          <p:nvPr/>
        </p:nvSpPr>
        <p:spPr bwMode="auto">
          <a:xfrm rot="19468671">
            <a:off x="396875" y="954088"/>
            <a:ext cx="685800" cy="204787"/>
          </a:xfrm>
          <a:prstGeom prst="flowChartProcess">
            <a:avLst/>
          </a:prstGeom>
          <a:solidFill>
            <a:srgbClr val="FBFBFB">
              <a:alpha val="45097"/>
            </a:srgbClr>
          </a:solidFill>
          <a:ln w="6350" cap="rnd">
            <a:solidFill>
              <a:srgbClr val="FFFFFF"/>
            </a:solidFill>
            <a:miter lim="800000"/>
            <a:headEnd/>
            <a:tailEnd/>
          </a:ln>
          <a:effectLst>
            <a:outerShdw blurRad="25400" dist="25400" dir="3299947" sx="96001" sy="96001" algn="tl" rotWithShape="0">
              <a:srgbClr val="EBDAB1">
                <a:alpha val="39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7" name="9 Proceso">
            <a:extLst>
              <a:ext uri="{FF2B5EF4-FFF2-40B4-BE49-F238E27FC236}">
                <a16:creationId xmlns:a16="http://schemas.microsoft.com/office/drawing/2014/main" id="{ADCE2415-3BE3-D244-9839-B647CA79FB38}"/>
              </a:ext>
            </a:extLst>
          </p:cNvPr>
          <p:cNvSpPr>
            <a:spLocks noChangeArrowheads="1"/>
          </p:cNvSpPr>
          <p:nvPr/>
        </p:nvSpPr>
        <p:spPr bwMode="auto">
          <a:xfrm rot="2103354" flipH="1">
            <a:off x="5003800" y="936625"/>
            <a:ext cx="649288" cy="204788"/>
          </a:xfrm>
          <a:prstGeom prst="flowChartProcess">
            <a:avLst/>
          </a:prstGeom>
          <a:solidFill>
            <a:srgbClr val="FBFBFB">
              <a:alpha val="45097"/>
            </a:srgbClr>
          </a:solidFill>
          <a:ln w="6350" cap="rnd">
            <a:solidFill>
              <a:srgbClr val="FFFFFF"/>
            </a:solidFill>
            <a:miter lim="800000"/>
            <a:headEnd/>
            <a:tailEnd/>
          </a:ln>
          <a:effectLst>
            <a:outerShdw blurRad="25400" dist="25400" dir="3299947" sx="96001" sy="96001" algn="tl" rotWithShape="0">
              <a:schemeClr val="bg2">
                <a:alpha val="20000"/>
              </a:schemeClr>
            </a:outerShdw>
          </a:effectLst>
        </p:spPr>
        <p:txBody>
          <a:bodyPr anchor="ctr"/>
          <a:lstStyle/>
          <a:p>
            <a:pPr algn="ctr" eaLnBrk="1" fontAlgn="auto" hangingPunct="1">
              <a:spcBef>
                <a:spcPts val="0"/>
              </a:spcBef>
              <a:spcAft>
                <a:spcPts val="0"/>
              </a:spcAft>
              <a:defRPr/>
            </a:pPr>
            <a:endParaRPr lang="en-US" dirty="0">
              <a:solidFill>
                <a:schemeClr val="lt1"/>
              </a:solidFill>
              <a:latin typeface="+mn-lt"/>
              <a:ea typeface="+mn-ea"/>
            </a:endParaRPr>
          </a:p>
        </p:txBody>
      </p:sp>
      <p:sp>
        <p:nvSpPr>
          <p:cNvPr id="2" name="1 Título"/>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s-ES"/>
              <a:t>Haga clic para modificar el estilo de título del patrón</a:t>
            </a:r>
            <a:endParaRPr lang="en-US"/>
          </a:p>
        </p:txBody>
      </p:sp>
      <p:sp>
        <p:nvSpPr>
          <p:cNvPr id="3" name="2 Marcador de posición de imagen"/>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s-ES" noProof="0"/>
              <a:t>Haga clic en el icono para agregar una imagen</a:t>
            </a:r>
            <a:endParaRPr lang="en-US" noProof="0" dirty="0"/>
          </a:p>
        </p:txBody>
      </p:sp>
      <p:sp>
        <p:nvSpPr>
          <p:cNvPr id="4" name="3 Marcador de texto"/>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s-ES"/>
              <a:t>Haga clic para modificar el estilo de texto del patrón</a:t>
            </a:r>
          </a:p>
        </p:txBody>
      </p:sp>
      <p:sp>
        <p:nvSpPr>
          <p:cNvPr id="8" name="4 Marcador de fecha">
            <a:extLst>
              <a:ext uri="{FF2B5EF4-FFF2-40B4-BE49-F238E27FC236}">
                <a16:creationId xmlns:a16="http://schemas.microsoft.com/office/drawing/2014/main" id="{2A758DF7-FE78-EB4F-B2DC-DB8FAE9315F5}"/>
              </a:ext>
            </a:extLst>
          </p:cNvPr>
          <p:cNvSpPr>
            <a:spLocks noGrp="1"/>
          </p:cNvSpPr>
          <p:nvPr>
            <p:ph type="dt" sz="half" idx="10"/>
          </p:nvPr>
        </p:nvSpPr>
        <p:spPr/>
        <p:txBody>
          <a:bodyPr/>
          <a:lstStyle>
            <a:lvl1pPr>
              <a:defRPr smtClean="0"/>
            </a:lvl1pPr>
          </a:lstStyle>
          <a:p>
            <a:pPr>
              <a:defRPr/>
            </a:pPr>
            <a:fld id="{691CDEA7-366E-E74A-A290-751CE19C017A}" type="datetimeFigureOut">
              <a:rPr lang="es-ES" altLang="es-ES"/>
              <a:pPr>
                <a:defRPr/>
              </a:pPr>
              <a:t>25/11/24</a:t>
            </a:fld>
            <a:endParaRPr lang="es-ES" altLang="es-ES"/>
          </a:p>
        </p:txBody>
      </p:sp>
      <p:sp>
        <p:nvSpPr>
          <p:cNvPr id="9" name="5 Marcador de pie de página">
            <a:extLst>
              <a:ext uri="{FF2B5EF4-FFF2-40B4-BE49-F238E27FC236}">
                <a16:creationId xmlns:a16="http://schemas.microsoft.com/office/drawing/2014/main" id="{EA5382BE-BDD7-CD4E-AD9E-64BBF028FCD9}"/>
              </a:ext>
            </a:extLst>
          </p:cNvPr>
          <p:cNvSpPr>
            <a:spLocks noGrp="1"/>
          </p:cNvSpPr>
          <p:nvPr>
            <p:ph type="ftr" sz="quarter" idx="11"/>
          </p:nvPr>
        </p:nvSpPr>
        <p:spPr/>
        <p:txBody>
          <a:bodyPr/>
          <a:lstStyle>
            <a:lvl1pPr>
              <a:defRPr/>
            </a:lvl1pPr>
            <a:extLst/>
          </a:lstStyle>
          <a:p>
            <a:pPr>
              <a:defRPr/>
            </a:pPr>
            <a:endParaRPr lang="es-ES"/>
          </a:p>
        </p:txBody>
      </p:sp>
      <p:sp>
        <p:nvSpPr>
          <p:cNvPr id="10" name="6 Marcador de número de diapositiva">
            <a:extLst>
              <a:ext uri="{FF2B5EF4-FFF2-40B4-BE49-F238E27FC236}">
                <a16:creationId xmlns:a16="http://schemas.microsoft.com/office/drawing/2014/main" id="{EABEBE58-A3AB-194B-9ED8-3DDFC27EE102}"/>
              </a:ext>
            </a:extLst>
          </p:cNvPr>
          <p:cNvSpPr>
            <a:spLocks noGrp="1"/>
          </p:cNvSpPr>
          <p:nvPr>
            <p:ph type="sldNum" sz="quarter" idx="12"/>
          </p:nvPr>
        </p:nvSpPr>
        <p:spPr/>
        <p:txBody>
          <a:bodyPr/>
          <a:lstStyle>
            <a:lvl1pPr>
              <a:defRPr smtClean="0"/>
            </a:lvl1pPr>
          </a:lstStyle>
          <a:p>
            <a:pPr>
              <a:defRPr/>
            </a:pPr>
            <a:fld id="{38867936-839F-934F-B884-7FFE90386E8D}" type="slidenum">
              <a:rPr lang="es-ES" altLang="es-ES"/>
              <a:pPr>
                <a:defRPr/>
              </a:pPr>
              <a:t>‹Nº›</a:t>
            </a:fld>
            <a:endParaRPr lang="es-ES" altLang="es-ES"/>
          </a:p>
        </p:txBody>
      </p:sp>
    </p:spTree>
    <p:extLst>
      <p:ext uri="{BB962C8B-B14F-4D97-AF65-F5344CB8AC3E}">
        <p14:creationId xmlns:p14="http://schemas.microsoft.com/office/powerpoint/2010/main" val="3898567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23 Marcador de fecha">
            <a:extLst>
              <a:ext uri="{FF2B5EF4-FFF2-40B4-BE49-F238E27FC236}">
                <a16:creationId xmlns:a16="http://schemas.microsoft.com/office/drawing/2014/main" id="{466ABF47-CC8C-9742-948D-4498FC1FD2B8}"/>
              </a:ext>
            </a:extLst>
          </p:cNvPr>
          <p:cNvSpPr>
            <a:spLocks noGrp="1"/>
          </p:cNvSpPr>
          <p:nvPr>
            <p:ph type="dt" sz="half" idx="10"/>
          </p:nvPr>
        </p:nvSpPr>
        <p:spPr/>
        <p:txBody>
          <a:bodyPr/>
          <a:lstStyle>
            <a:lvl1pPr>
              <a:defRPr/>
            </a:lvl1pPr>
          </a:lstStyle>
          <a:p>
            <a:pPr>
              <a:defRPr/>
            </a:pPr>
            <a:fld id="{80C80C26-266D-8746-AAE3-DF681E3F0FA9}" type="datetimeFigureOut">
              <a:rPr lang="es-ES" altLang="es-ES"/>
              <a:pPr>
                <a:defRPr/>
              </a:pPr>
              <a:t>25/11/24</a:t>
            </a:fld>
            <a:endParaRPr lang="es-ES" altLang="es-ES"/>
          </a:p>
        </p:txBody>
      </p:sp>
      <p:sp>
        <p:nvSpPr>
          <p:cNvPr id="5" name="9 Marcador de pie de página">
            <a:extLst>
              <a:ext uri="{FF2B5EF4-FFF2-40B4-BE49-F238E27FC236}">
                <a16:creationId xmlns:a16="http://schemas.microsoft.com/office/drawing/2014/main" id="{1AF0C24D-FFDA-1F4B-990A-45C46EEAEE22}"/>
              </a:ext>
            </a:extLst>
          </p:cNvPr>
          <p:cNvSpPr>
            <a:spLocks noGrp="1"/>
          </p:cNvSpPr>
          <p:nvPr>
            <p:ph type="ftr" sz="quarter" idx="11"/>
          </p:nvPr>
        </p:nvSpPr>
        <p:spPr/>
        <p:txBody>
          <a:bodyPr/>
          <a:lstStyle>
            <a:lvl1pPr>
              <a:defRPr/>
            </a:lvl1pPr>
          </a:lstStyle>
          <a:p>
            <a:pPr>
              <a:defRPr/>
            </a:pPr>
            <a:endParaRPr lang="es-ES"/>
          </a:p>
        </p:txBody>
      </p:sp>
      <p:sp>
        <p:nvSpPr>
          <p:cNvPr id="6" name="21 Marcador de número de diapositiva">
            <a:extLst>
              <a:ext uri="{FF2B5EF4-FFF2-40B4-BE49-F238E27FC236}">
                <a16:creationId xmlns:a16="http://schemas.microsoft.com/office/drawing/2014/main" id="{5D7D72BE-4470-C242-B1B7-F37499198611}"/>
              </a:ext>
            </a:extLst>
          </p:cNvPr>
          <p:cNvSpPr>
            <a:spLocks noGrp="1"/>
          </p:cNvSpPr>
          <p:nvPr>
            <p:ph type="sldNum" sz="quarter" idx="12"/>
          </p:nvPr>
        </p:nvSpPr>
        <p:spPr/>
        <p:txBody>
          <a:bodyPr/>
          <a:lstStyle>
            <a:lvl1pPr>
              <a:defRPr/>
            </a:lvl1pPr>
          </a:lstStyle>
          <a:p>
            <a:pPr>
              <a:defRPr/>
            </a:pPr>
            <a:fld id="{AFAE5C67-B4D1-EF4C-8D20-2C253E88D43A}" type="slidenum">
              <a:rPr lang="es-ES" altLang="es-ES"/>
              <a:pPr>
                <a:defRPr/>
              </a:pPr>
              <a:t>‹Nº›</a:t>
            </a:fld>
            <a:endParaRPr lang="es-ES" altLang="es-ES"/>
          </a:p>
        </p:txBody>
      </p:sp>
    </p:spTree>
    <p:extLst>
      <p:ext uri="{BB962C8B-B14F-4D97-AF65-F5344CB8AC3E}">
        <p14:creationId xmlns:p14="http://schemas.microsoft.com/office/powerpoint/2010/main" val="458268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58000" y="274639"/>
            <a:ext cx="1828800" cy="5851525"/>
          </a:xfrm>
        </p:spPr>
        <p:txBody>
          <a:bodyPr vert="eaVert"/>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1143000" y="274640"/>
            <a:ext cx="55626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23 Marcador de fecha">
            <a:extLst>
              <a:ext uri="{FF2B5EF4-FFF2-40B4-BE49-F238E27FC236}">
                <a16:creationId xmlns:a16="http://schemas.microsoft.com/office/drawing/2014/main" id="{708C8825-525D-3041-ADE6-CE3214483DFC}"/>
              </a:ext>
            </a:extLst>
          </p:cNvPr>
          <p:cNvSpPr>
            <a:spLocks noGrp="1"/>
          </p:cNvSpPr>
          <p:nvPr>
            <p:ph type="dt" sz="half" idx="10"/>
          </p:nvPr>
        </p:nvSpPr>
        <p:spPr/>
        <p:txBody>
          <a:bodyPr/>
          <a:lstStyle>
            <a:lvl1pPr>
              <a:defRPr/>
            </a:lvl1pPr>
          </a:lstStyle>
          <a:p>
            <a:pPr>
              <a:defRPr/>
            </a:pPr>
            <a:fld id="{1C4F4659-CAC8-FC4D-AAF7-6013EC1E8841}" type="datetimeFigureOut">
              <a:rPr lang="es-ES" altLang="es-ES"/>
              <a:pPr>
                <a:defRPr/>
              </a:pPr>
              <a:t>25/11/24</a:t>
            </a:fld>
            <a:endParaRPr lang="es-ES" altLang="es-ES"/>
          </a:p>
        </p:txBody>
      </p:sp>
      <p:sp>
        <p:nvSpPr>
          <p:cNvPr id="5" name="9 Marcador de pie de página">
            <a:extLst>
              <a:ext uri="{FF2B5EF4-FFF2-40B4-BE49-F238E27FC236}">
                <a16:creationId xmlns:a16="http://schemas.microsoft.com/office/drawing/2014/main" id="{767C3F41-454B-F444-AAA9-75C135A0164D}"/>
              </a:ext>
            </a:extLst>
          </p:cNvPr>
          <p:cNvSpPr>
            <a:spLocks noGrp="1"/>
          </p:cNvSpPr>
          <p:nvPr>
            <p:ph type="ftr" sz="quarter" idx="11"/>
          </p:nvPr>
        </p:nvSpPr>
        <p:spPr/>
        <p:txBody>
          <a:bodyPr/>
          <a:lstStyle>
            <a:lvl1pPr>
              <a:defRPr/>
            </a:lvl1pPr>
          </a:lstStyle>
          <a:p>
            <a:pPr>
              <a:defRPr/>
            </a:pPr>
            <a:endParaRPr lang="es-ES"/>
          </a:p>
        </p:txBody>
      </p:sp>
      <p:sp>
        <p:nvSpPr>
          <p:cNvPr id="6" name="21 Marcador de número de diapositiva">
            <a:extLst>
              <a:ext uri="{FF2B5EF4-FFF2-40B4-BE49-F238E27FC236}">
                <a16:creationId xmlns:a16="http://schemas.microsoft.com/office/drawing/2014/main" id="{4F56D4A2-ED7A-C34D-99F3-DC0A50C715DA}"/>
              </a:ext>
            </a:extLst>
          </p:cNvPr>
          <p:cNvSpPr>
            <a:spLocks noGrp="1"/>
          </p:cNvSpPr>
          <p:nvPr>
            <p:ph type="sldNum" sz="quarter" idx="12"/>
          </p:nvPr>
        </p:nvSpPr>
        <p:spPr/>
        <p:txBody>
          <a:bodyPr/>
          <a:lstStyle>
            <a:lvl1pPr>
              <a:defRPr/>
            </a:lvl1pPr>
          </a:lstStyle>
          <a:p>
            <a:pPr>
              <a:defRPr/>
            </a:pPr>
            <a:fld id="{566BDCF6-85D8-B44C-ACAA-FD16BBB87F90}" type="slidenum">
              <a:rPr lang="es-ES" altLang="es-ES"/>
              <a:pPr>
                <a:defRPr/>
              </a:pPr>
              <a:t>‹Nº›</a:t>
            </a:fld>
            <a:endParaRPr lang="es-ES" altLang="es-ES"/>
          </a:p>
        </p:txBody>
      </p:sp>
    </p:spTree>
    <p:extLst>
      <p:ext uri="{BB962C8B-B14F-4D97-AF65-F5344CB8AC3E}">
        <p14:creationId xmlns:p14="http://schemas.microsoft.com/office/powerpoint/2010/main" val="141426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6 Circular">
            <a:extLst>
              <a:ext uri="{FF2B5EF4-FFF2-40B4-BE49-F238E27FC236}">
                <a16:creationId xmlns:a16="http://schemas.microsoft.com/office/drawing/2014/main" id="{A0C5F992-09F0-1547-9FB4-61F197759F3A}"/>
              </a:ext>
            </a:extLst>
          </p:cNvPr>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7 Elipse">
            <a:extLst>
              <a:ext uri="{FF2B5EF4-FFF2-40B4-BE49-F238E27FC236}">
                <a16:creationId xmlns:a16="http://schemas.microsoft.com/office/drawing/2014/main" id="{337C27EE-D92C-6249-AD04-DECE4B7F2CDA}"/>
              </a:ext>
            </a:extLst>
          </p:cNvPr>
          <p:cNvSpPr>
            <a:spLocks noChangeArrowheads="1"/>
          </p:cNvSpPr>
          <p:nvPr/>
        </p:nvSpPr>
        <p:spPr bwMode="auto">
          <a:xfrm>
            <a:off x="168275" y="20638"/>
            <a:ext cx="1703388" cy="1703387"/>
          </a:xfrm>
          <a:prstGeom prst="ellipse">
            <a:avLst/>
          </a:prstGeom>
          <a:noFill/>
          <a:ln w="27305" cap="rnd">
            <a:solidFill>
              <a:srgbClr val="FFF6DB"/>
            </a:solidFill>
            <a:round/>
            <a:headEnd/>
            <a:tailEnd/>
          </a:ln>
          <a:effectLst>
            <a:outerShdw blurRad="25400" dist="25400" dir="5400000" algn="tl" rotWithShape="0">
              <a:srgbClr val="AFA58D">
                <a:alpha val="84999"/>
              </a:srgbClr>
            </a:outerShdw>
          </a:effectLst>
          <a:extLst>
            <a:ext uri="{909E8E84-426E-40DD-AFC4-6F175D3DCCD1}">
              <a14:hiddenFill xmlns:a14="http://schemas.microsoft.com/office/drawing/2010/main">
                <a:solidFill>
                  <a:srgbClr val="FFFFFF"/>
                </a:solidFill>
              </a14:hiddenFill>
            </a:ext>
          </a:ex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11" name="10 Anillo">
            <a:extLst>
              <a:ext uri="{FF2B5EF4-FFF2-40B4-BE49-F238E27FC236}">
                <a16:creationId xmlns:a16="http://schemas.microsoft.com/office/drawing/2014/main" id="{745E5E5E-2CD0-EE4E-AFF1-C3C35EA8A47D}"/>
              </a:ext>
            </a:extLst>
          </p:cNvPr>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11 Rectángulo">
            <a:extLst>
              <a:ext uri="{FF2B5EF4-FFF2-40B4-BE49-F238E27FC236}">
                <a16:creationId xmlns:a16="http://schemas.microsoft.com/office/drawing/2014/main" id="{C2647E59-3027-F345-93DC-C56AA72D8144}"/>
              </a:ext>
            </a:extLst>
          </p:cNvPr>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4 Marcador de título">
            <a:extLst>
              <a:ext uri="{FF2B5EF4-FFF2-40B4-BE49-F238E27FC236}">
                <a16:creationId xmlns:a16="http://schemas.microsoft.com/office/drawing/2014/main" id="{08850B1E-3E64-6449-BF7E-3D9BEFACBDBB}"/>
              </a:ext>
            </a:extLst>
          </p:cNvPr>
          <p:cNvSpPr>
            <a:spLocks noGrp="1"/>
          </p:cNvSpPr>
          <p:nvPr>
            <p:ph type="title"/>
          </p:nvPr>
        </p:nvSpPr>
        <p:spPr>
          <a:xfrm>
            <a:off x="1435100" y="274638"/>
            <a:ext cx="7499350" cy="1143000"/>
          </a:xfrm>
          <a:prstGeom prst="rect">
            <a:avLst/>
          </a:prstGeom>
        </p:spPr>
        <p:txBody>
          <a:bodyPr vert="horz" wrap="square" lIns="91440" tIns="45720" rIns="91440" bIns="45720" numCol="1" anchor="ctr" anchorCtr="0" compatLnSpc="1">
            <a:prstTxWarp prst="textNoShape">
              <a:avLst/>
            </a:prstTxWarp>
            <a:normAutofit/>
          </a:bodyPr>
          <a:lstStyle/>
          <a:p>
            <a:pPr lvl="0"/>
            <a:r>
              <a:rPr lang="es-ES" altLang="es-ES"/>
              <a:t>Haga clic para modificar el estilo de título del patrón</a:t>
            </a:r>
            <a:endParaRPr lang="en-US" altLang="es-ES"/>
          </a:p>
        </p:txBody>
      </p:sp>
      <p:sp>
        <p:nvSpPr>
          <p:cNvPr id="1033" name="8 Marcador de texto">
            <a:extLst>
              <a:ext uri="{FF2B5EF4-FFF2-40B4-BE49-F238E27FC236}">
                <a16:creationId xmlns:a16="http://schemas.microsoft.com/office/drawing/2014/main" id="{90536835-B70B-7C42-9357-4BC2CC213130}"/>
              </a:ext>
            </a:extLst>
          </p:cNvPr>
          <p:cNvSpPr>
            <a:spLocks noGrp="1"/>
          </p:cNvSpPr>
          <p:nvPr>
            <p:ph type="body" idx="1"/>
          </p:nvPr>
        </p:nvSpPr>
        <p:spPr bwMode="auto">
          <a:xfrm>
            <a:off x="1435100"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ES"/>
              <a:t>Haga clic para modificar el estilo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24" name="23 Marcador de fecha">
            <a:extLst>
              <a:ext uri="{FF2B5EF4-FFF2-40B4-BE49-F238E27FC236}">
                <a16:creationId xmlns:a16="http://schemas.microsoft.com/office/drawing/2014/main" id="{F739F828-094F-0544-A4CE-5BB37D02DB39}"/>
              </a:ext>
            </a:extLst>
          </p:cNvPr>
          <p:cNvSpPr>
            <a:spLocks noGrp="1"/>
          </p:cNvSpPr>
          <p:nvPr>
            <p:ph type="dt" sz="half" idx="2"/>
          </p:nvPr>
        </p:nvSpPr>
        <p:spPr>
          <a:xfrm>
            <a:off x="3581400" y="6305550"/>
            <a:ext cx="2133600" cy="47625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solidFill>
                  <a:srgbClr val="B5A788"/>
                </a:solidFill>
              </a:defRPr>
            </a:lvl1pPr>
          </a:lstStyle>
          <a:p>
            <a:pPr>
              <a:defRPr/>
            </a:pPr>
            <a:fld id="{59845EB8-AC14-614C-A6AB-1C5EEE153042}" type="datetimeFigureOut">
              <a:rPr lang="es-ES" altLang="es-ES"/>
              <a:pPr>
                <a:defRPr/>
              </a:pPr>
              <a:t>25/11/24</a:t>
            </a:fld>
            <a:endParaRPr lang="es-ES" altLang="es-ES"/>
          </a:p>
        </p:txBody>
      </p:sp>
      <p:sp>
        <p:nvSpPr>
          <p:cNvPr id="10" name="9 Marcador de pie de página">
            <a:extLst>
              <a:ext uri="{FF2B5EF4-FFF2-40B4-BE49-F238E27FC236}">
                <a16:creationId xmlns:a16="http://schemas.microsoft.com/office/drawing/2014/main" id="{6357ACEF-51CA-C94F-A2DC-316956D0C84A}"/>
              </a:ext>
            </a:extLst>
          </p:cNvPr>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ea typeface="+mn-ea"/>
                <a:cs typeface="+mn-cs"/>
              </a:defRPr>
            </a:lvl1pPr>
            <a:extLst/>
          </a:lstStyle>
          <a:p>
            <a:pPr>
              <a:defRPr/>
            </a:pPr>
            <a:endParaRPr lang="es-ES"/>
          </a:p>
        </p:txBody>
      </p:sp>
      <p:sp>
        <p:nvSpPr>
          <p:cNvPr id="22" name="21 Marcador de número de diapositiva">
            <a:extLst>
              <a:ext uri="{FF2B5EF4-FFF2-40B4-BE49-F238E27FC236}">
                <a16:creationId xmlns:a16="http://schemas.microsoft.com/office/drawing/2014/main" id="{8BF9C67B-47A2-A94A-83AE-E89CA46C0FFD}"/>
              </a:ext>
            </a:extLst>
          </p:cNvPr>
          <p:cNvSpPr>
            <a:spLocks noGrp="1"/>
          </p:cNvSpPr>
          <p:nvPr>
            <p:ph type="sldNum" sz="quarter" idx="4"/>
          </p:nvPr>
        </p:nvSpPr>
        <p:spPr>
          <a:xfrm>
            <a:off x="8613775" y="6305550"/>
            <a:ext cx="457200" cy="47625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200" smtClean="0">
                <a:solidFill>
                  <a:srgbClr val="B5A788"/>
                </a:solidFill>
              </a:defRPr>
            </a:lvl1pPr>
          </a:lstStyle>
          <a:p>
            <a:pPr>
              <a:defRPr/>
            </a:pPr>
            <a:fld id="{4AF019EF-5A69-064C-8A6A-71F4C62D4E95}" type="slidenum">
              <a:rPr lang="es-ES" altLang="es-ES"/>
              <a:pPr>
                <a:defRPr/>
              </a:pPr>
              <a:t>‹Nº›</a:t>
            </a:fld>
            <a:endParaRPr lang="es-ES" altLang="es-ES"/>
          </a:p>
        </p:txBody>
      </p:sp>
      <p:sp>
        <p:nvSpPr>
          <p:cNvPr id="15" name="14 Rectángulo">
            <a:extLst>
              <a:ext uri="{FF2B5EF4-FFF2-40B4-BE49-F238E27FC236}">
                <a16:creationId xmlns:a16="http://schemas.microsoft.com/office/drawing/2014/main" id="{3B0C95C6-15BB-1345-AFE1-C6B939B54D6C}"/>
              </a:ext>
            </a:extLst>
          </p:cNvPr>
          <p:cNvSpPr>
            <a:spLocks noChangeArrowheads="1"/>
          </p:cNvSpPr>
          <p:nvPr/>
        </p:nvSpPr>
        <p:spPr bwMode="invGray">
          <a:xfrm>
            <a:off x="1014413" y="0"/>
            <a:ext cx="73025" cy="6858000"/>
          </a:xfrm>
          <a:prstGeom prst="rect">
            <a:avLst/>
          </a:prstGeom>
          <a:solidFill>
            <a:schemeClr val="bg1"/>
          </a:solidFill>
          <a:ln>
            <a:noFill/>
          </a:ln>
          <a:effectLst>
            <a:outerShdw blurRad="38550" dist="38000" dir="10800000" algn="tl" rotWithShape="0">
              <a:srgbClr val="706B5F">
                <a:alpha val="25000"/>
              </a:srgbClr>
            </a:outerShdw>
          </a:effectLst>
          <a:extLst>
            <a:ext uri="{91240B29-F687-4F45-9708-019B960494DF}">
              <a14:hiddenLine xmlns:a14="http://schemas.microsoft.com/office/drawing/2010/main" w="25400" cap="rnd">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Tree>
  </p:cSld>
  <p:clrMap bg1="lt1" tx1="dk1" bg2="lt2" tx2="dk2" accent1="accent1" accent2="accent2" accent3="accent3" accent4="accent4" accent5="accent5" accent6="accent6" hlink="hlink" folHlink="folHlink"/>
  <p:sldLayoutIdLst>
    <p:sldLayoutId id="2147484018" r:id="rId1"/>
    <p:sldLayoutId id="2147484013" r:id="rId2"/>
    <p:sldLayoutId id="2147484019" r:id="rId3"/>
    <p:sldLayoutId id="2147484014" r:id="rId4"/>
    <p:sldLayoutId id="2147484020" r:id="rId5"/>
    <p:sldLayoutId id="2147484015" r:id="rId6"/>
    <p:sldLayoutId id="2147484021" r:id="rId7"/>
    <p:sldLayoutId id="2147484022" r:id="rId8"/>
    <p:sldLayoutId id="2147484023" r:id="rId9"/>
    <p:sldLayoutId id="2147484016" r:id="rId10"/>
    <p:sldLayoutId id="2147484017" r:id="rId11"/>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ＭＳ Ｐゴシック" charset="0"/>
          <a:cs typeface="ＭＳ Ｐゴシック" charset="0"/>
        </a:defRPr>
      </a:lvl1pPr>
      <a:lvl2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2pPr>
      <a:lvl3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3pPr>
      <a:lvl4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4pPr>
      <a:lvl5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5pPr>
      <a:lvl6pPr marL="457200" algn="l" rtl="0" fontAlgn="base">
        <a:spcBef>
          <a:spcPct val="0"/>
        </a:spcBef>
        <a:spcAft>
          <a:spcPct val="0"/>
        </a:spcAft>
        <a:defRPr sz="4300">
          <a:solidFill>
            <a:srgbClr val="572314"/>
          </a:solidFill>
          <a:latin typeface="Gill Sans MT" charset="0"/>
          <a:ea typeface="ＭＳ Ｐゴシック" charset="0"/>
          <a:cs typeface="ＭＳ Ｐゴシック" charset="0"/>
        </a:defRPr>
      </a:lvl6pPr>
      <a:lvl7pPr marL="914400" algn="l" rtl="0" fontAlgn="base">
        <a:spcBef>
          <a:spcPct val="0"/>
        </a:spcBef>
        <a:spcAft>
          <a:spcPct val="0"/>
        </a:spcAft>
        <a:defRPr sz="4300">
          <a:solidFill>
            <a:srgbClr val="572314"/>
          </a:solidFill>
          <a:latin typeface="Gill Sans MT" charset="0"/>
          <a:ea typeface="ＭＳ Ｐゴシック" charset="0"/>
          <a:cs typeface="ＭＳ Ｐゴシック" charset="0"/>
        </a:defRPr>
      </a:lvl7pPr>
      <a:lvl8pPr marL="1371600" algn="l" rtl="0" fontAlgn="base">
        <a:spcBef>
          <a:spcPct val="0"/>
        </a:spcBef>
        <a:spcAft>
          <a:spcPct val="0"/>
        </a:spcAft>
        <a:defRPr sz="4300">
          <a:solidFill>
            <a:srgbClr val="572314"/>
          </a:solidFill>
          <a:latin typeface="Gill Sans MT" charset="0"/>
          <a:ea typeface="ＭＳ Ｐゴシック" charset="0"/>
          <a:cs typeface="ＭＳ Ｐゴシック" charset="0"/>
        </a:defRPr>
      </a:lvl8pPr>
      <a:lvl9pPr marL="1828800" algn="l" rtl="0" fontAlgn="base">
        <a:spcBef>
          <a:spcPct val="0"/>
        </a:spcBef>
        <a:spcAft>
          <a:spcPct val="0"/>
        </a:spcAft>
        <a:defRPr sz="4300">
          <a:solidFill>
            <a:srgbClr val="572314"/>
          </a:solidFill>
          <a:latin typeface="Gill Sans MT" charset="0"/>
          <a:ea typeface="ＭＳ Ｐゴシック" charset="0"/>
          <a:cs typeface="ＭＳ Ｐゴシック"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2" charset="2"/>
        <a:buChar char=""/>
        <a:defRPr sz="3200" kern="1200">
          <a:solidFill>
            <a:schemeClr val="tx1"/>
          </a:solidFill>
          <a:latin typeface="+mn-lt"/>
          <a:ea typeface="ＭＳ Ｐゴシック" charset="0"/>
          <a:cs typeface="ＭＳ Ｐゴシック" charset="0"/>
        </a:defRPr>
      </a:lvl1pPr>
      <a:lvl2pPr marL="639763" indent="-236538"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ＭＳ Ｐゴシック" charset="0"/>
          <a:cs typeface="+mn-cs"/>
        </a:defRPr>
      </a:lvl2pPr>
      <a:lvl3pPr marL="885825" indent="-228600" algn="l" rtl="0" eaLnBrk="0" fontAlgn="base" hangingPunct="0">
        <a:spcBef>
          <a:spcPct val="20000"/>
        </a:spcBef>
        <a:spcAft>
          <a:spcPct val="0"/>
        </a:spcAft>
        <a:buClr>
          <a:schemeClr val="accent2"/>
        </a:buClr>
        <a:buFont typeface="Wingdings 2" pitchFamily="2" charset="2"/>
        <a:buChar char=""/>
        <a:defRPr sz="2400" kern="1200">
          <a:solidFill>
            <a:schemeClr val="tx1"/>
          </a:solidFill>
          <a:latin typeface="+mn-lt"/>
          <a:ea typeface="ＭＳ Ｐゴシック" charset="0"/>
          <a:cs typeface="+mn-cs"/>
        </a:defRPr>
      </a:lvl3pPr>
      <a:lvl4pPr marL="1096963" indent="-173038" algn="l" rtl="0" eaLnBrk="0" fontAlgn="base" hangingPunct="0">
        <a:spcBef>
          <a:spcPct val="20000"/>
        </a:spcBef>
        <a:spcAft>
          <a:spcPct val="0"/>
        </a:spcAft>
        <a:buClr>
          <a:srgbClr val="C32D2E"/>
        </a:buClr>
        <a:buFont typeface="Wingdings 2" pitchFamily="2" charset="2"/>
        <a:buChar char=""/>
        <a:defRPr sz="2000" kern="1200">
          <a:solidFill>
            <a:schemeClr val="tx1"/>
          </a:solidFill>
          <a:latin typeface="+mn-lt"/>
          <a:ea typeface="ＭＳ Ｐゴシック" charset="0"/>
          <a:cs typeface="+mn-cs"/>
        </a:defRPr>
      </a:lvl4pPr>
      <a:lvl5pPr marL="1296988" indent="-182563" algn="l" rtl="0" eaLnBrk="0" fontAlgn="base" hangingPunct="0">
        <a:spcBef>
          <a:spcPct val="20000"/>
        </a:spcBef>
        <a:spcAft>
          <a:spcPct val="0"/>
        </a:spcAft>
        <a:buClr>
          <a:srgbClr val="84AA33"/>
        </a:buClr>
        <a:buFont typeface="Wingdings 2" pitchFamily="2" charset="2"/>
        <a:buChar char=""/>
        <a:defRPr sz="2000" kern="1200">
          <a:solidFill>
            <a:schemeClr val="tx1"/>
          </a:solidFill>
          <a:latin typeface="+mn-lt"/>
          <a:ea typeface="ＭＳ Ｐゴシック" charset="0"/>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file:////var/folders/9p/d8299jfj4g9dlqt31gwzr8940000gn/T/com.microsoft.Powerpoint/converted_emf.emf" TargetMode="External"/><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mailto:vsantiago@upv.es" TargetMode="External"/><Relationship Id="rId2" Type="http://schemas.openxmlformats.org/officeDocument/2006/relationships/hyperlink" Target="mailto:fbrusola@upv.es" TargetMode="External"/><Relationship Id="rId1" Type="http://schemas.openxmlformats.org/officeDocument/2006/relationships/slideLayout" Target="../slideLayouts/slideLayout1.xml"/><Relationship Id="rId4" Type="http://schemas.openxmlformats.org/officeDocument/2006/relationships/hyperlink" Target="mailto:viadro@upvnet.upv.e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www.cogiti.es/Archivos_COGITI/adjuntos/Esquema_atribuciones_profesionales_ITIs.pdf"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www.boe.es/boe/dias/2010/08/06/pdfs/BOE-A-2010-12618.pdf"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hyperlink" Target="https://en.wikipedia.org/wiki/Specification_(technical_standard)" TargetMode="Externa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1.xml"/><Relationship Id="rId4" Type="http://schemas.openxmlformats.org/officeDocument/2006/relationships/image" Target="../media/image24.emf"/></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0C8A5A-B4F5-D747-8E94-ACC997CC5431}"/>
              </a:ext>
            </a:extLst>
          </p:cNvPr>
          <p:cNvSpPr>
            <a:spLocks noGrp="1"/>
          </p:cNvSpPr>
          <p:nvPr>
            <p:ph type="title"/>
          </p:nvPr>
        </p:nvSpPr>
        <p:spPr>
          <a:xfrm>
            <a:off x="2555875" y="1989138"/>
            <a:ext cx="6400800" cy="2376487"/>
          </a:xfrm>
        </p:spPr>
        <p:txBody>
          <a:bodyPr/>
          <a:lstStyle/>
          <a:p>
            <a:pPr>
              <a:defRPr/>
            </a:pPr>
            <a:r>
              <a:rPr lang="es-ES_tradnl" dirty="0">
                <a:solidFill>
                  <a:schemeClr val="tx2">
                    <a:satMod val="130000"/>
                  </a:schemeClr>
                </a:solidFill>
              </a:rPr>
              <a:t>Tema  1:</a:t>
            </a:r>
            <a:br>
              <a:rPr lang="es-ES_tradnl" dirty="0">
                <a:solidFill>
                  <a:schemeClr val="tx2">
                    <a:satMod val="130000"/>
                  </a:schemeClr>
                </a:solidFill>
              </a:rPr>
            </a:br>
            <a:r>
              <a:rPr lang="es-ES_tradnl" sz="3600" dirty="0">
                <a:solidFill>
                  <a:schemeClr val="tx2">
                    <a:satMod val="130000"/>
                  </a:schemeClr>
                </a:solidFill>
              </a:rPr>
              <a:t>Planificación de la asignatura</a:t>
            </a:r>
            <a:endParaRPr lang="es-ES_tradnl" dirty="0"/>
          </a:p>
        </p:txBody>
      </p:sp>
      <p:sp>
        <p:nvSpPr>
          <p:cNvPr id="5" name="1 Título">
            <a:extLst>
              <a:ext uri="{FF2B5EF4-FFF2-40B4-BE49-F238E27FC236}">
                <a16:creationId xmlns:a16="http://schemas.microsoft.com/office/drawing/2014/main" id="{4BC51AE9-982B-7547-B6B1-EB87241F6243}"/>
              </a:ext>
            </a:extLst>
          </p:cNvPr>
          <p:cNvSpPr txBox="1">
            <a:spLocks/>
          </p:cNvSpPr>
          <p:nvPr/>
        </p:nvSpPr>
        <p:spPr>
          <a:xfrm>
            <a:off x="2627313" y="836613"/>
            <a:ext cx="3571875" cy="720725"/>
          </a:xfrm>
          <a:prstGeom prst="rect">
            <a:avLst/>
          </a:prstGeom>
        </p:spPr>
        <p:txBody>
          <a:bodyPr>
            <a:normAutofit/>
          </a:bodyPr>
          <a:lstStyle>
            <a:lvl1pPr eaLnBrk="0" hangingPunct="0">
              <a:defRPr sz="24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defRPr sz="24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defRPr sz="2400">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defRPr sz="24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9pPr>
          </a:lstStyle>
          <a:p>
            <a:pPr eaLnBrk="1" hangingPunct="1">
              <a:lnSpc>
                <a:spcPts val="4500"/>
              </a:lnSpc>
              <a:defRPr/>
            </a:pPr>
            <a:r>
              <a:rPr lang="es-ES_tradnl" altLang="es-ES" sz="2700" b="1" dirty="0">
                <a:solidFill>
                  <a:srgbClr val="572314"/>
                </a:solidFill>
                <a:effectLst>
                  <a:outerShdw blurRad="38100" dist="38100" dir="2700000" algn="tl">
                    <a:srgbClr val="C0C0C0"/>
                  </a:outerShdw>
                </a:effectLst>
              </a:rPr>
              <a:t>OFICINA TÉCNICA</a:t>
            </a:r>
            <a:endParaRPr lang="es-ES" altLang="es-ES" sz="2700" b="1" dirty="0">
              <a:solidFill>
                <a:srgbClr val="572314"/>
              </a:solidFill>
              <a:effectLst>
                <a:outerShdw blurRad="38100" dist="38100" dir="2700000" algn="tl">
                  <a:srgbClr val="C0C0C0"/>
                </a:outerShdw>
              </a:effectLst>
            </a:endParaRPr>
          </a:p>
        </p:txBody>
      </p:sp>
      <p:pic>
        <p:nvPicPr>
          <p:cNvPr id="4" name="Imagen 3">
            <a:extLst>
              <a:ext uri="{FF2B5EF4-FFF2-40B4-BE49-F238E27FC236}">
                <a16:creationId xmlns:a16="http://schemas.microsoft.com/office/drawing/2014/main" id="{40E63008-45BB-7446-8559-2C94A59F93A5}"/>
              </a:ext>
            </a:extLst>
          </p:cNvPr>
          <p:cNvPicPr>
            <a:picLocks noChangeAspect="1"/>
          </p:cNvPicPr>
          <p:nvPr/>
        </p:nvPicPr>
        <p:blipFill>
          <a:blip r:link="rId2"/>
          <a:stretch>
            <a:fillRect/>
          </a:stretch>
        </p:blipFill>
        <p:spPr>
          <a:xfrm>
            <a:off x="1270000" y="1270000"/>
            <a:ext cx="63500" cy="76200"/>
          </a:xfrm>
          <a:prstGeom prst="rect">
            <a:avLst/>
          </a:prstGeom>
        </p:spPr>
      </p:pic>
      <p:pic>
        <p:nvPicPr>
          <p:cNvPr id="6" name="Imagen 5">
            <a:extLst>
              <a:ext uri="{FF2B5EF4-FFF2-40B4-BE49-F238E27FC236}">
                <a16:creationId xmlns:a16="http://schemas.microsoft.com/office/drawing/2014/main" id="{34009C2D-2062-E74E-8DD2-05F34A029EE2}"/>
              </a:ext>
            </a:extLst>
          </p:cNvPr>
          <p:cNvPicPr>
            <a:picLocks noChangeAspect="1"/>
          </p:cNvPicPr>
          <p:nvPr/>
        </p:nvPicPr>
        <p:blipFill>
          <a:blip r:link="rId2"/>
          <a:stretch>
            <a:fillRect/>
          </a:stretch>
        </p:blipFill>
        <p:spPr>
          <a:xfrm>
            <a:off x="1270000" y="1270000"/>
            <a:ext cx="63500" cy="76200"/>
          </a:xfrm>
          <a:prstGeom prst="rect">
            <a:avLst/>
          </a:prstGeom>
        </p:spPr>
      </p:pic>
      <p:pic>
        <p:nvPicPr>
          <p:cNvPr id="7" name="Imagen 6">
            <a:extLst>
              <a:ext uri="{FF2B5EF4-FFF2-40B4-BE49-F238E27FC236}">
                <a16:creationId xmlns:a16="http://schemas.microsoft.com/office/drawing/2014/main" id="{0A49BBE9-BFD4-9940-9524-11173FF39273}"/>
              </a:ext>
            </a:extLst>
          </p:cNvPr>
          <p:cNvPicPr>
            <a:picLocks noChangeAspect="1"/>
          </p:cNvPicPr>
          <p:nvPr/>
        </p:nvPicPr>
        <p:blipFill>
          <a:blip r:link="rId2"/>
          <a:stretch>
            <a:fillRect/>
          </a:stretch>
        </p:blipFill>
        <p:spPr>
          <a:xfrm>
            <a:off x="1270000" y="1270000"/>
            <a:ext cx="63500" cy="76200"/>
          </a:xfrm>
          <a:prstGeom prst="rect">
            <a:avLst/>
          </a:prstGeom>
        </p:spPr>
      </p:pic>
      <p:pic>
        <p:nvPicPr>
          <p:cNvPr id="8" name="Imagen 7">
            <a:extLst>
              <a:ext uri="{FF2B5EF4-FFF2-40B4-BE49-F238E27FC236}">
                <a16:creationId xmlns:a16="http://schemas.microsoft.com/office/drawing/2014/main" id="{5B2E397A-4BBC-B048-94C5-135480A899E1}"/>
              </a:ext>
            </a:extLst>
          </p:cNvPr>
          <p:cNvPicPr>
            <a:picLocks noChangeAspect="1"/>
          </p:cNvPicPr>
          <p:nvPr/>
        </p:nvPicPr>
        <p:blipFill>
          <a:blip r:link="rId2"/>
          <a:stretch>
            <a:fillRect/>
          </a:stretch>
        </p:blipFill>
        <p:spPr>
          <a:xfrm>
            <a:off x="1270000" y="1270000"/>
            <a:ext cx="63500" cy="76200"/>
          </a:xfrm>
          <a:prstGeom prst="rect">
            <a:avLst/>
          </a:prstGeom>
        </p:spPr>
      </p:pic>
      <p:pic>
        <p:nvPicPr>
          <p:cNvPr id="9" name="Imagen 8">
            <a:extLst>
              <a:ext uri="{FF2B5EF4-FFF2-40B4-BE49-F238E27FC236}">
                <a16:creationId xmlns:a16="http://schemas.microsoft.com/office/drawing/2014/main" id="{7E199E29-C6D9-0E41-A2AC-C08F04CBB568}"/>
              </a:ext>
            </a:extLst>
          </p:cNvPr>
          <p:cNvPicPr>
            <a:picLocks noChangeAspect="1"/>
          </p:cNvPicPr>
          <p:nvPr/>
        </p:nvPicPr>
        <p:blipFill>
          <a:blip r:link="rId2"/>
          <a:stretch>
            <a:fillRect/>
          </a:stretch>
        </p:blipFill>
        <p:spPr>
          <a:xfrm>
            <a:off x="1270000" y="1270000"/>
            <a:ext cx="63500" cy="76200"/>
          </a:xfrm>
          <a:prstGeom prst="rect">
            <a:avLst/>
          </a:prstGeom>
        </p:spPr>
      </p:pic>
      <p:pic>
        <p:nvPicPr>
          <p:cNvPr id="10" name="Imagen 9">
            <a:extLst>
              <a:ext uri="{FF2B5EF4-FFF2-40B4-BE49-F238E27FC236}">
                <a16:creationId xmlns:a16="http://schemas.microsoft.com/office/drawing/2014/main" id="{CC603812-8430-1D4B-9974-40005F2E5E8B}"/>
              </a:ext>
            </a:extLst>
          </p:cNvPr>
          <p:cNvPicPr>
            <a:picLocks noChangeAspect="1"/>
          </p:cNvPicPr>
          <p:nvPr/>
        </p:nvPicPr>
        <p:blipFill>
          <a:blip r:link="rId2"/>
          <a:stretch>
            <a:fillRect/>
          </a:stretch>
        </p:blipFill>
        <p:spPr>
          <a:xfrm>
            <a:off x="1270000" y="1270000"/>
            <a:ext cx="63500" cy="76200"/>
          </a:xfrm>
          <a:prstGeom prst="rect">
            <a:avLst/>
          </a:prstGeom>
        </p:spPr>
      </p:pic>
      <p:pic>
        <p:nvPicPr>
          <p:cNvPr id="11" name="Imagen 10">
            <a:extLst>
              <a:ext uri="{FF2B5EF4-FFF2-40B4-BE49-F238E27FC236}">
                <a16:creationId xmlns:a16="http://schemas.microsoft.com/office/drawing/2014/main" id="{D27B8632-C8B7-4D44-9390-B2E111C5CAC2}"/>
              </a:ext>
            </a:extLst>
          </p:cNvPr>
          <p:cNvPicPr>
            <a:picLocks noChangeAspect="1"/>
          </p:cNvPicPr>
          <p:nvPr/>
        </p:nvPicPr>
        <p:blipFill>
          <a:blip r:link="rId2"/>
          <a:stretch>
            <a:fillRect/>
          </a:stretch>
        </p:blipFill>
        <p:spPr>
          <a:xfrm>
            <a:off x="1270000" y="1270000"/>
            <a:ext cx="63500" cy="76200"/>
          </a:xfrm>
          <a:prstGeom prst="rect">
            <a:avLst/>
          </a:prstGeom>
        </p:spPr>
      </p:pic>
      <p:pic>
        <p:nvPicPr>
          <p:cNvPr id="12" name="Imagen 11">
            <a:extLst>
              <a:ext uri="{FF2B5EF4-FFF2-40B4-BE49-F238E27FC236}">
                <a16:creationId xmlns:a16="http://schemas.microsoft.com/office/drawing/2014/main" id="{59980598-2D34-7D47-98B1-60DE92BBAC66}"/>
              </a:ext>
            </a:extLst>
          </p:cNvPr>
          <p:cNvPicPr>
            <a:picLocks noChangeAspect="1"/>
          </p:cNvPicPr>
          <p:nvPr/>
        </p:nvPicPr>
        <p:blipFill>
          <a:blip r:link="rId2"/>
          <a:stretch>
            <a:fillRect/>
          </a:stretch>
        </p:blipFill>
        <p:spPr>
          <a:xfrm>
            <a:off x="1270000" y="1270000"/>
            <a:ext cx="63500" cy="76200"/>
          </a:xfrm>
          <a:prstGeom prst="rect">
            <a:avLst/>
          </a:prstGeom>
        </p:spPr>
      </p:pic>
      <p:pic>
        <p:nvPicPr>
          <p:cNvPr id="13" name="Imagen 12">
            <a:extLst>
              <a:ext uri="{FF2B5EF4-FFF2-40B4-BE49-F238E27FC236}">
                <a16:creationId xmlns:a16="http://schemas.microsoft.com/office/drawing/2014/main" id="{75A92039-9849-C14A-ACFB-D1C6D7038016}"/>
              </a:ext>
            </a:extLst>
          </p:cNvPr>
          <p:cNvPicPr>
            <a:picLocks noChangeAspect="1"/>
          </p:cNvPicPr>
          <p:nvPr/>
        </p:nvPicPr>
        <p:blipFill>
          <a:blip r:link="rId2"/>
          <a:stretch>
            <a:fillRect/>
          </a:stretch>
        </p:blipFill>
        <p:spPr>
          <a:xfrm>
            <a:off x="1270000" y="1270000"/>
            <a:ext cx="63500" cy="76200"/>
          </a:xfrm>
          <a:prstGeom prst="rect">
            <a:avLst/>
          </a:prstGeom>
        </p:spPr>
      </p:pic>
      <p:pic>
        <p:nvPicPr>
          <p:cNvPr id="14" name="Imagen 13">
            <a:extLst>
              <a:ext uri="{FF2B5EF4-FFF2-40B4-BE49-F238E27FC236}">
                <a16:creationId xmlns:a16="http://schemas.microsoft.com/office/drawing/2014/main" id="{50BB8049-69FD-8F47-8DFB-3CE951D576C5}"/>
              </a:ext>
            </a:extLst>
          </p:cNvPr>
          <p:cNvPicPr>
            <a:picLocks noChangeAspect="1"/>
          </p:cNvPicPr>
          <p:nvPr/>
        </p:nvPicPr>
        <p:blipFill>
          <a:blip r:link="rId2"/>
          <a:stretch>
            <a:fillRect/>
          </a:stretch>
        </p:blipFill>
        <p:spPr>
          <a:xfrm>
            <a:off x="1270000" y="1270000"/>
            <a:ext cx="63500" cy="76200"/>
          </a:xfrm>
          <a:prstGeom prst="rect">
            <a:avLst/>
          </a:prstGeom>
        </p:spPr>
      </p:pic>
      <p:pic>
        <p:nvPicPr>
          <p:cNvPr id="15" name="Imagen 14">
            <a:extLst>
              <a:ext uri="{FF2B5EF4-FFF2-40B4-BE49-F238E27FC236}">
                <a16:creationId xmlns:a16="http://schemas.microsoft.com/office/drawing/2014/main" id="{15F69D10-D3B9-0945-B12F-C427B43ED210}"/>
              </a:ext>
            </a:extLst>
          </p:cNvPr>
          <p:cNvPicPr>
            <a:picLocks noChangeAspect="1"/>
          </p:cNvPicPr>
          <p:nvPr/>
        </p:nvPicPr>
        <p:blipFill>
          <a:blip r:link="rId2"/>
          <a:stretch>
            <a:fillRect/>
          </a:stretch>
        </p:blipFill>
        <p:spPr>
          <a:xfrm>
            <a:off x="1270000" y="1270000"/>
            <a:ext cx="63500" cy="76200"/>
          </a:xfrm>
          <a:prstGeom prst="rect">
            <a:avLst/>
          </a:prstGeom>
        </p:spPr>
      </p:pic>
      <p:pic>
        <p:nvPicPr>
          <p:cNvPr id="16" name="Imagen 15">
            <a:extLst>
              <a:ext uri="{FF2B5EF4-FFF2-40B4-BE49-F238E27FC236}">
                <a16:creationId xmlns:a16="http://schemas.microsoft.com/office/drawing/2014/main" id="{3BA8071A-279C-BA4F-934D-6B684DD926A2}"/>
              </a:ext>
            </a:extLst>
          </p:cNvPr>
          <p:cNvPicPr>
            <a:picLocks noChangeAspect="1"/>
          </p:cNvPicPr>
          <p:nvPr/>
        </p:nvPicPr>
        <p:blipFill>
          <a:blip r:link="rId2"/>
          <a:stretch>
            <a:fillRect/>
          </a:stretch>
        </p:blipFill>
        <p:spPr>
          <a:xfrm>
            <a:off x="1270000" y="1270000"/>
            <a:ext cx="63500" cy="76200"/>
          </a:xfrm>
          <a:prstGeom prst="rect">
            <a:avLst/>
          </a:prstGeom>
        </p:spPr>
      </p:pic>
      <p:pic>
        <p:nvPicPr>
          <p:cNvPr id="17" name="Imagen 16">
            <a:extLst>
              <a:ext uri="{FF2B5EF4-FFF2-40B4-BE49-F238E27FC236}">
                <a16:creationId xmlns:a16="http://schemas.microsoft.com/office/drawing/2014/main" id="{12916041-003D-FC40-9EBC-A38ABFB0AA47}"/>
              </a:ext>
            </a:extLst>
          </p:cNvPr>
          <p:cNvPicPr>
            <a:picLocks noChangeAspect="1"/>
          </p:cNvPicPr>
          <p:nvPr/>
        </p:nvPicPr>
        <p:blipFill>
          <a:blip r:link="rId2"/>
          <a:stretch>
            <a:fillRect/>
          </a:stretch>
        </p:blipFill>
        <p:spPr>
          <a:xfrm>
            <a:off x="1270000" y="1270000"/>
            <a:ext cx="63500" cy="76200"/>
          </a:xfrm>
          <a:prstGeom prst="rect">
            <a:avLst/>
          </a:prstGeom>
        </p:spPr>
      </p:pic>
      <p:pic>
        <p:nvPicPr>
          <p:cNvPr id="18" name="Imagen 17">
            <a:extLst>
              <a:ext uri="{FF2B5EF4-FFF2-40B4-BE49-F238E27FC236}">
                <a16:creationId xmlns:a16="http://schemas.microsoft.com/office/drawing/2014/main" id="{E8C351B4-CE35-1F4D-A9C1-F75590CD1E2F}"/>
              </a:ext>
            </a:extLst>
          </p:cNvPr>
          <p:cNvPicPr>
            <a:picLocks noChangeAspect="1"/>
          </p:cNvPicPr>
          <p:nvPr/>
        </p:nvPicPr>
        <p:blipFill>
          <a:blip r:link="rId2"/>
          <a:stretch>
            <a:fillRect/>
          </a:stretch>
        </p:blipFill>
        <p:spPr>
          <a:xfrm>
            <a:off x="1270000" y="1270000"/>
            <a:ext cx="63500" cy="76200"/>
          </a:xfrm>
          <a:prstGeom prst="rect">
            <a:avLst/>
          </a:prstGeom>
        </p:spPr>
      </p:pic>
      <p:pic>
        <p:nvPicPr>
          <p:cNvPr id="19" name="Imagen 18">
            <a:extLst>
              <a:ext uri="{FF2B5EF4-FFF2-40B4-BE49-F238E27FC236}">
                <a16:creationId xmlns:a16="http://schemas.microsoft.com/office/drawing/2014/main" id="{BBF5B551-90E4-AB4A-AFB8-26E7E0B6ECF1}"/>
              </a:ext>
            </a:extLst>
          </p:cNvPr>
          <p:cNvPicPr>
            <a:picLocks noChangeAspect="1"/>
          </p:cNvPicPr>
          <p:nvPr/>
        </p:nvPicPr>
        <p:blipFill>
          <a:blip r:link="rId2"/>
          <a:stretch>
            <a:fillRect/>
          </a:stretch>
        </p:blipFill>
        <p:spPr>
          <a:xfrm>
            <a:off x="1270000" y="1270000"/>
            <a:ext cx="63500" cy="76200"/>
          </a:xfrm>
          <a:prstGeom prst="rect">
            <a:avLst/>
          </a:prstGeom>
        </p:spPr>
      </p:pic>
      <p:pic>
        <p:nvPicPr>
          <p:cNvPr id="20" name="Imagen 19">
            <a:extLst>
              <a:ext uri="{FF2B5EF4-FFF2-40B4-BE49-F238E27FC236}">
                <a16:creationId xmlns:a16="http://schemas.microsoft.com/office/drawing/2014/main" id="{758FFD0F-5221-8B45-A2A4-24A3188D04C8}"/>
              </a:ext>
            </a:extLst>
          </p:cNvPr>
          <p:cNvPicPr>
            <a:picLocks noChangeAspect="1"/>
          </p:cNvPicPr>
          <p:nvPr/>
        </p:nvPicPr>
        <p:blipFill>
          <a:blip r:link="rId2"/>
          <a:stretch>
            <a:fillRect/>
          </a:stretch>
        </p:blipFill>
        <p:spPr>
          <a:xfrm>
            <a:off x="1270000" y="1270000"/>
            <a:ext cx="63500" cy="76200"/>
          </a:xfrm>
          <a:prstGeom prst="rect">
            <a:avLst/>
          </a:prstGeom>
        </p:spPr>
      </p:pic>
      <p:pic>
        <p:nvPicPr>
          <p:cNvPr id="21" name="Imagen 20">
            <a:extLst>
              <a:ext uri="{FF2B5EF4-FFF2-40B4-BE49-F238E27FC236}">
                <a16:creationId xmlns:a16="http://schemas.microsoft.com/office/drawing/2014/main" id="{D4FE0F2C-40B8-F442-A633-7D1C5BB3C953}"/>
              </a:ext>
            </a:extLst>
          </p:cNvPr>
          <p:cNvPicPr>
            <a:picLocks noChangeAspect="1"/>
          </p:cNvPicPr>
          <p:nvPr/>
        </p:nvPicPr>
        <p:blipFill>
          <a:blip r:link="rId2"/>
          <a:stretch>
            <a:fillRect/>
          </a:stretch>
        </p:blipFill>
        <p:spPr>
          <a:xfrm>
            <a:off x="1270000" y="1270000"/>
            <a:ext cx="63500" cy="76200"/>
          </a:xfrm>
          <a:prstGeom prst="rect">
            <a:avLst/>
          </a:prstGeom>
        </p:spPr>
      </p:pic>
      <p:pic>
        <p:nvPicPr>
          <p:cNvPr id="22" name="Imagen 21">
            <a:extLst>
              <a:ext uri="{FF2B5EF4-FFF2-40B4-BE49-F238E27FC236}">
                <a16:creationId xmlns:a16="http://schemas.microsoft.com/office/drawing/2014/main" id="{F50BA85B-9C2A-9445-AA35-1E6C45BC02D9}"/>
              </a:ext>
            </a:extLst>
          </p:cNvPr>
          <p:cNvPicPr>
            <a:picLocks noChangeAspect="1"/>
          </p:cNvPicPr>
          <p:nvPr/>
        </p:nvPicPr>
        <p:blipFill>
          <a:blip r:link="rId2"/>
          <a:stretch>
            <a:fillRect/>
          </a:stretch>
        </p:blipFill>
        <p:spPr>
          <a:xfrm>
            <a:off x="1270000" y="1270000"/>
            <a:ext cx="63500" cy="76200"/>
          </a:xfrm>
          <a:prstGeom prst="rect">
            <a:avLst/>
          </a:prstGeom>
        </p:spPr>
      </p:pic>
      <p:pic>
        <p:nvPicPr>
          <p:cNvPr id="23" name="Imagen 22">
            <a:extLst>
              <a:ext uri="{FF2B5EF4-FFF2-40B4-BE49-F238E27FC236}">
                <a16:creationId xmlns:a16="http://schemas.microsoft.com/office/drawing/2014/main" id="{5FAA1A93-48CC-3048-97A0-A6016185F42B}"/>
              </a:ext>
            </a:extLst>
          </p:cNvPr>
          <p:cNvPicPr>
            <a:picLocks noChangeAspect="1"/>
          </p:cNvPicPr>
          <p:nvPr/>
        </p:nvPicPr>
        <p:blipFill>
          <a:blip r:link="rId2"/>
          <a:stretch>
            <a:fillRect/>
          </a:stretch>
        </p:blipFill>
        <p:spPr>
          <a:xfrm>
            <a:off x="1270000" y="1270000"/>
            <a:ext cx="63500" cy="76200"/>
          </a:xfrm>
          <a:prstGeom prst="rect">
            <a:avLst/>
          </a:prstGeom>
        </p:spPr>
      </p:pic>
      <p:pic>
        <p:nvPicPr>
          <p:cNvPr id="24" name="Imagen 23">
            <a:extLst>
              <a:ext uri="{FF2B5EF4-FFF2-40B4-BE49-F238E27FC236}">
                <a16:creationId xmlns:a16="http://schemas.microsoft.com/office/drawing/2014/main" id="{EAE72BEF-4677-494B-A91E-A6ED51D3DAE4}"/>
              </a:ext>
            </a:extLst>
          </p:cNvPr>
          <p:cNvPicPr>
            <a:picLocks noChangeAspect="1"/>
          </p:cNvPicPr>
          <p:nvPr/>
        </p:nvPicPr>
        <p:blipFill>
          <a:blip r:link="rId2"/>
          <a:stretch>
            <a:fillRect/>
          </a:stretch>
        </p:blipFill>
        <p:spPr>
          <a:xfrm>
            <a:off x="1270000" y="1270000"/>
            <a:ext cx="63500" cy="76200"/>
          </a:xfrm>
          <a:prstGeom prst="rect">
            <a:avLst/>
          </a:prstGeom>
        </p:spPr>
      </p:pic>
      <p:pic>
        <p:nvPicPr>
          <p:cNvPr id="25" name="Imagen 24">
            <a:extLst>
              <a:ext uri="{FF2B5EF4-FFF2-40B4-BE49-F238E27FC236}">
                <a16:creationId xmlns:a16="http://schemas.microsoft.com/office/drawing/2014/main" id="{B64CF5E2-6C96-DC46-B714-25113013D418}"/>
              </a:ext>
            </a:extLst>
          </p:cNvPr>
          <p:cNvPicPr>
            <a:picLocks noChangeAspect="1"/>
          </p:cNvPicPr>
          <p:nvPr/>
        </p:nvPicPr>
        <p:blipFill>
          <a:blip r:link="rId2"/>
          <a:stretch>
            <a:fillRect/>
          </a:stretch>
        </p:blipFill>
        <p:spPr>
          <a:xfrm>
            <a:off x="1270000" y="1270000"/>
            <a:ext cx="63500" cy="76200"/>
          </a:xfrm>
          <a:prstGeom prst="rect">
            <a:avLst/>
          </a:prstGeom>
        </p:spPr>
      </p:pic>
      <p:pic>
        <p:nvPicPr>
          <p:cNvPr id="26" name="Imagen 25">
            <a:extLst>
              <a:ext uri="{FF2B5EF4-FFF2-40B4-BE49-F238E27FC236}">
                <a16:creationId xmlns:a16="http://schemas.microsoft.com/office/drawing/2014/main" id="{E69C3FD5-67DA-7049-971B-EABA8009AFE9}"/>
              </a:ext>
            </a:extLst>
          </p:cNvPr>
          <p:cNvPicPr>
            <a:picLocks noChangeAspect="1"/>
          </p:cNvPicPr>
          <p:nvPr/>
        </p:nvPicPr>
        <p:blipFill>
          <a:blip r:link="rId2"/>
          <a:stretch>
            <a:fillRect/>
          </a:stretch>
        </p:blipFill>
        <p:spPr>
          <a:xfrm>
            <a:off x="1270000" y="1270000"/>
            <a:ext cx="63500" cy="76200"/>
          </a:xfrm>
          <a:prstGeom prst="rect">
            <a:avLst/>
          </a:prstGeom>
        </p:spPr>
      </p:pic>
      <p:pic>
        <p:nvPicPr>
          <p:cNvPr id="27" name="Imagen 26">
            <a:extLst>
              <a:ext uri="{FF2B5EF4-FFF2-40B4-BE49-F238E27FC236}">
                <a16:creationId xmlns:a16="http://schemas.microsoft.com/office/drawing/2014/main" id="{BDD1DFAE-F329-0B44-8A06-F2ABE10AFE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28" name="Imagen 27">
            <a:extLst>
              <a:ext uri="{FF2B5EF4-FFF2-40B4-BE49-F238E27FC236}">
                <a16:creationId xmlns:a16="http://schemas.microsoft.com/office/drawing/2014/main" id="{30D82893-0CB9-2D4A-B5DB-E4299CF642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29" name="Imagen 28">
            <a:extLst>
              <a:ext uri="{FF2B5EF4-FFF2-40B4-BE49-F238E27FC236}">
                <a16:creationId xmlns:a16="http://schemas.microsoft.com/office/drawing/2014/main" id="{E845994E-1099-7645-811A-3D7EA2A706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0" name="Imagen 29">
            <a:extLst>
              <a:ext uri="{FF2B5EF4-FFF2-40B4-BE49-F238E27FC236}">
                <a16:creationId xmlns:a16="http://schemas.microsoft.com/office/drawing/2014/main" id="{30370AE7-011C-8D4E-9DE6-43B2AF6820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1" name="Imagen 30">
            <a:extLst>
              <a:ext uri="{FF2B5EF4-FFF2-40B4-BE49-F238E27FC236}">
                <a16:creationId xmlns:a16="http://schemas.microsoft.com/office/drawing/2014/main" id="{65AA2659-B48F-6B40-A8BB-CF5E4A7FC0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2" name="Imagen 31">
            <a:extLst>
              <a:ext uri="{FF2B5EF4-FFF2-40B4-BE49-F238E27FC236}">
                <a16:creationId xmlns:a16="http://schemas.microsoft.com/office/drawing/2014/main" id="{CC6B8173-C9F7-5244-915D-67278B734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3" name="Imagen 32">
            <a:extLst>
              <a:ext uri="{FF2B5EF4-FFF2-40B4-BE49-F238E27FC236}">
                <a16:creationId xmlns:a16="http://schemas.microsoft.com/office/drawing/2014/main" id="{0ED98D60-0B9D-A44A-B7A4-53DBBCCAF5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4" name="Imagen 33">
            <a:extLst>
              <a:ext uri="{FF2B5EF4-FFF2-40B4-BE49-F238E27FC236}">
                <a16:creationId xmlns:a16="http://schemas.microsoft.com/office/drawing/2014/main" id="{6A00B1EF-6029-9C4C-8F89-E2343033C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5" name="Imagen 34">
            <a:extLst>
              <a:ext uri="{FF2B5EF4-FFF2-40B4-BE49-F238E27FC236}">
                <a16:creationId xmlns:a16="http://schemas.microsoft.com/office/drawing/2014/main" id="{2AB3454D-1AD4-914B-961B-7F4347E9BE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6" name="Imagen 35">
            <a:extLst>
              <a:ext uri="{FF2B5EF4-FFF2-40B4-BE49-F238E27FC236}">
                <a16:creationId xmlns:a16="http://schemas.microsoft.com/office/drawing/2014/main" id="{B3052672-23D3-7E43-A4DF-CC5F332769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7" name="Imagen 36">
            <a:extLst>
              <a:ext uri="{FF2B5EF4-FFF2-40B4-BE49-F238E27FC236}">
                <a16:creationId xmlns:a16="http://schemas.microsoft.com/office/drawing/2014/main" id="{2EAA6639-AA09-E345-B41F-77469947E4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8" name="Imagen 37">
            <a:extLst>
              <a:ext uri="{FF2B5EF4-FFF2-40B4-BE49-F238E27FC236}">
                <a16:creationId xmlns:a16="http://schemas.microsoft.com/office/drawing/2014/main" id="{236CCE5C-0B89-294B-AF9B-975CA30983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39" name="Imagen 38">
            <a:extLst>
              <a:ext uri="{FF2B5EF4-FFF2-40B4-BE49-F238E27FC236}">
                <a16:creationId xmlns:a16="http://schemas.microsoft.com/office/drawing/2014/main" id="{20889A44-410D-F343-BB85-A8CEFC35AB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0" name="Imagen 39">
            <a:extLst>
              <a:ext uri="{FF2B5EF4-FFF2-40B4-BE49-F238E27FC236}">
                <a16:creationId xmlns:a16="http://schemas.microsoft.com/office/drawing/2014/main" id="{718B062B-1FA8-5D46-8C0C-34F8A56434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1" name="Imagen 40">
            <a:extLst>
              <a:ext uri="{FF2B5EF4-FFF2-40B4-BE49-F238E27FC236}">
                <a16:creationId xmlns:a16="http://schemas.microsoft.com/office/drawing/2014/main" id="{D0A8E77F-2303-FB48-8D6E-31923741FA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2" name="Imagen 41">
            <a:extLst>
              <a:ext uri="{FF2B5EF4-FFF2-40B4-BE49-F238E27FC236}">
                <a16:creationId xmlns:a16="http://schemas.microsoft.com/office/drawing/2014/main" id="{B4B18C81-B6D9-D140-A156-B8AECAE48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3" name="Imagen 42">
            <a:extLst>
              <a:ext uri="{FF2B5EF4-FFF2-40B4-BE49-F238E27FC236}">
                <a16:creationId xmlns:a16="http://schemas.microsoft.com/office/drawing/2014/main" id="{0892BEA7-7A4F-EB47-9DD3-ADA90EFA2A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4" name="Imagen 43">
            <a:extLst>
              <a:ext uri="{FF2B5EF4-FFF2-40B4-BE49-F238E27FC236}">
                <a16:creationId xmlns:a16="http://schemas.microsoft.com/office/drawing/2014/main" id="{70A95DD8-6C23-F24C-B2EF-5B832B5E63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5" name="Imagen 44">
            <a:extLst>
              <a:ext uri="{FF2B5EF4-FFF2-40B4-BE49-F238E27FC236}">
                <a16:creationId xmlns:a16="http://schemas.microsoft.com/office/drawing/2014/main" id="{2A8AD3DD-87E4-174E-99DE-FDC8C4F12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6" name="Imagen 45">
            <a:extLst>
              <a:ext uri="{FF2B5EF4-FFF2-40B4-BE49-F238E27FC236}">
                <a16:creationId xmlns:a16="http://schemas.microsoft.com/office/drawing/2014/main" id="{C3C685A5-369A-F84C-BFA8-9FF4E74515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7" name="Imagen 46">
            <a:extLst>
              <a:ext uri="{FF2B5EF4-FFF2-40B4-BE49-F238E27FC236}">
                <a16:creationId xmlns:a16="http://schemas.microsoft.com/office/drawing/2014/main" id="{32C15EF0-B9F8-A146-BD8A-D7B41B4740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8" name="Imagen 47">
            <a:extLst>
              <a:ext uri="{FF2B5EF4-FFF2-40B4-BE49-F238E27FC236}">
                <a16:creationId xmlns:a16="http://schemas.microsoft.com/office/drawing/2014/main" id="{7455015B-02BD-BC42-B797-BB2D5ED238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49" name="Imagen 48">
            <a:extLst>
              <a:ext uri="{FF2B5EF4-FFF2-40B4-BE49-F238E27FC236}">
                <a16:creationId xmlns:a16="http://schemas.microsoft.com/office/drawing/2014/main" id="{C674D42B-0F51-F847-8959-159D6C9EB2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0" name="Imagen 49">
            <a:extLst>
              <a:ext uri="{FF2B5EF4-FFF2-40B4-BE49-F238E27FC236}">
                <a16:creationId xmlns:a16="http://schemas.microsoft.com/office/drawing/2014/main" id="{4CEFF60D-0652-57C1-860D-092DCF8FB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1" name="Imagen 50">
            <a:extLst>
              <a:ext uri="{FF2B5EF4-FFF2-40B4-BE49-F238E27FC236}">
                <a16:creationId xmlns:a16="http://schemas.microsoft.com/office/drawing/2014/main" id="{F8D89B1A-BDE3-FFF6-970E-6B959AC0F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2" name="Imagen 51">
            <a:extLst>
              <a:ext uri="{FF2B5EF4-FFF2-40B4-BE49-F238E27FC236}">
                <a16:creationId xmlns:a16="http://schemas.microsoft.com/office/drawing/2014/main" id="{C15CFA76-5DD2-04C7-BFFF-C24FC2BC74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3" name="Imagen 52">
            <a:extLst>
              <a:ext uri="{FF2B5EF4-FFF2-40B4-BE49-F238E27FC236}">
                <a16:creationId xmlns:a16="http://schemas.microsoft.com/office/drawing/2014/main" id="{030B0219-C2DE-8317-44A9-12FABF1BA6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4" name="Imagen 53">
            <a:extLst>
              <a:ext uri="{FF2B5EF4-FFF2-40B4-BE49-F238E27FC236}">
                <a16:creationId xmlns:a16="http://schemas.microsoft.com/office/drawing/2014/main" id="{68E49188-1DD2-6A8E-18B4-1269D63CD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5" name="Imagen 54">
            <a:extLst>
              <a:ext uri="{FF2B5EF4-FFF2-40B4-BE49-F238E27FC236}">
                <a16:creationId xmlns:a16="http://schemas.microsoft.com/office/drawing/2014/main" id="{50E62DE1-7F59-EAAF-87E9-7729C2622C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6" name="Imagen 55">
            <a:extLst>
              <a:ext uri="{FF2B5EF4-FFF2-40B4-BE49-F238E27FC236}">
                <a16:creationId xmlns:a16="http://schemas.microsoft.com/office/drawing/2014/main" id="{46767C98-D512-1870-C37D-D10799DF81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7" name="Imagen 56">
            <a:extLst>
              <a:ext uri="{FF2B5EF4-FFF2-40B4-BE49-F238E27FC236}">
                <a16:creationId xmlns:a16="http://schemas.microsoft.com/office/drawing/2014/main" id="{3DB200D0-DEAD-AF52-163B-0D9465CA3C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8" name="Imagen 57">
            <a:extLst>
              <a:ext uri="{FF2B5EF4-FFF2-40B4-BE49-F238E27FC236}">
                <a16:creationId xmlns:a16="http://schemas.microsoft.com/office/drawing/2014/main" id="{7B3D2DB8-49DA-0281-47D4-609BC23235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1270000"/>
            <a:ext cx="63500" cy="76200"/>
          </a:xfrm>
          <a:prstGeom prst="rect">
            <a:avLst/>
          </a:prstGeom>
        </p:spPr>
      </p:pic>
      <p:pic>
        <p:nvPicPr>
          <p:cNvPr id="59" name="Imagen 58">
            <a:extLst>
              <a:ext uri="{FF2B5EF4-FFF2-40B4-BE49-F238E27FC236}">
                <a16:creationId xmlns:a16="http://schemas.microsoft.com/office/drawing/2014/main" id="{63B1E393-E3EB-B1D8-192F-FEC0D3292413}"/>
              </a:ext>
            </a:extLst>
          </p:cNvPr>
          <p:cNvPicPr>
            <a:picLocks noChangeAspect="1"/>
          </p:cNvPicPr>
          <p:nvPr/>
        </p:nvPicPr>
        <p:blipFill>
          <a:blip r:embed="rId4"/>
          <a:stretch>
            <a:fillRect/>
          </a:stretch>
        </p:blipFill>
        <p:spPr>
          <a:xfrm>
            <a:off x="1270000" y="1270000"/>
            <a:ext cx="63500" cy="76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25E254FA-4307-4A45-A097-E04E523AD85A}"/>
              </a:ext>
            </a:extLst>
          </p:cNvPr>
          <p:cNvSpPr>
            <a:spLocks noGrp="1"/>
          </p:cNvSpPr>
          <p:nvPr>
            <p:ph type="ctrTitle"/>
          </p:nvPr>
        </p:nvSpPr>
        <p:spPr>
          <a:xfrm>
            <a:off x="1401555" y="260350"/>
            <a:ext cx="7407275" cy="147161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dirty="0">
                <a:effectLst>
                  <a:outerShdw blurRad="38100" dist="38100" dir="2700000" algn="tl">
                    <a:srgbClr val="C0C0C0"/>
                  </a:outerShdw>
                </a:effectLst>
                <a:ea typeface="ＭＳ Ｐゴシック" panose="020B0600070205080204" pitchFamily="34" charset="-128"/>
              </a:rPr>
              <a:t>Planificación de la asignatura</a:t>
            </a:r>
          </a:p>
        </p:txBody>
      </p:sp>
      <p:sp>
        <p:nvSpPr>
          <p:cNvPr id="15362" name="2 Subtítulo">
            <a:extLst>
              <a:ext uri="{FF2B5EF4-FFF2-40B4-BE49-F238E27FC236}">
                <a16:creationId xmlns:a16="http://schemas.microsoft.com/office/drawing/2014/main" id="{3F13F916-97DE-5E47-8582-B1024BFE481F}"/>
              </a:ext>
            </a:extLst>
          </p:cNvPr>
          <p:cNvSpPr>
            <a:spLocks noGrp="1"/>
          </p:cNvSpPr>
          <p:nvPr>
            <p:ph type="subTitle" idx="1"/>
          </p:nvPr>
        </p:nvSpPr>
        <p:spPr>
          <a:xfrm>
            <a:off x="1403350" y="1844675"/>
            <a:ext cx="7407275" cy="4752975"/>
          </a:xfrm>
        </p:spPr>
        <p:txBody>
          <a:bodyPr/>
          <a:lstStyle/>
          <a:p>
            <a:pPr marL="26988" eaLnBrk="1" hangingPunct="1">
              <a:lnSpc>
                <a:spcPct val="80000"/>
              </a:lnSpc>
            </a:pPr>
            <a:r>
              <a:rPr lang="es-ES_tradnl" altLang="es-ES" sz="2000" dirty="0">
                <a:solidFill>
                  <a:srgbClr val="320E04"/>
                </a:solidFill>
                <a:ea typeface="ＭＳ Ｐゴシック" panose="020B0600070205080204" pitchFamily="34" charset="-128"/>
              </a:rPr>
              <a:t>Resumen:</a:t>
            </a:r>
          </a:p>
          <a:p>
            <a:pPr marL="26988" eaLnBrk="1" hangingPunct="1">
              <a:lnSpc>
                <a:spcPct val="80000"/>
              </a:lnSpc>
            </a:pPr>
            <a:r>
              <a:rPr lang="es-ES_tradnl" altLang="es-ES" sz="2000" dirty="0">
                <a:solidFill>
                  <a:srgbClr val="320E04"/>
                </a:solidFill>
                <a:ea typeface="ＭＳ Ｐゴシック" panose="020B0600070205080204" pitchFamily="34" charset="-128"/>
              </a:rPr>
              <a:t>Esta asignatura está relacionada con el trabajo que los ingenieros industriales pueden realizar como profesionales o como miembros de un departamento o empresa de ingeniería.  </a:t>
            </a:r>
          </a:p>
          <a:p>
            <a:pPr marL="26988" eaLnBrk="1" hangingPunct="1">
              <a:lnSpc>
                <a:spcPct val="80000"/>
              </a:lnSpc>
            </a:pPr>
            <a:r>
              <a:rPr lang="es-ES_tradnl" altLang="es-ES" sz="2000" dirty="0">
                <a:solidFill>
                  <a:srgbClr val="320E04"/>
                </a:solidFill>
                <a:ea typeface="ＭＳ Ｐゴシック" panose="020B0600070205080204" pitchFamily="34" charset="-128"/>
              </a:rPr>
              <a:t>Consideraremos la Oficina Técnica (OT) desde tres perspectivas:</a:t>
            </a:r>
          </a:p>
          <a:p>
            <a:pPr marL="26988" eaLnBrk="1" hangingPunct="1">
              <a:lnSpc>
                <a:spcPct val="80000"/>
              </a:lnSpc>
            </a:pPr>
            <a:r>
              <a:rPr lang="es-ES_tradnl" altLang="es-ES" sz="2000" b="1" dirty="0">
                <a:solidFill>
                  <a:srgbClr val="320E04"/>
                </a:solidFill>
                <a:ea typeface="ＭＳ Ｐゴシック" panose="020B0600070205080204" pitchFamily="34" charset="-128"/>
              </a:rPr>
              <a:t>OT como un departamento de ingeniería</a:t>
            </a:r>
            <a:r>
              <a:rPr lang="es-ES_tradnl" altLang="es-ES" sz="2000" dirty="0">
                <a:solidFill>
                  <a:srgbClr val="320E04"/>
                </a:solidFill>
                <a:ea typeface="ＭＳ Ｐゴシック" panose="020B0600070205080204" pitchFamily="34" charset="-128"/>
              </a:rPr>
              <a:t>, que proporciona asistencia técnica o ingeniería a la empresa.</a:t>
            </a:r>
          </a:p>
          <a:p>
            <a:pPr marL="26988" eaLnBrk="1" hangingPunct="1">
              <a:lnSpc>
                <a:spcPct val="80000"/>
              </a:lnSpc>
            </a:pPr>
            <a:r>
              <a:rPr lang="es-ES_tradnl" altLang="es-ES" sz="2000" b="1" dirty="0">
                <a:solidFill>
                  <a:srgbClr val="320E04"/>
                </a:solidFill>
                <a:ea typeface="ＭＳ Ｐゴシック" panose="020B0600070205080204" pitchFamily="34" charset="-128"/>
              </a:rPr>
              <a:t>OT como empresa</a:t>
            </a:r>
            <a:r>
              <a:rPr lang="es-ES_tradnl" altLang="es-ES" sz="2000" dirty="0">
                <a:solidFill>
                  <a:srgbClr val="320E04"/>
                </a:solidFill>
                <a:ea typeface="ＭＳ Ｐゴシック" panose="020B0600070205080204" pitchFamily="34" charset="-128"/>
              </a:rPr>
              <a:t>, que vende ingeniería o asistencia técnica (know-how) a otras empresas.</a:t>
            </a:r>
          </a:p>
          <a:p>
            <a:pPr marL="26988" eaLnBrk="1" hangingPunct="1">
              <a:lnSpc>
                <a:spcPct val="80000"/>
              </a:lnSpc>
            </a:pPr>
            <a:r>
              <a:rPr lang="es-ES_tradnl" altLang="es-ES" sz="2000" b="1" dirty="0">
                <a:solidFill>
                  <a:srgbClr val="320E04"/>
                </a:solidFill>
                <a:ea typeface="ＭＳ Ｐゴシック" panose="020B0600070205080204" pitchFamily="34" charset="-128"/>
              </a:rPr>
              <a:t>OT del ingeniero como profesional en el ejercicio libre</a:t>
            </a:r>
            <a:r>
              <a:rPr lang="es-ES_tradnl" altLang="es-ES" sz="2000" dirty="0">
                <a:solidFill>
                  <a:srgbClr val="320E04"/>
                </a:solidFill>
                <a:ea typeface="ＭＳ Ｐゴシック" panose="020B0600070205080204" pitchFamily="34" charset="-128"/>
              </a:rPr>
              <a:t>, es decir, como trabajador autónomo. </a:t>
            </a:r>
          </a:p>
          <a:p>
            <a:pPr marL="26988" eaLnBrk="1" hangingPunct="1">
              <a:lnSpc>
                <a:spcPct val="80000"/>
              </a:lnSpc>
            </a:pPr>
            <a:r>
              <a:rPr lang="es-ES_tradnl" altLang="es-ES" sz="2000" dirty="0">
                <a:solidFill>
                  <a:srgbClr val="320E04"/>
                </a:solidFill>
                <a:ea typeface="ＭＳ Ｐゴシック" panose="020B0600070205080204" pitchFamily="34" charset="-128"/>
              </a:rPr>
              <a:t>En la práctica, OT puede tener muchas denominaciones: </a:t>
            </a:r>
          </a:p>
          <a:p>
            <a:pPr marL="26988" eaLnBrk="1" hangingPunct="1">
              <a:lnSpc>
                <a:spcPct val="80000"/>
              </a:lnSpc>
            </a:pPr>
            <a:r>
              <a:rPr lang="es-ES_tradnl" altLang="es-ES" sz="2000" i="1" dirty="0">
                <a:solidFill>
                  <a:srgbClr val="320E04"/>
                </a:solidFill>
                <a:ea typeface="ＭＳ Ｐゴシック" panose="020B0600070205080204" pitchFamily="34" charset="-128"/>
              </a:rPr>
              <a:t>Departamento de Ingeniería, Departamento de Proyectos, Departamento de Investigación y Desarrollo, Departamento de Diseño, Departamento de Productos, Empresa de Ingeniería, Consultoría, Oficina de Proyectos, Oficina Técnica </a:t>
            </a:r>
            <a:r>
              <a:rPr lang="es-ES_tradnl" altLang="es-ES" sz="2000" dirty="0">
                <a:solidFill>
                  <a:srgbClr val="320E04"/>
                </a:solidFill>
                <a:ea typeface="ＭＳ Ｐゴシック" panose="020B0600070205080204" pitchFamily="34" charset="-128"/>
              </a:rPr>
              <a:t>y otras.</a:t>
            </a:r>
          </a:p>
          <a:p>
            <a:pPr marL="26988" eaLnBrk="1" hangingPunct="1">
              <a:lnSpc>
                <a:spcPct val="80000"/>
              </a:lnSpc>
            </a:pPr>
            <a:endParaRPr lang="en-US" altLang="es-ES" sz="2000" dirty="0">
              <a:solidFill>
                <a:srgbClr val="320E04"/>
              </a:solidFill>
              <a:ea typeface="ＭＳ Ｐゴシック"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D03D733F-B42D-B643-BC9E-2E2BFCC2C111}"/>
              </a:ext>
            </a:extLst>
          </p:cNvPr>
          <p:cNvSpPr>
            <a:spLocks noGrp="1"/>
          </p:cNvSpPr>
          <p:nvPr>
            <p:ph type="subTitle" idx="1"/>
          </p:nvPr>
        </p:nvSpPr>
        <p:spPr>
          <a:xfrm>
            <a:off x="1431925" y="1849438"/>
            <a:ext cx="7407275" cy="4459287"/>
          </a:xfrm>
        </p:spPr>
        <p:txBody>
          <a:bodyPr>
            <a:normAutofit fontScale="70000" lnSpcReduction="20000"/>
          </a:bodyPr>
          <a:lstStyle/>
          <a:p>
            <a:pPr eaLnBrk="1" fontAlgn="auto" hangingPunct="1">
              <a:spcAft>
                <a:spcPts val="0"/>
              </a:spcAft>
              <a:defRPr/>
            </a:pPr>
            <a:r>
              <a:rPr lang="es-ES_tradnl" dirty="0">
                <a:ea typeface="+mn-ea"/>
                <a:cs typeface="+mn-cs"/>
              </a:rPr>
              <a:t>Objetivos:</a:t>
            </a:r>
          </a:p>
          <a:p>
            <a:pPr eaLnBrk="1" fontAlgn="auto" hangingPunct="1">
              <a:spcAft>
                <a:spcPts val="0"/>
              </a:spcAft>
              <a:defRPr/>
            </a:pPr>
            <a:endParaRPr lang="es-ES_tradnl" dirty="0">
              <a:ea typeface="+mn-ea"/>
              <a:cs typeface="+mn-cs"/>
            </a:endParaRPr>
          </a:p>
          <a:p>
            <a:pPr marL="541782" indent="-514350" eaLnBrk="1" fontAlgn="auto" hangingPunct="1">
              <a:spcAft>
                <a:spcPts val="0"/>
              </a:spcAft>
              <a:buFont typeface="+mj-lt"/>
              <a:buAutoNum type="arabicPeriod"/>
              <a:defRPr/>
            </a:pPr>
            <a:r>
              <a:rPr lang="es-ES_tradnl" dirty="0">
                <a:ea typeface="+mn-ea"/>
                <a:cs typeface="+mn-cs"/>
              </a:rPr>
              <a:t>Proporcionar información sobre la organización de un departamento de ingeniería y los papeles que desempeñan en ellos los ingenieros.</a:t>
            </a:r>
          </a:p>
          <a:p>
            <a:pPr marL="541782" indent="-514350" eaLnBrk="1" fontAlgn="auto" hangingPunct="1">
              <a:spcAft>
                <a:spcPts val="0"/>
              </a:spcAft>
              <a:buFont typeface="+mj-lt"/>
              <a:buAutoNum type="arabicPeriod"/>
              <a:defRPr/>
            </a:pPr>
            <a:r>
              <a:rPr lang="es-ES_tradnl" dirty="0">
                <a:ea typeface="+mn-ea"/>
                <a:cs typeface="+mn-cs"/>
              </a:rPr>
              <a:t>Conocer las atribuciones profesionales de un ingeniero colegiado.</a:t>
            </a:r>
          </a:p>
          <a:p>
            <a:pPr marL="541782" indent="-514350" eaLnBrk="1" fontAlgn="auto" hangingPunct="1">
              <a:spcAft>
                <a:spcPts val="0"/>
              </a:spcAft>
              <a:buFont typeface="+mj-lt"/>
              <a:buAutoNum type="arabicPeriod"/>
              <a:defRPr/>
            </a:pPr>
            <a:r>
              <a:rPr lang="es-ES_tradnl" dirty="0">
                <a:ea typeface="+mn-ea"/>
                <a:cs typeface="+mn-cs"/>
              </a:rPr>
              <a:t>Conocer los servicios prestados por los colegios oficiales de ingenieros.</a:t>
            </a:r>
          </a:p>
          <a:p>
            <a:pPr marL="541782" indent="-514350" eaLnBrk="1" fontAlgn="auto" hangingPunct="1">
              <a:spcAft>
                <a:spcPts val="0"/>
              </a:spcAft>
              <a:buFont typeface="+mj-lt"/>
              <a:buAutoNum type="arabicPeriod"/>
              <a:defRPr/>
            </a:pPr>
            <a:r>
              <a:rPr lang="es-ES_tradnl" dirty="0">
                <a:ea typeface="+mn-ea"/>
                <a:cs typeface="+mn-cs"/>
              </a:rPr>
              <a:t>Comprender los conceptos relacionados con la gestión de un proyecto de ingeniería y los tipos y características de los proyectos que puede realizar un ingeniero.</a:t>
            </a:r>
          </a:p>
          <a:p>
            <a:pPr marL="541782" indent="-514350" eaLnBrk="1" fontAlgn="auto" hangingPunct="1">
              <a:spcAft>
                <a:spcPts val="0"/>
              </a:spcAft>
              <a:buFont typeface="+mj-lt"/>
              <a:buAutoNum type="arabicPeriod"/>
              <a:defRPr/>
            </a:pPr>
            <a:r>
              <a:rPr lang="es-ES_tradnl" dirty="0">
                <a:ea typeface="+mn-ea"/>
                <a:cs typeface="+mn-cs"/>
              </a:rPr>
              <a:t>Conocer los aspectos jurídicos de un proyecto de ingeniería.</a:t>
            </a:r>
          </a:p>
          <a:p>
            <a:pPr marL="541782" indent="-514350" eaLnBrk="1" fontAlgn="auto" hangingPunct="1">
              <a:spcAft>
                <a:spcPts val="0"/>
              </a:spcAft>
              <a:buFont typeface="+mj-lt"/>
              <a:buAutoNum type="arabicPeriod"/>
              <a:defRPr/>
            </a:pPr>
            <a:r>
              <a:rPr lang="es-ES_tradnl" dirty="0">
                <a:ea typeface="+mn-ea"/>
                <a:cs typeface="+mn-cs"/>
              </a:rPr>
              <a:t>Desarrollar la capacidad de redacción técnica necesaria para desarrollar  o dirigir un proyecto.</a:t>
            </a:r>
          </a:p>
          <a:p>
            <a:pPr marL="541782" indent="-514350" eaLnBrk="1" fontAlgn="auto" hangingPunct="1">
              <a:spcAft>
                <a:spcPts val="0"/>
              </a:spcAft>
              <a:buFont typeface="+mj-lt"/>
              <a:buAutoNum type="arabicPeriod"/>
              <a:defRPr/>
            </a:pPr>
            <a:r>
              <a:rPr lang="es-ES_tradnl" dirty="0">
                <a:ea typeface="+mn-ea"/>
                <a:cs typeface="+mn-cs"/>
              </a:rPr>
              <a:t>Desarrollar habilidades necesarias para la confección de especificaciones técnicas, preparación de ofertas y presupuestos relacionados con el desarrollo de proyectos de ingeniería o cualquier otra práctica profesional.</a:t>
            </a:r>
          </a:p>
          <a:p>
            <a:pPr eaLnBrk="1" fontAlgn="auto" hangingPunct="1">
              <a:spcAft>
                <a:spcPts val="0"/>
              </a:spcAft>
              <a:defRPr/>
            </a:pPr>
            <a:endParaRPr lang="es-ES_tradnl" dirty="0">
              <a:ea typeface="+mn-ea"/>
              <a:cs typeface="+mn-cs"/>
            </a:endParaRPr>
          </a:p>
          <a:p>
            <a:pPr eaLnBrk="1" fontAlgn="auto" hangingPunct="1">
              <a:spcAft>
                <a:spcPts val="0"/>
              </a:spcAft>
              <a:buFont typeface="Wingdings 2"/>
              <a:buNone/>
              <a:defRPr/>
            </a:pPr>
            <a:endParaRPr lang="es-ES" dirty="0">
              <a:ea typeface="+mn-ea"/>
              <a:cs typeface="+mn-cs"/>
            </a:endParaRPr>
          </a:p>
        </p:txBody>
      </p:sp>
      <p:sp>
        <p:nvSpPr>
          <p:cNvPr id="6" name="1 Título">
            <a:extLst>
              <a:ext uri="{FF2B5EF4-FFF2-40B4-BE49-F238E27FC236}">
                <a16:creationId xmlns:a16="http://schemas.microsoft.com/office/drawing/2014/main" id="{FA791A38-CC9C-EC46-9F55-EE1A506719F6}"/>
              </a:ext>
            </a:extLst>
          </p:cNvPr>
          <p:cNvSpPr>
            <a:spLocks noGrp="1"/>
          </p:cNvSpPr>
          <p:nvPr>
            <p:ph type="ctrTitle"/>
          </p:nvPr>
        </p:nvSpPr>
        <p:spPr>
          <a:xfrm>
            <a:off x="1401555" y="260350"/>
            <a:ext cx="7407275" cy="147161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dirty="0">
                <a:effectLst>
                  <a:outerShdw blurRad="38100" dist="38100" dir="2700000" algn="tl">
                    <a:srgbClr val="C0C0C0"/>
                  </a:outerShdw>
                </a:effectLst>
                <a:ea typeface="ＭＳ Ｐゴシック" panose="020B0600070205080204" pitchFamily="34" charset="-128"/>
              </a:rPr>
              <a:t>Planificación de la asignatura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A2EC07BE-E9AA-C05C-99FE-73907DF6E438}"/>
              </a:ext>
            </a:extLst>
          </p:cNvPr>
          <p:cNvGraphicFramePr>
            <a:graphicFrameLocks noGrp="1"/>
          </p:cNvGraphicFramePr>
          <p:nvPr>
            <p:extLst>
              <p:ext uri="{D42A27DB-BD31-4B8C-83A1-F6EECF244321}">
                <p14:modId xmlns:p14="http://schemas.microsoft.com/office/powerpoint/2010/main" val="1826633905"/>
              </p:ext>
            </p:extLst>
          </p:nvPr>
        </p:nvGraphicFramePr>
        <p:xfrm>
          <a:off x="0" y="18584"/>
          <a:ext cx="9144001" cy="6839416"/>
        </p:xfrm>
        <a:graphic>
          <a:graphicData uri="http://schemas.openxmlformats.org/drawingml/2006/table">
            <a:tbl>
              <a:tblPr firstRow="1" firstCol="1" bandRow="1">
                <a:tableStyleId>{5C22544A-7EE6-4342-B048-85BDC9FD1C3A}</a:tableStyleId>
              </a:tblPr>
              <a:tblGrid>
                <a:gridCol w="1101137">
                  <a:extLst>
                    <a:ext uri="{9D8B030D-6E8A-4147-A177-3AD203B41FA5}">
                      <a16:colId xmlns:a16="http://schemas.microsoft.com/office/drawing/2014/main" val="1405554391"/>
                    </a:ext>
                  </a:extLst>
                </a:gridCol>
                <a:gridCol w="5040139">
                  <a:extLst>
                    <a:ext uri="{9D8B030D-6E8A-4147-A177-3AD203B41FA5}">
                      <a16:colId xmlns:a16="http://schemas.microsoft.com/office/drawing/2014/main" val="2403328225"/>
                    </a:ext>
                  </a:extLst>
                </a:gridCol>
                <a:gridCol w="987084">
                  <a:extLst>
                    <a:ext uri="{9D8B030D-6E8A-4147-A177-3AD203B41FA5}">
                      <a16:colId xmlns:a16="http://schemas.microsoft.com/office/drawing/2014/main" val="528786397"/>
                    </a:ext>
                  </a:extLst>
                </a:gridCol>
                <a:gridCol w="987084">
                  <a:extLst>
                    <a:ext uri="{9D8B030D-6E8A-4147-A177-3AD203B41FA5}">
                      <a16:colId xmlns:a16="http://schemas.microsoft.com/office/drawing/2014/main" val="2554446213"/>
                    </a:ext>
                  </a:extLst>
                </a:gridCol>
                <a:gridCol w="1028557">
                  <a:extLst>
                    <a:ext uri="{9D8B030D-6E8A-4147-A177-3AD203B41FA5}">
                      <a16:colId xmlns:a16="http://schemas.microsoft.com/office/drawing/2014/main" val="1732777303"/>
                    </a:ext>
                  </a:extLst>
                </a:gridCol>
              </a:tblGrid>
              <a:tr h="736203">
                <a:tc>
                  <a:txBody>
                    <a:bodyPr/>
                    <a:lstStyle/>
                    <a:p>
                      <a:pPr algn="ctr"/>
                      <a:r>
                        <a:rPr lang="es-ES" sz="1400">
                          <a:effectLst/>
                          <a:latin typeface="Times New Roman" panose="02020603050405020304" pitchFamily="18" charset="0"/>
                          <a:cs typeface="Times New Roman" panose="02020603050405020304" pitchFamily="18" charset="0"/>
                        </a:rPr>
                        <a:t>Fecha</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Actividad</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Capítulo de [1]</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Tema</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Entrega de ejercicio</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1654792505"/>
                  </a:ext>
                </a:extLst>
              </a:tr>
              <a:tr h="363557">
                <a:tc>
                  <a:txBody>
                    <a:bodyPr/>
                    <a:lstStyle/>
                    <a:p>
                      <a:pPr algn="ctr"/>
                      <a:r>
                        <a:rPr lang="es-ES" sz="1400">
                          <a:effectLst/>
                          <a:latin typeface="Times New Roman" panose="02020603050405020304" pitchFamily="18" charset="0"/>
                          <a:cs typeface="Times New Roman" panose="02020603050405020304" pitchFamily="18" charset="0"/>
                        </a:rPr>
                        <a:t>09/09/24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Presentación de la asignatura</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T1</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endParaRPr lang="es-ES" sz="1400">
                        <a:effectLst/>
                        <a:latin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80431332"/>
                  </a:ext>
                </a:extLst>
              </a:tr>
              <a:tr h="363557">
                <a:tc>
                  <a:txBody>
                    <a:bodyPr/>
                    <a:lstStyle/>
                    <a:p>
                      <a:pPr algn="ctr"/>
                      <a:r>
                        <a:rPr lang="es-ES" sz="1400">
                          <a:effectLst/>
                          <a:latin typeface="Times New Roman" panose="02020603050405020304" pitchFamily="18" charset="0"/>
                          <a:cs typeface="Times New Roman" panose="02020603050405020304" pitchFamily="18" charset="0"/>
                        </a:rPr>
                        <a:t>16/09/24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Ejercicio libre de la profesión</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1.3</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T2</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641323581"/>
                  </a:ext>
                </a:extLst>
              </a:tr>
              <a:tr h="490802">
                <a:tc>
                  <a:txBody>
                    <a:bodyPr/>
                    <a:lstStyle/>
                    <a:p>
                      <a:pPr algn="ctr"/>
                      <a:r>
                        <a:rPr lang="es-ES" sz="1400">
                          <a:effectLst/>
                          <a:latin typeface="Times New Roman" panose="02020603050405020304" pitchFamily="18" charset="0"/>
                          <a:cs typeface="Times New Roman" panose="02020603050405020304" pitchFamily="18" charset="0"/>
                        </a:rPr>
                        <a:t>23/09/24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Proyecto: Conceptos y clasificación – Redacción de textos técnicos. Memoria (Inicio E0)</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3.1</a:t>
                      </a:r>
                    </a:p>
                    <a:p>
                      <a:pPr algn="ctr"/>
                      <a:r>
                        <a:rPr lang="es-ES" sz="1400">
                          <a:effectLst/>
                          <a:latin typeface="Times New Roman" panose="02020603050405020304" pitchFamily="18" charset="0"/>
                          <a:cs typeface="Times New Roman" panose="02020603050405020304" pitchFamily="18" charset="0"/>
                        </a:rPr>
                        <a:t>3.2</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T3 - T4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24320838"/>
                  </a:ext>
                </a:extLst>
              </a:tr>
              <a:tr h="363557">
                <a:tc>
                  <a:txBody>
                    <a:bodyPr/>
                    <a:lstStyle/>
                    <a:p>
                      <a:pPr algn="ctr"/>
                      <a:r>
                        <a:rPr lang="es-ES" sz="1400">
                          <a:effectLst/>
                          <a:latin typeface="Times New Roman" panose="02020603050405020304" pitchFamily="18" charset="0"/>
                          <a:cs typeface="Times New Roman" panose="02020603050405020304" pitchFamily="18" charset="0"/>
                        </a:rPr>
                        <a:t>30/09/24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Memoria - Conferencia COGITIVAL</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2.1</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A1-T3</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endParaRPr lang="es-ES" sz="1400">
                        <a:effectLst/>
                        <a:latin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3992767790"/>
                  </a:ext>
                </a:extLst>
              </a:tr>
              <a:tr h="363557">
                <a:tc>
                  <a:txBody>
                    <a:bodyPr/>
                    <a:lstStyle/>
                    <a:p>
                      <a:pPr algn="ctr"/>
                      <a:r>
                        <a:rPr lang="es-ES" sz="1400">
                          <a:effectLst/>
                          <a:latin typeface="Times New Roman" panose="02020603050405020304" pitchFamily="18" charset="0"/>
                          <a:cs typeface="Times New Roman" panose="02020603050405020304" pitchFamily="18" charset="0"/>
                        </a:rPr>
                        <a:t>07/10/24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Directrices para la confección de planos y dibujos técnicos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3.3</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T5</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endParaRPr lang="es-ES" sz="1400">
                        <a:effectLst/>
                        <a:latin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919752605"/>
                  </a:ext>
                </a:extLst>
              </a:tr>
              <a:tr h="490802">
                <a:tc>
                  <a:txBody>
                    <a:bodyPr/>
                    <a:lstStyle/>
                    <a:p>
                      <a:pPr algn="ctr"/>
                      <a:r>
                        <a:rPr lang="es-ES" sz="1400">
                          <a:effectLst/>
                          <a:latin typeface="Times New Roman" panose="02020603050405020304" pitchFamily="18" charset="0"/>
                          <a:cs typeface="Times New Roman" panose="02020603050405020304" pitchFamily="18" charset="0"/>
                        </a:rPr>
                        <a:t>14/10/24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Ejercicio sobre planos de conjunto de dispositivos electrónicos (inicio E1)</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T5</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E0</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1226089371"/>
                  </a:ext>
                </a:extLst>
              </a:tr>
              <a:tr h="363557">
                <a:tc>
                  <a:txBody>
                    <a:bodyPr/>
                    <a:lstStyle/>
                    <a:p>
                      <a:pPr algn="ctr"/>
                      <a:r>
                        <a:rPr lang="es-ES" sz="1400">
                          <a:effectLst/>
                          <a:latin typeface="Times New Roman" panose="02020603050405020304" pitchFamily="18" charset="0"/>
                          <a:cs typeface="Times New Roman" panose="02020603050405020304" pitchFamily="18" charset="0"/>
                        </a:rPr>
                        <a:t>21/10/24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Redacción de especificaciones técnicas (inicio E2)</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3.4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T6</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E1</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3927064816"/>
                  </a:ext>
                </a:extLst>
              </a:tr>
              <a:tr h="363557">
                <a:tc>
                  <a:txBody>
                    <a:bodyPr/>
                    <a:lstStyle/>
                    <a:p>
                      <a:pPr algn="ctr"/>
                      <a:r>
                        <a:rPr lang="es-ES" sz="1400">
                          <a:effectLst/>
                          <a:latin typeface="Times New Roman" panose="02020603050405020304" pitchFamily="18" charset="0"/>
                          <a:cs typeface="Times New Roman" panose="02020603050405020304" pitchFamily="18" charset="0"/>
                        </a:rPr>
                        <a:t>28/10/24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Ejercicios sobre especificaciones técnicas (Comienzo E3-E4)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3.4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endParaRPr lang="es-ES" sz="1400">
                        <a:effectLst/>
                        <a:latin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1829598677"/>
                  </a:ext>
                </a:extLst>
              </a:tr>
              <a:tr h="363557">
                <a:tc>
                  <a:txBody>
                    <a:bodyPr/>
                    <a:lstStyle/>
                    <a:p>
                      <a:pPr algn="ctr"/>
                      <a:r>
                        <a:rPr lang="es-ES" sz="1400">
                          <a:effectLst/>
                          <a:latin typeface="Times New Roman" panose="02020603050405020304" pitchFamily="18" charset="0"/>
                          <a:cs typeface="Times New Roman" panose="02020603050405020304" pitchFamily="18" charset="0"/>
                        </a:rPr>
                        <a:t>04/11/24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gridSpan="4">
                  <a:txBody>
                    <a:bodyPr/>
                    <a:lstStyle/>
                    <a:p>
                      <a:pPr algn="ctr"/>
                      <a:r>
                        <a:rPr lang="es-ES" sz="1400">
                          <a:effectLst/>
                          <a:latin typeface="Times New Roman" panose="02020603050405020304" pitchFamily="18" charset="0"/>
                          <a:cs typeface="Times New Roman" panose="02020603050405020304" pitchFamily="18" charset="0"/>
                        </a:rPr>
                        <a:t>CLASES SUSPENDIDAS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184856285"/>
                  </a:ext>
                </a:extLst>
              </a:tr>
              <a:tr h="363557">
                <a:tc>
                  <a:txBody>
                    <a:bodyPr/>
                    <a:lstStyle/>
                    <a:p>
                      <a:pPr algn="ctr"/>
                      <a:r>
                        <a:rPr lang="es-ES" sz="1400">
                          <a:effectLst/>
                          <a:latin typeface="Times New Roman" panose="02020603050405020304" pitchFamily="18" charset="0"/>
                          <a:cs typeface="Times New Roman" panose="02020603050405020304" pitchFamily="18" charset="0"/>
                        </a:rPr>
                        <a:t>11/11/24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Presupuesto (E5 – ejemplo, inicio E6)</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3.5</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T7</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E5</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2275759957"/>
                  </a:ext>
                </a:extLst>
              </a:tr>
              <a:tr h="386279">
                <a:tc>
                  <a:txBody>
                    <a:bodyPr/>
                    <a:lstStyle/>
                    <a:p>
                      <a:pPr algn="ctr"/>
                      <a:r>
                        <a:rPr lang="es-ES" sz="1400">
                          <a:effectLst/>
                          <a:latin typeface="Times New Roman" panose="02020603050405020304" pitchFamily="18" charset="0"/>
                          <a:cs typeface="Times New Roman" panose="02020603050405020304" pitchFamily="18" charset="0"/>
                        </a:rPr>
                        <a:t>18/11/24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Ejercicios sobre presupuestos (Inicio E7-E8)</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E2-E3</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474329051"/>
                  </a:ext>
                </a:extLst>
              </a:tr>
              <a:tr h="363557">
                <a:tc>
                  <a:txBody>
                    <a:bodyPr/>
                    <a:lstStyle/>
                    <a:p>
                      <a:pPr algn="ctr"/>
                      <a:r>
                        <a:rPr lang="es-ES" sz="1400">
                          <a:effectLst/>
                          <a:latin typeface="Times New Roman" panose="02020603050405020304" pitchFamily="18" charset="0"/>
                          <a:cs typeface="Times New Roman" panose="02020603050405020304" pitchFamily="18" charset="0"/>
                        </a:rPr>
                        <a:t>25/11/24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Estudio económico (inicio E9)</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3.6</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T8</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E6</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714960414"/>
                  </a:ext>
                </a:extLst>
              </a:tr>
              <a:tr h="363557">
                <a:tc>
                  <a:txBody>
                    <a:bodyPr/>
                    <a:lstStyle/>
                    <a:p>
                      <a:pPr algn="ctr"/>
                      <a:r>
                        <a:rPr lang="es-ES" sz="1400">
                          <a:effectLst/>
                          <a:latin typeface="Times New Roman" panose="02020603050405020304" pitchFamily="18" charset="0"/>
                          <a:cs typeface="Times New Roman" panose="02020603050405020304" pitchFamily="18" charset="0"/>
                        </a:rPr>
                        <a:t>02/12/24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Ejercicios sobre el estudio económico (inicio E10 – E11)</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E7</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642259810"/>
                  </a:ext>
                </a:extLst>
              </a:tr>
              <a:tr h="736203">
                <a:tc>
                  <a:txBody>
                    <a:bodyPr/>
                    <a:lstStyle/>
                    <a:p>
                      <a:pPr algn="ctr"/>
                      <a:r>
                        <a:rPr lang="es-ES" sz="1400">
                          <a:effectLst/>
                          <a:latin typeface="Times New Roman" panose="02020603050405020304" pitchFamily="18" charset="0"/>
                          <a:cs typeface="Times New Roman" panose="02020603050405020304" pitchFamily="18" charset="0"/>
                        </a:rPr>
                        <a:t>09/12/24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Organización de una empresa de ingeniería (Visita o Charla). Normas para la presentación de proyectos fin de carrera en la ETSID (T10)</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1.2</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T9/A2-T10</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E10-E11</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3584475742"/>
                  </a:ext>
                </a:extLst>
              </a:tr>
              <a:tr h="363557">
                <a:tc>
                  <a:txBody>
                    <a:bodyPr/>
                    <a:lstStyle/>
                    <a:p>
                      <a:pPr algn="ctr"/>
                      <a:r>
                        <a:rPr lang="es-ES" sz="1400">
                          <a:effectLst/>
                          <a:latin typeface="Times New Roman" panose="02020603050405020304" pitchFamily="18" charset="0"/>
                          <a:cs typeface="Times New Roman" panose="02020603050405020304" pitchFamily="18" charset="0"/>
                        </a:rPr>
                        <a:t>16/12/24</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just"/>
                      <a:r>
                        <a:rPr lang="es-ES" sz="1400">
                          <a:effectLst/>
                          <a:latin typeface="Times New Roman" panose="02020603050405020304" pitchFamily="18" charset="0"/>
                          <a:cs typeface="Times New Roman" panose="02020603050405020304" pitchFamily="18" charset="0"/>
                        </a:rPr>
                        <a:t>Revisión de ejercicios de clase</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a:effectLst/>
                          <a:latin typeface="Times New Roman" panose="02020603050405020304" pitchFamily="18" charset="0"/>
                          <a:cs typeface="Times New Roman" panose="02020603050405020304" pitchFamily="18" charset="0"/>
                        </a:rPr>
                        <a:t> </a:t>
                      </a:r>
                      <a:endParaRPr lang="es-E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tc>
                  <a:txBody>
                    <a:bodyPr/>
                    <a:lstStyle/>
                    <a:p>
                      <a:pPr algn="ctr"/>
                      <a:r>
                        <a:rPr lang="es-ES" sz="1400" dirty="0">
                          <a:effectLst/>
                          <a:latin typeface="Times New Roman" panose="02020603050405020304" pitchFamily="18" charset="0"/>
                          <a:cs typeface="Times New Roman" panose="02020603050405020304" pitchFamily="18" charset="0"/>
                        </a:rPr>
                        <a:t> </a:t>
                      </a:r>
                      <a:endParaRPr lang="es-E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4450" marR="44450" marT="0" marB="0" anchor="ctr"/>
                </a:tc>
                <a:extLst>
                  <a:ext uri="{0D108BD9-81ED-4DB2-BD59-A6C34878D82A}">
                    <a16:rowId xmlns:a16="http://schemas.microsoft.com/office/drawing/2014/main" val="12966796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248316F7-7745-0F4A-82F2-E5D342F63464}"/>
              </a:ext>
            </a:extLst>
          </p:cNvPr>
          <p:cNvSpPr>
            <a:spLocks noGrp="1"/>
          </p:cNvSpPr>
          <p:nvPr>
            <p:ph type="subTitle" idx="1"/>
          </p:nvPr>
        </p:nvSpPr>
        <p:spPr>
          <a:xfrm>
            <a:off x="1431925" y="1849438"/>
            <a:ext cx="7407275" cy="4459287"/>
          </a:xfrm>
        </p:spPr>
        <p:txBody>
          <a:bodyPr>
            <a:normAutofit lnSpcReduction="10000"/>
          </a:bodyPr>
          <a:lstStyle/>
          <a:p>
            <a:pPr eaLnBrk="1" fontAlgn="auto" hangingPunct="1">
              <a:spcAft>
                <a:spcPts val="0"/>
              </a:spcAft>
              <a:defRPr/>
            </a:pPr>
            <a:r>
              <a:rPr lang="es-ES_tradnl" sz="2000" b="1" dirty="0">
                <a:ea typeface="+mn-ea"/>
                <a:cs typeface="+mn-cs"/>
              </a:rPr>
              <a:t>Actividades y metodología:</a:t>
            </a:r>
          </a:p>
          <a:p>
            <a:pPr eaLnBrk="1" fontAlgn="auto" hangingPunct="1">
              <a:spcAft>
                <a:spcPts val="0"/>
              </a:spcAft>
              <a:defRPr/>
            </a:pPr>
            <a:r>
              <a:rPr lang="es-ES_tradnl" sz="2000" dirty="0">
                <a:ea typeface="+mn-ea"/>
                <a:cs typeface="+mn-cs"/>
              </a:rPr>
              <a:t>Por lo general, cada tema de la agenda se desarrollará de acuerdo con el siguiente esquema:</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Exposición teórica (T1 a T10), con especial énfasis en los conceptos más importantes.</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Propuesta y resolución de preguntas, ejercicios o problemas por parte del profesor.</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Propuesta y resolución de preguntas, ejercicios o problemas por parte del alumno (E1 a E10).</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Revisión de los objetivos para el desarrollo del proyecto (O1 a O10).</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Revisión final de los documentos del proyecto.</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Organización de actividades complementarias (conferencias, visitas).</a:t>
            </a:r>
            <a:endParaRPr lang="es-ES" sz="2200"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sp>
        <p:nvSpPr>
          <p:cNvPr id="6" name="1 Título">
            <a:extLst>
              <a:ext uri="{FF2B5EF4-FFF2-40B4-BE49-F238E27FC236}">
                <a16:creationId xmlns:a16="http://schemas.microsoft.com/office/drawing/2014/main" id="{4C7C855B-5534-2349-8329-7033BBC9F23C}"/>
              </a:ext>
            </a:extLst>
          </p:cNvPr>
          <p:cNvSpPr>
            <a:spLocks noGrp="1"/>
          </p:cNvSpPr>
          <p:nvPr>
            <p:ph type="ctrTitle"/>
          </p:nvPr>
        </p:nvSpPr>
        <p:spPr>
          <a:xfrm>
            <a:off x="1401555" y="157187"/>
            <a:ext cx="7407275" cy="147161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dirty="0">
                <a:effectLst>
                  <a:outerShdw blurRad="38100" dist="38100" dir="2700000" algn="tl">
                    <a:srgbClr val="C0C0C0"/>
                  </a:outerShdw>
                </a:effectLst>
                <a:ea typeface="ＭＳ Ｐゴシック" panose="020B0600070205080204" pitchFamily="34" charset="-128"/>
              </a:rPr>
              <a:t>Planificación de la asignatura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E79BAC8F-E7A4-4042-BE28-B2E518B9C4EA}"/>
              </a:ext>
            </a:extLst>
          </p:cNvPr>
          <p:cNvSpPr>
            <a:spLocks noGrp="1"/>
          </p:cNvSpPr>
          <p:nvPr>
            <p:ph type="subTitle" idx="1"/>
          </p:nvPr>
        </p:nvSpPr>
        <p:spPr>
          <a:xfrm>
            <a:off x="1431925" y="1849438"/>
            <a:ext cx="7407275" cy="4531889"/>
          </a:xfrm>
        </p:spPr>
        <p:txBody>
          <a:bodyPr>
            <a:normAutofit fontScale="92500" lnSpcReduction="10000"/>
          </a:bodyPr>
          <a:lstStyle/>
          <a:p>
            <a:pPr eaLnBrk="1" fontAlgn="auto" hangingPunct="1">
              <a:spcAft>
                <a:spcPts val="0"/>
              </a:spcAft>
              <a:defRPr/>
            </a:pPr>
            <a:r>
              <a:rPr lang="es-ES_tradnl" sz="2000" b="1" dirty="0">
                <a:ea typeface="+mn-ea"/>
                <a:cs typeface="+mn-cs"/>
              </a:rPr>
              <a:t>Proyecto:</a:t>
            </a:r>
          </a:p>
          <a:p>
            <a:pPr eaLnBrk="1" fontAlgn="auto" hangingPunct="1">
              <a:spcAft>
                <a:spcPts val="0"/>
              </a:spcAft>
              <a:defRPr/>
            </a:pPr>
            <a:r>
              <a:rPr lang="es-ES_tradnl" sz="2000" dirty="0">
                <a:ea typeface="+mn-ea"/>
                <a:cs typeface="+mn-cs"/>
              </a:rPr>
              <a:t>Será obligatorio realizar un proyecto técnico como el mencionado en la diapositiva anterior.</a:t>
            </a:r>
          </a:p>
          <a:p>
            <a:pPr eaLnBrk="1" fontAlgn="auto" hangingPunct="1">
              <a:spcAft>
                <a:spcPts val="0"/>
              </a:spcAft>
              <a:defRPr/>
            </a:pPr>
            <a:r>
              <a:rPr lang="es-ES_tradnl" sz="2000" dirty="0">
                <a:ea typeface="+mn-ea"/>
                <a:cs typeface="+mn-cs"/>
              </a:rPr>
              <a:t>El proyecto será supervisado por el profesor.</a:t>
            </a:r>
          </a:p>
          <a:p>
            <a:pPr eaLnBrk="1" fontAlgn="auto" hangingPunct="1">
              <a:spcAft>
                <a:spcPts val="0"/>
              </a:spcAft>
              <a:defRPr/>
            </a:pPr>
            <a:r>
              <a:rPr lang="es-ES_tradnl" sz="2000" dirty="0">
                <a:ea typeface="+mn-ea"/>
                <a:cs typeface="+mn-cs"/>
              </a:rPr>
              <a:t>Los proyectos pueden ser realizados por grupos de hasta cinco estudiantes.</a:t>
            </a:r>
          </a:p>
          <a:p>
            <a:pPr eaLnBrk="1" fontAlgn="auto" hangingPunct="1">
              <a:spcAft>
                <a:spcPts val="0"/>
              </a:spcAft>
              <a:defRPr/>
            </a:pPr>
            <a:r>
              <a:rPr lang="es-ES_tradnl" sz="2000" dirty="0">
                <a:ea typeface="+mn-ea"/>
                <a:cs typeface="+mn-cs"/>
              </a:rPr>
              <a:t>Los alumnos con dispensa de asistencia a clase deberán formar grupo de proyectos con compañeros que se encuentren en la misma condición de dispensa. En principio, solamente habrá un grupo de dispensa para la ejecución del proyecto.</a:t>
            </a:r>
          </a:p>
          <a:p>
            <a:pPr eaLnBrk="1" fontAlgn="auto" hangingPunct="1">
              <a:spcAft>
                <a:spcPts val="0"/>
              </a:spcAft>
              <a:defRPr/>
            </a:pPr>
            <a:r>
              <a:rPr lang="es-ES_tradnl" sz="2000" dirty="0">
                <a:ea typeface="+mn-ea"/>
                <a:cs typeface="+mn-cs"/>
              </a:rPr>
              <a:t>Los estudiantes pueden elegir libremente el tema del proyecto (sujeto a la aceptación del profesor).</a:t>
            </a:r>
          </a:p>
          <a:p>
            <a:pPr eaLnBrk="1" fontAlgn="auto" hangingPunct="1">
              <a:spcAft>
                <a:spcPts val="0"/>
              </a:spcAft>
              <a:defRPr/>
            </a:pPr>
            <a:r>
              <a:rPr lang="es-ES_tradnl" sz="2000" dirty="0">
                <a:ea typeface="+mn-ea"/>
                <a:cs typeface="+mn-cs"/>
              </a:rPr>
              <a:t>El cumplimiento del calendario del proyecto será supervisado por el profesor.</a:t>
            </a: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sp>
        <p:nvSpPr>
          <p:cNvPr id="7" name="1 Título">
            <a:extLst>
              <a:ext uri="{FF2B5EF4-FFF2-40B4-BE49-F238E27FC236}">
                <a16:creationId xmlns:a16="http://schemas.microsoft.com/office/drawing/2014/main" id="{486484A3-F947-3749-B74E-CFAE51C21D38}"/>
              </a:ext>
            </a:extLst>
          </p:cNvPr>
          <p:cNvSpPr>
            <a:spLocks noGrp="1"/>
          </p:cNvSpPr>
          <p:nvPr>
            <p:ph type="ctrTitle"/>
          </p:nvPr>
        </p:nvSpPr>
        <p:spPr>
          <a:xfrm>
            <a:off x="1401555" y="157187"/>
            <a:ext cx="7407275" cy="147161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dirty="0">
                <a:effectLst>
                  <a:outerShdw blurRad="38100" dist="38100" dir="2700000" algn="tl">
                    <a:srgbClr val="C0C0C0"/>
                  </a:outerShdw>
                </a:effectLst>
                <a:ea typeface="ＭＳ Ｐゴシック" panose="020B0600070205080204" pitchFamily="34" charset="-128"/>
              </a:rPr>
              <a:t>Planificación de la asignatura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79703B50-52B1-8A47-A9A1-50E6D8F9F62E}"/>
              </a:ext>
            </a:extLst>
          </p:cNvPr>
          <p:cNvSpPr>
            <a:spLocks noGrp="1"/>
          </p:cNvSpPr>
          <p:nvPr>
            <p:ph type="subTitle" idx="1"/>
          </p:nvPr>
        </p:nvSpPr>
        <p:spPr>
          <a:xfrm>
            <a:off x="1431925" y="1849438"/>
            <a:ext cx="7407275" cy="5008562"/>
          </a:xfrm>
        </p:spPr>
        <p:txBody>
          <a:bodyPr>
            <a:normAutofit/>
          </a:bodyPr>
          <a:lstStyle/>
          <a:p>
            <a:pPr eaLnBrk="1" fontAlgn="auto" hangingPunct="1">
              <a:spcAft>
                <a:spcPts val="0"/>
              </a:spcAft>
              <a:defRPr/>
            </a:pPr>
            <a:r>
              <a:rPr lang="es-ES_tradnl" sz="2000" b="1" dirty="0">
                <a:ea typeface="+mn-ea"/>
                <a:cs typeface="+mn-cs"/>
              </a:rPr>
              <a:t>Evaluación:</a:t>
            </a:r>
          </a:p>
          <a:p>
            <a:pPr eaLnBrk="1" fontAlgn="auto" hangingPunct="1">
              <a:spcAft>
                <a:spcPts val="0"/>
              </a:spcAft>
              <a:defRPr/>
            </a:pPr>
            <a:r>
              <a:rPr lang="es-ES_tradnl" sz="2000" dirty="0">
                <a:ea typeface="+mn-ea"/>
                <a:cs typeface="+mn-cs"/>
              </a:rPr>
              <a:t>La calificación final obtenida corresponderá con el promedio ponderado de las calificaciones obtenidas en los siguientes apartados:</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El grado de cumplimiento de los objetivos (O1 a O10) fijados durante la ejecución del proyecto y el nivel de participación en el logro de los objetivos mencionados dentro del grupo. Porcentaje de peso sobre la calificación final: 30%.</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Preguntas, ejercicios o problemas (principalmente basados en especificaciones y presupuestos) resueltos por el estudiante (E1 a E11). Porcentaje de peso sobre la calificación final: 40%.</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Ejecución de proyectos (informes, dibujos, especificaciones técnicas y presupuestos). Porcentaje de peso sobre la calificación final: 30%.</a:t>
            </a:r>
          </a:p>
          <a:p>
            <a:pPr marL="370332" indent="-342900" eaLnBrk="1" fontAlgn="auto" hangingPunct="1">
              <a:spcAft>
                <a:spcPts val="0"/>
              </a:spcAft>
              <a:buFont typeface="Arial" panose="020B0604020202020204" pitchFamily="34" charset="0"/>
              <a:buChar char="•"/>
              <a:defRPr/>
            </a:pPr>
            <a:r>
              <a:rPr lang="es-ES_tradnl" sz="2000" dirty="0">
                <a:ea typeface="+mn-ea"/>
                <a:cs typeface="+mn-cs"/>
              </a:rPr>
              <a:t>Ver detalles de la evaluación en el documento planificación.</a:t>
            </a: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sp>
        <p:nvSpPr>
          <p:cNvPr id="6" name="1 Título">
            <a:extLst>
              <a:ext uri="{FF2B5EF4-FFF2-40B4-BE49-F238E27FC236}">
                <a16:creationId xmlns:a16="http://schemas.microsoft.com/office/drawing/2014/main" id="{7CCD00C8-FEDC-0B43-92EB-D6AEDF0F4066}"/>
              </a:ext>
            </a:extLst>
          </p:cNvPr>
          <p:cNvSpPr>
            <a:spLocks noGrp="1"/>
          </p:cNvSpPr>
          <p:nvPr>
            <p:ph type="ctrTitle"/>
          </p:nvPr>
        </p:nvSpPr>
        <p:spPr>
          <a:xfrm>
            <a:off x="1401555" y="157187"/>
            <a:ext cx="7407275" cy="147161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dirty="0">
                <a:effectLst>
                  <a:outerShdw blurRad="38100" dist="38100" dir="2700000" algn="tl">
                    <a:srgbClr val="C0C0C0"/>
                  </a:outerShdw>
                </a:effectLst>
                <a:ea typeface="ＭＳ Ｐゴシック" panose="020B0600070205080204" pitchFamily="34" charset="-128"/>
              </a:rPr>
              <a:t>Planificación de la asignatura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316EAFDE-9E66-FD4D-83B8-AFF78F7CE858}"/>
              </a:ext>
            </a:extLst>
          </p:cNvPr>
          <p:cNvSpPr>
            <a:spLocks noGrp="1"/>
          </p:cNvSpPr>
          <p:nvPr>
            <p:ph type="subTitle" idx="1"/>
          </p:nvPr>
        </p:nvSpPr>
        <p:spPr>
          <a:xfrm>
            <a:off x="1431925" y="1849438"/>
            <a:ext cx="7407275" cy="4459287"/>
          </a:xfrm>
        </p:spPr>
        <p:txBody>
          <a:bodyPr lIns="90000">
            <a:normAutofit/>
          </a:bodyPr>
          <a:lstStyle/>
          <a:p>
            <a:pPr eaLnBrk="1" fontAlgn="auto" hangingPunct="1">
              <a:spcAft>
                <a:spcPts val="0"/>
              </a:spcAft>
              <a:defRPr/>
            </a:pPr>
            <a:r>
              <a:rPr lang="es-ES_tradnl" sz="2000" b="1" dirty="0">
                <a:ea typeface="+mn-ea"/>
                <a:cs typeface="+mn-cs"/>
              </a:rPr>
              <a:t>Recuperaciones</a:t>
            </a:r>
          </a:p>
          <a:p>
            <a:pPr marL="228600" algn="just"/>
            <a:r>
              <a:rPr lang="es-ES" sz="1800" dirty="0">
                <a:effectLst/>
                <a:latin typeface="Arial" panose="020B0604020202020204" pitchFamily="34" charset="0"/>
                <a:ea typeface="Times New Roman" panose="02020603050405020304" pitchFamily="18" charset="0"/>
                <a:cs typeface="Times New Roman" panose="02020603050405020304" pitchFamily="18" charset="0"/>
              </a:rPr>
              <a:t>Las recuperaciones se realizarán de manera continua para todos los sistemas de evaluación indicados excepto para el sistema de evaluación por observación. Todas las tareas correspondientes a los actos de evaluación de los sistemas de evaluación por trabajo académico (O1, O2, O3, O4) o por proyecto se evaluarán dos veces. La primera evaluación corresponde con la calificación obtenida por el alumno en función de sus conocimientos y la segunda corresponde con la recuperación de la calificación inicial una vez el alumno ha revisado las observaciones realizadas por el profesor en la primera corrección.</a:t>
            </a:r>
            <a:endParaRPr lang="es-ES" sz="1800" dirty="0">
              <a:effectLst/>
              <a:latin typeface="Times New Roman" panose="02020603050405020304" pitchFamily="18" charset="0"/>
              <a:ea typeface="Times New Roman" panose="02020603050405020304" pitchFamily="18" charset="0"/>
            </a:endParaRPr>
          </a:p>
          <a:p>
            <a:pPr marL="228600" algn="just"/>
            <a:r>
              <a:rPr lang="es-ES" sz="1800" dirty="0">
                <a:effectLst/>
                <a:latin typeface="Arial" panose="020B0604020202020204" pitchFamily="34" charset="0"/>
                <a:ea typeface="Times New Roman" panose="02020603050405020304" pitchFamily="18" charset="0"/>
                <a:cs typeface="Times New Roman" panose="02020603050405020304" pitchFamily="18" charset="0"/>
              </a:rPr>
              <a:t>La recuperación del sistema de evaluación por observación se realizará mediante </a:t>
            </a:r>
            <a:r>
              <a:rPr lang="es-ES" sz="1800" u="sng" dirty="0">
                <a:effectLst/>
                <a:latin typeface="Arial" panose="020B0604020202020204" pitchFamily="34" charset="0"/>
                <a:ea typeface="Times New Roman" panose="02020603050405020304" pitchFamily="18" charset="0"/>
                <a:cs typeface="Times New Roman" panose="02020603050405020304" pitchFamily="18" charset="0"/>
              </a:rPr>
              <a:t>EXAMEN FINAL PRESENCIAL</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que podrá incluir cualquier ejercicio o cuestión relacionada con el temario de la asignatura.</a:t>
            </a:r>
            <a:endParaRPr lang="es-ES" sz="1800" dirty="0">
              <a:effectLst/>
              <a:latin typeface="Times New Roman" panose="02020603050405020304" pitchFamily="18" charset="0"/>
              <a:ea typeface="Times New Roman" panose="02020603050405020304" pitchFamily="18" charset="0"/>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sp>
        <p:nvSpPr>
          <p:cNvPr id="6" name="1 Título">
            <a:extLst>
              <a:ext uri="{FF2B5EF4-FFF2-40B4-BE49-F238E27FC236}">
                <a16:creationId xmlns:a16="http://schemas.microsoft.com/office/drawing/2014/main" id="{94E67842-1F8E-D845-8AA3-20850169294A}"/>
              </a:ext>
            </a:extLst>
          </p:cNvPr>
          <p:cNvSpPr>
            <a:spLocks noGrp="1"/>
          </p:cNvSpPr>
          <p:nvPr>
            <p:ph type="ctrTitle"/>
          </p:nvPr>
        </p:nvSpPr>
        <p:spPr>
          <a:xfrm>
            <a:off x="1401555" y="157187"/>
            <a:ext cx="7407275" cy="147161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dirty="0">
                <a:effectLst>
                  <a:outerShdw blurRad="38100" dist="38100" dir="2700000" algn="tl">
                    <a:srgbClr val="C0C0C0"/>
                  </a:outerShdw>
                </a:effectLst>
                <a:ea typeface="ＭＳ Ｐゴシック" panose="020B0600070205080204" pitchFamily="34" charset="-128"/>
              </a:rPr>
              <a:t>Planificación de la asignatura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2 Subtítulo">
            <a:extLst>
              <a:ext uri="{FF2B5EF4-FFF2-40B4-BE49-F238E27FC236}">
                <a16:creationId xmlns:a16="http://schemas.microsoft.com/office/drawing/2014/main" id="{1674A373-1DB0-844B-834B-B6A3CDF907C9}"/>
              </a:ext>
            </a:extLst>
          </p:cNvPr>
          <p:cNvSpPr>
            <a:spLocks noGrp="1"/>
          </p:cNvSpPr>
          <p:nvPr>
            <p:ph type="subTitle" idx="1"/>
          </p:nvPr>
        </p:nvSpPr>
        <p:spPr>
          <a:xfrm>
            <a:off x="1431925" y="1849438"/>
            <a:ext cx="7407275" cy="4851375"/>
          </a:xfrm>
        </p:spPr>
        <p:txBody>
          <a:bodyPr/>
          <a:lstStyle/>
          <a:p>
            <a:pPr marL="26988" eaLnBrk="1" hangingPunct="1"/>
            <a:r>
              <a:rPr lang="es-ES_tradnl" altLang="es-ES" sz="1800" b="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Referencias</a:t>
            </a: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a:t>
            </a:r>
          </a:p>
          <a:p>
            <a:pPr marL="484188" indent="-457200" eaLnBrk="1" hangingPunct="1">
              <a:buFont typeface="+mj-lt"/>
              <a:buAutoNum type="arabicPeriod"/>
            </a:pPr>
            <a:r>
              <a:rPr lang="es-ES_tradnl" altLang="es-ES" sz="1800" dirty="0" err="1">
                <a:solidFill>
                  <a:srgbClr val="320E04"/>
                </a:solidFill>
                <a:latin typeface="Arial" panose="020B0604020202020204" pitchFamily="34" charset="0"/>
                <a:ea typeface="ＭＳ Ｐゴシック" panose="020B0600070205080204" pitchFamily="34" charset="-128"/>
                <a:cs typeface="Arial" panose="020B0604020202020204" pitchFamily="34" charset="0"/>
              </a:rPr>
              <a:t>Brusola</a:t>
            </a: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F. Oficina Técnica y Proyectos. SPUPV- 99133</a:t>
            </a:r>
          </a:p>
          <a:p>
            <a:pPr marL="484188" indent="-457200" eaLnBrk="1" hangingPunct="1">
              <a:buFont typeface="+mj-lt"/>
              <a:buAutoNum type="arabicPeriod"/>
            </a:pP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Normas y reglamentos recomendados por los colegios profesionales y la legislación vigente.</a:t>
            </a:r>
          </a:p>
          <a:p>
            <a:pPr marL="484188" indent="-457200" eaLnBrk="1" hangingPunct="1">
              <a:buFont typeface="+mj-lt"/>
              <a:buAutoNum type="arabicPeriod"/>
            </a:pP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Publicaciones de ayuntamientos, gobiernos autonómicos, y colegios profesionales:</a:t>
            </a:r>
          </a:p>
          <a:p>
            <a:pPr lvl="0"/>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1. </a:t>
            </a:r>
            <a:r>
              <a:rPr lang="en-US" sz="1800" dirty="0">
                <a:latin typeface="Arial" panose="020B0604020202020204" pitchFamily="34" charset="0"/>
                <a:cs typeface="Arial" panose="020B0604020202020204" pitchFamily="34" charset="0"/>
              </a:rPr>
              <a:t>https://www.mincotur.gob.es</a:t>
            </a:r>
            <a:endParaRPr lang="es-ES" sz="1800" dirty="0">
              <a:latin typeface="Arial" panose="020B0604020202020204" pitchFamily="34" charset="0"/>
              <a:cs typeface="Arial" panose="020B0604020202020204" pitchFamily="34" charset="0"/>
            </a:endParaRPr>
          </a:p>
          <a:p>
            <a:pPr marL="26988" eaLnBrk="1" hangingPunct="1"/>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2. http://</a:t>
            </a:r>
            <a:r>
              <a:rPr lang="es-ES_tradnl" altLang="es-ES" sz="1800" dirty="0" err="1">
                <a:solidFill>
                  <a:srgbClr val="320E04"/>
                </a:solidFill>
                <a:latin typeface="Arial" panose="020B0604020202020204" pitchFamily="34" charset="0"/>
                <a:ea typeface="ＭＳ Ｐゴシック" panose="020B0600070205080204" pitchFamily="34" charset="-128"/>
                <a:cs typeface="Arial" panose="020B0604020202020204" pitchFamily="34" charset="0"/>
              </a:rPr>
              <a:t>www.gva.es</a:t>
            </a:r>
            <a:endPar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26988" eaLnBrk="1" hangingPunct="1"/>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3. http://</a:t>
            </a:r>
            <a:r>
              <a:rPr lang="es-ES_tradnl" altLang="es-ES" sz="1800" dirty="0" err="1">
                <a:solidFill>
                  <a:srgbClr val="320E04"/>
                </a:solidFill>
                <a:latin typeface="Arial" panose="020B0604020202020204" pitchFamily="34" charset="0"/>
                <a:ea typeface="ＭＳ Ｐゴシック" panose="020B0600070205080204" pitchFamily="34" charset="-128"/>
                <a:cs typeface="Arial" panose="020B0604020202020204" pitchFamily="34" charset="0"/>
              </a:rPr>
              <a:t>www.ayto-valencia.es</a:t>
            </a:r>
            <a:endPar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26988" eaLnBrk="1" hangingPunct="1"/>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4. http://</a:t>
            </a:r>
            <a:r>
              <a:rPr lang="es-ES_tradnl" altLang="es-ES" sz="1800" dirty="0" err="1">
                <a:solidFill>
                  <a:srgbClr val="320E04"/>
                </a:solidFill>
                <a:latin typeface="Arial" panose="020B0604020202020204" pitchFamily="34" charset="0"/>
                <a:ea typeface="ＭＳ Ｐゴシック" panose="020B0600070205080204" pitchFamily="34" charset="-128"/>
                <a:cs typeface="Arial" panose="020B0604020202020204" pitchFamily="34" charset="0"/>
              </a:rPr>
              <a:t>www.coitival.es</a:t>
            </a:r>
            <a:endPar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484188" indent="-457200" eaLnBrk="1" hangingPunct="1">
              <a:buFont typeface="+mj-lt"/>
              <a:buAutoNum type="arabicPeriod" startAt="4"/>
            </a:pP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Recursos en </a:t>
            </a:r>
            <a:r>
              <a:rPr lang="es-ES_tradnl" altLang="es-ES" sz="1800" dirty="0" err="1">
                <a:solidFill>
                  <a:srgbClr val="320E04"/>
                </a:solidFill>
                <a:latin typeface="Arial" panose="020B0604020202020204" pitchFamily="34" charset="0"/>
                <a:ea typeface="ＭＳ Ｐゴシック" panose="020B0600070205080204" pitchFamily="34" charset="-128"/>
                <a:cs typeface="Arial" panose="020B0604020202020204" pitchFamily="34" charset="0"/>
              </a:rPr>
              <a:t>PoliformaT</a:t>
            </a: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a:t>
            </a:r>
          </a:p>
          <a:p>
            <a:pPr marL="26988" eaLnBrk="1" hangingPunct="1"/>
            <a:endParaRPr lang="en-US" altLang="es-ES" sz="2400" dirty="0">
              <a:solidFill>
                <a:srgbClr val="320E04"/>
              </a:solidFill>
              <a:ea typeface="ＭＳ Ｐゴシック" panose="020B0600070205080204" pitchFamily="34" charset="-128"/>
            </a:endParaRPr>
          </a:p>
          <a:p>
            <a:pPr marL="26988" eaLnBrk="1" hangingPunct="1"/>
            <a:endParaRPr lang="es-ES" altLang="es-ES" sz="2000" dirty="0">
              <a:solidFill>
                <a:srgbClr val="320E04"/>
              </a:solidFill>
              <a:ea typeface="ＭＳ Ｐゴシック" panose="020B0600070205080204" pitchFamily="34" charset="-128"/>
            </a:endParaRPr>
          </a:p>
          <a:p>
            <a:pPr marL="26988" eaLnBrk="1" hangingPunct="1"/>
            <a:endParaRPr lang="es-ES" altLang="es-ES" sz="2000" dirty="0">
              <a:solidFill>
                <a:srgbClr val="320E04"/>
              </a:solidFill>
              <a:ea typeface="ＭＳ Ｐゴシック" panose="020B0600070205080204" pitchFamily="34" charset="-128"/>
            </a:endParaRPr>
          </a:p>
          <a:p>
            <a:pPr marL="26988" eaLnBrk="1" hangingPunct="1"/>
            <a:endParaRPr lang="es-ES" altLang="es-ES" sz="2000" dirty="0">
              <a:solidFill>
                <a:srgbClr val="320E04"/>
              </a:solidFill>
              <a:ea typeface="ＭＳ Ｐゴシック" panose="020B0600070205080204" pitchFamily="34" charset="-128"/>
            </a:endParaRPr>
          </a:p>
          <a:p>
            <a:pPr marL="26988" eaLnBrk="1" hangingPunct="1"/>
            <a:endParaRPr lang="en-US" altLang="es-ES" sz="2000" dirty="0">
              <a:solidFill>
                <a:srgbClr val="320E04"/>
              </a:solidFill>
              <a:ea typeface="ＭＳ Ｐゴシック" panose="020B0600070205080204" pitchFamily="34" charset="-128"/>
            </a:endParaRPr>
          </a:p>
          <a:p>
            <a:pPr marL="26988" eaLnBrk="1" hangingPunct="1"/>
            <a:endParaRPr lang="en-US" altLang="es-ES" sz="2000" dirty="0">
              <a:solidFill>
                <a:srgbClr val="320E04"/>
              </a:solidFill>
              <a:ea typeface="ＭＳ Ｐゴシック" panose="020B0600070205080204" pitchFamily="34" charset="-128"/>
            </a:endParaRPr>
          </a:p>
          <a:p>
            <a:pPr marL="26988" eaLnBrk="1" hangingPunct="1"/>
            <a:endParaRPr lang="en-US" altLang="es-ES" dirty="0">
              <a:solidFill>
                <a:srgbClr val="320E04"/>
              </a:solidFill>
              <a:ea typeface="ＭＳ Ｐゴシック" panose="020B0600070205080204" pitchFamily="34" charset="-128"/>
            </a:endParaRPr>
          </a:p>
          <a:p>
            <a:pPr marL="26988" eaLnBrk="1" hangingPunct="1"/>
            <a:endParaRPr lang="en-US" altLang="es-ES" dirty="0">
              <a:solidFill>
                <a:srgbClr val="320E04"/>
              </a:solidFill>
              <a:ea typeface="ＭＳ Ｐゴシック" panose="020B0600070205080204" pitchFamily="34" charset="-128"/>
            </a:endParaRPr>
          </a:p>
          <a:p>
            <a:pPr marL="26988" eaLnBrk="1" hangingPunct="1"/>
            <a:endParaRPr lang="es-ES" altLang="es-ES"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05197EA1-121A-5C46-A8CA-7BFEB6FDC959}"/>
              </a:ext>
            </a:extLst>
          </p:cNvPr>
          <p:cNvSpPr>
            <a:spLocks noGrp="1"/>
          </p:cNvSpPr>
          <p:nvPr>
            <p:ph type="ctrTitle"/>
          </p:nvPr>
        </p:nvSpPr>
        <p:spPr>
          <a:xfrm>
            <a:off x="1401555" y="157187"/>
            <a:ext cx="7407275" cy="147161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dirty="0">
                <a:effectLst>
                  <a:outerShdw blurRad="38100" dist="38100" dir="2700000" algn="tl">
                    <a:srgbClr val="C0C0C0"/>
                  </a:outerShdw>
                </a:effectLst>
                <a:ea typeface="ＭＳ Ｐゴシック" panose="020B0600070205080204" pitchFamily="34" charset="-128"/>
              </a:rPr>
              <a:t>Planificación de la asignatura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2 Subtítulo">
            <a:extLst>
              <a:ext uri="{FF2B5EF4-FFF2-40B4-BE49-F238E27FC236}">
                <a16:creationId xmlns:a16="http://schemas.microsoft.com/office/drawing/2014/main" id="{1B823624-D8CD-E44B-8044-91A20C44C60C}"/>
              </a:ext>
            </a:extLst>
          </p:cNvPr>
          <p:cNvSpPr>
            <a:spLocks noGrp="1"/>
          </p:cNvSpPr>
          <p:nvPr>
            <p:ph type="subTitle" idx="1"/>
          </p:nvPr>
        </p:nvSpPr>
        <p:spPr>
          <a:xfrm>
            <a:off x="1431925" y="1849438"/>
            <a:ext cx="7407275" cy="3883817"/>
          </a:xfrm>
        </p:spPr>
        <p:txBody>
          <a:bodyPr/>
          <a:lstStyle/>
          <a:p>
            <a:pPr marL="26988" eaLnBrk="1" hangingPunct="1"/>
            <a:r>
              <a:rPr lang="es-ES_tradnl" altLang="es-ES" sz="1600" b="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Profesores responsables de la asignatura:</a:t>
            </a:r>
          </a:p>
          <a:p>
            <a:pPr marL="26988" eaLnBrk="1" hangingPunct="1"/>
            <a:r>
              <a:rPr lang="es-ES_tradnl" altLang="es-ES" sz="1600" i="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Clases teóricas</a:t>
            </a: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a:t>
            </a:r>
          </a:p>
          <a:p>
            <a:pPr marL="355600" eaLnBrk="1" hangingPunct="1"/>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Fernando </a:t>
            </a:r>
            <a:r>
              <a:rPr lang="es-ES_tradnl" altLang="es-ES" sz="1600" dirty="0" err="1">
                <a:solidFill>
                  <a:srgbClr val="320E04"/>
                </a:solidFill>
                <a:latin typeface="Arial" panose="020B0604020202020204" pitchFamily="34" charset="0"/>
                <a:ea typeface="ＭＳ Ｐゴシック" panose="020B0600070205080204" pitchFamily="34" charset="-128"/>
                <a:cs typeface="Arial" panose="020B0604020202020204" pitchFamily="34" charset="0"/>
              </a:rPr>
              <a:t>Brusola</a:t>
            </a:r>
            <a:endPar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355600" eaLnBrk="1" hangingPunct="1"/>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Departamento de Ingeniería Gráfica</a:t>
            </a:r>
          </a:p>
          <a:p>
            <a:pPr marL="355600" indent="-44450" eaLnBrk="1" hangingPunct="1"/>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Email: </a:t>
            </a: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hlinkClick r:id="rId2"/>
              </a:rPr>
              <a:t>fbrusola@upv.es</a:t>
            </a:r>
            <a:endPar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26988" eaLnBrk="1" hangingPunct="1"/>
            <a:r>
              <a:rPr lang="es-ES_tradnl" altLang="es-ES" sz="1600" i="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Clases prácticas</a:t>
            </a: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a:t>
            </a:r>
          </a:p>
          <a:p>
            <a:pPr marL="355600" eaLnBrk="1" hangingPunct="1"/>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Víctor Santiago</a:t>
            </a:r>
          </a:p>
          <a:p>
            <a:pPr marL="355600" eaLnBrk="1" hangingPunct="1"/>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Departamento de Ingeniería Gráfica</a:t>
            </a:r>
          </a:p>
          <a:p>
            <a:pPr marL="355600" eaLnBrk="1" hangingPunct="1"/>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Email: </a:t>
            </a: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hlinkClick r:id="rId3"/>
              </a:rPr>
              <a:t>vsantiago@upv.es</a:t>
            </a:r>
            <a:endPar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355600" eaLnBrk="1" hangingPunct="1"/>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Vicente Adán</a:t>
            </a:r>
          </a:p>
          <a:p>
            <a:pPr marL="355600" eaLnBrk="1" hangingPunct="1"/>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Departamento de Ingeniería Gráfica</a:t>
            </a:r>
          </a:p>
          <a:p>
            <a:pPr marL="355600" eaLnBrk="1" hangingPunct="1"/>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Email: </a:t>
            </a: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hlinkClick r:id="rId4"/>
              </a:rPr>
              <a:t>viadro@upvnet.upv.es</a:t>
            </a:r>
            <a:endPar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355600" eaLnBrk="1" hangingPunct="1"/>
            <a:endParaRPr lang="en-US" altLang="es-ES" sz="2000" dirty="0">
              <a:solidFill>
                <a:srgbClr val="320E04"/>
              </a:solidFill>
              <a:ea typeface="ＭＳ Ｐゴシック" panose="020B0600070205080204" pitchFamily="34" charset="-128"/>
            </a:endParaRPr>
          </a:p>
          <a:p>
            <a:pPr marL="26988" eaLnBrk="1" hangingPunct="1"/>
            <a:endParaRPr lang="en-US" altLang="es-ES" sz="2400" dirty="0">
              <a:solidFill>
                <a:srgbClr val="320E04"/>
              </a:solidFill>
              <a:ea typeface="ＭＳ Ｐゴシック" panose="020B0600070205080204" pitchFamily="34" charset="-128"/>
            </a:endParaRPr>
          </a:p>
          <a:p>
            <a:pPr marL="26988" eaLnBrk="1" hangingPunct="1"/>
            <a:endParaRPr lang="es-ES" altLang="es-ES" sz="2000" dirty="0">
              <a:solidFill>
                <a:srgbClr val="320E04"/>
              </a:solidFill>
              <a:ea typeface="ＭＳ Ｐゴシック" panose="020B0600070205080204" pitchFamily="34" charset="-128"/>
            </a:endParaRPr>
          </a:p>
          <a:p>
            <a:pPr marL="26988" eaLnBrk="1" hangingPunct="1"/>
            <a:endParaRPr lang="es-ES" altLang="es-ES" sz="2000" dirty="0">
              <a:solidFill>
                <a:srgbClr val="320E04"/>
              </a:solidFill>
              <a:ea typeface="ＭＳ Ｐゴシック" panose="020B0600070205080204" pitchFamily="34" charset="-128"/>
            </a:endParaRPr>
          </a:p>
          <a:p>
            <a:pPr marL="26988" eaLnBrk="1" hangingPunct="1"/>
            <a:endParaRPr lang="es-ES" altLang="es-ES" sz="2000" dirty="0">
              <a:solidFill>
                <a:srgbClr val="320E04"/>
              </a:solidFill>
              <a:ea typeface="ＭＳ Ｐゴシック" panose="020B0600070205080204" pitchFamily="34" charset="-128"/>
            </a:endParaRPr>
          </a:p>
          <a:p>
            <a:pPr marL="26988" eaLnBrk="1" hangingPunct="1"/>
            <a:endParaRPr lang="en-US" altLang="es-ES" sz="2000" dirty="0">
              <a:solidFill>
                <a:srgbClr val="320E04"/>
              </a:solidFill>
              <a:ea typeface="ＭＳ Ｐゴシック" panose="020B0600070205080204" pitchFamily="34" charset="-128"/>
            </a:endParaRPr>
          </a:p>
          <a:p>
            <a:pPr marL="26988" eaLnBrk="1" hangingPunct="1"/>
            <a:endParaRPr lang="en-US" altLang="es-ES" sz="2000" dirty="0">
              <a:solidFill>
                <a:srgbClr val="320E04"/>
              </a:solidFill>
              <a:ea typeface="ＭＳ Ｐゴシック" panose="020B0600070205080204" pitchFamily="34" charset="-128"/>
            </a:endParaRPr>
          </a:p>
          <a:p>
            <a:pPr marL="26988" eaLnBrk="1" hangingPunct="1"/>
            <a:endParaRPr lang="en-US" altLang="es-ES" dirty="0">
              <a:solidFill>
                <a:srgbClr val="320E04"/>
              </a:solidFill>
              <a:ea typeface="ＭＳ Ｐゴシック" panose="020B0600070205080204" pitchFamily="34" charset="-128"/>
            </a:endParaRPr>
          </a:p>
          <a:p>
            <a:pPr marL="26988" eaLnBrk="1" hangingPunct="1"/>
            <a:endParaRPr lang="en-US" altLang="es-ES" dirty="0">
              <a:solidFill>
                <a:srgbClr val="320E04"/>
              </a:solidFill>
              <a:ea typeface="ＭＳ Ｐゴシック" panose="020B0600070205080204" pitchFamily="34" charset="-128"/>
            </a:endParaRPr>
          </a:p>
          <a:p>
            <a:pPr marL="26988" eaLnBrk="1" hangingPunct="1"/>
            <a:endParaRPr lang="es-ES" altLang="es-ES"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19945CE1-0B74-EE47-A298-42E54013A3C4}"/>
              </a:ext>
            </a:extLst>
          </p:cNvPr>
          <p:cNvSpPr>
            <a:spLocks noGrp="1"/>
          </p:cNvSpPr>
          <p:nvPr>
            <p:ph type="ctrTitle"/>
          </p:nvPr>
        </p:nvSpPr>
        <p:spPr>
          <a:xfrm>
            <a:off x="1401555" y="157187"/>
            <a:ext cx="7407275" cy="147161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dirty="0">
                <a:effectLst>
                  <a:outerShdw blurRad="38100" dist="38100" dir="2700000" algn="tl">
                    <a:srgbClr val="C0C0C0"/>
                  </a:outerShdw>
                </a:effectLst>
                <a:ea typeface="ＭＳ Ｐゴシック" panose="020B0600070205080204" pitchFamily="34" charset="-128"/>
              </a:rPr>
              <a:t>Planificación de la asignatura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991BA2-5C52-8D4A-938C-452263B096B0}"/>
              </a:ext>
            </a:extLst>
          </p:cNvPr>
          <p:cNvSpPr>
            <a:spLocks noGrp="1"/>
          </p:cNvSpPr>
          <p:nvPr>
            <p:ph type="title"/>
          </p:nvPr>
        </p:nvSpPr>
        <p:spPr>
          <a:xfrm>
            <a:off x="2555875" y="1989138"/>
            <a:ext cx="6400800" cy="2376487"/>
          </a:xfrm>
        </p:spPr>
        <p:txBody>
          <a:bodyPr>
            <a:normAutofit fontScale="90000"/>
          </a:bodyPr>
          <a:lstStyle/>
          <a:p>
            <a:pPr>
              <a:defRPr/>
            </a:pPr>
            <a:r>
              <a:rPr lang="es-ES_tradnl" altLang="es-ES" cap="none" dirty="0">
                <a:effectLst>
                  <a:outerShdw blurRad="38100" dist="38100" dir="2700000" algn="tl">
                    <a:srgbClr val="C0C0C0"/>
                  </a:outerShdw>
                </a:effectLst>
                <a:ea typeface="ＭＳ Ｐゴシック" panose="020B0600070205080204" pitchFamily="34" charset="-128"/>
              </a:rPr>
              <a:t>Tema 2:</a:t>
            </a:r>
            <a:br>
              <a:rPr lang="es-ES_tradnl" altLang="es-ES" cap="none" dirty="0">
                <a:effectLst>
                  <a:outerShdw blurRad="38100" dist="38100" dir="2700000" algn="tl">
                    <a:srgbClr val="C0C0C0"/>
                  </a:outerShdw>
                </a:effectLst>
                <a:ea typeface="ＭＳ Ｐゴシック" panose="020B0600070205080204" pitchFamily="34" charset="-128"/>
              </a:rPr>
            </a:br>
            <a:r>
              <a:rPr lang="es-ES_tradnl" altLang="es-ES" cap="none" dirty="0">
                <a:effectLst>
                  <a:outerShdw blurRad="38100" dist="38100" dir="2700000" algn="tl">
                    <a:srgbClr val="C0C0C0"/>
                  </a:outerShdw>
                </a:effectLst>
                <a:ea typeface="ＭＳ Ｐゴシック" panose="020B0600070205080204" pitchFamily="34" charset="-128"/>
              </a:rPr>
              <a:t>El ingeniero en el ejercicio libre de la profesión</a:t>
            </a:r>
          </a:p>
        </p:txBody>
      </p:sp>
      <p:sp>
        <p:nvSpPr>
          <p:cNvPr id="5" name="1 Título">
            <a:extLst>
              <a:ext uri="{FF2B5EF4-FFF2-40B4-BE49-F238E27FC236}">
                <a16:creationId xmlns:a16="http://schemas.microsoft.com/office/drawing/2014/main" id="{F3636615-8993-7A45-8913-9F90A36F6B4C}"/>
              </a:ext>
            </a:extLst>
          </p:cNvPr>
          <p:cNvSpPr txBox="1">
            <a:spLocks/>
          </p:cNvSpPr>
          <p:nvPr/>
        </p:nvSpPr>
        <p:spPr>
          <a:xfrm>
            <a:off x="2627313" y="836613"/>
            <a:ext cx="3571875" cy="720725"/>
          </a:xfrm>
          <a:prstGeom prst="rect">
            <a:avLst/>
          </a:prstGeom>
        </p:spPr>
        <p:txBody>
          <a:bodyPr>
            <a:normAutofit/>
          </a:bodyPr>
          <a:lstStyle>
            <a:lvl1pPr eaLnBrk="0" hangingPunct="0">
              <a:defRPr sz="24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defRPr sz="24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defRPr sz="2400">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defRPr sz="24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9pPr>
          </a:lstStyle>
          <a:p>
            <a:pPr eaLnBrk="1" hangingPunct="1">
              <a:lnSpc>
                <a:spcPts val="4500"/>
              </a:lnSpc>
              <a:defRPr/>
            </a:pPr>
            <a:r>
              <a:rPr lang="es-ES_tradnl" altLang="es-ES" sz="2700" b="1">
                <a:solidFill>
                  <a:srgbClr val="572314"/>
                </a:solidFill>
                <a:effectLst>
                  <a:outerShdw blurRad="38100" dist="38100" dir="2700000" algn="tl">
                    <a:srgbClr val="C0C0C0"/>
                  </a:outerShdw>
                </a:effectLst>
              </a:rPr>
              <a:t>OFICINA TÉCNICA</a:t>
            </a:r>
            <a:endParaRPr lang="es-ES" altLang="es-ES" sz="2700" b="1">
              <a:solidFill>
                <a:srgbClr val="572314"/>
              </a:solidFill>
              <a:effectLst>
                <a:outerShdw blurRad="38100" dist="38100" dir="2700000" algn="tl">
                  <a:srgbClr val="C0C0C0"/>
                </a:outerShdw>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E1DFCAD7-48C4-1145-A62D-98E300951D94}"/>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
        <p:nvSpPr>
          <p:cNvPr id="3" name="2 Subtítulo">
            <a:extLst>
              <a:ext uri="{FF2B5EF4-FFF2-40B4-BE49-F238E27FC236}">
                <a16:creationId xmlns:a16="http://schemas.microsoft.com/office/drawing/2014/main" id="{85F94068-6EF8-9A4D-B22D-6110F34D464F}"/>
              </a:ext>
            </a:extLst>
          </p:cNvPr>
          <p:cNvSpPr>
            <a:spLocks noGrp="1"/>
          </p:cNvSpPr>
          <p:nvPr>
            <p:ph type="subTitle" idx="1"/>
          </p:nvPr>
        </p:nvSpPr>
        <p:spPr>
          <a:xfrm>
            <a:off x="1431925" y="1988840"/>
            <a:ext cx="7407275" cy="3168352"/>
          </a:xfrm>
        </p:spPr>
        <p:txBody>
          <a:bodyPr>
            <a:normAutofit/>
          </a:bodyPr>
          <a:lstStyle/>
          <a:p>
            <a:pPr eaLnBrk="1" fontAlgn="auto" hangingPunct="1">
              <a:spcAft>
                <a:spcPts val="0"/>
              </a:spcAft>
              <a:buFont typeface="Wingdings 2"/>
              <a:buNone/>
              <a:defRPr/>
            </a:pPr>
            <a:r>
              <a:rPr lang="es-ES_tradnl" sz="2400" dirty="0">
                <a:ea typeface="+mn-ea"/>
                <a:cs typeface="+mn-cs"/>
              </a:rPr>
              <a:t>Contenido:</a:t>
            </a:r>
          </a:p>
          <a:p>
            <a:pPr marL="484632" indent="-457200" eaLnBrk="1" fontAlgn="auto" hangingPunct="1">
              <a:spcAft>
                <a:spcPts val="0"/>
              </a:spcAft>
              <a:buFont typeface="Wingdings 2"/>
              <a:buAutoNum type="arabicPeriod"/>
              <a:defRPr/>
            </a:pPr>
            <a:r>
              <a:rPr lang="es-ES_tradnl" sz="2400" dirty="0">
                <a:ea typeface="+mn-ea"/>
                <a:cs typeface="+mn-cs"/>
              </a:rPr>
              <a:t>Definición de ejercicio libre y condiciones.</a:t>
            </a:r>
          </a:p>
          <a:p>
            <a:pPr marL="484632" indent="-457200" eaLnBrk="1" fontAlgn="auto" hangingPunct="1">
              <a:spcAft>
                <a:spcPts val="0"/>
              </a:spcAft>
              <a:buFont typeface="Wingdings 2"/>
              <a:buAutoNum type="arabicPeriod"/>
              <a:defRPr/>
            </a:pPr>
            <a:r>
              <a:rPr lang="es-ES_tradnl" sz="2400" dirty="0">
                <a:ea typeface="+mn-ea"/>
                <a:cs typeface="+mn-cs"/>
              </a:rPr>
              <a:t>Evolución de los estudios de ingeniería industrial en España</a:t>
            </a:r>
          </a:p>
          <a:p>
            <a:pPr marL="484632" indent="-457200" eaLnBrk="1" fontAlgn="auto" hangingPunct="1">
              <a:spcAft>
                <a:spcPts val="0"/>
              </a:spcAft>
              <a:buFont typeface="Wingdings 2"/>
              <a:buAutoNum type="arabicPeriod"/>
              <a:defRPr/>
            </a:pPr>
            <a:r>
              <a:rPr lang="es-ES_tradnl" sz="2400" dirty="0">
                <a:ea typeface="+mn-ea"/>
                <a:cs typeface="+mn-cs"/>
              </a:rPr>
              <a:t>Atribuciones de los ingenieros industriales.</a:t>
            </a:r>
          </a:p>
          <a:p>
            <a:pPr marL="484632" indent="-457200" eaLnBrk="1" fontAlgn="auto" hangingPunct="1">
              <a:spcAft>
                <a:spcPts val="0"/>
              </a:spcAft>
              <a:buFont typeface="Wingdings 2"/>
              <a:buAutoNum type="arabicPeriod"/>
              <a:defRPr/>
            </a:pPr>
            <a:r>
              <a:rPr lang="es-ES_tradnl" sz="2400" dirty="0">
                <a:ea typeface="+mn-ea"/>
                <a:cs typeface="+mn-cs"/>
              </a:rPr>
              <a:t>Colegios profesionales</a:t>
            </a:r>
          </a:p>
          <a:p>
            <a:pPr marL="484632" indent="-457200" eaLnBrk="1" fontAlgn="auto" hangingPunct="1">
              <a:spcAft>
                <a:spcPts val="0"/>
              </a:spcAft>
              <a:buFont typeface="Wingdings 2"/>
              <a:buAutoNum type="arabicPeriod"/>
              <a:defRPr/>
            </a:pPr>
            <a:r>
              <a:rPr lang="es-ES_tradnl" sz="2400" dirty="0">
                <a:ea typeface="+mn-ea"/>
                <a:cs typeface="+mn-cs"/>
              </a:rPr>
              <a:t>Tarifas de honorarios</a:t>
            </a:r>
            <a:endParaRPr lang="en-US" sz="2400" dirty="0">
              <a:ea typeface="+mn-ea"/>
              <a:cs typeface="+mn-cs"/>
            </a:endParaRPr>
          </a:p>
          <a:p>
            <a:pPr marL="484632" indent="-457200" eaLnBrk="1" fontAlgn="auto" hangingPunct="1">
              <a:spcAft>
                <a:spcPts val="0"/>
              </a:spcAft>
              <a:buFont typeface="Wingdings 2"/>
              <a:buAutoNum type="arabicPeriod"/>
              <a:defRPr/>
            </a:pPr>
            <a:endParaRPr lang="en-US" sz="2400" dirty="0">
              <a:ea typeface="+mn-ea"/>
              <a:cs typeface="+mn-cs"/>
            </a:endParaRPr>
          </a:p>
          <a:p>
            <a:pPr marL="484632" indent="-457200" eaLnBrk="1" fontAlgn="auto" hangingPunct="1">
              <a:spcAft>
                <a:spcPts val="0"/>
              </a:spcAft>
              <a:buFont typeface="Wingdings 2"/>
              <a:buAutoNum type="arabicPeriod"/>
              <a:defRPr/>
            </a:pPr>
            <a:endParaRPr lang="en-US" sz="2400" dirty="0">
              <a:ea typeface="+mn-ea"/>
              <a:cs typeface="+mn-cs"/>
            </a:endParaRPr>
          </a:p>
          <a:p>
            <a:pPr eaLnBrk="1" fontAlgn="auto" hangingPunct="1">
              <a:spcAft>
                <a:spcPts val="0"/>
              </a:spcAft>
              <a:buFont typeface="Wingdings 2"/>
              <a:buNone/>
              <a:defRPr/>
            </a:pPr>
            <a:endParaRPr lang="en-US" sz="24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7E12254D-07A3-6E46-9AA3-27F8621516BF}"/>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
        <p:nvSpPr>
          <p:cNvPr id="4" name="2 Subtítulo">
            <a:extLst>
              <a:ext uri="{FF2B5EF4-FFF2-40B4-BE49-F238E27FC236}">
                <a16:creationId xmlns:a16="http://schemas.microsoft.com/office/drawing/2014/main" id="{C5E2DD06-6343-D370-6A71-9284969C3716}"/>
              </a:ext>
            </a:extLst>
          </p:cNvPr>
          <p:cNvSpPr>
            <a:spLocks noGrp="1"/>
          </p:cNvSpPr>
          <p:nvPr>
            <p:ph type="subTitle" idx="1"/>
          </p:nvPr>
        </p:nvSpPr>
        <p:spPr>
          <a:xfrm>
            <a:off x="1431925" y="2207171"/>
            <a:ext cx="7407275" cy="2085925"/>
          </a:xfrm>
        </p:spPr>
        <p:txBody>
          <a:bodyPr>
            <a:normAutofit/>
          </a:bodyPr>
          <a:lstStyle/>
          <a:p>
            <a:pPr marL="484632" indent="-457200" eaLnBrk="1" fontAlgn="auto" hangingPunct="1">
              <a:spcAft>
                <a:spcPts val="0"/>
              </a:spcAft>
              <a:buFont typeface="+mj-lt"/>
              <a:buAutoNum type="arabicPeriod"/>
              <a:defRPr/>
            </a:pPr>
            <a:r>
              <a:rPr lang="es-ES_tradnl" sz="2400" dirty="0">
                <a:latin typeface="Arial" panose="020B0604020202020204" pitchFamily="34" charset="0"/>
                <a:ea typeface="+mn-ea"/>
                <a:cs typeface="Arial" panose="020B0604020202020204" pitchFamily="34" charset="0"/>
              </a:rPr>
              <a:t>Definición</a:t>
            </a:r>
          </a:p>
          <a:p>
            <a:pPr eaLnBrk="1" fontAlgn="auto" hangingPunct="1">
              <a:spcAft>
                <a:spcPts val="0"/>
              </a:spcAft>
              <a:defRPr/>
            </a:pPr>
            <a:r>
              <a:rPr lang="es-ES_tradnl" sz="2400" dirty="0">
                <a:latin typeface="Arial" panose="020B0604020202020204" pitchFamily="34" charset="0"/>
                <a:ea typeface="+mn-ea"/>
                <a:cs typeface="Arial" panose="020B0604020202020204" pitchFamily="34" charset="0"/>
              </a:rPr>
              <a:t>En España un ingeniero en el ejercicio libre de la profesión es un profesional dedicado parcial o totalmente a actividades definidas, reguladas y protegidas por la ley</a:t>
            </a:r>
          </a:p>
          <a:p>
            <a:pPr eaLnBrk="1" fontAlgn="auto" hangingPunct="1">
              <a:spcAft>
                <a:spcPts val="0"/>
              </a:spcAft>
              <a:defRPr/>
            </a:pPr>
            <a:endParaRPr lang="es-ES_tradnl" sz="24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4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dirty="0">
              <a:latin typeface="Arial" panose="020B0604020202020204" pitchFamily="34" charset="0"/>
              <a:ea typeface="+mn-ea"/>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9C678BED-F6E8-F643-AB05-BF07E3284CEE}"/>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
        <p:nvSpPr>
          <p:cNvPr id="4" name="2 Subtítulo">
            <a:extLst>
              <a:ext uri="{FF2B5EF4-FFF2-40B4-BE49-F238E27FC236}">
                <a16:creationId xmlns:a16="http://schemas.microsoft.com/office/drawing/2014/main" id="{FE934F59-BC8D-47A8-C145-114D6827FF17}"/>
              </a:ext>
            </a:extLst>
          </p:cNvPr>
          <p:cNvSpPr>
            <a:spLocks noGrp="1"/>
          </p:cNvSpPr>
          <p:nvPr>
            <p:ph type="subTitle" idx="1"/>
          </p:nvPr>
        </p:nvSpPr>
        <p:spPr>
          <a:xfrm>
            <a:off x="1331640" y="1772816"/>
            <a:ext cx="7407275" cy="4459287"/>
          </a:xfrm>
        </p:spPr>
        <p:txBody>
          <a:bodyPr>
            <a:normAutofit lnSpcReduction="10000"/>
          </a:bodyPr>
          <a:lstStyle/>
          <a:p>
            <a:pPr marL="484632" indent="-457200" eaLnBrk="1" fontAlgn="auto" hangingPunct="1">
              <a:spcAft>
                <a:spcPts val="0"/>
              </a:spcAft>
              <a:buFont typeface="+mj-lt"/>
              <a:buAutoNum type="arabicPeriod" startAt="2"/>
              <a:defRPr/>
            </a:pPr>
            <a:r>
              <a:rPr lang="es-ES_tradnl" sz="2400" dirty="0">
                <a:latin typeface="Arial" panose="020B0604020202020204" pitchFamily="34" charset="0"/>
                <a:ea typeface="+mn-ea"/>
                <a:cs typeface="Arial" panose="020B0604020202020204" pitchFamily="34" charset="0"/>
              </a:rPr>
              <a:t>Requisitos para poder llevar a cabo el ejercicio libre de la profesión:</a:t>
            </a:r>
          </a:p>
          <a:p>
            <a:pPr eaLnBrk="1" fontAlgn="auto" hangingPunct="1">
              <a:spcAft>
                <a:spcPts val="0"/>
              </a:spcAft>
              <a:buFont typeface="Wingdings 2"/>
              <a:buNone/>
              <a:defRPr/>
            </a:pPr>
            <a:endParaRPr lang="es-ES_tradnl" sz="2400" dirty="0">
              <a:latin typeface="Arial" panose="020B0604020202020204" pitchFamily="34" charset="0"/>
              <a:ea typeface="+mn-ea"/>
              <a:cs typeface="Arial" panose="020B0604020202020204" pitchFamily="34" charset="0"/>
            </a:endParaRPr>
          </a:p>
          <a:p>
            <a:pPr marL="370332" indent="-342900" eaLnBrk="1" fontAlgn="auto" hangingPunct="1">
              <a:spcAft>
                <a:spcPts val="0"/>
              </a:spcAft>
              <a:buFont typeface="Arial" panose="020B0604020202020204" pitchFamily="34" charset="0"/>
              <a:buChar char="•"/>
              <a:defRPr/>
            </a:pPr>
            <a:r>
              <a:rPr lang="es-ES_tradnl" sz="2400" dirty="0">
                <a:latin typeface="Arial" panose="020B0604020202020204" pitchFamily="34" charset="0"/>
                <a:ea typeface="+mn-ea"/>
                <a:cs typeface="Arial" panose="020B0604020202020204" pitchFamily="34" charset="0"/>
              </a:rPr>
              <a:t>Tener el título de graduado, ingeniero industrial, ingeniero técnico industrial o perito.</a:t>
            </a:r>
          </a:p>
          <a:p>
            <a:pPr marL="370332" indent="-342900" eaLnBrk="1" fontAlgn="auto" hangingPunct="1">
              <a:spcAft>
                <a:spcPts val="0"/>
              </a:spcAft>
              <a:buFont typeface="Arial" panose="020B0604020202020204" pitchFamily="34" charset="0"/>
              <a:buChar char="•"/>
              <a:defRPr/>
            </a:pPr>
            <a:r>
              <a:rPr lang="es-ES_tradnl" sz="2400" dirty="0">
                <a:latin typeface="Arial" panose="020B0604020202020204" pitchFamily="34" charset="0"/>
                <a:ea typeface="+mn-ea"/>
                <a:cs typeface="Arial" panose="020B0604020202020204" pitchFamily="34" charset="0"/>
              </a:rPr>
              <a:t>Estar dado de alta en algún colegio oficial.</a:t>
            </a:r>
          </a:p>
          <a:p>
            <a:pPr marL="370332" indent="-342900" eaLnBrk="1" fontAlgn="auto" hangingPunct="1">
              <a:spcAft>
                <a:spcPts val="0"/>
              </a:spcAft>
              <a:buFont typeface="Arial" panose="020B0604020202020204" pitchFamily="34" charset="0"/>
              <a:buChar char="•"/>
              <a:defRPr/>
            </a:pPr>
            <a:r>
              <a:rPr lang="es-ES_tradnl" sz="2400" dirty="0">
                <a:latin typeface="Arial" panose="020B0604020202020204" pitchFamily="34" charset="0"/>
                <a:ea typeface="+mn-ea"/>
                <a:cs typeface="Arial" panose="020B0604020202020204" pitchFamily="34" charset="0"/>
              </a:rPr>
              <a:t>Disponer de la correspondiente alta en el impuesto de actividades económicas (IAE).</a:t>
            </a:r>
          </a:p>
          <a:p>
            <a:pPr marL="370332" indent="-342900" eaLnBrk="1" fontAlgn="auto" hangingPunct="1">
              <a:spcAft>
                <a:spcPts val="0"/>
              </a:spcAft>
              <a:buFont typeface="Arial" panose="020B0604020202020204" pitchFamily="34" charset="0"/>
              <a:buChar char="•"/>
              <a:defRPr/>
            </a:pPr>
            <a:r>
              <a:rPr lang="es-ES_tradnl" sz="2400" dirty="0">
                <a:latin typeface="Arial" panose="020B0604020202020204" pitchFamily="34" charset="0"/>
                <a:ea typeface="+mn-ea"/>
                <a:cs typeface="Arial" panose="020B0604020202020204" pitchFamily="34" charset="0"/>
              </a:rPr>
              <a:t>Estar dado de alta en la seguridad social en el régimen especial de trabajadores autónomos (RETA) o en una mutua de ingenieros.</a:t>
            </a:r>
          </a:p>
          <a:p>
            <a:pPr marL="370332" indent="-342900" eaLnBrk="1" fontAlgn="auto" hangingPunct="1">
              <a:spcAft>
                <a:spcPts val="0"/>
              </a:spcAft>
              <a:buFont typeface="Arial" panose="020B0604020202020204" pitchFamily="34" charset="0"/>
              <a:buChar char="•"/>
              <a:defRPr/>
            </a:pPr>
            <a:r>
              <a:rPr lang="es-ES_tradnl" sz="2400" dirty="0">
                <a:latin typeface="Arial" panose="020B0604020202020204" pitchFamily="34" charset="0"/>
                <a:ea typeface="+mn-ea"/>
                <a:cs typeface="Arial" panose="020B0604020202020204" pitchFamily="34" charset="0"/>
              </a:rPr>
              <a:t>Disponer de un seguro de responsabilidad civil.</a:t>
            </a:r>
          </a:p>
          <a:p>
            <a:pPr eaLnBrk="1" fontAlgn="auto" hangingPunct="1">
              <a:spcAft>
                <a:spcPts val="0"/>
              </a:spcAft>
              <a:buFont typeface="Wingdings 2"/>
              <a:buNone/>
              <a:defRPr/>
            </a:pPr>
            <a:endParaRPr lang="es-ES_tradnl" sz="2400" dirty="0">
              <a:latin typeface="Arial" panose="020B0604020202020204" pitchFamily="34" charset="0"/>
              <a:ea typeface="+mn-ea"/>
              <a:cs typeface="Arial" panose="020B0604020202020204" pitchFamily="34" charset="0"/>
            </a:endParaRPr>
          </a:p>
          <a:p>
            <a:pPr marL="370332" indent="-342900" eaLnBrk="1" fontAlgn="auto" hangingPunct="1">
              <a:spcAft>
                <a:spcPts val="0"/>
              </a:spcAft>
              <a:buFont typeface="Arial" panose="020B0604020202020204" pitchFamily="34" charset="0"/>
              <a:buChar char="•"/>
              <a:defRPr/>
            </a:pPr>
            <a:endParaRPr lang="es-ES_tradnl" sz="24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400" dirty="0">
              <a:latin typeface="Arial" panose="020B0604020202020204" pitchFamily="34" charset="0"/>
              <a:ea typeface="+mn-ea"/>
              <a:cs typeface="Arial" panose="020B0604020202020204" pitchFamily="34" charset="0"/>
            </a:endParaRPr>
          </a:p>
          <a:p>
            <a:pPr marL="484632" indent="-457200" eaLnBrk="1" fontAlgn="auto" hangingPunct="1">
              <a:spcAft>
                <a:spcPts val="0"/>
              </a:spcAft>
              <a:buFont typeface="Wingdings 2"/>
              <a:buAutoNum type="arabicPeriod"/>
              <a:defRPr/>
            </a:pPr>
            <a:endParaRPr lang="es-ES_tradnl" sz="24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4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dirty="0">
              <a:latin typeface="Arial" panose="020B0604020202020204" pitchFamily="34" charset="0"/>
              <a:ea typeface="+mn-ea"/>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830926D6-0B16-6F4B-B624-72349C008F9B}"/>
              </a:ext>
            </a:extLst>
          </p:cNvPr>
          <p:cNvGraphicFramePr>
            <a:graphicFrameLocks noGrp="1"/>
          </p:cNvGraphicFramePr>
          <p:nvPr>
            <p:extLst>
              <p:ext uri="{D42A27DB-BD31-4B8C-83A1-F6EECF244321}">
                <p14:modId xmlns:p14="http://schemas.microsoft.com/office/powerpoint/2010/main" val="46225104"/>
              </p:ext>
            </p:extLst>
          </p:nvPr>
        </p:nvGraphicFramePr>
        <p:xfrm>
          <a:off x="1258888" y="1341438"/>
          <a:ext cx="7489825" cy="5400675"/>
        </p:xfrm>
        <a:graphic>
          <a:graphicData uri="http://schemas.openxmlformats.org/drawingml/2006/table">
            <a:tbl>
              <a:tblPr/>
              <a:tblGrid>
                <a:gridCol w="1296987">
                  <a:extLst>
                    <a:ext uri="{9D8B030D-6E8A-4147-A177-3AD203B41FA5}">
                      <a16:colId xmlns:a16="http://schemas.microsoft.com/office/drawing/2014/main" val="903108016"/>
                    </a:ext>
                  </a:extLst>
                </a:gridCol>
                <a:gridCol w="1655763">
                  <a:extLst>
                    <a:ext uri="{9D8B030D-6E8A-4147-A177-3AD203B41FA5}">
                      <a16:colId xmlns:a16="http://schemas.microsoft.com/office/drawing/2014/main" val="1060805283"/>
                    </a:ext>
                  </a:extLst>
                </a:gridCol>
                <a:gridCol w="2520950">
                  <a:extLst>
                    <a:ext uri="{9D8B030D-6E8A-4147-A177-3AD203B41FA5}">
                      <a16:colId xmlns:a16="http://schemas.microsoft.com/office/drawing/2014/main" val="166602516"/>
                    </a:ext>
                  </a:extLst>
                </a:gridCol>
                <a:gridCol w="2016125">
                  <a:extLst>
                    <a:ext uri="{9D8B030D-6E8A-4147-A177-3AD203B41FA5}">
                      <a16:colId xmlns:a16="http://schemas.microsoft.com/office/drawing/2014/main" val="1438297170"/>
                    </a:ext>
                  </a:extLst>
                </a:gridCol>
              </a:tblGrid>
              <a:tr h="371475">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1" i="0" u="none" strike="noStrike" cap="none" normalizeH="0" baseline="0">
                          <a:ln>
                            <a:noFill/>
                          </a:ln>
                          <a:solidFill>
                            <a:srgbClr val="FFFFFF"/>
                          </a:solidFill>
                          <a:effectLst/>
                          <a:latin typeface="Gill Sans MT" panose="020B0502020104020203" pitchFamily="34" charset="77"/>
                          <a:ea typeface="ＭＳ Ｐゴシック" panose="020B0600070205080204" pitchFamily="34" charset="-128"/>
                        </a:rPr>
                        <a:t>Year</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1" i="0" u="none" strike="noStrike" cap="none" normalizeH="0" baseline="0">
                          <a:ln>
                            <a:noFill/>
                          </a:ln>
                          <a:solidFill>
                            <a:srgbClr val="FFFFFF"/>
                          </a:solidFill>
                          <a:effectLst/>
                          <a:latin typeface="Gill Sans MT" panose="020B0502020104020203" pitchFamily="34" charset="77"/>
                          <a:ea typeface="ＭＳ Ｐゴシック" panose="020B0600070205080204" pitchFamily="34" charset="-128"/>
                        </a:rPr>
                        <a:t>School</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1" i="0" u="none" strike="noStrike" cap="none" normalizeH="0" baseline="0">
                          <a:ln>
                            <a:noFill/>
                          </a:ln>
                          <a:solidFill>
                            <a:srgbClr val="FFFFFF"/>
                          </a:solidFill>
                          <a:effectLst/>
                          <a:latin typeface="Gill Sans MT" panose="020B0502020104020203" pitchFamily="34" charset="77"/>
                          <a:ea typeface="ＭＳ Ｐゴシック" panose="020B0600070205080204" pitchFamily="34" charset="-128"/>
                        </a:rPr>
                        <a:t>Degree</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400" b="1" i="0" u="none" strike="noStrike" cap="none" normalizeH="0" baseline="0">
                          <a:ln>
                            <a:noFill/>
                          </a:ln>
                          <a:solidFill>
                            <a:srgbClr val="FFFFFF"/>
                          </a:solidFill>
                          <a:effectLst/>
                          <a:latin typeface="Gill Sans MT" panose="020B0502020104020203" pitchFamily="34" charset="77"/>
                          <a:ea typeface="ＭＳ Ｐゴシック" panose="020B0600070205080204" pitchFamily="34" charset="-128"/>
                        </a:rPr>
                        <a:t>Regulation</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245021773"/>
                  </a:ext>
                </a:extLst>
              </a:tr>
              <a:tr h="822959">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1850-1900</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Escuela Industrial de Ampliación</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4 o 6 años. ‘</a:t>
                      </a:r>
                      <a:r>
                        <a:rPr kumimoji="0" lang="es-ES_tradnl" altLang="ja-JP"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Profesor Industrial</a:t>
                      </a:r>
                      <a:r>
                        <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a:t>
                      </a:r>
                      <a:r>
                        <a:rPr kumimoji="0" lang="es-ES_tradnl" altLang="ja-JP"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 en Mecánica,  Electricidad o Química</a:t>
                      </a:r>
                      <a:endPar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endParaRP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Real Decreto del 4 de Septiembre de 1.850 del Ministerio de Comercio</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2306289099"/>
                  </a:ext>
                </a:extLst>
              </a:tr>
              <a:tr h="1066801">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1900-1969</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Escuela Industrial</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4 o 6 años.  ‘</a:t>
                      </a:r>
                      <a:r>
                        <a:rPr kumimoji="0" lang="es-ES_tradnl" altLang="ja-JP"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Perito Industrial</a:t>
                      </a:r>
                      <a:r>
                        <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a:t>
                      </a:r>
                      <a:r>
                        <a:rPr kumimoji="0" lang="es-ES_tradnl" altLang="ja-JP"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 en Mecánica,  Electricidad, Química o Textil</a:t>
                      </a:r>
                      <a:endPar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endParaRP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Decreto de 1924, "Estatuto de la Enseñanza Industrial”</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349222758"/>
                  </a:ext>
                </a:extLst>
              </a:tr>
              <a:tr h="944879">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1970-1983</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Escuela Técnica de Grado Medio</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3 años.  ‘</a:t>
                      </a:r>
                      <a:r>
                        <a:rPr kumimoji="0" lang="es-ES_tradnl" altLang="ja-JP"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Ingeniero Técnico</a:t>
                      </a:r>
                      <a:r>
                        <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a:t>
                      </a:r>
                      <a:r>
                        <a:rPr kumimoji="0" lang="es-ES_tradnl" altLang="ja-JP"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 en Mecánica,  Electricidad, Química o Textil</a:t>
                      </a:r>
                      <a:endPar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endParaRP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DECRETO 13 Febrero 1969, Número 148/1969 del Ministerio Educación y Ciencia </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415349579"/>
                  </a:ext>
                </a:extLst>
              </a:tr>
              <a:tr h="822959">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1983-2002</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Escuela Universitaria</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3 años. ‘</a:t>
                      </a:r>
                      <a:r>
                        <a:rPr kumimoji="0" lang="es-ES_tradnl" altLang="ja-JP"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Ingeniero Técnico</a:t>
                      </a:r>
                      <a:r>
                        <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a:t>
                      </a:r>
                      <a:r>
                        <a:rPr kumimoji="0" lang="es-ES_tradnl" altLang="ja-JP"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 en Mecánica,  Electricidad, Química o Textil</a:t>
                      </a:r>
                      <a:endPar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endParaRP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Ley Orgánica 11/1983, de 25 de agosto, de Reforma Universitaria</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675429874"/>
                  </a:ext>
                </a:extLst>
              </a:tr>
              <a:tr h="1371602">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2002- Actualidad</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a:ln>
                            <a:noFill/>
                          </a:ln>
                          <a:solidFill>
                            <a:srgbClr val="000000"/>
                          </a:solidFill>
                          <a:effectLst/>
                          <a:latin typeface="Gill Sans MT" panose="020B0502020104020203" pitchFamily="34" charset="77"/>
                          <a:ea typeface="ＭＳ Ｐゴシック" panose="020B0600070205080204" pitchFamily="34" charset="-128"/>
                        </a:rPr>
                        <a:t>Escuela Técnica Superior de Ingeniería del Diseño</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6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4 años. Graduado en Mecánica, Electrónica, Ingeniería del Diseño, Química o Aeroespacial (ANECA – 2010)</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DECRETO 177/2002, de 28 de octubre, del Gobierno Valenciano.</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Resolución de 23 de marzo de 2011 (</a:t>
                      </a:r>
                      <a:r>
                        <a:rPr kumimoji="0" lang="es-ES_tradnl" altLang="es-ES" sz="1400" b="0" i="0" u="none" strike="noStrike" cap="none" normalizeH="0" baseline="0" noProof="0" dirty="0" err="1">
                          <a:ln>
                            <a:noFill/>
                          </a:ln>
                          <a:solidFill>
                            <a:srgbClr val="000000"/>
                          </a:solidFill>
                          <a:effectLst/>
                          <a:latin typeface="Gill Sans MT" panose="020B0502020104020203" pitchFamily="34" charset="77"/>
                          <a:ea typeface="ＭＳ Ｐゴシック" panose="020B0600070205080204" pitchFamily="34" charset="-128"/>
                        </a:rPr>
                        <a:t>Boe</a:t>
                      </a:r>
                      <a:r>
                        <a:rPr kumimoji="0" lang="es-ES_tradnl" altLang="es-ES" sz="1400" b="0" i="0" u="none" strike="noStrike" cap="none" normalizeH="0" baseline="0" noProof="0" dirty="0">
                          <a:ln>
                            <a:noFill/>
                          </a:ln>
                          <a:solidFill>
                            <a:srgbClr val="000000"/>
                          </a:solidFill>
                          <a:effectLst/>
                          <a:latin typeface="Gill Sans MT" panose="020B0502020104020203" pitchFamily="34" charset="77"/>
                          <a:ea typeface="ＭＳ Ｐゴシック" panose="020B0600070205080204" pitchFamily="34" charset="-128"/>
                        </a:rPr>
                        <a:t> 16/4/2011) </a:t>
                      </a:r>
                    </a:p>
                  </a:txBody>
                  <a:tcPr marL="91452" marR="91452"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872748343"/>
                  </a:ext>
                </a:extLst>
              </a:tr>
            </a:tbl>
          </a:graphicData>
        </a:graphic>
      </p:graphicFrame>
      <p:sp>
        <p:nvSpPr>
          <p:cNvPr id="6" name="1 Título">
            <a:extLst>
              <a:ext uri="{FF2B5EF4-FFF2-40B4-BE49-F238E27FC236}">
                <a16:creationId xmlns:a16="http://schemas.microsoft.com/office/drawing/2014/main" id="{F8027AA3-4AD1-874F-A7E5-49EAE6D8DB7D}"/>
              </a:ext>
            </a:extLst>
          </p:cNvPr>
          <p:cNvSpPr>
            <a:spLocks noGrp="1"/>
          </p:cNvSpPr>
          <p:nvPr>
            <p:ph type="ctrTitle"/>
          </p:nvPr>
        </p:nvSpPr>
        <p:spPr>
          <a:xfrm>
            <a:off x="1300162" y="115887"/>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F457BF49-792F-3C41-AAFA-20DE83113063}"/>
              </a:ext>
            </a:extLst>
          </p:cNvPr>
          <p:cNvSpPr>
            <a:spLocks noGrp="1"/>
          </p:cNvSpPr>
          <p:nvPr>
            <p:ph type="subTitle" idx="1"/>
          </p:nvPr>
        </p:nvSpPr>
        <p:spPr>
          <a:xfrm>
            <a:off x="1431925" y="1700809"/>
            <a:ext cx="7407275" cy="3888432"/>
          </a:xfrm>
        </p:spPr>
        <p:txBody>
          <a:bodyPr>
            <a:normAutofit/>
          </a:bodyPr>
          <a:lstStyle/>
          <a:p>
            <a:pPr marL="177800" indent="-150813" eaLnBrk="1" fontAlgn="auto" hangingPunct="1">
              <a:spcAft>
                <a:spcPts val="0"/>
              </a:spcAft>
              <a:buFont typeface="Wingdings 2"/>
              <a:buNone/>
              <a:defRPr/>
            </a:pPr>
            <a:r>
              <a:rPr lang="es-ES_tradnl" sz="2400" dirty="0">
                <a:ea typeface="+mn-ea"/>
                <a:cs typeface="+mn-cs"/>
              </a:rPr>
              <a:t>3. Atribuciones profesionales de los ingenieros industriales (decreto de 07.18.1935)</a:t>
            </a:r>
          </a:p>
          <a:p>
            <a:pPr marL="484188" indent="-261938" eaLnBrk="1" fontAlgn="auto" hangingPunct="1">
              <a:spcAft>
                <a:spcPts val="0"/>
              </a:spcAft>
              <a:buFont typeface="Wingdings 2"/>
              <a:buAutoNum type="arabicPeriod"/>
              <a:defRPr/>
            </a:pPr>
            <a:r>
              <a:rPr lang="es-ES_tradnl" sz="2000" dirty="0">
                <a:ea typeface="+mn-ea"/>
                <a:cs typeface="+mn-cs"/>
              </a:rPr>
              <a:t>Redacción y firma de proyectos destinados a la construcción, reparación, mantenimiento, demolición, fabricación, montaje o explotación de bienes inmuebles o personales que formen parte de cualquier actividad industrial.</a:t>
            </a:r>
          </a:p>
          <a:p>
            <a:pPr marL="484188" indent="-261938" eaLnBrk="1" fontAlgn="auto" hangingPunct="1">
              <a:spcAft>
                <a:spcPts val="0"/>
              </a:spcAft>
              <a:buFont typeface="Wingdings 2"/>
              <a:buAutoNum type="arabicPeriod"/>
              <a:defRPr/>
            </a:pPr>
            <a:r>
              <a:rPr lang="es-ES_tradnl" sz="2000" dirty="0">
                <a:ea typeface="+mn-ea"/>
                <a:cs typeface="+mn-cs"/>
              </a:rPr>
              <a:t>La dirección de las actividades de los proyectos a que se refiere el párrafo anterior.</a:t>
            </a:r>
          </a:p>
          <a:p>
            <a:pPr marL="484188" indent="-261938" eaLnBrk="1" fontAlgn="auto" hangingPunct="1">
              <a:spcAft>
                <a:spcPts val="0"/>
              </a:spcAft>
              <a:buFont typeface="Wingdings 2"/>
              <a:buAutoNum type="arabicPeriod"/>
              <a:defRPr/>
            </a:pPr>
            <a:r>
              <a:rPr lang="es-ES_tradnl" sz="2000" dirty="0">
                <a:ea typeface="+mn-ea"/>
                <a:cs typeface="+mn-cs"/>
              </a:rPr>
              <a:t>La realización y gestión de todo tipo de trabajos y organismos en el ámbito económico, social y profesional de la industria.</a:t>
            </a: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endParaRPr lang="es-ES_tradnl" sz="2400" dirty="0">
              <a:ea typeface="+mn-ea"/>
              <a:cs typeface="+mn-cs"/>
            </a:endParaRPr>
          </a:p>
          <a:p>
            <a:pPr marL="484632" indent="-457200" eaLnBrk="1" fontAlgn="auto" hangingPunct="1">
              <a:spcAft>
                <a:spcPts val="0"/>
              </a:spcAft>
              <a:buFont typeface="Wingdings 2"/>
              <a:buAutoNum type="arabicPeriod"/>
              <a:defRPr/>
            </a:pPr>
            <a:endParaRPr lang="es-ES_tradnl" sz="2400" dirty="0">
              <a:ea typeface="+mn-ea"/>
              <a:cs typeface="+mn-cs"/>
            </a:endParaRPr>
          </a:p>
          <a:p>
            <a:pPr marL="484632" indent="-457200" eaLnBrk="1" fontAlgn="auto" hangingPunct="1">
              <a:spcAft>
                <a:spcPts val="0"/>
              </a:spcAft>
              <a:buFont typeface="Wingdings 2"/>
              <a:buAutoNum type="arabicPeriod"/>
              <a:defRPr/>
            </a:pPr>
            <a:endParaRPr lang="es-ES_tradnl" sz="2400" dirty="0">
              <a:ea typeface="+mn-ea"/>
              <a:cs typeface="+mn-cs"/>
            </a:endParaRPr>
          </a:p>
          <a:p>
            <a:pPr marL="484632" indent="-457200" eaLnBrk="1" fontAlgn="auto" hangingPunct="1">
              <a:spcAft>
                <a:spcPts val="0"/>
              </a:spcAft>
              <a:buFont typeface="Wingdings 2"/>
              <a:buAutoNum type="arabicPeriod"/>
              <a:defRPr/>
            </a:pPr>
            <a:endParaRPr lang="es-ES_tradnl" sz="2400" dirty="0">
              <a:ea typeface="+mn-ea"/>
              <a:cs typeface="+mn-cs"/>
            </a:endParaRP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6" name="1 Título">
            <a:extLst>
              <a:ext uri="{FF2B5EF4-FFF2-40B4-BE49-F238E27FC236}">
                <a16:creationId xmlns:a16="http://schemas.microsoft.com/office/drawing/2014/main" id="{EDE1F921-5C2C-2442-8E77-BB7B0A35D54F}"/>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92DC8116-84D5-9048-9627-2F5D7EABB1AF}"/>
              </a:ext>
            </a:extLst>
          </p:cNvPr>
          <p:cNvSpPr>
            <a:spLocks noGrp="1"/>
          </p:cNvSpPr>
          <p:nvPr>
            <p:ph type="subTitle" idx="1"/>
          </p:nvPr>
        </p:nvSpPr>
        <p:spPr>
          <a:xfrm>
            <a:off x="1431925" y="1849439"/>
            <a:ext cx="7407275" cy="3451769"/>
          </a:xfrm>
        </p:spPr>
        <p:txBody>
          <a:bodyPr>
            <a:normAutofit/>
          </a:bodyPr>
          <a:lstStyle/>
          <a:p>
            <a:pPr marL="177800" indent="-150813" eaLnBrk="1" fontAlgn="auto" hangingPunct="1">
              <a:spcAft>
                <a:spcPts val="0"/>
              </a:spcAft>
              <a:defRPr/>
            </a:pPr>
            <a:r>
              <a:rPr lang="es-ES_tradnl" sz="2400" dirty="0">
                <a:latin typeface="Arial" panose="020B0604020202020204" pitchFamily="34" charset="0"/>
                <a:ea typeface="+mn-ea"/>
                <a:cs typeface="Arial" panose="020B0604020202020204" pitchFamily="34" charset="0"/>
              </a:rPr>
              <a:t>3. </a:t>
            </a:r>
            <a:r>
              <a:rPr lang="es-ES_tradnl" sz="2400" dirty="0">
                <a:latin typeface="Arial" panose="020B0604020202020204" pitchFamily="34" charset="0"/>
                <a:cs typeface="Arial" panose="020B0604020202020204" pitchFamily="34" charset="0"/>
              </a:rPr>
              <a:t>Atribuciones profesionales de los ingenieros industriales (decreto de 07.18.1935)</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La realización de trabajos especiales, consistentes en:</a:t>
            </a:r>
          </a:p>
          <a:p>
            <a:pPr marL="370332" indent="-342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Mediciones y Cálculos</a:t>
            </a:r>
          </a:p>
          <a:p>
            <a:pPr marL="370332" indent="-342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Valoraciones y tasaciones</a:t>
            </a:r>
          </a:p>
          <a:p>
            <a:pPr marL="370332" indent="-342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Peritaciones, informes y dictámenes técnicos.</a:t>
            </a:r>
          </a:p>
          <a:p>
            <a:pPr marL="370332" indent="-342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Estudios técnicos públicos o privados.</a:t>
            </a:r>
          </a:p>
          <a:p>
            <a:pPr marL="370332" indent="-342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Cualquier otro trabajo que se les conceda de acuerdo con la legislación vigente y las tarifas de honorarios.</a:t>
            </a:r>
          </a:p>
          <a:p>
            <a:pPr marL="484632" indent="-457200" eaLnBrk="1" fontAlgn="auto" hangingPunct="1">
              <a:spcAft>
                <a:spcPts val="0"/>
              </a:spcAft>
              <a:buFont typeface="Wingdings 2"/>
              <a:buAutoNum type="arabicPeriod"/>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4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4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400" dirty="0">
              <a:latin typeface="Arial" panose="020B0604020202020204" pitchFamily="34" charset="0"/>
              <a:ea typeface="+mn-ea"/>
              <a:cs typeface="Arial" panose="020B0604020202020204" pitchFamily="34" charset="0"/>
            </a:endParaRPr>
          </a:p>
          <a:p>
            <a:pPr marL="484632" indent="-457200" eaLnBrk="1" fontAlgn="auto" hangingPunct="1">
              <a:spcAft>
                <a:spcPts val="0"/>
              </a:spcAft>
              <a:buFont typeface="Wingdings 2"/>
              <a:buAutoNum type="arabicPeriod"/>
              <a:defRPr/>
            </a:pPr>
            <a:endParaRPr lang="es-ES_tradnl" sz="2400" dirty="0">
              <a:latin typeface="Arial" panose="020B0604020202020204" pitchFamily="34" charset="0"/>
              <a:ea typeface="+mn-ea"/>
              <a:cs typeface="Arial" panose="020B0604020202020204" pitchFamily="34" charset="0"/>
            </a:endParaRPr>
          </a:p>
          <a:p>
            <a:pPr marL="484632" indent="-457200" eaLnBrk="1" fontAlgn="auto" hangingPunct="1">
              <a:spcAft>
                <a:spcPts val="0"/>
              </a:spcAft>
              <a:buFont typeface="Wingdings 2"/>
              <a:buAutoNum type="arabicPeriod"/>
              <a:defRPr/>
            </a:pPr>
            <a:endParaRPr lang="es-ES_tradnl" sz="2400" dirty="0">
              <a:latin typeface="Arial" panose="020B0604020202020204" pitchFamily="34" charset="0"/>
              <a:ea typeface="+mn-ea"/>
              <a:cs typeface="Arial" panose="020B0604020202020204" pitchFamily="34" charset="0"/>
            </a:endParaRPr>
          </a:p>
          <a:p>
            <a:pPr marL="484632" indent="-457200" eaLnBrk="1" fontAlgn="auto" hangingPunct="1">
              <a:spcAft>
                <a:spcPts val="0"/>
              </a:spcAft>
              <a:buFont typeface="Wingdings 2"/>
              <a:buAutoNum type="arabicPeriod"/>
              <a:defRPr/>
            </a:pPr>
            <a:endParaRPr lang="es-ES_tradnl" sz="24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4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dirty="0">
              <a:latin typeface="Arial" panose="020B0604020202020204" pitchFamily="34" charset="0"/>
              <a:ea typeface="+mn-ea"/>
              <a:cs typeface="Arial" panose="020B0604020202020204" pitchFamily="34" charset="0"/>
            </a:endParaRPr>
          </a:p>
        </p:txBody>
      </p:sp>
      <p:sp>
        <p:nvSpPr>
          <p:cNvPr id="6" name="1 Título">
            <a:extLst>
              <a:ext uri="{FF2B5EF4-FFF2-40B4-BE49-F238E27FC236}">
                <a16:creationId xmlns:a16="http://schemas.microsoft.com/office/drawing/2014/main" id="{0FC6A2D1-3D33-AF43-B3DF-5EBD7802CB1D}"/>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2 Subtítulo">
            <a:extLst>
              <a:ext uri="{FF2B5EF4-FFF2-40B4-BE49-F238E27FC236}">
                <a16:creationId xmlns:a16="http://schemas.microsoft.com/office/drawing/2014/main" id="{FADAE1EC-BBC3-3143-B42B-E129088602B1}"/>
              </a:ext>
            </a:extLst>
          </p:cNvPr>
          <p:cNvSpPr>
            <a:spLocks noGrp="1"/>
          </p:cNvSpPr>
          <p:nvPr>
            <p:ph type="subTitle" idx="1"/>
          </p:nvPr>
        </p:nvSpPr>
        <p:spPr>
          <a:xfrm>
            <a:off x="1431925" y="1849439"/>
            <a:ext cx="7407275" cy="4027833"/>
          </a:xfrm>
        </p:spPr>
        <p:txBody>
          <a:bodyPr/>
          <a:lstStyle/>
          <a:p>
            <a:pPr marL="26988" eaLnBrk="1" hangingPunct="1">
              <a:lnSpc>
                <a:spcPct val="80000"/>
              </a:lnSpc>
            </a:pPr>
            <a:r>
              <a:rPr lang="es-ES_tradnl" altLang="es-ES" sz="1900" dirty="0">
                <a:solidFill>
                  <a:srgbClr val="320E04"/>
                </a:solidFill>
                <a:ea typeface="ＭＳ Ｐゴシック" panose="020B0600070205080204" pitchFamily="34" charset="-128"/>
              </a:rPr>
              <a:t>3. Atribuciones del ingeniero colegiado (Wikipedia)</a:t>
            </a:r>
          </a:p>
          <a:p>
            <a:pPr marL="26988" eaLnBrk="1" hangingPunct="1">
              <a:lnSpc>
                <a:spcPct val="80000"/>
              </a:lnSpc>
            </a:pPr>
            <a:r>
              <a:rPr lang="es-ES_tradnl" altLang="es-ES" sz="1900" dirty="0">
                <a:solidFill>
                  <a:srgbClr val="320E04"/>
                </a:solidFill>
                <a:ea typeface="ＭＳ Ｐゴシック" panose="020B0600070205080204" pitchFamily="34" charset="-128"/>
              </a:rPr>
              <a:t>En algunos países o estados, un ingeniero colegiado está autorizado a asumir la responsabilidad jurídica de determinados trabajos o proyectos de ingeniería (normalmente mediante visado colegial o auto certificado de competencia). La normativa pueden exigir que sólo un ingeniero colegiado pueda suscribir determinada documentación técnica, como informes, planos, dibujos de ingeniería, cálculos, valoraciones, diseños, análisis, procesos de reparación, mantenimiento o de dirección de proyectos de ingeniería.</a:t>
            </a:r>
          </a:p>
          <a:p>
            <a:pPr marL="26988" eaLnBrk="1" hangingPunct="1">
              <a:lnSpc>
                <a:spcPct val="80000"/>
              </a:lnSpc>
            </a:pPr>
            <a:r>
              <a:rPr lang="es-ES_tradnl" altLang="es-ES" sz="1900" dirty="0">
                <a:solidFill>
                  <a:srgbClr val="320E04"/>
                </a:solidFill>
                <a:ea typeface="ＭＳ Ｐゴシック" panose="020B0600070205080204" pitchFamily="34" charset="-128"/>
              </a:rPr>
              <a:t>En la práctica, especialmente, se exige que el trabajo sea desarrollado por un ingeniero colegiado en los casos que puedan afectar a la seguridad, al bienestar o la protección de bienes materiales.</a:t>
            </a:r>
          </a:p>
          <a:p>
            <a:pPr marL="26988" eaLnBrk="1" hangingPunct="1">
              <a:lnSpc>
                <a:spcPct val="80000"/>
              </a:lnSpc>
            </a:pPr>
            <a:r>
              <a:rPr lang="es-ES_tradnl" altLang="es-ES" sz="1900" dirty="0">
                <a:solidFill>
                  <a:srgbClr val="320E04"/>
                </a:solidFill>
                <a:ea typeface="ＭＳ Ｐゴシック" panose="020B0600070205080204" pitchFamily="34" charset="-128"/>
              </a:rPr>
              <a:t>En algunas jurisdicciones se permite a los ingenieros desarrollar los trabajos citados internamente para una organización sin estar dados de alta en el ejercicio libre de la profesión.</a:t>
            </a:r>
          </a:p>
          <a:p>
            <a:pPr marL="26988" eaLnBrk="1" hangingPunct="1">
              <a:lnSpc>
                <a:spcPct val="80000"/>
              </a:lnSpc>
            </a:pPr>
            <a:endParaRPr lang="es-ES_tradnl" altLang="es-ES" sz="1900" dirty="0">
              <a:solidFill>
                <a:srgbClr val="320E04"/>
              </a:solidFill>
              <a:ea typeface="ＭＳ Ｐゴシック" panose="020B0600070205080204" pitchFamily="34" charset="-128"/>
            </a:endParaRP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26988" eaLnBrk="1" hangingPunct="1">
              <a:lnSpc>
                <a:spcPct val="80000"/>
              </a:lnSpc>
            </a:pPr>
            <a:endParaRPr lang="es-ES_tradnl" altLang="es-ES" sz="2000" dirty="0">
              <a:solidFill>
                <a:srgbClr val="320E04"/>
              </a:solidFill>
              <a:ea typeface="ＭＳ Ｐゴシック" panose="020B0600070205080204" pitchFamily="34" charset="-128"/>
            </a:endParaRPr>
          </a:p>
          <a:p>
            <a:pPr marL="26988" eaLnBrk="1" hangingPunct="1">
              <a:lnSpc>
                <a:spcPct val="80000"/>
              </a:lnSpc>
            </a:pPr>
            <a:endParaRPr lang="es-ES_tradnl" altLang="es-ES" sz="2000" dirty="0">
              <a:solidFill>
                <a:srgbClr val="320E04"/>
              </a:solidFill>
              <a:ea typeface="ＭＳ Ｐゴシック" panose="020B0600070205080204" pitchFamily="34" charset="-128"/>
            </a:endParaRPr>
          </a:p>
          <a:p>
            <a:pPr marL="26988" eaLnBrk="1" hangingPunct="1">
              <a:lnSpc>
                <a:spcPct val="80000"/>
              </a:lnSpc>
            </a:pPr>
            <a:endParaRPr lang="es-ES_tradnl" altLang="es-ES" sz="20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2C0C5AF1-AD42-4B42-97D2-FC4D4EC8B67C}"/>
              </a:ext>
            </a:extLst>
          </p:cNvPr>
          <p:cNvSpPr>
            <a:spLocks noGrp="1"/>
          </p:cNvSpPr>
          <p:nvPr>
            <p:ph type="ctrTitle"/>
          </p:nvPr>
        </p:nvSpPr>
        <p:spPr>
          <a:xfrm>
            <a:off x="1431925" y="228501"/>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4">
            <a:extLst>
              <a:ext uri="{FF2B5EF4-FFF2-40B4-BE49-F238E27FC236}">
                <a16:creationId xmlns:a16="http://schemas.microsoft.com/office/drawing/2014/main" id="{08CEA4AE-7994-C347-88B1-D1E751E3D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773238"/>
            <a:ext cx="7705030" cy="476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2 Rectángulo">
            <a:extLst>
              <a:ext uri="{FF2B5EF4-FFF2-40B4-BE49-F238E27FC236}">
                <a16:creationId xmlns:a16="http://schemas.microsoft.com/office/drawing/2014/main" id="{78B9AFF9-1F86-3449-9AAC-970EF4FF0BE4}"/>
              </a:ext>
            </a:extLst>
          </p:cNvPr>
          <p:cNvSpPr/>
          <p:nvPr/>
        </p:nvSpPr>
        <p:spPr>
          <a:xfrm>
            <a:off x="7164387" y="2201354"/>
            <a:ext cx="1368425" cy="574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s-ES_tradnl" dirty="0"/>
              <a:t>Graduados</a:t>
            </a:r>
          </a:p>
        </p:txBody>
      </p:sp>
      <p:cxnSp>
        <p:nvCxnSpPr>
          <p:cNvPr id="6" name="5 Conector recto de flecha">
            <a:extLst>
              <a:ext uri="{FF2B5EF4-FFF2-40B4-BE49-F238E27FC236}">
                <a16:creationId xmlns:a16="http://schemas.microsoft.com/office/drawing/2014/main" id="{394938FA-1ABA-2C4B-938F-A1E75D9B9D57}"/>
              </a:ext>
            </a:extLst>
          </p:cNvPr>
          <p:cNvCxnSpPr>
            <a:cxnSpLocks/>
          </p:cNvCxnSpPr>
          <p:nvPr/>
        </p:nvCxnSpPr>
        <p:spPr>
          <a:xfrm>
            <a:off x="7848599" y="2776029"/>
            <a:ext cx="0" cy="14086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2 Rectángulo">
            <a:extLst>
              <a:ext uri="{FF2B5EF4-FFF2-40B4-BE49-F238E27FC236}">
                <a16:creationId xmlns:a16="http://schemas.microsoft.com/office/drawing/2014/main" id="{DBFED3A6-B955-6F4D-B7B8-720119A732E5}"/>
              </a:ext>
            </a:extLst>
          </p:cNvPr>
          <p:cNvSpPr/>
          <p:nvPr/>
        </p:nvSpPr>
        <p:spPr>
          <a:xfrm>
            <a:off x="7056449" y="4184650"/>
            <a:ext cx="1836025" cy="1224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s-ES_tradnl" dirty="0"/>
              <a:t>Plenas atribuciones en la especialidad</a:t>
            </a:r>
          </a:p>
        </p:txBody>
      </p:sp>
      <p:sp>
        <p:nvSpPr>
          <p:cNvPr id="8" name="2 Rectángulo">
            <a:extLst>
              <a:ext uri="{FF2B5EF4-FFF2-40B4-BE49-F238E27FC236}">
                <a16:creationId xmlns:a16="http://schemas.microsoft.com/office/drawing/2014/main" id="{71629577-6160-264E-BEF4-DB4CA8C6835D}"/>
              </a:ext>
            </a:extLst>
          </p:cNvPr>
          <p:cNvSpPr/>
          <p:nvPr/>
        </p:nvSpPr>
        <p:spPr>
          <a:xfrm>
            <a:off x="4085790" y="4293096"/>
            <a:ext cx="1908349"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s-ES_tradnl" dirty="0"/>
              <a:t>Proyecto de especialidad</a:t>
            </a:r>
          </a:p>
        </p:txBody>
      </p:sp>
      <p:sp>
        <p:nvSpPr>
          <p:cNvPr id="10" name="1 Título">
            <a:extLst>
              <a:ext uri="{FF2B5EF4-FFF2-40B4-BE49-F238E27FC236}">
                <a16:creationId xmlns:a16="http://schemas.microsoft.com/office/drawing/2014/main" id="{4467DE24-0BB2-9A4F-9565-ABA5C0C042E5}"/>
              </a:ext>
            </a:extLst>
          </p:cNvPr>
          <p:cNvSpPr>
            <a:spLocks noGrp="1"/>
          </p:cNvSpPr>
          <p:nvPr>
            <p:ph type="ctrTitle"/>
          </p:nvPr>
        </p:nvSpPr>
        <p:spPr>
          <a:xfrm>
            <a:off x="1336326" y="228576"/>
            <a:ext cx="7407275" cy="1184275"/>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Evolución de las atribuciones de los graduados e ingenieros técnicos</a:t>
            </a:r>
          </a:p>
        </p:txBody>
      </p:sp>
      <p:sp>
        <p:nvSpPr>
          <p:cNvPr id="11" name="CuadroTexto 10">
            <a:extLst>
              <a:ext uri="{FF2B5EF4-FFF2-40B4-BE49-F238E27FC236}">
                <a16:creationId xmlns:a16="http://schemas.microsoft.com/office/drawing/2014/main" id="{634001C4-C741-0C42-9116-B75570008129}"/>
              </a:ext>
            </a:extLst>
          </p:cNvPr>
          <p:cNvSpPr txBox="1"/>
          <p:nvPr/>
        </p:nvSpPr>
        <p:spPr>
          <a:xfrm>
            <a:off x="5311960" y="3635464"/>
            <a:ext cx="2016198" cy="307777"/>
          </a:xfrm>
          <a:prstGeom prst="rect">
            <a:avLst/>
          </a:prstGeom>
          <a:noFill/>
          <a:ln>
            <a:solidFill>
              <a:schemeClr val="tx1"/>
            </a:solidFill>
          </a:ln>
        </p:spPr>
        <p:txBody>
          <a:bodyPr wrap="square" rtlCol="0">
            <a:spAutoFit/>
          </a:bodyPr>
          <a:lstStyle/>
          <a:p>
            <a:r>
              <a:rPr lang="es-ES" sz="1400" dirty="0"/>
              <a:t>Orden CIN/</a:t>
            </a:r>
            <a:r>
              <a:rPr lang="es-ES" sz="1400" dirty="0">
                <a:latin typeface="Arial" panose="020B0604020202020204" pitchFamily="34" charset="0"/>
                <a:cs typeface="Arial" panose="020B0604020202020204" pitchFamily="34" charset="0"/>
              </a:rPr>
              <a:t>351/2009</a:t>
            </a:r>
            <a:r>
              <a:rPr lang="es-ES" sz="1400" dirty="0"/>
              <a:t> </a:t>
            </a:r>
          </a:p>
        </p:txBody>
      </p:sp>
      <p:cxnSp>
        <p:nvCxnSpPr>
          <p:cNvPr id="13" name="5 Conector recto de flecha">
            <a:extLst>
              <a:ext uri="{FF2B5EF4-FFF2-40B4-BE49-F238E27FC236}">
                <a16:creationId xmlns:a16="http://schemas.microsoft.com/office/drawing/2014/main" id="{859A96CB-24C1-DA47-9844-876070618201}"/>
              </a:ext>
            </a:extLst>
          </p:cNvPr>
          <p:cNvCxnSpPr>
            <a:cxnSpLocks/>
          </p:cNvCxnSpPr>
          <p:nvPr/>
        </p:nvCxnSpPr>
        <p:spPr>
          <a:xfrm>
            <a:off x="7344527" y="3789040"/>
            <a:ext cx="50407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742F2135-34A7-C840-A6D0-F4C77B0173F2}"/>
              </a:ext>
            </a:extLst>
          </p:cNvPr>
          <p:cNvSpPr>
            <a:spLocks noGrp="1"/>
          </p:cNvSpPr>
          <p:nvPr>
            <p:ph type="ctrTitle"/>
          </p:nvPr>
        </p:nvSpPr>
        <p:spPr>
          <a:xfrm>
            <a:off x="1431925" y="188640"/>
            <a:ext cx="7407275" cy="792088"/>
          </a:xfrm>
        </p:spPr>
        <p:txBody>
          <a:bodyPr>
            <a:noAutofit/>
          </a:bodyPr>
          <a:lstStyle/>
          <a:p>
            <a:pPr eaLnBrk="1" hangingPunct="1">
              <a:defRPr/>
            </a:pPr>
            <a:r>
              <a:rPr lang="es-ES_tradnl" altLang="es-ES" sz="2000" dirty="0">
                <a:effectLst>
                  <a:outerShdw blurRad="38100" dist="38100" dir="2700000" algn="tl">
                    <a:srgbClr val="C0C0C0"/>
                  </a:outerShdw>
                </a:effectLst>
                <a:ea typeface="ＭＳ Ｐゴシック" panose="020B0600070205080204" pitchFamily="34" charset="-128"/>
              </a:rPr>
              <a:t>OFICINA TÉCNICA. Ejercicio libre de la profesión</a:t>
            </a:r>
            <a:br>
              <a:rPr lang="es-ES_tradnl" altLang="es-ES" sz="2000" dirty="0">
                <a:effectLst>
                  <a:outerShdw blurRad="38100" dist="38100" dir="2700000" algn="tl">
                    <a:srgbClr val="C0C0C0"/>
                  </a:outerShdw>
                </a:effectLst>
                <a:ea typeface="ＭＳ Ｐゴシック" panose="020B0600070205080204" pitchFamily="34" charset="-128"/>
              </a:rPr>
            </a:br>
            <a:r>
              <a:rPr lang="es-ES_tradnl" altLang="es-ES" sz="2000" dirty="0">
                <a:effectLst>
                  <a:outerShdw blurRad="38100" dist="38100" dir="2700000" algn="tl">
                    <a:srgbClr val="C0C0C0"/>
                  </a:outerShdw>
                </a:effectLst>
                <a:ea typeface="ＭＳ Ｐゴシック" panose="020B0600070205080204" pitchFamily="34" charset="-128"/>
              </a:rPr>
              <a:t>No todas las especialidades tienen reconocidas atribuciones</a:t>
            </a:r>
          </a:p>
        </p:txBody>
      </p:sp>
      <p:graphicFrame>
        <p:nvGraphicFramePr>
          <p:cNvPr id="8" name="Tabla 7">
            <a:extLst>
              <a:ext uri="{FF2B5EF4-FFF2-40B4-BE49-F238E27FC236}">
                <a16:creationId xmlns:a16="http://schemas.microsoft.com/office/drawing/2014/main" id="{183DBA4A-7090-5542-8565-0FADD30D13F8}"/>
              </a:ext>
            </a:extLst>
          </p:cNvPr>
          <p:cNvGraphicFramePr>
            <a:graphicFrameLocks noGrp="1"/>
          </p:cNvGraphicFramePr>
          <p:nvPr>
            <p:extLst>
              <p:ext uri="{D42A27DB-BD31-4B8C-83A1-F6EECF244321}">
                <p14:modId xmlns:p14="http://schemas.microsoft.com/office/powerpoint/2010/main" val="3829889070"/>
              </p:ext>
            </p:extLst>
          </p:nvPr>
        </p:nvGraphicFramePr>
        <p:xfrm>
          <a:off x="1446576" y="1124744"/>
          <a:ext cx="7377972" cy="5389600"/>
        </p:xfrm>
        <a:graphic>
          <a:graphicData uri="http://schemas.openxmlformats.org/drawingml/2006/table">
            <a:tbl>
              <a:tblPr/>
              <a:tblGrid>
                <a:gridCol w="3688986">
                  <a:extLst>
                    <a:ext uri="{9D8B030D-6E8A-4147-A177-3AD203B41FA5}">
                      <a16:colId xmlns:a16="http://schemas.microsoft.com/office/drawing/2014/main" val="1969834421"/>
                    </a:ext>
                  </a:extLst>
                </a:gridCol>
                <a:gridCol w="3688986">
                  <a:extLst>
                    <a:ext uri="{9D8B030D-6E8A-4147-A177-3AD203B41FA5}">
                      <a16:colId xmlns:a16="http://schemas.microsoft.com/office/drawing/2014/main" val="4018288816"/>
                    </a:ext>
                  </a:extLst>
                </a:gridCol>
              </a:tblGrid>
              <a:tr h="286780">
                <a:tc>
                  <a:txBody>
                    <a:bodyPr/>
                    <a:lstStyle/>
                    <a:p>
                      <a:pPr algn="l" fontAlgn="base"/>
                      <a:r>
                        <a:rPr lang="es-ES" sz="1000" b="1" dirty="0">
                          <a:effectLst/>
                        </a:rPr>
                        <a:t>TITULACIÓN</a:t>
                      </a:r>
                    </a:p>
                  </a:txBody>
                  <a:tcPr marL="42423" marR="42423" marT="21212" marB="21212" anchor="ctr">
                    <a:lnL>
                      <a:noFill/>
                    </a:lnL>
                    <a:lnR>
                      <a:noFill/>
                    </a:lnR>
                    <a:lnT>
                      <a:noFill/>
                    </a:lnT>
                    <a:lnB>
                      <a:noFill/>
                    </a:lnB>
                    <a:solidFill>
                      <a:srgbClr val="E8F3CA"/>
                    </a:solidFill>
                  </a:tcPr>
                </a:tc>
                <a:tc>
                  <a:txBody>
                    <a:bodyPr/>
                    <a:lstStyle/>
                    <a:p>
                      <a:pPr algn="ctr" fontAlgn="base"/>
                      <a:r>
                        <a:rPr lang="es-ES" sz="1000" b="1" dirty="0">
                          <a:effectLst/>
                        </a:rPr>
                        <a:t>ATRIBUCIONES PROFESIONALES DEL</a:t>
                      </a:r>
                    </a:p>
                  </a:txBody>
                  <a:tcPr marL="42423" marR="42423" marT="21212" marB="21212" anchor="ctr">
                    <a:lnL>
                      <a:noFill/>
                    </a:lnL>
                    <a:lnR>
                      <a:noFill/>
                    </a:lnR>
                    <a:lnT>
                      <a:noFill/>
                    </a:lnT>
                    <a:lnB>
                      <a:noFill/>
                    </a:lnB>
                    <a:solidFill>
                      <a:srgbClr val="E8F3CA"/>
                    </a:solidFill>
                  </a:tcPr>
                </a:tc>
                <a:extLst>
                  <a:ext uri="{0D108BD9-81ED-4DB2-BD59-A6C34878D82A}">
                    <a16:rowId xmlns:a16="http://schemas.microsoft.com/office/drawing/2014/main" val="1224621061"/>
                  </a:ext>
                </a:extLst>
              </a:tr>
              <a:tr h="286780">
                <a:tc>
                  <a:txBody>
                    <a:bodyPr/>
                    <a:lstStyle/>
                    <a:p>
                      <a:pPr algn="l" fontAlgn="base"/>
                      <a:r>
                        <a:rPr lang="es-ES" sz="1000" dirty="0">
                          <a:effectLst/>
                        </a:rPr>
                        <a:t>Ingeniero Técnico Industrial, esp. Mecánica</a:t>
                      </a:r>
                    </a:p>
                  </a:txBody>
                  <a:tcPr marL="42423" marR="42423" marT="21212" marB="21212" anchor="ctr">
                    <a:lnL>
                      <a:noFill/>
                    </a:lnL>
                    <a:lnR>
                      <a:noFill/>
                    </a:lnR>
                    <a:lnT>
                      <a:noFill/>
                    </a:lnT>
                    <a:lnB>
                      <a:noFill/>
                    </a:lnB>
                    <a:solidFill>
                      <a:srgbClr val="E8F3CA"/>
                    </a:solidFill>
                  </a:tcPr>
                </a:tc>
                <a:tc>
                  <a:txBody>
                    <a:bodyPr/>
                    <a:lstStyle/>
                    <a:p>
                      <a:pPr algn="ctr" fontAlgn="base"/>
                      <a:r>
                        <a:rPr lang="es-ES" sz="1000" dirty="0">
                          <a:effectLst/>
                        </a:rPr>
                        <a:t>Ingeniero Técnico Industrial</a:t>
                      </a:r>
                    </a:p>
                  </a:txBody>
                  <a:tcPr marL="42423" marR="42423" marT="21212" marB="21212" anchor="ctr">
                    <a:lnL>
                      <a:noFill/>
                    </a:lnL>
                    <a:lnR>
                      <a:noFill/>
                    </a:lnR>
                    <a:lnT>
                      <a:noFill/>
                    </a:lnT>
                    <a:lnB>
                      <a:noFill/>
                    </a:lnB>
                    <a:solidFill>
                      <a:srgbClr val="E8F3CA"/>
                    </a:solidFill>
                  </a:tcPr>
                </a:tc>
                <a:extLst>
                  <a:ext uri="{0D108BD9-81ED-4DB2-BD59-A6C34878D82A}">
                    <a16:rowId xmlns:a16="http://schemas.microsoft.com/office/drawing/2014/main" val="3312492991"/>
                  </a:ext>
                </a:extLst>
              </a:tr>
              <a:tr h="286780">
                <a:tc>
                  <a:txBody>
                    <a:bodyPr/>
                    <a:lstStyle/>
                    <a:p>
                      <a:pPr algn="l" fontAlgn="base"/>
                      <a:r>
                        <a:rPr lang="es-ES" sz="1000" dirty="0">
                          <a:effectLst/>
                        </a:rPr>
                        <a:t>Ingeniero Técnico Industrial, esp. Electrónica Industrial</a:t>
                      </a:r>
                    </a:p>
                  </a:txBody>
                  <a:tcPr marL="42423" marR="42423" marT="21212" marB="21212" anchor="ctr">
                    <a:lnL>
                      <a:noFill/>
                    </a:lnL>
                    <a:lnR>
                      <a:noFill/>
                    </a:lnR>
                    <a:lnT>
                      <a:noFill/>
                    </a:lnT>
                    <a:lnB>
                      <a:noFill/>
                    </a:lnB>
                    <a:solidFill>
                      <a:srgbClr val="D7E5B2"/>
                    </a:solidFill>
                  </a:tcPr>
                </a:tc>
                <a:tc>
                  <a:txBody>
                    <a:bodyPr/>
                    <a:lstStyle/>
                    <a:p>
                      <a:pPr algn="ctr" fontAlgn="base"/>
                      <a:r>
                        <a:rPr lang="es-ES" sz="1000" dirty="0">
                          <a:effectLst/>
                        </a:rPr>
                        <a:t>Ingeniero Técnico Industrial</a:t>
                      </a:r>
                    </a:p>
                  </a:txBody>
                  <a:tcPr marL="42423" marR="42423" marT="21212" marB="21212" anchor="ctr">
                    <a:lnL>
                      <a:noFill/>
                    </a:lnL>
                    <a:lnR>
                      <a:noFill/>
                    </a:lnR>
                    <a:lnT>
                      <a:noFill/>
                    </a:lnT>
                    <a:lnB>
                      <a:noFill/>
                    </a:lnB>
                    <a:solidFill>
                      <a:srgbClr val="D7E5B2"/>
                    </a:solidFill>
                  </a:tcPr>
                </a:tc>
                <a:extLst>
                  <a:ext uri="{0D108BD9-81ED-4DB2-BD59-A6C34878D82A}">
                    <a16:rowId xmlns:a16="http://schemas.microsoft.com/office/drawing/2014/main" val="1021491328"/>
                  </a:ext>
                </a:extLst>
              </a:tr>
              <a:tr h="286780">
                <a:tc>
                  <a:txBody>
                    <a:bodyPr/>
                    <a:lstStyle/>
                    <a:p>
                      <a:pPr algn="l" fontAlgn="base"/>
                      <a:r>
                        <a:rPr lang="es-ES" sz="1000" dirty="0">
                          <a:effectLst/>
                        </a:rPr>
                        <a:t>Ingeniero Técnico Industrial, esp. Electricidad</a:t>
                      </a:r>
                    </a:p>
                  </a:txBody>
                  <a:tcPr marL="42423" marR="42423" marT="21212" marB="21212" anchor="ctr">
                    <a:lnL>
                      <a:noFill/>
                    </a:lnL>
                    <a:lnR>
                      <a:noFill/>
                    </a:lnR>
                    <a:lnT>
                      <a:noFill/>
                    </a:lnT>
                    <a:lnB>
                      <a:noFill/>
                    </a:lnB>
                    <a:solidFill>
                      <a:srgbClr val="E8F3CA"/>
                    </a:solidFill>
                  </a:tcPr>
                </a:tc>
                <a:tc>
                  <a:txBody>
                    <a:bodyPr/>
                    <a:lstStyle/>
                    <a:p>
                      <a:pPr algn="ctr" fontAlgn="base"/>
                      <a:r>
                        <a:rPr lang="es-ES" sz="1000" dirty="0">
                          <a:effectLst/>
                        </a:rPr>
                        <a:t>Ingeniero Técnico Industrial</a:t>
                      </a:r>
                    </a:p>
                  </a:txBody>
                  <a:tcPr marL="42423" marR="42423" marT="21212" marB="21212" anchor="ctr">
                    <a:lnL>
                      <a:noFill/>
                    </a:lnL>
                    <a:lnR>
                      <a:noFill/>
                    </a:lnR>
                    <a:lnT>
                      <a:noFill/>
                    </a:lnT>
                    <a:lnB>
                      <a:noFill/>
                    </a:lnB>
                    <a:solidFill>
                      <a:srgbClr val="E8F3CA"/>
                    </a:solidFill>
                  </a:tcPr>
                </a:tc>
                <a:extLst>
                  <a:ext uri="{0D108BD9-81ED-4DB2-BD59-A6C34878D82A}">
                    <a16:rowId xmlns:a16="http://schemas.microsoft.com/office/drawing/2014/main" val="1820563604"/>
                  </a:ext>
                </a:extLst>
              </a:tr>
              <a:tr h="286780">
                <a:tc>
                  <a:txBody>
                    <a:bodyPr/>
                    <a:lstStyle/>
                    <a:p>
                      <a:pPr algn="l" fontAlgn="base"/>
                      <a:r>
                        <a:rPr lang="es-ES" sz="1000" dirty="0">
                          <a:effectLst/>
                        </a:rPr>
                        <a:t>Ingeniero Técnico Industrial, esp. Química Industrial</a:t>
                      </a:r>
                    </a:p>
                  </a:txBody>
                  <a:tcPr marL="42423" marR="42423" marT="21212" marB="21212" anchor="ctr">
                    <a:lnL>
                      <a:noFill/>
                    </a:lnL>
                    <a:lnR>
                      <a:noFill/>
                    </a:lnR>
                    <a:lnT>
                      <a:noFill/>
                    </a:lnT>
                    <a:lnB>
                      <a:noFill/>
                    </a:lnB>
                    <a:solidFill>
                      <a:srgbClr val="D7E5B2"/>
                    </a:solidFill>
                  </a:tcPr>
                </a:tc>
                <a:tc>
                  <a:txBody>
                    <a:bodyPr/>
                    <a:lstStyle/>
                    <a:p>
                      <a:pPr algn="ctr" fontAlgn="base"/>
                      <a:r>
                        <a:rPr lang="es-ES" sz="1000">
                          <a:effectLst/>
                        </a:rPr>
                        <a:t>Ingeniero Técnico Industrial</a:t>
                      </a:r>
                    </a:p>
                  </a:txBody>
                  <a:tcPr marL="42423" marR="42423" marT="21212" marB="21212" anchor="ctr">
                    <a:lnL>
                      <a:noFill/>
                    </a:lnL>
                    <a:lnR>
                      <a:noFill/>
                    </a:lnR>
                    <a:lnT>
                      <a:noFill/>
                    </a:lnT>
                    <a:lnB>
                      <a:noFill/>
                    </a:lnB>
                    <a:solidFill>
                      <a:srgbClr val="D7E5B2"/>
                    </a:solidFill>
                  </a:tcPr>
                </a:tc>
                <a:extLst>
                  <a:ext uri="{0D108BD9-81ED-4DB2-BD59-A6C34878D82A}">
                    <a16:rowId xmlns:a16="http://schemas.microsoft.com/office/drawing/2014/main" val="2192694402"/>
                  </a:ext>
                </a:extLst>
              </a:tr>
              <a:tr h="164602">
                <a:tc>
                  <a:txBody>
                    <a:bodyPr/>
                    <a:lstStyle/>
                    <a:p>
                      <a:pPr algn="l" fontAlgn="base"/>
                      <a:r>
                        <a:rPr lang="es-ES" sz="1000">
                          <a:effectLst/>
                        </a:rPr>
                        <a:t>Ingeniero Técnico en Diseño Industrial</a:t>
                      </a:r>
                    </a:p>
                  </a:txBody>
                  <a:tcPr marL="42423" marR="42423" marT="21212" marB="21212" anchor="ctr">
                    <a:lnL>
                      <a:noFill/>
                    </a:lnL>
                    <a:lnR>
                      <a:noFill/>
                    </a:lnR>
                    <a:lnT>
                      <a:noFill/>
                    </a:lnT>
                    <a:lnB>
                      <a:noFill/>
                    </a:lnB>
                    <a:solidFill>
                      <a:srgbClr val="FFFFFF"/>
                    </a:solidFill>
                  </a:tcPr>
                </a:tc>
                <a:tc>
                  <a:txBody>
                    <a:bodyPr/>
                    <a:lstStyle/>
                    <a:p>
                      <a:pPr algn="ctr" fontAlgn="base"/>
                      <a:r>
                        <a:rPr lang="es-ES" sz="1000" b="1" dirty="0">
                          <a:effectLst/>
                        </a:rPr>
                        <a:t>(*)</a:t>
                      </a:r>
                      <a:endParaRPr lang="es-ES" sz="1000" dirty="0">
                        <a:effectLst/>
                      </a:endParaRPr>
                    </a:p>
                  </a:txBody>
                  <a:tcPr marL="42423" marR="42423" marT="21212" marB="21212" anchor="ctr">
                    <a:lnL>
                      <a:noFill/>
                    </a:lnL>
                    <a:lnR>
                      <a:noFill/>
                    </a:lnR>
                    <a:lnT>
                      <a:noFill/>
                    </a:lnT>
                    <a:lnB>
                      <a:noFill/>
                    </a:lnB>
                    <a:solidFill>
                      <a:srgbClr val="FFFFFF"/>
                    </a:solidFill>
                  </a:tcPr>
                </a:tc>
                <a:extLst>
                  <a:ext uri="{0D108BD9-81ED-4DB2-BD59-A6C34878D82A}">
                    <a16:rowId xmlns:a16="http://schemas.microsoft.com/office/drawing/2014/main" val="2525832440"/>
                  </a:ext>
                </a:extLst>
              </a:tr>
              <a:tr h="286780">
                <a:tc>
                  <a:txBody>
                    <a:bodyPr/>
                    <a:lstStyle/>
                    <a:p>
                      <a:pPr algn="l" fontAlgn="base"/>
                      <a:r>
                        <a:rPr lang="es-ES" sz="1000">
                          <a:effectLst/>
                        </a:rPr>
                        <a:t>Ingeniero Técnico en Telecomunicación, esp. Sist Electrónicos</a:t>
                      </a:r>
                    </a:p>
                  </a:txBody>
                  <a:tcPr marL="42423" marR="42423" marT="21212" marB="21212" anchor="ctr">
                    <a:lnL>
                      <a:noFill/>
                    </a:lnL>
                    <a:lnR>
                      <a:noFill/>
                    </a:lnR>
                    <a:lnT>
                      <a:noFill/>
                    </a:lnT>
                    <a:lnB>
                      <a:noFill/>
                    </a:lnB>
                    <a:solidFill>
                      <a:srgbClr val="D7E5B2"/>
                    </a:solidFill>
                  </a:tcPr>
                </a:tc>
                <a:tc>
                  <a:txBody>
                    <a:bodyPr/>
                    <a:lstStyle/>
                    <a:p>
                      <a:pPr algn="ctr" fontAlgn="base"/>
                      <a:r>
                        <a:rPr lang="es-ES" sz="1000">
                          <a:effectLst/>
                        </a:rPr>
                        <a:t>Ingeniero Técnico en Telecomunicación</a:t>
                      </a:r>
                    </a:p>
                  </a:txBody>
                  <a:tcPr marL="42423" marR="42423" marT="21212" marB="21212" anchor="ctr">
                    <a:lnL>
                      <a:noFill/>
                    </a:lnL>
                    <a:lnR>
                      <a:noFill/>
                    </a:lnR>
                    <a:lnT>
                      <a:noFill/>
                    </a:lnT>
                    <a:lnB>
                      <a:noFill/>
                    </a:lnB>
                    <a:solidFill>
                      <a:srgbClr val="D7E5B2"/>
                    </a:solidFill>
                  </a:tcPr>
                </a:tc>
                <a:extLst>
                  <a:ext uri="{0D108BD9-81ED-4DB2-BD59-A6C34878D82A}">
                    <a16:rowId xmlns:a16="http://schemas.microsoft.com/office/drawing/2014/main" val="2568210456"/>
                  </a:ext>
                </a:extLst>
              </a:tr>
              <a:tr h="164602">
                <a:tc>
                  <a:txBody>
                    <a:bodyPr/>
                    <a:lstStyle/>
                    <a:p>
                      <a:pPr algn="l" fontAlgn="base"/>
                      <a:r>
                        <a:rPr lang="es-ES" sz="1000" dirty="0">
                          <a:effectLst/>
                        </a:rPr>
                        <a:t>Ingeniero Industrial</a:t>
                      </a:r>
                    </a:p>
                  </a:txBody>
                  <a:tcPr marL="42423" marR="42423" marT="21212" marB="21212" anchor="ctr">
                    <a:lnL>
                      <a:noFill/>
                    </a:lnL>
                    <a:lnR>
                      <a:noFill/>
                    </a:lnR>
                    <a:lnT>
                      <a:noFill/>
                    </a:lnT>
                    <a:lnB>
                      <a:noFill/>
                    </a:lnB>
                    <a:solidFill>
                      <a:srgbClr val="E8F3CA"/>
                    </a:solidFill>
                  </a:tcPr>
                </a:tc>
                <a:tc>
                  <a:txBody>
                    <a:bodyPr/>
                    <a:lstStyle/>
                    <a:p>
                      <a:pPr algn="ctr" fontAlgn="base"/>
                      <a:r>
                        <a:rPr lang="es-ES" sz="1000" dirty="0">
                          <a:effectLst/>
                        </a:rPr>
                        <a:t>Ingeniero Industrial</a:t>
                      </a:r>
                    </a:p>
                  </a:txBody>
                  <a:tcPr marL="42423" marR="42423" marT="21212" marB="21212" anchor="ctr">
                    <a:lnL>
                      <a:noFill/>
                    </a:lnL>
                    <a:lnR>
                      <a:noFill/>
                    </a:lnR>
                    <a:lnT>
                      <a:noFill/>
                    </a:lnT>
                    <a:lnB>
                      <a:noFill/>
                    </a:lnB>
                    <a:solidFill>
                      <a:srgbClr val="E8F3CA"/>
                    </a:solidFill>
                  </a:tcPr>
                </a:tc>
                <a:extLst>
                  <a:ext uri="{0D108BD9-81ED-4DB2-BD59-A6C34878D82A}">
                    <a16:rowId xmlns:a16="http://schemas.microsoft.com/office/drawing/2014/main" val="2117333827"/>
                  </a:ext>
                </a:extLst>
              </a:tr>
              <a:tr h="286780">
                <a:tc>
                  <a:txBody>
                    <a:bodyPr/>
                    <a:lstStyle/>
                    <a:p>
                      <a:pPr algn="l" fontAlgn="base"/>
                      <a:r>
                        <a:rPr lang="es-ES" sz="1000">
                          <a:effectLst/>
                        </a:rPr>
                        <a:t>Ingeniero en Automática y Electrónica Industrial</a:t>
                      </a:r>
                    </a:p>
                  </a:txBody>
                  <a:tcPr marL="42423" marR="42423" marT="21212" marB="21212" anchor="ctr">
                    <a:lnL>
                      <a:noFill/>
                    </a:lnL>
                    <a:lnR>
                      <a:noFill/>
                    </a:lnR>
                    <a:lnT>
                      <a:noFill/>
                    </a:lnT>
                    <a:lnB>
                      <a:noFill/>
                    </a:lnB>
                  </a:tcPr>
                </a:tc>
                <a:tc>
                  <a:txBody>
                    <a:bodyPr/>
                    <a:lstStyle/>
                    <a:p>
                      <a:pPr algn="ctr" fontAlgn="base"/>
                      <a:r>
                        <a:rPr lang="es-ES" sz="1000" b="1">
                          <a:effectLst/>
                        </a:rPr>
                        <a:t>X</a:t>
                      </a:r>
                      <a:endParaRPr lang="es-ES" sz="1000">
                        <a:effectLst/>
                      </a:endParaRPr>
                    </a:p>
                  </a:txBody>
                  <a:tcPr marL="42423" marR="42423" marT="21212" marB="21212" anchor="ctr">
                    <a:lnL>
                      <a:noFill/>
                    </a:lnL>
                    <a:lnR>
                      <a:noFill/>
                    </a:lnR>
                    <a:lnT>
                      <a:noFill/>
                    </a:lnT>
                    <a:lnB>
                      <a:noFill/>
                    </a:lnB>
                  </a:tcPr>
                </a:tc>
                <a:extLst>
                  <a:ext uri="{0D108BD9-81ED-4DB2-BD59-A6C34878D82A}">
                    <a16:rowId xmlns:a16="http://schemas.microsoft.com/office/drawing/2014/main" val="4129053799"/>
                  </a:ext>
                </a:extLst>
              </a:tr>
              <a:tr h="164602">
                <a:tc>
                  <a:txBody>
                    <a:bodyPr/>
                    <a:lstStyle/>
                    <a:p>
                      <a:pPr algn="l" fontAlgn="base"/>
                      <a:r>
                        <a:rPr lang="es-ES" sz="1000" dirty="0">
                          <a:effectLst/>
                        </a:rPr>
                        <a:t>Ingeniero en Organización Industrial</a:t>
                      </a:r>
                    </a:p>
                  </a:txBody>
                  <a:tcPr marL="42423" marR="42423" marT="21212" marB="21212" anchor="ctr">
                    <a:lnL>
                      <a:noFill/>
                    </a:lnL>
                    <a:lnR>
                      <a:noFill/>
                    </a:lnR>
                    <a:lnT>
                      <a:noFill/>
                    </a:lnT>
                    <a:lnB>
                      <a:noFill/>
                    </a:lnB>
                    <a:solidFill>
                      <a:srgbClr val="FFFFFF"/>
                    </a:solidFill>
                  </a:tcPr>
                </a:tc>
                <a:tc>
                  <a:txBody>
                    <a:bodyPr/>
                    <a:lstStyle/>
                    <a:p>
                      <a:pPr algn="ctr" fontAlgn="base"/>
                      <a:r>
                        <a:rPr lang="es-ES" sz="1000" b="1">
                          <a:effectLst/>
                        </a:rPr>
                        <a:t>X</a:t>
                      </a:r>
                      <a:endParaRPr lang="es-ES" sz="1000">
                        <a:effectLst/>
                      </a:endParaRPr>
                    </a:p>
                  </a:txBody>
                  <a:tcPr marL="42423" marR="42423" marT="21212" marB="21212" anchor="ctr">
                    <a:lnL>
                      <a:noFill/>
                    </a:lnL>
                    <a:lnR>
                      <a:noFill/>
                    </a:lnR>
                    <a:lnT>
                      <a:noFill/>
                    </a:lnT>
                    <a:lnB>
                      <a:noFill/>
                    </a:lnB>
                    <a:solidFill>
                      <a:srgbClr val="FFFFFF"/>
                    </a:solidFill>
                  </a:tcPr>
                </a:tc>
                <a:extLst>
                  <a:ext uri="{0D108BD9-81ED-4DB2-BD59-A6C34878D82A}">
                    <a16:rowId xmlns:a16="http://schemas.microsoft.com/office/drawing/2014/main" val="811619090"/>
                  </a:ext>
                </a:extLst>
              </a:tr>
              <a:tr h="164602">
                <a:tc>
                  <a:txBody>
                    <a:bodyPr/>
                    <a:lstStyle/>
                    <a:p>
                      <a:pPr algn="l" fontAlgn="base"/>
                      <a:r>
                        <a:rPr lang="es-ES" sz="1000" dirty="0">
                          <a:effectLst/>
                        </a:rPr>
                        <a:t>Ingeniero Químico</a:t>
                      </a:r>
                    </a:p>
                  </a:txBody>
                  <a:tcPr marL="42423" marR="42423" marT="21212" marB="21212" anchor="ctr">
                    <a:lnL>
                      <a:noFill/>
                    </a:lnL>
                    <a:lnR>
                      <a:noFill/>
                    </a:lnR>
                    <a:lnT>
                      <a:noFill/>
                    </a:lnT>
                    <a:lnB>
                      <a:noFill/>
                    </a:lnB>
                  </a:tcPr>
                </a:tc>
                <a:tc>
                  <a:txBody>
                    <a:bodyPr/>
                    <a:lstStyle/>
                    <a:p>
                      <a:pPr algn="ctr" fontAlgn="base"/>
                      <a:r>
                        <a:rPr lang="es-ES" sz="1000" b="1" dirty="0">
                          <a:effectLst/>
                        </a:rPr>
                        <a:t>X</a:t>
                      </a:r>
                      <a:endParaRPr lang="es-ES" sz="1000" dirty="0">
                        <a:effectLst/>
                      </a:endParaRPr>
                    </a:p>
                  </a:txBody>
                  <a:tcPr marL="42423" marR="42423" marT="21212" marB="21212" anchor="ctr">
                    <a:lnL>
                      <a:noFill/>
                    </a:lnL>
                    <a:lnR>
                      <a:noFill/>
                    </a:lnR>
                    <a:lnT>
                      <a:noFill/>
                    </a:lnT>
                    <a:lnB>
                      <a:noFill/>
                    </a:lnB>
                  </a:tcPr>
                </a:tc>
                <a:extLst>
                  <a:ext uri="{0D108BD9-81ED-4DB2-BD59-A6C34878D82A}">
                    <a16:rowId xmlns:a16="http://schemas.microsoft.com/office/drawing/2014/main" val="3617455378"/>
                  </a:ext>
                </a:extLst>
              </a:tr>
              <a:tr h="164602">
                <a:tc>
                  <a:txBody>
                    <a:bodyPr/>
                    <a:lstStyle/>
                    <a:p>
                      <a:pPr algn="l" fontAlgn="base"/>
                      <a:r>
                        <a:rPr lang="es-ES" sz="1000" dirty="0">
                          <a:effectLst/>
                        </a:rPr>
                        <a:t>Grado en Ingeniería Mecánica</a:t>
                      </a:r>
                    </a:p>
                  </a:txBody>
                  <a:tcPr marL="42423" marR="42423" marT="21212" marB="21212" anchor="ctr">
                    <a:lnL>
                      <a:noFill/>
                    </a:lnL>
                    <a:lnR>
                      <a:noFill/>
                    </a:lnR>
                    <a:lnT>
                      <a:noFill/>
                    </a:lnT>
                    <a:lnB>
                      <a:noFill/>
                    </a:lnB>
                    <a:solidFill>
                      <a:srgbClr val="D7E5B2"/>
                    </a:solidFill>
                  </a:tcPr>
                </a:tc>
                <a:tc>
                  <a:txBody>
                    <a:bodyPr/>
                    <a:lstStyle/>
                    <a:p>
                      <a:pPr algn="ctr" fontAlgn="base"/>
                      <a:r>
                        <a:rPr lang="es-ES" sz="1000">
                          <a:effectLst/>
                        </a:rPr>
                        <a:t>Ingeniero Técnico Industrial</a:t>
                      </a:r>
                    </a:p>
                  </a:txBody>
                  <a:tcPr marL="42423" marR="42423" marT="21212" marB="21212" anchor="ctr">
                    <a:lnL>
                      <a:noFill/>
                    </a:lnL>
                    <a:lnR>
                      <a:noFill/>
                    </a:lnR>
                    <a:lnT>
                      <a:noFill/>
                    </a:lnT>
                    <a:lnB>
                      <a:noFill/>
                    </a:lnB>
                    <a:solidFill>
                      <a:srgbClr val="D7E5B2"/>
                    </a:solidFill>
                  </a:tcPr>
                </a:tc>
                <a:extLst>
                  <a:ext uri="{0D108BD9-81ED-4DB2-BD59-A6C34878D82A}">
                    <a16:rowId xmlns:a16="http://schemas.microsoft.com/office/drawing/2014/main" val="2429074966"/>
                  </a:ext>
                </a:extLst>
              </a:tr>
              <a:tr h="164602">
                <a:tc>
                  <a:txBody>
                    <a:bodyPr/>
                    <a:lstStyle/>
                    <a:p>
                      <a:pPr algn="l" fontAlgn="base"/>
                      <a:r>
                        <a:rPr lang="es-ES" sz="1000">
                          <a:effectLst/>
                        </a:rPr>
                        <a:t>Grado en Ingeniería Eléctrica</a:t>
                      </a:r>
                    </a:p>
                  </a:txBody>
                  <a:tcPr marL="42423" marR="42423" marT="21212" marB="21212" anchor="ctr">
                    <a:lnL>
                      <a:noFill/>
                    </a:lnL>
                    <a:lnR>
                      <a:noFill/>
                    </a:lnR>
                    <a:lnT>
                      <a:noFill/>
                    </a:lnT>
                    <a:lnB>
                      <a:noFill/>
                    </a:lnB>
                    <a:solidFill>
                      <a:srgbClr val="E8F3CA"/>
                    </a:solidFill>
                  </a:tcPr>
                </a:tc>
                <a:tc>
                  <a:txBody>
                    <a:bodyPr/>
                    <a:lstStyle/>
                    <a:p>
                      <a:pPr algn="ctr" fontAlgn="base"/>
                      <a:r>
                        <a:rPr lang="es-ES" sz="1000">
                          <a:effectLst/>
                        </a:rPr>
                        <a:t>Ingeniero Técnico Industrial</a:t>
                      </a:r>
                    </a:p>
                  </a:txBody>
                  <a:tcPr marL="42423" marR="42423" marT="21212" marB="21212" anchor="ctr">
                    <a:lnL>
                      <a:noFill/>
                    </a:lnL>
                    <a:lnR>
                      <a:noFill/>
                    </a:lnR>
                    <a:lnT>
                      <a:noFill/>
                    </a:lnT>
                    <a:lnB>
                      <a:noFill/>
                    </a:lnB>
                    <a:solidFill>
                      <a:srgbClr val="E8F3CA"/>
                    </a:solidFill>
                  </a:tcPr>
                </a:tc>
                <a:extLst>
                  <a:ext uri="{0D108BD9-81ED-4DB2-BD59-A6C34878D82A}">
                    <a16:rowId xmlns:a16="http://schemas.microsoft.com/office/drawing/2014/main" val="1150895365"/>
                  </a:ext>
                </a:extLst>
              </a:tr>
              <a:tr h="286780">
                <a:tc>
                  <a:txBody>
                    <a:bodyPr/>
                    <a:lstStyle/>
                    <a:p>
                      <a:pPr algn="l" fontAlgn="base"/>
                      <a:r>
                        <a:rPr lang="es-ES" sz="1000" dirty="0">
                          <a:effectLst/>
                        </a:rPr>
                        <a:t>Grado en Ingeniería en Electrónica Industrial y Automática</a:t>
                      </a:r>
                    </a:p>
                  </a:txBody>
                  <a:tcPr marL="42423" marR="42423" marT="21212" marB="21212" anchor="ctr">
                    <a:lnL>
                      <a:noFill/>
                    </a:lnL>
                    <a:lnR>
                      <a:noFill/>
                    </a:lnR>
                    <a:lnT>
                      <a:noFill/>
                    </a:lnT>
                    <a:lnB>
                      <a:noFill/>
                    </a:lnB>
                    <a:solidFill>
                      <a:srgbClr val="D7E5B2"/>
                    </a:solidFill>
                  </a:tcPr>
                </a:tc>
                <a:tc>
                  <a:txBody>
                    <a:bodyPr/>
                    <a:lstStyle/>
                    <a:p>
                      <a:pPr algn="ctr" fontAlgn="base"/>
                      <a:r>
                        <a:rPr lang="es-ES" sz="1000">
                          <a:effectLst/>
                        </a:rPr>
                        <a:t>Ingeniero Técnico Industrial</a:t>
                      </a:r>
                    </a:p>
                  </a:txBody>
                  <a:tcPr marL="42423" marR="42423" marT="21212" marB="21212" anchor="ctr">
                    <a:lnL>
                      <a:noFill/>
                    </a:lnL>
                    <a:lnR>
                      <a:noFill/>
                    </a:lnR>
                    <a:lnT>
                      <a:noFill/>
                    </a:lnT>
                    <a:lnB>
                      <a:noFill/>
                    </a:lnB>
                    <a:solidFill>
                      <a:srgbClr val="D7E5B2"/>
                    </a:solidFill>
                  </a:tcPr>
                </a:tc>
                <a:extLst>
                  <a:ext uri="{0D108BD9-81ED-4DB2-BD59-A6C34878D82A}">
                    <a16:rowId xmlns:a16="http://schemas.microsoft.com/office/drawing/2014/main" val="614660963"/>
                  </a:ext>
                </a:extLst>
              </a:tr>
              <a:tr h="164602">
                <a:tc>
                  <a:txBody>
                    <a:bodyPr/>
                    <a:lstStyle/>
                    <a:p>
                      <a:pPr algn="l" fontAlgn="base"/>
                      <a:r>
                        <a:rPr lang="es-ES" sz="1000">
                          <a:effectLst/>
                        </a:rPr>
                        <a:t>Grado en Ingeniería Química</a:t>
                      </a:r>
                    </a:p>
                  </a:txBody>
                  <a:tcPr marL="42423" marR="42423" marT="21212" marB="21212" anchor="ctr">
                    <a:lnL>
                      <a:noFill/>
                    </a:lnL>
                    <a:lnR>
                      <a:noFill/>
                    </a:lnR>
                    <a:lnT>
                      <a:noFill/>
                    </a:lnT>
                    <a:lnB>
                      <a:noFill/>
                    </a:lnB>
                    <a:solidFill>
                      <a:srgbClr val="E8F3CA"/>
                    </a:solidFill>
                  </a:tcPr>
                </a:tc>
                <a:tc>
                  <a:txBody>
                    <a:bodyPr/>
                    <a:lstStyle/>
                    <a:p>
                      <a:pPr algn="ctr" fontAlgn="base"/>
                      <a:r>
                        <a:rPr lang="es-ES" sz="1000" dirty="0">
                          <a:effectLst/>
                        </a:rPr>
                        <a:t>Ingeniero Técnico Industrial</a:t>
                      </a:r>
                    </a:p>
                  </a:txBody>
                  <a:tcPr marL="42423" marR="42423" marT="21212" marB="21212" anchor="ctr">
                    <a:lnL>
                      <a:noFill/>
                    </a:lnL>
                    <a:lnR>
                      <a:noFill/>
                    </a:lnR>
                    <a:lnT>
                      <a:noFill/>
                    </a:lnT>
                    <a:lnB>
                      <a:noFill/>
                    </a:lnB>
                    <a:solidFill>
                      <a:srgbClr val="E8F3CA"/>
                    </a:solidFill>
                  </a:tcPr>
                </a:tc>
                <a:extLst>
                  <a:ext uri="{0D108BD9-81ED-4DB2-BD59-A6C34878D82A}">
                    <a16:rowId xmlns:a16="http://schemas.microsoft.com/office/drawing/2014/main" val="3822598656"/>
                  </a:ext>
                </a:extLst>
              </a:tr>
              <a:tr h="164602">
                <a:tc>
                  <a:txBody>
                    <a:bodyPr/>
                    <a:lstStyle/>
                    <a:p>
                      <a:pPr algn="l" fontAlgn="base"/>
                      <a:r>
                        <a:rPr lang="es-ES" sz="1000" dirty="0">
                          <a:effectLst/>
                        </a:rPr>
                        <a:t>Grado en Ingeniería Textil</a:t>
                      </a:r>
                    </a:p>
                  </a:txBody>
                  <a:tcPr marL="42423" marR="42423" marT="21212" marB="21212" anchor="ctr">
                    <a:lnL>
                      <a:noFill/>
                    </a:lnL>
                    <a:lnR>
                      <a:noFill/>
                    </a:lnR>
                    <a:lnT>
                      <a:noFill/>
                    </a:lnT>
                    <a:lnB>
                      <a:noFill/>
                    </a:lnB>
                    <a:solidFill>
                      <a:srgbClr val="D7E5B2"/>
                    </a:solidFill>
                  </a:tcPr>
                </a:tc>
                <a:tc>
                  <a:txBody>
                    <a:bodyPr/>
                    <a:lstStyle/>
                    <a:p>
                      <a:pPr algn="ctr" fontAlgn="base"/>
                      <a:r>
                        <a:rPr lang="es-ES" sz="1000" dirty="0">
                          <a:effectLst/>
                        </a:rPr>
                        <a:t>Ingeniero Técnico Industrial</a:t>
                      </a:r>
                    </a:p>
                  </a:txBody>
                  <a:tcPr marL="42423" marR="42423" marT="21212" marB="21212" anchor="ctr">
                    <a:lnL>
                      <a:noFill/>
                    </a:lnL>
                    <a:lnR>
                      <a:noFill/>
                    </a:lnR>
                    <a:lnT>
                      <a:noFill/>
                    </a:lnT>
                    <a:lnB>
                      <a:noFill/>
                    </a:lnB>
                    <a:solidFill>
                      <a:srgbClr val="D7E5B2"/>
                    </a:solidFill>
                  </a:tcPr>
                </a:tc>
                <a:extLst>
                  <a:ext uri="{0D108BD9-81ED-4DB2-BD59-A6C34878D82A}">
                    <a16:rowId xmlns:a16="http://schemas.microsoft.com/office/drawing/2014/main" val="3857746209"/>
                  </a:ext>
                </a:extLst>
              </a:tr>
              <a:tr h="286780">
                <a:tc>
                  <a:txBody>
                    <a:bodyPr/>
                    <a:lstStyle/>
                    <a:p>
                      <a:pPr algn="l" fontAlgn="base"/>
                      <a:r>
                        <a:rPr lang="es-ES" sz="1000" dirty="0">
                          <a:effectLst/>
                        </a:rPr>
                        <a:t>Grado en Ingeniería en Diseño Industrial y Desarrollo de Producto</a:t>
                      </a:r>
                    </a:p>
                  </a:txBody>
                  <a:tcPr marL="42423" marR="42423" marT="21212" marB="21212" anchor="ctr">
                    <a:lnL>
                      <a:noFill/>
                    </a:lnL>
                    <a:lnR>
                      <a:noFill/>
                    </a:lnR>
                    <a:lnT>
                      <a:noFill/>
                    </a:lnT>
                    <a:lnB>
                      <a:noFill/>
                    </a:lnB>
                  </a:tcPr>
                </a:tc>
                <a:tc>
                  <a:txBody>
                    <a:bodyPr/>
                    <a:lstStyle/>
                    <a:p>
                      <a:pPr algn="ctr" fontAlgn="base"/>
                      <a:r>
                        <a:rPr lang="es-ES" sz="1000" b="1" dirty="0">
                          <a:effectLst/>
                        </a:rPr>
                        <a:t>X</a:t>
                      </a:r>
                      <a:endParaRPr lang="es-ES" sz="1000" dirty="0">
                        <a:effectLst/>
                      </a:endParaRPr>
                    </a:p>
                  </a:txBody>
                  <a:tcPr marL="42423" marR="42423" marT="21212" marB="21212" anchor="ctr">
                    <a:lnL>
                      <a:noFill/>
                    </a:lnL>
                    <a:lnR>
                      <a:noFill/>
                    </a:lnR>
                    <a:lnT>
                      <a:noFill/>
                    </a:lnT>
                    <a:lnB>
                      <a:noFill/>
                    </a:lnB>
                  </a:tcPr>
                </a:tc>
                <a:extLst>
                  <a:ext uri="{0D108BD9-81ED-4DB2-BD59-A6C34878D82A}">
                    <a16:rowId xmlns:a16="http://schemas.microsoft.com/office/drawing/2014/main" val="2579153497"/>
                  </a:ext>
                </a:extLst>
              </a:tr>
              <a:tr h="286780">
                <a:tc>
                  <a:txBody>
                    <a:bodyPr/>
                    <a:lstStyle/>
                    <a:p>
                      <a:pPr algn="l" fontAlgn="base"/>
                      <a:r>
                        <a:rPr lang="es-ES" sz="1000" dirty="0">
                          <a:effectLst/>
                        </a:rPr>
                        <a:t>Grado en Ingeniería en Organización Industrial</a:t>
                      </a:r>
                    </a:p>
                  </a:txBody>
                  <a:tcPr marL="42423" marR="42423" marT="21212" marB="21212" anchor="ctr">
                    <a:lnL>
                      <a:noFill/>
                    </a:lnL>
                    <a:lnR>
                      <a:noFill/>
                    </a:lnR>
                    <a:lnT>
                      <a:noFill/>
                    </a:lnT>
                    <a:lnB>
                      <a:noFill/>
                    </a:lnB>
                    <a:solidFill>
                      <a:srgbClr val="FFFFFF"/>
                    </a:solidFill>
                  </a:tcPr>
                </a:tc>
                <a:tc>
                  <a:txBody>
                    <a:bodyPr/>
                    <a:lstStyle/>
                    <a:p>
                      <a:pPr algn="ctr" fontAlgn="base"/>
                      <a:r>
                        <a:rPr lang="es-ES" sz="1000" b="1" dirty="0">
                          <a:effectLst/>
                        </a:rPr>
                        <a:t>X</a:t>
                      </a:r>
                      <a:endParaRPr lang="es-ES" sz="1000" dirty="0">
                        <a:effectLst/>
                      </a:endParaRPr>
                    </a:p>
                  </a:txBody>
                  <a:tcPr marL="42423" marR="42423" marT="21212" marB="21212" anchor="ctr">
                    <a:lnL>
                      <a:noFill/>
                    </a:lnL>
                    <a:lnR>
                      <a:noFill/>
                    </a:lnR>
                    <a:lnT>
                      <a:noFill/>
                    </a:lnT>
                    <a:lnB>
                      <a:noFill/>
                    </a:lnB>
                    <a:solidFill>
                      <a:srgbClr val="FFFFFF"/>
                    </a:solidFill>
                  </a:tcPr>
                </a:tc>
                <a:extLst>
                  <a:ext uri="{0D108BD9-81ED-4DB2-BD59-A6C34878D82A}">
                    <a16:rowId xmlns:a16="http://schemas.microsoft.com/office/drawing/2014/main" val="3410745529"/>
                  </a:ext>
                </a:extLst>
              </a:tr>
              <a:tr h="286780">
                <a:tc>
                  <a:txBody>
                    <a:bodyPr/>
                    <a:lstStyle/>
                    <a:p>
                      <a:pPr algn="l" fontAlgn="base"/>
                      <a:r>
                        <a:rPr lang="es-ES" sz="1000" dirty="0">
                          <a:effectLst/>
                        </a:rPr>
                        <a:t>Grado en Ingeniería en Tecnologías Industriales</a:t>
                      </a:r>
                    </a:p>
                  </a:txBody>
                  <a:tcPr marL="42423" marR="42423" marT="21212" marB="21212" anchor="ctr">
                    <a:lnL>
                      <a:noFill/>
                    </a:lnL>
                    <a:lnR>
                      <a:noFill/>
                    </a:lnR>
                    <a:lnT>
                      <a:noFill/>
                    </a:lnT>
                    <a:lnB>
                      <a:noFill/>
                    </a:lnB>
                  </a:tcPr>
                </a:tc>
                <a:tc>
                  <a:txBody>
                    <a:bodyPr/>
                    <a:lstStyle/>
                    <a:p>
                      <a:pPr algn="ctr" fontAlgn="base"/>
                      <a:r>
                        <a:rPr lang="es-ES" sz="1000" b="1" dirty="0">
                          <a:effectLst/>
                        </a:rPr>
                        <a:t>X</a:t>
                      </a:r>
                      <a:endParaRPr lang="es-ES" sz="1000" dirty="0">
                        <a:effectLst/>
                      </a:endParaRPr>
                    </a:p>
                  </a:txBody>
                  <a:tcPr marL="42423" marR="42423" marT="21212" marB="21212" anchor="ctr">
                    <a:lnL>
                      <a:noFill/>
                    </a:lnL>
                    <a:lnR>
                      <a:noFill/>
                    </a:lnR>
                    <a:lnT>
                      <a:noFill/>
                    </a:lnT>
                    <a:lnB>
                      <a:noFill/>
                    </a:lnB>
                  </a:tcPr>
                </a:tc>
                <a:extLst>
                  <a:ext uri="{0D108BD9-81ED-4DB2-BD59-A6C34878D82A}">
                    <a16:rowId xmlns:a16="http://schemas.microsoft.com/office/drawing/2014/main" val="2917551833"/>
                  </a:ext>
                </a:extLst>
              </a:tr>
              <a:tr h="164602">
                <a:tc>
                  <a:txBody>
                    <a:bodyPr/>
                    <a:lstStyle/>
                    <a:p>
                      <a:pPr algn="l" fontAlgn="base"/>
                      <a:r>
                        <a:rPr lang="es-ES" sz="1000" dirty="0">
                          <a:effectLst/>
                        </a:rPr>
                        <a:t>Grado en Ingeniería de la Energía</a:t>
                      </a:r>
                    </a:p>
                  </a:txBody>
                  <a:tcPr marL="42423" marR="42423" marT="21212" marB="21212" anchor="ctr">
                    <a:lnL>
                      <a:noFill/>
                    </a:lnL>
                    <a:lnR>
                      <a:noFill/>
                    </a:lnR>
                    <a:lnT>
                      <a:noFill/>
                    </a:lnT>
                    <a:lnB>
                      <a:noFill/>
                    </a:lnB>
                    <a:solidFill>
                      <a:srgbClr val="FFFFFF"/>
                    </a:solidFill>
                  </a:tcPr>
                </a:tc>
                <a:tc>
                  <a:txBody>
                    <a:bodyPr/>
                    <a:lstStyle/>
                    <a:p>
                      <a:pPr algn="ctr" fontAlgn="base"/>
                      <a:r>
                        <a:rPr lang="es-ES" sz="1000" b="1" dirty="0">
                          <a:effectLst/>
                        </a:rPr>
                        <a:t>X</a:t>
                      </a:r>
                      <a:endParaRPr lang="es-ES" sz="1000" dirty="0">
                        <a:effectLst/>
                      </a:endParaRPr>
                    </a:p>
                  </a:txBody>
                  <a:tcPr marL="42423" marR="42423" marT="21212" marB="21212" anchor="ctr">
                    <a:lnL>
                      <a:noFill/>
                    </a:lnL>
                    <a:lnR>
                      <a:noFill/>
                    </a:lnR>
                    <a:lnT>
                      <a:noFill/>
                    </a:lnT>
                    <a:lnB>
                      <a:noFill/>
                    </a:lnB>
                    <a:solidFill>
                      <a:srgbClr val="FFFFFF"/>
                    </a:solidFill>
                  </a:tcPr>
                </a:tc>
                <a:extLst>
                  <a:ext uri="{0D108BD9-81ED-4DB2-BD59-A6C34878D82A}">
                    <a16:rowId xmlns:a16="http://schemas.microsoft.com/office/drawing/2014/main" val="2348050784"/>
                  </a:ext>
                </a:extLst>
              </a:tr>
              <a:tr h="286780">
                <a:tc>
                  <a:txBody>
                    <a:bodyPr/>
                    <a:lstStyle/>
                    <a:p>
                      <a:pPr algn="l" fontAlgn="base"/>
                      <a:r>
                        <a:rPr lang="es-ES" sz="1000" dirty="0">
                          <a:effectLst/>
                        </a:rPr>
                        <a:t>Grado en Ingeniería de Sonido e Imagen</a:t>
                      </a:r>
                    </a:p>
                  </a:txBody>
                  <a:tcPr marL="42423" marR="42423" marT="21212" marB="21212" anchor="ctr">
                    <a:lnL>
                      <a:noFill/>
                    </a:lnL>
                    <a:lnR>
                      <a:noFill/>
                    </a:lnR>
                    <a:lnT>
                      <a:noFill/>
                    </a:lnT>
                    <a:lnB>
                      <a:noFill/>
                    </a:lnB>
                  </a:tcPr>
                </a:tc>
                <a:tc>
                  <a:txBody>
                    <a:bodyPr/>
                    <a:lstStyle/>
                    <a:p>
                      <a:pPr algn="ctr" fontAlgn="base"/>
                      <a:r>
                        <a:rPr lang="es-ES" sz="1000" b="1" dirty="0">
                          <a:effectLst/>
                        </a:rPr>
                        <a:t>X</a:t>
                      </a:r>
                      <a:endParaRPr lang="es-ES" sz="1000" dirty="0">
                        <a:effectLst/>
                      </a:endParaRPr>
                    </a:p>
                  </a:txBody>
                  <a:tcPr marL="42423" marR="42423" marT="21212" marB="21212" anchor="ctr">
                    <a:lnL>
                      <a:noFill/>
                    </a:lnL>
                    <a:lnR>
                      <a:noFill/>
                    </a:lnR>
                    <a:lnT>
                      <a:noFill/>
                    </a:lnT>
                    <a:lnB>
                      <a:noFill/>
                    </a:lnB>
                  </a:tcPr>
                </a:tc>
                <a:extLst>
                  <a:ext uri="{0D108BD9-81ED-4DB2-BD59-A6C34878D82A}">
                    <a16:rowId xmlns:a16="http://schemas.microsoft.com/office/drawing/2014/main" val="2684174156"/>
                  </a:ext>
                </a:extLst>
              </a:tr>
              <a:tr h="164602">
                <a:tc>
                  <a:txBody>
                    <a:bodyPr/>
                    <a:lstStyle/>
                    <a:p>
                      <a:pPr algn="l" fontAlgn="base"/>
                      <a:r>
                        <a:rPr lang="es-ES" sz="1000" dirty="0">
                          <a:effectLst/>
                        </a:rPr>
                        <a:t>Grado en Ingeniería Telemática</a:t>
                      </a:r>
                    </a:p>
                  </a:txBody>
                  <a:tcPr marL="42423" marR="42423" marT="21212" marB="21212" anchor="ctr">
                    <a:lnL>
                      <a:noFill/>
                    </a:lnL>
                    <a:lnR>
                      <a:noFill/>
                    </a:lnR>
                    <a:lnT>
                      <a:noFill/>
                    </a:lnT>
                    <a:lnB>
                      <a:noFill/>
                    </a:lnB>
                    <a:solidFill>
                      <a:srgbClr val="FFFFFF"/>
                    </a:solidFill>
                  </a:tcPr>
                </a:tc>
                <a:tc>
                  <a:txBody>
                    <a:bodyPr/>
                    <a:lstStyle/>
                    <a:p>
                      <a:pPr algn="ctr" fontAlgn="base"/>
                      <a:r>
                        <a:rPr lang="es-ES" sz="1000" b="1" dirty="0">
                          <a:effectLst/>
                        </a:rPr>
                        <a:t>X</a:t>
                      </a:r>
                      <a:endParaRPr lang="es-ES" sz="1000" dirty="0">
                        <a:effectLst/>
                      </a:endParaRPr>
                    </a:p>
                  </a:txBody>
                  <a:tcPr marL="42423" marR="42423" marT="21212" marB="21212" anchor="ctr">
                    <a:lnL>
                      <a:noFill/>
                    </a:lnL>
                    <a:lnR>
                      <a:noFill/>
                    </a:lnR>
                    <a:lnT>
                      <a:noFill/>
                    </a:lnT>
                    <a:lnB>
                      <a:noFill/>
                    </a:lnB>
                    <a:solidFill>
                      <a:srgbClr val="FFFFFF"/>
                    </a:solidFill>
                  </a:tcPr>
                </a:tc>
                <a:extLst>
                  <a:ext uri="{0D108BD9-81ED-4DB2-BD59-A6C34878D82A}">
                    <a16:rowId xmlns:a16="http://schemas.microsoft.com/office/drawing/2014/main" val="70917148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hlinkClick r:id="rId2"/>
            <a:extLst>
              <a:ext uri="{FF2B5EF4-FFF2-40B4-BE49-F238E27FC236}">
                <a16:creationId xmlns:a16="http://schemas.microsoft.com/office/drawing/2014/main" id="{4054A224-86E4-0B55-192E-CE6DAC2B8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702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B5E00B79-9314-8342-80CE-FA3C8E78FA2A}"/>
              </a:ext>
            </a:extLst>
          </p:cNvPr>
          <p:cNvSpPr>
            <a:spLocks noGrp="1"/>
          </p:cNvSpPr>
          <p:nvPr>
            <p:ph type="subTitle" idx="1"/>
          </p:nvPr>
        </p:nvSpPr>
        <p:spPr>
          <a:xfrm>
            <a:off x="1431925" y="1849439"/>
            <a:ext cx="7407275" cy="3811810"/>
          </a:xfrm>
        </p:spPr>
        <p:txBody>
          <a:bodyPr>
            <a:normAutofit/>
          </a:bodyPr>
          <a:lstStyle/>
          <a:p>
            <a:pPr eaLnBrk="1" fontAlgn="auto" hangingPunct="1">
              <a:spcAft>
                <a:spcPts val="0"/>
              </a:spcAft>
              <a:buFont typeface="Wingdings 2"/>
              <a:buNone/>
              <a:defRPr/>
            </a:pPr>
            <a:r>
              <a:rPr lang="es-ES_tradnl" sz="2400" dirty="0">
                <a:ea typeface="+mn-ea"/>
                <a:cs typeface="+mn-cs"/>
              </a:rPr>
              <a:t>4. Colegios profesionales</a:t>
            </a:r>
          </a:p>
          <a:p>
            <a:pPr eaLnBrk="1" fontAlgn="auto" hangingPunct="1">
              <a:spcAft>
                <a:spcPts val="0"/>
              </a:spcAft>
              <a:defRPr/>
            </a:pPr>
            <a:r>
              <a:rPr lang="es-ES_tradnl" sz="2400" dirty="0">
                <a:ea typeface="+mn-ea"/>
                <a:cs typeface="+mn-cs"/>
              </a:rPr>
              <a:t>Los Colegios Profesionales son Corporaciones de Derecho Público, con personalidad jurídica propia y plena capacidad para la consecución de sus fines, que esencialmente son la ordenación del ejercicio de las profesiones, la representación institucional exclusiva de las mismas cuando estén sujetas a colegiación obligatoria, la defensa de los intereses profesionales de los colegiados y la protección de los intereses de los consumidores y usuarios de los servicios de sus colegiados. </a:t>
            </a: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6" name="1 Título">
            <a:extLst>
              <a:ext uri="{FF2B5EF4-FFF2-40B4-BE49-F238E27FC236}">
                <a16:creationId xmlns:a16="http://schemas.microsoft.com/office/drawing/2014/main" id="{742F2135-34A7-C840-A6D0-F4C77B0173F2}"/>
              </a:ext>
            </a:extLst>
          </p:cNvPr>
          <p:cNvSpPr>
            <a:spLocks noGrp="1"/>
          </p:cNvSpPr>
          <p:nvPr>
            <p:ph type="ctrTitle"/>
          </p:nvPr>
        </p:nvSpPr>
        <p:spPr>
          <a:xfrm>
            <a:off x="1431925" y="228501"/>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extLst>
      <p:ext uri="{BB962C8B-B14F-4D97-AF65-F5344CB8AC3E}">
        <p14:creationId xmlns:p14="http://schemas.microsoft.com/office/powerpoint/2010/main" val="2872021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56E595E6-DE81-7944-B982-E3C15F5FEAC9}"/>
              </a:ext>
            </a:extLst>
          </p:cNvPr>
          <p:cNvSpPr>
            <a:spLocks noGrp="1"/>
          </p:cNvSpPr>
          <p:nvPr>
            <p:ph type="subTitle" idx="1"/>
          </p:nvPr>
        </p:nvSpPr>
        <p:spPr>
          <a:xfrm>
            <a:off x="1431925" y="1849438"/>
            <a:ext cx="7407275" cy="4708053"/>
          </a:xfrm>
        </p:spPr>
        <p:txBody>
          <a:bodyPr>
            <a:normAutofit/>
          </a:bodyPr>
          <a:lstStyle/>
          <a:p>
            <a:pPr marL="266700" indent="-255588" eaLnBrk="1" fontAlgn="auto" hangingPunct="1">
              <a:spcAft>
                <a:spcPts val="0"/>
              </a:spcAft>
              <a:buFont typeface="Wingdings 2"/>
              <a:buNone/>
              <a:defRPr/>
            </a:pPr>
            <a:r>
              <a:rPr lang="en-US" sz="2400" dirty="0">
                <a:ea typeface="+mn-ea"/>
                <a:cs typeface="+mn-cs"/>
              </a:rPr>
              <a:t>4. </a:t>
            </a:r>
            <a:r>
              <a:rPr lang="es-ES_tradnl" sz="2400" dirty="0">
                <a:ea typeface="+mn-ea"/>
                <a:cs typeface="+mn-cs"/>
              </a:rPr>
              <a:t>Servicios que pueden proporcionar los colegios oficiales:</a:t>
            </a:r>
          </a:p>
          <a:p>
            <a:pPr marL="577850" indent="-311150" eaLnBrk="1" fontAlgn="auto" hangingPunct="1">
              <a:spcAft>
                <a:spcPts val="0"/>
              </a:spcAft>
              <a:buFont typeface="Arial" panose="020B0604020202020204" pitchFamily="34" charset="0"/>
              <a:buChar char="•"/>
              <a:defRPr/>
            </a:pPr>
            <a:r>
              <a:rPr lang="es-ES_tradnl" sz="2400" dirty="0">
                <a:ea typeface="+mn-ea"/>
                <a:cs typeface="+mn-cs"/>
              </a:rPr>
              <a:t>Visado de Proyectos y trabajos especiales.</a:t>
            </a:r>
          </a:p>
          <a:p>
            <a:pPr marL="577850" indent="-311150" eaLnBrk="1" fontAlgn="auto" hangingPunct="1">
              <a:spcAft>
                <a:spcPts val="0"/>
              </a:spcAft>
              <a:buFont typeface="Arial" panose="020B0604020202020204" pitchFamily="34" charset="0"/>
              <a:buChar char="•"/>
              <a:defRPr/>
            </a:pPr>
            <a:r>
              <a:rPr lang="es-ES_tradnl" sz="2400" dirty="0">
                <a:ea typeface="+mn-ea"/>
                <a:cs typeface="+mn-cs"/>
              </a:rPr>
              <a:t>Ética profesional (códigos deontológicos)</a:t>
            </a:r>
          </a:p>
          <a:p>
            <a:pPr marL="577850" indent="-311150" eaLnBrk="1" fontAlgn="auto" hangingPunct="1">
              <a:spcAft>
                <a:spcPts val="0"/>
              </a:spcAft>
              <a:buFont typeface="Arial" panose="020B0604020202020204" pitchFamily="34" charset="0"/>
              <a:buChar char="•"/>
              <a:defRPr/>
            </a:pPr>
            <a:r>
              <a:rPr lang="es-ES_tradnl" sz="2400" dirty="0">
                <a:ea typeface="+mn-ea"/>
                <a:cs typeface="+mn-cs"/>
              </a:rPr>
              <a:t>Gestión del cobro de honorarios y derechos de visado.</a:t>
            </a:r>
          </a:p>
          <a:p>
            <a:pPr marL="577850" indent="-311150" eaLnBrk="1" fontAlgn="auto" hangingPunct="1">
              <a:spcAft>
                <a:spcPts val="0"/>
              </a:spcAft>
              <a:buFont typeface="Arial" panose="020B0604020202020204" pitchFamily="34" charset="0"/>
              <a:buChar char="•"/>
              <a:defRPr/>
            </a:pPr>
            <a:r>
              <a:rPr lang="es-ES_tradnl" sz="2400" dirty="0">
                <a:ea typeface="+mn-ea"/>
                <a:cs typeface="+mn-cs"/>
              </a:rPr>
              <a:t>Defensa profesional</a:t>
            </a:r>
          </a:p>
          <a:p>
            <a:pPr marL="577850" indent="-311150" eaLnBrk="1" fontAlgn="auto" hangingPunct="1">
              <a:spcAft>
                <a:spcPts val="0"/>
              </a:spcAft>
              <a:buFont typeface="Arial" panose="020B0604020202020204" pitchFamily="34" charset="0"/>
              <a:buChar char="•"/>
              <a:defRPr/>
            </a:pPr>
            <a:r>
              <a:rPr lang="es-ES_tradnl" sz="2400" dirty="0">
                <a:ea typeface="+mn-ea"/>
                <a:cs typeface="+mn-cs"/>
              </a:rPr>
              <a:t>Bolsa de trabajo</a:t>
            </a:r>
          </a:p>
          <a:p>
            <a:pPr marL="577850" indent="-311150" eaLnBrk="1" fontAlgn="auto" hangingPunct="1">
              <a:spcAft>
                <a:spcPts val="0"/>
              </a:spcAft>
              <a:buFont typeface="Arial" panose="020B0604020202020204" pitchFamily="34" charset="0"/>
              <a:buChar char="•"/>
              <a:defRPr/>
            </a:pPr>
            <a:r>
              <a:rPr lang="es-ES_tradnl" sz="2400" dirty="0">
                <a:ea typeface="+mn-ea"/>
                <a:cs typeface="+mn-cs"/>
              </a:rPr>
              <a:t>Asesoramiento fiscal, laboral y técnico</a:t>
            </a:r>
          </a:p>
          <a:p>
            <a:pPr marL="577850" indent="-311150" eaLnBrk="1" fontAlgn="auto" hangingPunct="1">
              <a:spcAft>
                <a:spcPts val="0"/>
              </a:spcAft>
              <a:buFont typeface="Arial" panose="020B0604020202020204" pitchFamily="34" charset="0"/>
              <a:buChar char="•"/>
              <a:defRPr/>
            </a:pPr>
            <a:r>
              <a:rPr lang="es-ES_tradnl" sz="2400" dirty="0">
                <a:ea typeface="+mn-ea"/>
                <a:cs typeface="+mn-cs"/>
              </a:rPr>
              <a:t>Información y formación</a:t>
            </a:r>
          </a:p>
          <a:p>
            <a:pPr marL="577850" indent="-311150" eaLnBrk="1" fontAlgn="auto" hangingPunct="1">
              <a:spcAft>
                <a:spcPts val="0"/>
              </a:spcAft>
              <a:buFont typeface="Arial" panose="020B0604020202020204" pitchFamily="34" charset="0"/>
              <a:buChar char="•"/>
              <a:defRPr/>
            </a:pPr>
            <a:r>
              <a:rPr lang="es-ES_tradnl" sz="2400" dirty="0">
                <a:ea typeface="+mn-ea"/>
                <a:cs typeface="+mn-cs"/>
              </a:rPr>
              <a:t>Otros servicios</a:t>
            </a:r>
          </a:p>
          <a:p>
            <a:pPr marL="484632" indent="-457200" eaLnBrk="1" fontAlgn="auto" hangingPunct="1">
              <a:spcAft>
                <a:spcPts val="0"/>
              </a:spcAft>
              <a:buFont typeface="Wingdings 2"/>
              <a:buAutoNum type="arabicPeriod"/>
              <a:defRPr/>
            </a:pPr>
            <a:endParaRPr lang="en-US" sz="2400" dirty="0">
              <a:ea typeface="+mn-ea"/>
              <a:cs typeface="+mn-cs"/>
            </a:endParaRPr>
          </a:p>
          <a:p>
            <a:pPr marL="484632" indent="-457200" eaLnBrk="1" fontAlgn="auto" hangingPunct="1">
              <a:spcAft>
                <a:spcPts val="0"/>
              </a:spcAft>
              <a:buFont typeface="Wingdings 2"/>
              <a:buAutoNum type="arabicPeriod"/>
              <a:defRPr/>
            </a:pPr>
            <a:endParaRPr lang="en-US" sz="2400" dirty="0">
              <a:ea typeface="+mn-ea"/>
              <a:cs typeface="+mn-cs"/>
            </a:endParaRPr>
          </a:p>
          <a:p>
            <a:pPr marL="484632" indent="-457200" eaLnBrk="1" fontAlgn="auto" hangingPunct="1">
              <a:spcAft>
                <a:spcPts val="0"/>
              </a:spcAft>
              <a:buFont typeface="Wingdings 2"/>
              <a:buAutoNum type="arabicPeriod"/>
              <a:defRPr/>
            </a:pPr>
            <a:endParaRPr lang="en-US" sz="2400" dirty="0">
              <a:ea typeface="+mn-ea"/>
              <a:cs typeface="+mn-cs"/>
            </a:endParaRPr>
          </a:p>
          <a:p>
            <a:pPr eaLnBrk="1" fontAlgn="auto" hangingPunct="1">
              <a:spcAft>
                <a:spcPts val="0"/>
              </a:spcAft>
              <a:buFont typeface="Wingdings 2"/>
              <a:buNone/>
              <a:defRPr/>
            </a:pPr>
            <a:endParaRPr lang="en-US" sz="24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sp>
        <p:nvSpPr>
          <p:cNvPr id="6" name="1 Título">
            <a:extLst>
              <a:ext uri="{FF2B5EF4-FFF2-40B4-BE49-F238E27FC236}">
                <a16:creationId xmlns:a16="http://schemas.microsoft.com/office/drawing/2014/main" id="{F3449837-8EA6-0D49-A6D5-76BF5496B231}"/>
              </a:ext>
            </a:extLst>
          </p:cNvPr>
          <p:cNvSpPr>
            <a:spLocks noGrp="1"/>
          </p:cNvSpPr>
          <p:nvPr>
            <p:ph type="ctrTitle"/>
          </p:nvPr>
        </p:nvSpPr>
        <p:spPr>
          <a:xfrm>
            <a:off x="1431925" y="300509"/>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2 Subtítulo">
            <a:extLst>
              <a:ext uri="{FF2B5EF4-FFF2-40B4-BE49-F238E27FC236}">
                <a16:creationId xmlns:a16="http://schemas.microsoft.com/office/drawing/2014/main" id="{95134AC3-1EBC-CD4F-92C0-A4ACD44D4B05}"/>
              </a:ext>
            </a:extLst>
          </p:cNvPr>
          <p:cNvSpPr>
            <a:spLocks noGrp="1"/>
          </p:cNvSpPr>
          <p:nvPr>
            <p:ph type="subTitle" idx="1"/>
          </p:nvPr>
        </p:nvSpPr>
        <p:spPr>
          <a:xfrm>
            <a:off x="1431925" y="1628800"/>
            <a:ext cx="7407275" cy="5040560"/>
          </a:xfrm>
        </p:spPr>
        <p:txBody>
          <a:bodyPr/>
          <a:lstStyle/>
          <a:p>
            <a:pPr marL="26988" eaLnBrk="1" hangingPunct="1">
              <a:lnSpc>
                <a:spcPct val="80000"/>
              </a:lnSpc>
            </a:pPr>
            <a:r>
              <a:rPr lang="es-ES_tradnl" altLang="es-ES" sz="1800" b="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Visado de proyectos y trabajos especiales</a:t>
            </a:r>
          </a:p>
          <a:p>
            <a:pPr marL="11113" indent="15875" eaLnBrk="1" hangingPunct="1">
              <a:lnSpc>
                <a:spcPct val="80000"/>
              </a:lnSpc>
            </a:pP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El objetivo del visado profesional es reconocer que el firmante de un proyecto, certificación u obra corresponde a la persona que efectivamente afirma ser y cumple todos los requisitos necesarios, es decir, ser ingeniero, estar registrado y tener la licencia fiscal correspondiente.</a:t>
            </a:r>
          </a:p>
          <a:p>
            <a:pPr marL="11113" indent="15875" eaLnBrk="1" hangingPunct="1">
              <a:lnSpc>
                <a:spcPct val="80000"/>
              </a:lnSpc>
            </a:pPr>
            <a:endPar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11113" indent="15875" eaLnBrk="1" hangingPunct="1">
              <a:lnSpc>
                <a:spcPct val="80000"/>
              </a:lnSpc>
            </a:pP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En la mayoría de los casos el visado corresponde a un simple reconocimiento de la firma, el colegio no asume la responsabilidad, a menos que se trate de trabajos muy específicos. Por ejemplo, en los proyectos de construcción industrial, el colegio oficial tiene la responsabilidad de garantizar que el proyecto haga referencia al cumplimiento de determinadas normas prescritas por la legislación vigente.</a:t>
            </a:r>
          </a:p>
          <a:p>
            <a:pPr marL="11113" indent="15875" eaLnBrk="1" hangingPunct="1">
              <a:lnSpc>
                <a:spcPct val="80000"/>
              </a:lnSpc>
            </a:pP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Por el visado, los colegios profesionales cobran una tasa que suele ser un porcentaje del presupuesto del proyecto o de la obra.</a:t>
            </a:r>
          </a:p>
          <a:p>
            <a:pPr marL="11113" indent="15875" eaLnBrk="1" hangingPunct="1">
              <a:lnSpc>
                <a:spcPct val="80000"/>
              </a:lnSpc>
            </a:pPr>
            <a:endPar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11113" indent="15875" eaLnBrk="1" hangingPunct="1">
              <a:lnSpc>
                <a:spcPct val="80000"/>
              </a:lnSpc>
            </a:pP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Real Decreto 1000/2010, de 5 de agosto, sobre visado colegial obligatorio (</a:t>
            </a: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hlinkClick r:id="rId2"/>
              </a:rPr>
              <a:t>http://www.boe.es/boe/dias/2010/08/06/pdfs/BOE-A-2010-12618.pdf</a:t>
            </a:r>
            <a:r>
              <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a:t>
            </a:r>
          </a:p>
          <a:p>
            <a:pPr marL="11113" indent="15875" eaLnBrk="1" hangingPunct="1">
              <a:lnSpc>
                <a:spcPct val="80000"/>
              </a:lnSpc>
            </a:pPr>
            <a:endParaRPr lang="es-ES_tradnl" altLang="es-ES" sz="18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369888" indent="-342900" eaLnBrk="1" hangingPunct="1">
              <a:lnSpc>
                <a:spcPct val="80000"/>
              </a:lnSpc>
            </a:pPr>
            <a:endParaRPr lang="en-US" altLang="es-ES" sz="1800" dirty="0">
              <a:solidFill>
                <a:srgbClr val="320E04"/>
              </a:solidFill>
              <a:ea typeface="ＭＳ Ｐゴシック" panose="020B0600070205080204" pitchFamily="34" charset="-128"/>
            </a:endParaRPr>
          </a:p>
          <a:p>
            <a:pPr marL="369888" indent="-342900" eaLnBrk="1" hangingPunct="1">
              <a:lnSpc>
                <a:spcPct val="80000"/>
              </a:lnSpc>
              <a:buFont typeface="Wingdings 2" pitchFamily="2" charset="2"/>
              <a:buAutoNum type="arabicPeriod"/>
            </a:pPr>
            <a:endParaRPr lang="en-US" altLang="es-ES" sz="2000" dirty="0">
              <a:solidFill>
                <a:srgbClr val="320E04"/>
              </a:solidFill>
              <a:ea typeface="ＭＳ Ｐゴシック" panose="020B0600070205080204" pitchFamily="34" charset="-128"/>
            </a:endParaRPr>
          </a:p>
          <a:p>
            <a:pPr marL="369888" indent="-342900" eaLnBrk="1" hangingPunct="1">
              <a:lnSpc>
                <a:spcPct val="80000"/>
              </a:lnSpc>
              <a:buFont typeface="Wingdings 2" pitchFamily="2" charset="2"/>
              <a:buAutoNum type="arabicPeriod"/>
            </a:pPr>
            <a:endParaRPr lang="en-US" altLang="es-ES" sz="2000" dirty="0">
              <a:solidFill>
                <a:srgbClr val="320E04"/>
              </a:solidFill>
              <a:ea typeface="ＭＳ Ｐゴシック" panose="020B0600070205080204" pitchFamily="34" charset="-128"/>
            </a:endParaRPr>
          </a:p>
          <a:p>
            <a:pPr marL="369888" indent="-342900" eaLnBrk="1" hangingPunct="1">
              <a:lnSpc>
                <a:spcPct val="80000"/>
              </a:lnSpc>
            </a:pPr>
            <a:endParaRPr lang="en-US" altLang="es-ES" sz="2000" dirty="0">
              <a:solidFill>
                <a:srgbClr val="320E04"/>
              </a:solidFill>
              <a:ea typeface="ＭＳ Ｐゴシック" panose="020B0600070205080204" pitchFamily="34" charset="-128"/>
            </a:endParaRPr>
          </a:p>
          <a:p>
            <a:pPr marL="369888" indent="-342900" eaLnBrk="1" hangingPunct="1">
              <a:lnSpc>
                <a:spcPct val="80000"/>
              </a:lnSpc>
            </a:pPr>
            <a:endParaRPr lang="es-ES" altLang="es-ES" sz="1700" dirty="0">
              <a:solidFill>
                <a:srgbClr val="320E04"/>
              </a:solidFill>
              <a:ea typeface="ＭＳ Ｐゴシック" panose="020B0600070205080204" pitchFamily="34" charset="-128"/>
            </a:endParaRPr>
          </a:p>
          <a:p>
            <a:pPr marL="369888" indent="-342900" eaLnBrk="1" hangingPunct="1">
              <a:lnSpc>
                <a:spcPct val="80000"/>
              </a:lnSpc>
            </a:pPr>
            <a:endParaRPr lang="es-ES" altLang="es-ES" sz="1700" dirty="0">
              <a:solidFill>
                <a:srgbClr val="320E04"/>
              </a:solidFill>
              <a:ea typeface="ＭＳ Ｐゴシック" panose="020B0600070205080204" pitchFamily="34" charset="-128"/>
            </a:endParaRPr>
          </a:p>
          <a:p>
            <a:pPr marL="369888" indent="-342900" eaLnBrk="1" hangingPunct="1">
              <a:lnSpc>
                <a:spcPct val="80000"/>
              </a:lnSpc>
            </a:pPr>
            <a:endParaRPr lang="es-ES" altLang="es-ES" sz="1700" dirty="0">
              <a:solidFill>
                <a:srgbClr val="320E04"/>
              </a:solidFill>
              <a:ea typeface="ＭＳ Ｐゴシック" panose="020B0600070205080204" pitchFamily="34" charset="-128"/>
            </a:endParaRPr>
          </a:p>
          <a:p>
            <a:pPr marL="369888" indent="-342900" eaLnBrk="1" hangingPunct="1">
              <a:lnSpc>
                <a:spcPct val="80000"/>
              </a:lnSpc>
            </a:pPr>
            <a:endParaRPr lang="en-US" altLang="es-ES" sz="1700" dirty="0">
              <a:solidFill>
                <a:srgbClr val="320E04"/>
              </a:solidFill>
              <a:ea typeface="ＭＳ Ｐゴシック" panose="020B0600070205080204" pitchFamily="34" charset="-128"/>
            </a:endParaRPr>
          </a:p>
          <a:p>
            <a:pPr marL="369888" indent="-342900" eaLnBrk="1" hangingPunct="1">
              <a:lnSpc>
                <a:spcPct val="80000"/>
              </a:lnSpc>
            </a:pPr>
            <a:endParaRPr lang="en-US" altLang="es-ES" sz="1700" dirty="0">
              <a:solidFill>
                <a:srgbClr val="320E04"/>
              </a:solidFill>
              <a:ea typeface="ＭＳ Ｐゴシック" panose="020B0600070205080204" pitchFamily="34" charset="-128"/>
            </a:endParaRPr>
          </a:p>
          <a:p>
            <a:pPr marL="369888" indent="-342900" eaLnBrk="1" hangingPunct="1">
              <a:lnSpc>
                <a:spcPct val="80000"/>
              </a:lnSpc>
            </a:pPr>
            <a:endParaRPr lang="en-US" altLang="es-ES" sz="2200" dirty="0">
              <a:solidFill>
                <a:srgbClr val="320E04"/>
              </a:solidFill>
              <a:ea typeface="ＭＳ Ｐゴシック" panose="020B0600070205080204" pitchFamily="34" charset="-128"/>
            </a:endParaRPr>
          </a:p>
          <a:p>
            <a:pPr marL="369888" indent="-342900" eaLnBrk="1" hangingPunct="1">
              <a:lnSpc>
                <a:spcPct val="80000"/>
              </a:lnSpc>
            </a:pPr>
            <a:endParaRPr lang="en-US" altLang="es-ES" sz="2200" dirty="0">
              <a:solidFill>
                <a:srgbClr val="320E04"/>
              </a:solidFill>
              <a:ea typeface="ＭＳ Ｐゴシック" panose="020B0600070205080204" pitchFamily="34" charset="-128"/>
            </a:endParaRPr>
          </a:p>
          <a:p>
            <a:pPr marL="369888" indent="-342900" eaLnBrk="1" hangingPunct="1">
              <a:lnSpc>
                <a:spcPct val="80000"/>
              </a:lnSpc>
            </a:pPr>
            <a:endParaRPr lang="es-ES" altLang="es-ES" sz="22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ECF72580-F38A-5E4A-B02A-9B896B08CA01}"/>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920F4EA3-4387-5B42-A0C2-1DFAAC849345}"/>
              </a:ext>
            </a:extLst>
          </p:cNvPr>
          <p:cNvSpPr>
            <a:spLocks noGrp="1"/>
          </p:cNvSpPr>
          <p:nvPr>
            <p:ph type="subTitle" idx="1"/>
          </p:nvPr>
        </p:nvSpPr>
        <p:spPr>
          <a:xfrm>
            <a:off x="1431925" y="1849438"/>
            <a:ext cx="7407275" cy="500062"/>
          </a:xfrm>
        </p:spPr>
        <p:txBody>
          <a:bodyPr>
            <a:normAutofit/>
          </a:bodyPr>
          <a:lstStyle/>
          <a:p>
            <a:pPr eaLnBrk="1" fontAlgn="auto" hangingPunct="1">
              <a:spcAft>
                <a:spcPts val="0"/>
              </a:spcAft>
              <a:defRPr/>
            </a:pPr>
            <a:r>
              <a:rPr lang="es-ES_tradnl" sz="2400" dirty="0">
                <a:ea typeface="+mn-ea"/>
                <a:cs typeface="+mn-cs"/>
              </a:rPr>
              <a:t>Tarifas por el visado de proyectos o trabajos especiales</a:t>
            </a:r>
            <a:endParaRPr lang="es-ES_tradnl" sz="2100" dirty="0">
              <a:ea typeface="+mn-ea"/>
              <a:cs typeface="+mn-cs"/>
            </a:endParaRPr>
          </a:p>
          <a:p>
            <a:pPr marL="484632" indent="-457200" eaLnBrk="1" fontAlgn="auto" hangingPunct="1">
              <a:spcAft>
                <a:spcPts val="0"/>
              </a:spcAft>
              <a:buFont typeface="Wingdings 2"/>
              <a:buAutoNum type="arabicPeriod"/>
              <a:defRPr/>
            </a:pPr>
            <a:endParaRPr lang="en-US" sz="2400" dirty="0">
              <a:ea typeface="+mn-ea"/>
              <a:cs typeface="+mn-cs"/>
            </a:endParaRPr>
          </a:p>
          <a:p>
            <a:pPr marL="484632" indent="-457200" eaLnBrk="1" fontAlgn="auto" hangingPunct="1">
              <a:spcAft>
                <a:spcPts val="0"/>
              </a:spcAft>
              <a:buFont typeface="Wingdings 2"/>
              <a:buAutoNum type="arabicPeriod"/>
              <a:defRPr/>
            </a:pPr>
            <a:endParaRPr lang="en-US" sz="2400" dirty="0">
              <a:ea typeface="+mn-ea"/>
              <a:cs typeface="+mn-cs"/>
            </a:endParaRPr>
          </a:p>
          <a:p>
            <a:pPr eaLnBrk="1" fontAlgn="auto" hangingPunct="1">
              <a:spcAft>
                <a:spcPts val="0"/>
              </a:spcAft>
              <a:buFont typeface="Wingdings 2"/>
              <a:buNone/>
              <a:defRPr/>
            </a:pPr>
            <a:endParaRPr lang="en-US" sz="24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graphicFrame>
        <p:nvGraphicFramePr>
          <p:cNvPr id="4" name="3 Tabla">
            <a:extLst>
              <a:ext uri="{FF2B5EF4-FFF2-40B4-BE49-F238E27FC236}">
                <a16:creationId xmlns:a16="http://schemas.microsoft.com/office/drawing/2014/main" id="{E47BEDAA-A0A0-8F45-ACC9-FF00190EA0A8}"/>
              </a:ext>
            </a:extLst>
          </p:cNvPr>
          <p:cNvGraphicFramePr>
            <a:graphicFrameLocks noGrp="1"/>
          </p:cNvGraphicFramePr>
          <p:nvPr>
            <p:extLst>
              <p:ext uri="{D42A27DB-BD31-4B8C-83A1-F6EECF244321}">
                <p14:modId xmlns:p14="http://schemas.microsoft.com/office/powerpoint/2010/main" val="103244280"/>
              </p:ext>
            </p:extLst>
          </p:nvPr>
        </p:nvGraphicFramePr>
        <p:xfrm>
          <a:off x="1547813" y="2420938"/>
          <a:ext cx="6769100" cy="3985690"/>
        </p:xfrm>
        <a:graphic>
          <a:graphicData uri="http://schemas.openxmlformats.org/drawingml/2006/table">
            <a:tbl>
              <a:tblPr/>
              <a:tblGrid>
                <a:gridCol w="2398712">
                  <a:extLst>
                    <a:ext uri="{9D8B030D-6E8A-4147-A177-3AD203B41FA5}">
                      <a16:colId xmlns:a16="http://schemas.microsoft.com/office/drawing/2014/main" val="1334428668"/>
                    </a:ext>
                  </a:extLst>
                </a:gridCol>
                <a:gridCol w="2857500">
                  <a:extLst>
                    <a:ext uri="{9D8B030D-6E8A-4147-A177-3AD203B41FA5}">
                      <a16:colId xmlns:a16="http://schemas.microsoft.com/office/drawing/2014/main" val="2749688451"/>
                    </a:ext>
                  </a:extLst>
                </a:gridCol>
                <a:gridCol w="504825">
                  <a:extLst>
                    <a:ext uri="{9D8B030D-6E8A-4147-A177-3AD203B41FA5}">
                      <a16:colId xmlns:a16="http://schemas.microsoft.com/office/drawing/2014/main" val="1027624558"/>
                    </a:ext>
                  </a:extLst>
                </a:gridCol>
                <a:gridCol w="1008063">
                  <a:extLst>
                    <a:ext uri="{9D8B030D-6E8A-4147-A177-3AD203B41FA5}">
                      <a16:colId xmlns:a16="http://schemas.microsoft.com/office/drawing/2014/main" val="4163470656"/>
                    </a:ext>
                  </a:extLst>
                </a:gridCol>
              </a:tblGrid>
              <a:tr h="371549">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1" i="0" u="none" strike="noStrike" cap="none" normalizeH="0" baseline="0">
                          <a:ln>
                            <a:noFill/>
                          </a:ln>
                          <a:solidFill>
                            <a:srgbClr val="FFFFFF"/>
                          </a:solidFill>
                          <a:effectLst/>
                          <a:latin typeface="Gill Sans MT" panose="020B0502020104020203" pitchFamily="34" charset="77"/>
                          <a:ea typeface="ＭＳ Ｐゴシック" panose="020B0600070205080204" pitchFamily="34" charset="-128"/>
                        </a:rPr>
                        <a:t>Assignment</a:t>
                      </a:r>
                    </a:p>
                  </a:txBody>
                  <a:tcPr marL="91445" marR="91445"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1" i="0" u="none" strike="noStrike" cap="none" normalizeH="0" baseline="0">
                          <a:ln>
                            <a:noFill/>
                          </a:ln>
                          <a:solidFill>
                            <a:srgbClr val="FFFFFF"/>
                          </a:solidFill>
                          <a:effectLst/>
                          <a:latin typeface="Gill Sans MT" panose="020B0502020104020203" pitchFamily="34" charset="77"/>
                          <a:ea typeface="ＭＳ Ｐゴシック" panose="020B0600070205080204" pitchFamily="34" charset="-128"/>
                        </a:rPr>
                        <a:t>Base</a:t>
                      </a:r>
                    </a:p>
                  </a:txBody>
                  <a:tcPr marL="91445" marR="91445"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1" i="0" u="none" strike="noStrike" cap="none" normalizeH="0" baseline="0">
                          <a:ln>
                            <a:noFill/>
                          </a:ln>
                          <a:solidFill>
                            <a:srgbClr val="FFFFFF"/>
                          </a:solidFill>
                          <a:effectLst/>
                          <a:latin typeface="Gill Sans MT" panose="020B0502020104020203" pitchFamily="34" charset="77"/>
                          <a:ea typeface="ＭＳ Ｐゴシック" panose="020B0600070205080204" pitchFamily="34" charset="-128"/>
                        </a:rPr>
                        <a:t>%</a:t>
                      </a:r>
                    </a:p>
                  </a:txBody>
                  <a:tcPr marL="91445" marR="91445"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1" i="0" u="none" strike="noStrike" cap="none" normalizeH="0" baseline="0">
                          <a:ln>
                            <a:noFill/>
                          </a:ln>
                          <a:solidFill>
                            <a:srgbClr val="FFFFFF"/>
                          </a:solidFill>
                          <a:effectLst/>
                          <a:latin typeface="Gill Sans MT" panose="020B0502020104020203" pitchFamily="34" charset="77"/>
                          <a:ea typeface="ＭＳ Ｐゴシック" panose="020B0600070205080204" pitchFamily="34" charset="-128"/>
                        </a:rPr>
                        <a:t>Min (€)</a:t>
                      </a:r>
                    </a:p>
                  </a:txBody>
                  <a:tcPr marL="91445" marR="91445"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24927903"/>
                  </a:ext>
                </a:extLst>
              </a:tr>
              <a:tr h="371549">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Proyectos</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Presupuesto de ejecución</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rPr>
                        <a:t>0,3</a:t>
                      </a:r>
                      <a:endParaRPr kumimoji="0" lang="es-ES"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25</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3174415747"/>
                  </a:ext>
                </a:extLst>
              </a:tr>
              <a:tr h="371549">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Dirección de proyectos</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Presupuesto de ejecución del proyecto</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rPr>
                        <a:t>0,3</a:t>
                      </a:r>
                      <a:endParaRPr kumimoji="0" lang="es-ES"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25</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2593201942"/>
                  </a:ext>
                </a:extLst>
              </a:tr>
              <a:tr h="731617">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Proyecto administrativo sin presupuesto (actividad no calificada)</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Memoria y planos</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rPr>
                        <a:t>-</a:t>
                      </a:r>
                      <a:endParaRPr kumimoji="0" lang="es-ES"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12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25</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82928039"/>
                  </a:ext>
                </a:extLst>
              </a:tr>
              <a:tr h="731617">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Proyecto administrativo sin presupuesto (actividad calificada)</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Memoria y planos</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rPr>
                        <a:t>-</a:t>
                      </a:r>
                      <a:endParaRPr kumimoji="0" lang="es-ES"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25</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25</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3395160940"/>
                  </a:ext>
                </a:extLst>
              </a:tr>
              <a:tr h="371549">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Informe técnico</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s-ES"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12</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3297326911"/>
                  </a:ext>
                </a:extLst>
              </a:tr>
              <a:tr h="371549">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Estudio de seguridad y salud</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Presupuesto</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rPr>
                        <a:t>0,3</a:t>
                      </a:r>
                      <a:endParaRPr kumimoji="0" lang="es-ES"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12</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2753149170"/>
                  </a:ext>
                </a:extLst>
              </a:tr>
              <a:tr h="371549">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Planificación de seguridad y salud</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Presupuesto</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rPr>
                        <a:t>0,3</a:t>
                      </a:r>
                      <a:endParaRPr kumimoji="0" lang="es-ES" altLang="es-ES" sz="1400" b="0" i="0" u="none" strike="noStrike" cap="none" normalizeH="0" baseline="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rPr>
                        <a:t>12</a:t>
                      </a:r>
                      <a:endParaRPr kumimoji="0" lang="es-ES" altLang="es-ES" sz="1400" b="0" i="0" u="none" strike="noStrike" cap="none" normalizeH="0" baseline="0" dirty="0">
                        <a:ln>
                          <a:noFill/>
                        </a:ln>
                        <a:solidFill>
                          <a:srgbClr val="000000"/>
                        </a:solidFill>
                        <a:effectLst/>
                        <a:latin typeface="Gill Sans MT" panose="020B0502020104020203" pitchFamily="34" charset="77"/>
                        <a:ea typeface="ＭＳ Ｐゴシック" panose="020B0600070205080204" pitchFamily="34" charset="-128"/>
                      </a:endParaRPr>
                    </a:p>
                  </a:txBody>
                  <a:tcPr marL="91446" marR="91446"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2523745811"/>
                  </a:ext>
                </a:extLst>
              </a:tr>
            </a:tbl>
          </a:graphicData>
        </a:graphic>
      </p:graphicFrame>
      <p:sp>
        <p:nvSpPr>
          <p:cNvPr id="7" name="1 Título">
            <a:extLst>
              <a:ext uri="{FF2B5EF4-FFF2-40B4-BE49-F238E27FC236}">
                <a16:creationId xmlns:a16="http://schemas.microsoft.com/office/drawing/2014/main" id="{4EE1D399-839B-C340-9E5F-14A15B4715E1}"/>
              </a:ext>
            </a:extLst>
          </p:cNvPr>
          <p:cNvSpPr>
            <a:spLocks noGrp="1"/>
          </p:cNvSpPr>
          <p:nvPr>
            <p:ph type="ctrTitle"/>
          </p:nvPr>
        </p:nvSpPr>
        <p:spPr>
          <a:xfrm>
            <a:off x="1431924"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ED2F9BC6-258A-CB49-BB0A-200FE9F4B543}"/>
              </a:ext>
            </a:extLst>
          </p:cNvPr>
          <p:cNvSpPr>
            <a:spLocks noGrp="1"/>
          </p:cNvSpPr>
          <p:nvPr>
            <p:ph type="subTitle" idx="1"/>
          </p:nvPr>
        </p:nvSpPr>
        <p:spPr>
          <a:xfrm>
            <a:off x="1431925" y="1849438"/>
            <a:ext cx="7407275" cy="4459287"/>
          </a:xfrm>
        </p:spPr>
        <p:txBody>
          <a:bodyPr>
            <a:normAutofit/>
          </a:bodyPr>
          <a:lstStyle/>
          <a:p>
            <a:pPr eaLnBrk="1" fontAlgn="auto" hangingPunct="1">
              <a:spcAft>
                <a:spcPts val="0"/>
              </a:spcAft>
              <a:defRPr/>
            </a:pPr>
            <a:r>
              <a:rPr lang="es-ES_tradnl" sz="2400" dirty="0">
                <a:ea typeface="+mn-ea"/>
                <a:cs typeface="+mn-cs"/>
              </a:rPr>
              <a:t>Ética profesional (resumen de lo contenido en los códigos deontológicos)</a:t>
            </a:r>
          </a:p>
          <a:p>
            <a:pPr marL="484632" indent="-457200" eaLnBrk="1" fontAlgn="auto" hangingPunct="1">
              <a:spcAft>
                <a:spcPts val="0"/>
              </a:spcAft>
              <a:buFont typeface="+mj-lt"/>
              <a:buAutoNum type="arabicPeriod"/>
              <a:defRPr/>
            </a:pPr>
            <a:r>
              <a:rPr lang="es-ES_tradnl" sz="2000" dirty="0">
                <a:ea typeface="+mn-ea"/>
                <a:cs typeface="+mn-cs"/>
              </a:rPr>
              <a:t>Realizar el trabajo con competencia, corrección y diligencia razonable.</a:t>
            </a:r>
          </a:p>
          <a:p>
            <a:pPr marL="484632" indent="-457200" eaLnBrk="1" fontAlgn="auto" hangingPunct="1">
              <a:spcAft>
                <a:spcPts val="0"/>
              </a:spcAft>
              <a:buFont typeface="+mj-lt"/>
              <a:buAutoNum type="arabicPeriod"/>
              <a:defRPr/>
            </a:pPr>
            <a:r>
              <a:rPr lang="es-ES_tradnl" sz="2000" dirty="0">
                <a:ea typeface="+mn-ea"/>
                <a:cs typeface="+mn-cs"/>
              </a:rPr>
              <a:t>Subordinación del interés propio al cliente.</a:t>
            </a:r>
          </a:p>
          <a:p>
            <a:pPr marL="484632" indent="-457200" eaLnBrk="1" fontAlgn="auto" hangingPunct="1">
              <a:spcAft>
                <a:spcPts val="0"/>
              </a:spcAft>
              <a:buFont typeface="+mj-lt"/>
              <a:buAutoNum type="arabicPeriod"/>
              <a:defRPr/>
            </a:pPr>
            <a:r>
              <a:rPr lang="es-ES_tradnl" sz="2000" dirty="0">
                <a:ea typeface="+mn-ea"/>
                <a:cs typeface="+mn-cs"/>
              </a:rPr>
              <a:t>No aceptar un trabajo previamente asignado a otro profesional sin previo acuerdo y notificación oficial al colegio.</a:t>
            </a:r>
          </a:p>
          <a:p>
            <a:pPr marL="484632" indent="-457200" eaLnBrk="1" fontAlgn="auto" hangingPunct="1">
              <a:spcAft>
                <a:spcPts val="0"/>
              </a:spcAft>
              <a:buFont typeface="+mj-lt"/>
              <a:buAutoNum type="arabicPeriod"/>
              <a:defRPr/>
            </a:pPr>
            <a:r>
              <a:rPr lang="es-ES_tradnl" sz="2000" dirty="0">
                <a:ea typeface="+mn-ea"/>
                <a:cs typeface="+mn-cs"/>
              </a:rPr>
              <a:t>Secreto profesional.</a:t>
            </a:r>
          </a:p>
          <a:p>
            <a:pPr marL="484632" indent="-457200" eaLnBrk="1" fontAlgn="auto" hangingPunct="1">
              <a:spcAft>
                <a:spcPts val="0"/>
              </a:spcAft>
              <a:buFont typeface="+mj-lt"/>
              <a:buAutoNum type="arabicPeriod"/>
              <a:defRPr/>
            </a:pPr>
            <a:r>
              <a:rPr lang="es-ES_tradnl" sz="2000" dirty="0">
                <a:ea typeface="+mn-ea"/>
                <a:cs typeface="+mn-cs"/>
              </a:rPr>
              <a:t>No aceptar ningún trabajo que exceda sus habilidades.</a:t>
            </a:r>
          </a:p>
          <a:p>
            <a:pPr marL="484632" indent="-457200" eaLnBrk="1" fontAlgn="auto" hangingPunct="1">
              <a:spcAft>
                <a:spcPts val="0"/>
              </a:spcAft>
              <a:buFont typeface="+mj-lt"/>
              <a:buAutoNum type="arabicPeriod"/>
              <a:defRPr/>
            </a:pPr>
            <a:r>
              <a:rPr lang="es-ES_tradnl" sz="2000" dirty="0">
                <a:ea typeface="+mn-ea"/>
                <a:cs typeface="+mn-cs"/>
              </a:rPr>
              <a:t>Abstenerse de hacer comentarios despectivos hacia otros profesionales.</a:t>
            </a:r>
          </a:p>
          <a:p>
            <a:pPr marL="484632" indent="-457200" eaLnBrk="1" fontAlgn="auto" hangingPunct="1">
              <a:spcAft>
                <a:spcPts val="0"/>
              </a:spcAft>
              <a:buFont typeface="+mj-lt"/>
              <a:buAutoNum type="arabicPeriod"/>
              <a:defRPr/>
            </a:pPr>
            <a:r>
              <a:rPr lang="es-ES_tradnl" sz="2000" dirty="0">
                <a:ea typeface="+mn-ea"/>
                <a:cs typeface="+mn-cs"/>
              </a:rPr>
              <a:t>No aceptar encargos contrarios a la ley o al interés público.</a:t>
            </a:r>
            <a:endParaRPr lang="en-US" sz="2400" dirty="0">
              <a:ea typeface="+mn-ea"/>
              <a:cs typeface="+mn-cs"/>
            </a:endParaRPr>
          </a:p>
          <a:p>
            <a:pPr marL="484632" indent="-457200" eaLnBrk="1" fontAlgn="auto" hangingPunct="1">
              <a:spcAft>
                <a:spcPts val="0"/>
              </a:spcAft>
              <a:buFont typeface="Wingdings 2"/>
              <a:buAutoNum type="arabicPeriod"/>
              <a:defRPr/>
            </a:pPr>
            <a:endParaRPr lang="en-US" sz="2400" dirty="0">
              <a:ea typeface="+mn-ea"/>
              <a:cs typeface="+mn-cs"/>
            </a:endParaRPr>
          </a:p>
          <a:p>
            <a:pPr eaLnBrk="1" fontAlgn="auto" hangingPunct="1">
              <a:spcAft>
                <a:spcPts val="0"/>
              </a:spcAft>
              <a:buFont typeface="Wingdings 2"/>
              <a:buNone/>
              <a:defRPr/>
            </a:pPr>
            <a:endParaRPr lang="en-US" sz="24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sp>
        <p:nvSpPr>
          <p:cNvPr id="6" name="1 Título">
            <a:extLst>
              <a:ext uri="{FF2B5EF4-FFF2-40B4-BE49-F238E27FC236}">
                <a16:creationId xmlns:a16="http://schemas.microsoft.com/office/drawing/2014/main" id="{F58406F4-5759-0E49-B454-DC57C12A1FF8}"/>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2 Subtítulo">
            <a:extLst>
              <a:ext uri="{FF2B5EF4-FFF2-40B4-BE49-F238E27FC236}">
                <a16:creationId xmlns:a16="http://schemas.microsoft.com/office/drawing/2014/main" id="{AED65022-7FAB-9D4E-AFCB-9B796D42F24D}"/>
              </a:ext>
            </a:extLst>
          </p:cNvPr>
          <p:cNvSpPr>
            <a:spLocks noGrp="1"/>
          </p:cNvSpPr>
          <p:nvPr>
            <p:ph type="subTitle" idx="1"/>
          </p:nvPr>
        </p:nvSpPr>
        <p:spPr>
          <a:xfrm>
            <a:off x="1431925" y="1849438"/>
            <a:ext cx="7407275" cy="4459287"/>
          </a:xfrm>
        </p:spPr>
        <p:txBody>
          <a:bodyPr/>
          <a:lstStyle/>
          <a:p>
            <a:pPr marL="26988" eaLnBrk="1" hangingPunct="1"/>
            <a:r>
              <a:rPr lang="es-ES_tradnl" altLang="es-ES" sz="2400" dirty="0">
                <a:solidFill>
                  <a:srgbClr val="320E04"/>
                </a:solidFill>
                <a:ea typeface="ＭＳ Ｐゴシック" panose="020B0600070205080204" pitchFamily="34" charset="-128"/>
              </a:rPr>
              <a:t>Cobro de honorarios</a:t>
            </a:r>
          </a:p>
          <a:p>
            <a:pPr marL="26988" eaLnBrk="1" hangingPunct="1"/>
            <a:r>
              <a:rPr lang="es-ES_tradnl" altLang="es-ES" sz="2400" dirty="0">
                <a:solidFill>
                  <a:srgbClr val="320E04"/>
                </a:solidFill>
                <a:ea typeface="ＭＳ Ｐゴシック" panose="020B0600070205080204" pitchFamily="34" charset="-128"/>
              </a:rPr>
              <a:t>Para que el colegio pueda gestionar el cobro de honorarios, es necesario que el cliente firme la hoja de encargos, que suele contener los siguientes apartados:</a:t>
            </a:r>
          </a:p>
          <a:p>
            <a:pPr marL="369888" indent="-342900" eaLnBrk="1" hangingPunct="1">
              <a:buFont typeface="Wingdings 2" pitchFamily="2" charset="2"/>
              <a:buAutoNum type="arabicPeriod"/>
            </a:pPr>
            <a:r>
              <a:rPr lang="es-ES_tradnl" altLang="es-ES" sz="2400" dirty="0">
                <a:solidFill>
                  <a:srgbClr val="320E04"/>
                </a:solidFill>
                <a:ea typeface="ＭＳ Ｐゴシック" panose="020B0600070205080204" pitchFamily="34" charset="-128"/>
              </a:rPr>
              <a:t>Datos relacionados con el cliente y el ingeniero</a:t>
            </a:r>
          </a:p>
          <a:p>
            <a:pPr marL="369888" indent="-342900" eaLnBrk="1" hangingPunct="1">
              <a:buFont typeface="Wingdings 2" pitchFamily="2" charset="2"/>
              <a:buAutoNum type="arabicPeriod"/>
            </a:pPr>
            <a:r>
              <a:rPr lang="es-ES_tradnl" altLang="es-ES" sz="2400" dirty="0">
                <a:solidFill>
                  <a:srgbClr val="320E04"/>
                </a:solidFill>
                <a:ea typeface="ＭＳ Ｐゴシック" panose="020B0600070205080204" pitchFamily="34" charset="-128"/>
              </a:rPr>
              <a:t>Descripción del trabajo a realizar y localización, si procede.</a:t>
            </a:r>
          </a:p>
          <a:p>
            <a:pPr marL="369888" indent="-342900" eaLnBrk="1" hangingPunct="1">
              <a:buFont typeface="Wingdings 2" pitchFamily="2" charset="2"/>
              <a:buAutoNum type="arabicPeriod"/>
            </a:pPr>
            <a:r>
              <a:rPr lang="es-ES_tradnl" altLang="es-ES" sz="2400" dirty="0">
                <a:solidFill>
                  <a:srgbClr val="320E04"/>
                </a:solidFill>
                <a:ea typeface="ＭＳ Ｐゴシック" panose="020B0600070205080204" pitchFamily="34" charset="-128"/>
              </a:rPr>
              <a:t>Presupuesto aproximado</a:t>
            </a:r>
          </a:p>
          <a:p>
            <a:pPr marL="369888" indent="-342900" eaLnBrk="1" hangingPunct="1">
              <a:buFont typeface="Wingdings 2" pitchFamily="2" charset="2"/>
              <a:buAutoNum type="arabicPeriod"/>
            </a:pPr>
            <a:r>
              <a:rPr lang="es-ES_tradnl" altLang="es-ES" sz="2400" dirty="0">
                <a:solidFill>
                  <a:srgbClr val="320E04"/>
                </a:solidFill>
                <a:ea typeface="ＭＳ Ｐゴシック" panose="020B0600070205080204" pitchFamily="34" charset="-128"/>
              </a:rPr>
              <a:t>Fechas y firmas</a:t>
            </a:r>
          </a:p>
          <a:p>
            <a:pPr marL="369888" indent="-342900" eaLnBrk="1" hangingPunct="1">
              <a:buFont typeface="Wingdings 2" pitchFamily="2" charset="2"/>
              <a:buAutoNum type="arabicPeriod"/>
            </a:pPr>
            <a:r>
              <a:rPr lang="es-ES_tradnl" altLang="es-ES" sz="2400" dirty="0">
                <a:solidFill>
                  <a:srgbClr val="320E04"/>
                </a:solidFill>
                <a:ea typeface="ＭＳ Ｐゴシック" panose="020B0600070205080204" pitchFamily="34" charset="-128"/>
              </a:rPr>
              <a:t>Condiciones generales complementarias</a:t>
            </a:r>
          </a:p>
          <a:p>
            <a:pPr marL="369888" indent="-342900" algn="r" eaLnBrk="1" hangingPunct="1"/>
            <a:endParaRPr lang="en-US" altLang="es-ES" sz="1200" dirty="0">
              <a:solidFill>
                <a:srgbClr val="320E04"/>
              </a:solidFill>
              <a:ea typeface="ＭＳ Ｐゴシック" panose="020B0600070205080204" pitchFamily="34" charset="-128"/>
            </a:endParaRPr>
          </a:p>
          <a:p>
            <a:pPr marL="369888" indent="-342900" eaLnBrk="1" hangingPunct="1"/>
            <a:endParaRPr lang="en-US" altLang="es-ES" sz="2400" dirty="0">
              <a:solidFill>
                <a:srgbClr val="320E04"/>
              </a:solidFill>
              <a:ea typeface="ＭＳ Ｐゴシック" panose="020B0600070205080204" pitchFamily="34" charset="-128"/>
            </a:endParaRPr>
          </a:p>
          <a:p>
            <a:pPr marL="369888" indent="-342900" eaLnBrk="1" hangingPunct="1"/>
            <a:endParaRPr lang="es-ES" altLang="es-ES" sz="2000" dirty="0">
              <a:solidFill>
                <a:srgbClr val="320E04"/>
              </a:solidFill>
              <a:ea typeface="ＭＳ Ｐゴシック" panose="020B0600070205080204" pitchFamily="34" charset="-128"/>
            </a:endParaRPr>
          </a:p>
          <a:p>
            <a:pPr marL="369888" indent="-342900" eaLnBrk="1" hangingPunct="1"/>
            <a:endParaRPr lang="es-ES" altLang="es-ES" sz="2000" dirty="0">
              <a:solidFill>
                <a:srgbClr val="320E04"/>
              </a:solidFill>
              <a:ea typeface="ＭＳ Ｐゴシック" panose="020B0600070205080204" pitchFamily="34" charset="-128"/>
            </a:endParaRPr>
          </a:p>
          <a:p>
            <a:pPr marL="369888" indent="-342900" eaLnBrk="1" hangingPunct="1"/>
            <a:endParaRPr lang="es-ES" altLang="es-ES" sz="2000" dirty="0">
              <a:solidFill>
                <a:srgbClr val="320E04"/>
              </a:solidFill>
              <a:ea typeface="ＭＳ Ｐゴシック" panose="020B0600070205080204" pitchFamily="34" charset="-128"/>
            </a:endParaRPr>
          </a:p>
          <a:p>
            <a:pPr marL="369888" indent="-342900" eaLnBrk="1" hangingPunct="1"/>
            <a:endParaRPr lang="en-US" altLang="es-ES" sz="2000" dirty="0">
              <a:solidFill>
                <a:srgbClr val="320E04"/>
              </a:solidFill>
              <a:ea typeface="ＭＳ Ｐゴシック" panose="020B0600070205080204" pitchFamily="34" charset="-128"/>
            </a:endParaRPr>
          </a:p>
          <a:p>
            <a:pPr marL="369888" indent="-342900" eaLnBrk="1" hangingPunct="1"/>
            <a:endParaRPr lang="en-US" altLang="es-ES" sz="2000" dirty="0">
              <a:solidFill>
                <a:srgbClr val="320E04"/>
              </a:solidFill>
              <a:ea typeface="ＭＳ Ｐゴシック" panose="020B0600070205080204" pitchFamily="34" charset="-128"/>
            </a:endParaRPr>
          </a:p>
          <a:p>
            <a:pPr marL="369888" indent="-342900" eaLnBrk="1" hangingPunct="1"/>
            <a:endParaRPr lang="en-US" altLang="es-ES" dirty="0">
              <a:solidFill>
                <a:srgbClr val="320E04"/>
              </a:solidFill>
              <a:ea typeface="ＭＳ Ｐゴシック" panose="020B0600070205080204" pitchFamily="34" charset="-128"/>
            </a:endParaRPr>
          </a:p>
          <a:p>
            <a:pPr marL="369888" indent="-342900" eaLnBrk="1" hangingPunct="1"/>
            <a:endParaRPr lang="en-US" altLang="es-ES" dirty="0">
              <a:solidFill>
                <a:srgbClr val="320E04"/>
              </a:solidFill>
              <a:ea typeface="ＭＳ Ｐゴシック" panose="020B0600070205080204" pitchFamily="34" charset="-128"/>
            </a:endParaRPr>
          </a:p>
          <a:p>
            <a:pPr marL="369888" indent="-342900" eaLnBrk="1" hangingPunct="1"/>
            <a:endParaRPr lang="es-ES" altLang="es-ES"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F74B79E7-B880-964C-A879-938742C31F37}"/>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240EE5F4-54CD-044C-A834-167EC0AA8EC9}"/>
              </a:ext>
            </a:extLst>
          </p:cNvPr>
          <p:cNvSpPr>
            <a:spLocks noGrp="1"/>
          </p:cNvSpPr>
          <p:nvPr>
            <p:ph type="subTitle" idx="1"/>
          </p:nvPr>
        </p:nvSpPr>
        <p:spPr>
          <a:xfrm>
            <a:off x="1431925" y="1849439"/>
            <a:ext cx="7407275" cy="3811810"/>
          </a:xfrm>
        </p:spPr>
        <p:txBody>
          <a:bodyPr>
            <a:normAutofit/>
          </a:bodyPr>
          <a:lstStyle/>
          <a:p>
            <a:pPr eaLnBrk="1" fontAlgn="auto" hangingPunct="1">
              <a:spcAft>
                <a:spcPts val="0"/>
              </a:spcAft>
              <a:defRPr/>
            </a:pPr>
            <a:r>
              <a:rPr lang="es-ES_tradnl" sz="2400" dirty="0">
                <a:ea typeface="+mn-ea"/>
                <a:cs typeface="+mn-cs"/>
              </a:rPr>
              <a:t>Protección de los derechos profesionales</a:t>
            </a:r>
          </a:p>
          <a:p>
            <a:pPr eaLnBrk="1" fontAlgn="auto" hangingPunct="1">
              <a:spcAft>
                <a:spcPts val="0"/>
              </a:spcAft>
              <a:defRPr/>
            </a:pPr>
            <a:endParaRPr lang="es-ES_tradnl" sz="2400" dirty="0">
              <a:ea typeface="+mn-ea"/>
              <a:cs typeface="+mn-cs"/>
            </a:endParaRPr>
          </a:p>
          <a:p>
            <a:pPr marL="370332" indent="-342900" eaLnBrk="1" fontAlgn="auto" hangingPunct="1">
              <a:spcAft>
                <a:spcPts val="0"/>
              </a:spcAft>
              <a:buFont typeface="Arial" panose="020B0604020202020204" pitchFamily="34" charset="0"/>
              <a:buChar char="•"/>
              <a:defRPr/>
            </a:pPr>
            <a:r>
              <a:rPr lang="es-ES_tradnl" sz="2400" dirty="0">
                <a:ea typeface="+mn-ea"/>
                <a:cs typeface="+mn-cs"/>
              </a:rPr>
              <a:t>El colegio cuenta con un servicio de asesoramiento que resuelve consultas sobre derechos profesionales.</a:t>
            </a:r>
          </a:p>
          <a:p>
            <a:pPr marL="370332" indent="-342900" eaLnBrk="1" fontAlgn="auto" hangingPunct="1">
              <a:spcAft>
                <a:spcPts val="0"/>
              </a:spcAft>
              <a:buFont typeface="Arial" panose="020B0604020202020204" pitchFamily="34" charset="0"/>
              <a:buChar char="•"/>
              <a:defRPr/>
            </a:pPr>
            <a:r>
              <a:rPr lang="es-ES_tradnl" sz="2400" dirty="0">
                <a:ea typeface="+mn-ea"/>
                <a:cs typeface="+mn-cs"/>
              </a:rPr>
              <a:t>El servicio puede asesorar legalmente a los miembros que denuncien irregularidades de otros profesionales.</a:t>
            </a:r>
          </a:p>
          <a:p>
            <a:pPr marL="370332" indent="-342900" eaLnBrk="1" fontAlgn="auto" hangingPunct="1">
              <a:spcAft>
                <a:spcPts val="0"/>
              </a:spcAft>
              <a:buFont typeface="Arial" panose="020B0604020202020204" pitchFamily="34" charset="0"/>
              <a:buChar char="•"/>
              <a:defRPr/>
            </a:pPr>
            <a:r>
              <a:rPr lang="es-ES_tradnl" sz="2400" dirty="0">
                <a:ea typeface="+mn-ea"/>
                <a:cs typeface="+mn-cs"/>
              </a:rPr>
              <a:t>El colegio puede actuar legalmente directamente contra aquellos que cometen malas prácticas profesionales.</a:t>
            </a: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sp>
        <p:nvSpPr>
          <p:cNvPr id="6" name="1 Título">
            <a:extLst>
              <a:ext uri="{FF2B5EF4-FFF2-40B4-BE49-F238E27FC236}">
                <a16:creationId xmlns:a16="http://schemas.microsoft.com/office/drawing/2014/main" id="{A0044930-08F8-6141-9AFD-7BF0C2466B3B}"/>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2 Subtítulo">
            <a:extLst>
              <a:ext uri="{FF2B5EF4-FFF2-40B4-BE49-F238E27FC236}">
                <a16:creationId xmlns:a16="http://schemas.microsoft.com/office/drawing/2014/main" id="{8002B42C-5F46-EC48-A195-375FF119005B}"/>
              </a:ext>
            </a:extLst>
          </p:cNvPr>
          <p:cNvSpPr>
            <a:spLocks noGrp="1"/>
          </p:cNvSpPr>
          <p:nvPr>
            <p:ph type="subTitle" idx="1"/>
          </p:nvPr>
        </p:nvSpPr>
        <p:spPr>
          <a:xfrm>
            <a:off x="1431925" y="1849438"/>
            <a:ext cx="7407275" cy="4459287"/>
          </a:xfrm>
        </p:spPr>
        <p:txBody>
          <a:bodyPr/>
          <a:lstStyle/>
          <a:p>
            <a:pPr marL="26988" eaLnBrk="1" hangingPunct="1"/>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Servicio de empleo</a:t>
            </a:r>
          </a:p>
          <a:p>
            <a:pPr marL="369888" indent="-342900" eaLnBrk="1" hangingPunct="1">
              <a:buFont typeface="Arial" panose="020B0604020202020204" pitchFamily="34" charset="0"/>
              <a:buChar char="•"/>
            </a:pP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Los colegiados pueden revisar las ofertas de trabajo e inscribirse en las que correspondan a sus calificaciones.</a:t>
            </a:r>
          </a:p>
          <a:p>
            <a:pPr marL="369888" indent="-342900" eaLnBrk="1" hangingPunct="1">
              <a:buFont typeface="Arial" panose="020B0604020202020204" pitchFamily="34" charset="0"/>
              <a:buChar char="•"/>
            </a:pP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Servicios de designación para peritaciones o trabajos especiales</a:t>
            </a:r>
          </a:p>
          <a:p>
            <a:pPr marL="369888" indent="-342900" eaLnBrk="1" hangingPunct="1">
              <a:buFont typeface="Arial" panose="020B0604020202020204" pitchFamily="34" charset="0"/>
              <a:buChar char="•"/>
            </a:pP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Servicios complementarios:</a:t>
            </a:r>
          </a:p>
          <a:p>
            <a:pPr marL="913956" lvl="1" indent="-457200" algn="l" eaLnBrk="1" hangingPunct="1">
              <a:buFont typeface="+mj-lt"/>
              <a:buAutoNum type="arabicPeriod"/>
            </a:pP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Orientación profesional.</a:t>
            </a:r>
          </a:p>
          <a:p>
            <a:pPr marL="913956" lvl="1" indent="-457200" algn="l" eaLnBrk="1" hangingPunct="1">
              <a:buFont typeface="+mj-lt"/>
              <a:buAutoNum type="arabicPeriod"/>
            </a:pP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Servicio de reubicación (externo).</a:t>
            </a:r>
          </a:p>
          <a:p>
            <a:pPr marL="913956" lvl="1" indent="-457200" algn="l" eaLnBrk="1" hangingPunct="1">
              <a:buFont typeface="+mj-lt"/>
              <a:buAutoNum type="arabicPeriod"/>
            </a:pP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Actividades de capacitación e información sobre técnicas de búsqueda de empleo. Talleres currículo y entrevista</a:t>
            </a:r>
          </a:p>
          <a:p>
            <a:pPr marL="913956" lvl="1" indent="-457200" algn="l" eaLnBrk="1" hangingPunct="1">
              <a:buFont typeface="+mj-lt"/>
              <a:buAutoNum type="arabicPeriod"/>
            </a:pP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Programa </a:t>
            </a:r>
            <a:r>
              <a:rPr lang="es-ES_tradnl" altLang="es-ES" sz="2000" dirty="0" err="1">
                <a:solidFill>
                  <a:srgbClr val="320E04"/>
                </a:solidFill>
                <a:latin typeface="Arial" panose="020B0604020202020204" pitchFamily="34" charset="0"/>
                <a:ea typeface="ＭＳ Ｐゴシック" panose="020B0600070205080204" pitchFamily="34" charset="-128"/>
                <a:cs typeface="Arial" panose="020B0604020202020204" pitchFamily="34" charset="0"/>
              </a:rPr>
              <a:t>tutoriza</a:t>
            </a:r>
            <a:endPar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a:p>
            <a:pPr marL="26988" eaLnBrk="1" hangingPunct="1"/>
            <a:endParaRPr lang="es-ES_tradnl" altLang="es-ES" sz="24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B4F56E5D-175D-934C-8FB0-12F6AD5B7BC4}"/>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F3D4BFF5-AFFD-D540-9CFD-BBAD82F0CF12}"/>
              </a:ext>
            </a:extLst>
          </p:cNvPr>
          <p:cNvSpPr>
            <a:spLocks noGrp="1"/>
          </p:cNvSpPr>
          <p:nvPr>
            <p:ph type="subTitle" idx="1"/>
          </p:nvPr>
        </p:nvSpPr>
        <p:spPr>
          <a:xfrm>
            <a:off x="1431925" y="1849439"/>
            <a:ext cx="7407275" cy="4243858"/>
          </a:xfrm>
        </p:spPr>
        <p:txBody>
          <a:bodyPr>
            <a:normAutofit/>
          </a:bodyPr>
          <a:lstStyle/>
          <a:p>
            <a:pPr eaLnBrk="1" fontAlgn="auto" hangingPunct="1">
              <a:spcAft>
                <a:spcPts val="0"/>
              </a:spcAft>
              <a:buFont typeface="Wingdings 2"/>
              <a:buNone/>
              <a:defRPr/>
            </a:pPr>
            <a:r>
              <a:rPr lang="es-ES_tradnl" sz="2400" dirty="0">
                <a:ea typeface="+mn-ea"/>
                <a:cs typeface="+mn-cs"/>
              </a:rPr>
              <a:t>Asesoramiento fiscal, laboral y técnico</a:t>
            </a:r>
          </a:p>
          <a:p>
            <a:pPr marL="484632" indent="-457200" eaLnBrk="1" fontAlgn="auto" hangingPunct="1">
              <a:spcAft>
                <a:spcPts val="0"/>
              </a:spcAft>
              <a:buFont typeface="Wingdings 2"/>
              <a:buAutoNum type="arabicPeriod"/>
              <a:defRPr/>
            </a:pPr>
            <a:r>
              <a:rPr lang="es-ES_tradnl" sz="2400" dirty="0">
                <a:ea typeface="+mn-ea"/>
                <a:cs typeface="+mn-cs"/>
              </a:rPr>
              <a:t>Acceso a bases de datos sobre normas y legislación industrial.</a:t>
            </a:r>
          </a:p>
          <a:p>
            <a:pPr marL="484632" indent="-457200" eaLnBrk="1" fontAlgn="auto" hangingPunct="1">
              <a:spcAft>
                <a:spcPts val="0"/>
              </a:spcAft>
              <a:buFont typeface="Wingdings 2"/>
              <a:buAutoNum type="arabicPeriod"/>
              <a:defRPr/>
            </a:pPr>
            <a:r>
              <a:rPr lang="es-ES_tradnl" sz="2400" dirty="0">
                <a:ea typeface="+mn-ea"/>
                <a:cs typeface="+mn-cs"/>
              </a:rPr>
              <a:t>Información sobre ofertas y licitaciones para la contratación de servicios de ingeniería.</a:t>
            </a:r>
          </a:p>
          <a:p>
            <a:pPr marL="484632" indent="-457200" eaLnBrk="1" fontAlgn="auto" hangingPunct="1">
              <a:spcAft>
                <a:spcPts val="0"/>
              </a:spcAft>
              <a:buFont typeface="Wingdings 2"/>
              <a:buAutoNum type="arabicPeriod"/>
              <a:defRPr/>
            </a:pPr>
            <a:r>
              <a:rPr lang="es-ES_tradnl" sz="2400" dirty="0">
                <a:ea typeface="+mn-ea"/>
                <a:cs typeface="+mn-cs"/>
              </a:rPr>
              <a:t>Utilidades de software de ingeniería asistida por ordenador</a:t>
            </a:r>
          </a:p>
          <a:p>
            <a:pPr marL="484632" indent="-457200" eaLnBrk="1" fontAlgn="auto" hangingPunct="1">
              <a:spcAft>
                <a:spcPts val="0"/>
              </a:spcAft>
              <a:buFont typeface="Wingdings 2"/>
              <a:buAutoNum type="arabicPeriod"/>
              <a:defRPr/>
            </a:pPr>
            <a:r>
              <a:rPr lang="es-ES_tradnl" sz="2400" dirty="0">
                <a:ea typeface="+mn-ea"/>
                <a:cs typeface="+mn-cs"/>
              </a:rPr>
              <a:t>La Asesoría Fiscal y Laboral es un servicio gratuito, atendido por profesionales, que responde a consultas específicas de los miembros.</a:t>
            </a:r>
          </a:p>
          <a:p>
            <a:pPr marL="484632" indent="-457200" eaLnBrk="1" fontAlgn="auto" hangingPunct="1">
              <a:spcAft>
                <a:spcPts val="0"/>
              </a:spcAft>
              <a:buFont typeface="Wingdings 2"/>
              <a:buAutoNum type="arabicPeriod"/>
              <a:defRPr/>
            </a:pPr>
            <a:endParaRPr lang="es-ES_tradnl" sz="2400" dirty="0">
              <a:ea typeface="+mn-ea"/>
              <a:cs typeface="+mn-cs"/>
            </a:endParaRPr>
          </a:p>
          <a:p>
            <a:pPr marL="484632" indent="-457200" eaLnBrk="1" fontAlgn="auto" hangingPunct="1">
              <a:spcAft>
                <a:spcPts val="0"/>
              </a:spcAft>
              <a:buFont typeface="Wingdings 2"/>
              <a:buAutoNum type="arabicPeriod"/>
              <a:defRPr/>
            </a:pPr>
            <a:endParaRPr lang="es-ES_tradnl" sz="2400" dirty="0">
              <a:ea typeface="+mn-ea"/>
              <a:cs typeface="+mn-cs"/>
            </a:endParaRPr>
          </a:p>
          <a:p>
            <a:pPr marL="484632" indent="-457200" eaLnBrk="1" fontAlgn="auto" hangingPunct="1">
              <a:spcAft>
                <a:spcPts val="0"/>
              </a:spcAft>
              <a:buFont typeface="Wingdings 2"/>
              <a:buAutoNum type="arabicPeriod"/>
              <a:defRPr/>
            </a:pPr>
            <a:endParaRPr lang="es-ES_tradnl" sz="2400" dirty="0">
              <a:ea typeface="+mn-ea"/>
              <a:cs typeface="+mn-cs"/>
            </a:endParaRP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6" name="1 Título">
            <a:extLst>
              <a:ext uri="{FF2B5EF4-FFF2-40B4-BE49-F238E27FC236}">
                <a16:creationId xmlns:a16="http://schemas.microsoft.com/office/drawing/2014/main" id="{F827F20A-8002-5048-BD61-B149924E83AA}"/>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8E3317DA-056B-FB49-A904-71C5A24318B8}"/>
              </a:ext>
            </a:extLst>
          </p:cNvPr>
          <p:cNvSpPr>
            <a:spLocks noGrp="1"/>
          </p:cNvSpPr>
          <p:nvPr>
            <p:ph type="subTitle" idx="1"/>
          </p:nvPr>
        </p:nvSpPr>
        <p:spPr>
          <a:xfrm>
            <a:off x="1431925" y="1849438"/>
            <a:ext cx="7407275" cy="4459287"/>
          </a:xfrm>
        </p:spPr>
        <p:txBody>
          <a:bodyPr>
            <a:normAutofit/>
          </a:bodyPr>
          <a:lstStyle/>
          <a:p>
            <a:pPr eaLnBrk="1" fontAlgn="auto" hangingPunct="1">
              <a:spcAft>
                <a:spcPts val="0"/>
              </a:spcAft>
              <a:defRPr/>
            </a:pPr>
            <a:r>
              <a:rPr lang="es-ES_tradnl" sz="2400" dirty="0">
                <a:ea typeface="+mn-ea"/>
                <a:cs typeface="+mn-cs"/>
              </a:rPr>
              <a:t>Formación e información</a:t>
            </a:r>
          </a:p>
          <a:p>
            <a:pPr eaLnBrk="1" fontAlgn="auto" hangingPunct="1">
              <a:spcAft>
                <a:spcPts val="0"/>
              </a:spcAft>
              <a:defRPr/>
            </a:pPr>
            <a:endParaRPr lang="es-ES_tradnl" sz="2400" dirty="0">
              <a:ea typeface="+mn-ea"/>
              <a:cs typeface="+mn-cs"/>
            </a:endParaRPr>
          </a:p>
          <a:p>
            <a:pPr marL="484632" indent="-457200" eaLnBrk="1" fontAlgn="auto" hangingPunct="1">
              <a:spcAft>
                <a:spcPts val="0"/>
              </a:spcAft>
              <a:buFont typeface="Wingdings 2"/>
              <a:buAutoNum type="arabicPeriod"/>
              <a:defRPr/>
            </a:pPr>
            <a:r>
              <a:rPr lang="es-ES_tradnl" sz="2400" dirty="0">
                <a:ea typeface="+mn-ea"/>
                <a:cs typeface="+mn-cs"/>
              </a:rPr>
              <a:t>Las asociaciones suelen ofrecer cursos y talleres en diferentes áreas, tanto presenciales como online.</a:t>
            </a:r>
          </a:p>
          <a:p>
            <a:pPr marL="484632" indent="-457200" eaLnBrk="1" fontAlgn="auto" hangingPunct="1">
              <a:spcAft>
                <a:spcPts val="0"/>
              </a:spcAft>
              <a:buFont typeface="Wingdings 2"/>
              <a:buAutoNum type="arabicPeriod"/>
              <a:defRPr/>
            </a:pPr>
            <a:r>
              <a:rPr lang="es-ES_tradnl" sz="2400" dirty="0">
                <a:ea typeface="+mn-ea"/>
                <a:cs typeface="+mn-cs"/>
              </a:rPr>
              <a:t>También ofrecen cursos bajo demanda.</a:t>
            </a:r>
          </a:p>
          <a:p>
            <a:pPr marL="484632" indent="-457200" eaLnBrk="1" fontAlgn="auto" hangingPunct="1">
              <a:spcAft>
                <a:spcPts val="0"/>
              </a:spcAft>
              <a:buFont typeface="Wingdings 2"/>
              <a:buAutoNum type="arabicPeriod"/>
              <a:defRPr/>
            </a:pPr>
            <a:r>
              <a:rPr lang="es-ES_tradnl" sz="2400" dirty="0">
                <a:ea typeface="+mn-ea"/>
                <a:cs typeface="+mn-cs"/>
              </a:rPr>
              <a:t>Realizan descuentos para los cursos de formación para profesionales con situaciones profesionales específicas, como desempleados.</a:t>
            </a:r>
          </a:p>
          <a:p>
            <a:pPr marL="484632" indent="-457200" eaLnBrk="1" fontAlgn="auto" hangingPunct="1">
              <a:spcAft>
                <a:spcPts val="0"/>
              </a:spcAft>
              <a:buFont typeface="Wingdings 2"/>
              <a:buAutoNum type="arabicPeriod"/>
              <a:defRPr/>
            </a:pPr>
            <a:r>
              <a:rPr lang="es-ES_tradnl" sz="2400" dirty="0">
                <a:ea typeface="+mn-ea"/>
                <a:cs typeface="+mn-cs"/>
              </a:rPr>
              <a:t>Suscripción gratuita a la revista de noticias de la asociación.</a:t>
            </a:r>
          </a:p>
          <a:p>
            <a:pPr marL="484632" indent="-457200" eaLnBrk="1" fontAlgn="auto" hangingPunct="1">
              <a:spcAft>
                <a:spcPts val="0"/>
              </a:spcAft>
              <a:buFont typeface="Wingdings 2"/>
              <a:buAutoNum type="arabicPeriod"/>
              <a:defRPr/>
            </a:pPr>
            <a:endParaRPr lang="en-US" sz="2400" dirty="0">
              <a:ea typeface="+mn-ea"/>
              <a:cs typeface="+mn-cs"/>
            </a:endParaRPr>
          </a:p>
          <a:p>
            <a:pPr marL="484632" indent="-457200" eaLnBrk="1" fontAlgn="auto" hangingPunct="1">
              <a:spcAft>
                <a:spcPts val="0"/>
              </a:spcAft>
              <a:buFont typeface="Wingdings 2"/>
              <a:buAutoNum type="arabicPeriod"/>
              <a:defRPr/>
            </a:pPr>
            <a:endParaRPr lang="en-US" sz="2400" dirty="0">
              <a:ea typeface="+mn-ea"/>
              <a:cs typeface="+mn-cs"/>
            </a:endParaRPr>
          </a:p>
          <a:p>
            <a:pPr marL="484632" indent="-457200" eaLnBrk="1" fontAlgn="auto" hangingPunct="1">
              <a:spcAft>
                <a:spcPts val="0"/>
              </a:spcAft>
              <a:buFont typeface="Wingdings 2"/>
              <a:buAutoNum type="arabicPeriod"/>
              <a:defRPr/>
            </a:pPr>
            <a:endParaRPr lang="en-US" sz="2400" dirty="0">
              <a:ea typeface="+mn-ea"/>
              <a:cs typeface="+mn-cs"/>
            </a:endParaRPr>
          </a:p>
          <a:p>
            <a:pPr eaLnBrk="1" fontAlgn="auto" hangingPunct="1">
              <a:spcAft>
                <a:spcPts val="0"/>
              </a:spcAft>
              <a:buFont typeface="Wingdings 2"/>
              <a:buNone/>
              <a:defRPr/>
            </a:pPr>
            <a:endParaRPr lang="en-US" sz="24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s-E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sz="2000"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n-US" dirty="0">
              <a:ea typeface="+mn-ea"/>
              <a:cs typeface="+mn-cs"/>
            </a:endParaRPr>
          </a:p>
          <a:p>
            <a:pPr eaLnBrk="1" fontAlgn="auto" hangingPunct="1">
              <a:spcAft>
                <a:spcPts val="0"/>
              </a:spcAft>
              <a:buFont typeface="Wingdings 2"/>
              <a:buNone/>
              <a:defRPr/>
            </a:pPr>
            <a:endParaRPr lang="es-ES" dirty="0">
              <a:ea typeface="+mn-ea"/>
              <a:cs typeface="+mn-cs"/>
            </a:endParaRPr>
          </a:p>
        </p:txBody>
      </p:sp>
      <p:sp>
        <p:nvSpPr>
          <p:cNvPr id="6" name="1 Título">
            <a:extLst>
              <a:ext uri="{FF2B5EF4-FFF2-40B4-BE49-F238E27FC236}">
                <a16:creationId xmlns:a16="http://schemas.microsoft.com/office/drawing/2014/main" id="{F69F2BF0-5D8A-0544-A15F-8961C1422B4F}"/>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2 Subtítulo">
            <a:extLst>
              <a:ext uri="{FF2B5EF4-FFF2-40B4-BE49-F238E27FC236}">
                <a16:creationId xmlns:a16="http://schemas.microsoft.com/office/drawing/2014/main" id="{67795E68-27DC-6843-BB0C-DF23913AB163}"/>
              </a:ext>
            </a:extLst>
          </p:cNvPr>
          <p:cNvSpPr>
            <a:spLocks noGrp="1"/>
          </p:cNvSpPr>
          <p:nvPr>
            <p:ph type="subTitle" idx="1"/>
          </p:nvPr>
        </p:nvSpPr>
        <p:spPr>
          <a:xfrm>
            <a:off x="1431925" y="1849438"/>
            <a:ext cx="7407275" cy="4459287"/>
          </a:xfrm>
        </p:spPr>
        <p:txBody>
          <a:bodyPr/>
          <a:lstStyle/>
          <a:p>
            <a:pPr marL="26988" eaLnBrk="1" hangingPunct="1"/>
            <a:r>
              <a:rPr lang="es-ES_tradnl" altLang="es-ES" sz="2400" dirty="0">
                <a:solidFill>
                  <a:srgbClr val="320E04"/>
                </a:solidFill>
                <a:ea typeface="ＭＳ Ｐゴシック" panose="020B0600070205080204" pitchFamily="34" charset="-128"/>
              </a:rPr>
              <a:t>Otros servicios</a:t>
            </a:r>
          </a:p>
          <a:p>
            <a:pPr marL="26988" eaLnBrk="1" hangingPunct="1"/>
            <a:endParaRPr lang="es-ES_tradnl" altLang="es-ES" sz="2400" dirty="0">
              <a:solidFill>
                <a:srgbClr val="320E04"/>
              </a:solidFill>
              <a:ea typeface="ＭＳ Ｐゴシック" panose="020B0600070205080204" pitchFamily="34" charset="-128"/>
            </a:endParaRPr>
          </a:p>
          <a:p>
            <a:pPr marL="369888" indent="-342900" eaLnBrk="1" hangingPunct="1">
              <a:buFont typeface="Arial" panose="020B0604020202020204" pitchFamily="34" charset="0"/>
              <a:buChar char="•"/>
            </a:pPr>
            <a:r>
              <a:rPr lang="es-ES_tradnl" altLang="es-ES" sz="2400" dirty="0">
                <a:solidFill>
                  <a:srgbClr val="320E04"/>
                </a:solidFill>
                <a:ea typeface="ＭＳ Ｐゴシック" panose="020B0600070205080204" pitchFamily="34" charset="-128"/>
              </a:rPr>
              <a:t>Acuerdos especiales para la compra o adquisición de diferentes tipos de bienes y servicios: seguros, financiación, compra de coches...</a:t>
            </a:r>
          </a:p>
          <a:p>
            <a:pPr marL="369888" indent="-342900" eaLnBrk="1" hangingPunct="1">
              <a:buFont typeface="Arial" panose="020B0604020202020204" pitchFamily="34" charset="0"/>
              <a:buChar char="•"/>
            </a:pPr>
            <a:r>
              <a:rPr lang="es-ES_tradnl" altLang="es-ES" sz="2400" dirty="0">
                <a:solidFill>
                  <a:srgbClr val="320E04"/>
                </a:solidFill>
                <a:ea typeface="ＭＳ Ｐゴシック" panose="020B0600070205080204" pitchFamily="34" charset="-128"/>
              </a:rPr>
              <a:t>Acuerdo con otras instituciones para intercambiar instalaciones y otros servicios: Universidades, ayuntamiento, empresas de energía, institutos, agencias...</a:t>
            </a:r>
          </a:p>
          <a:p>
            <a:pPr marL="26988" eaLnBrk="1" hangingPunct="1"/>
            <a:endParaRPr lang="es-ES_tradnl" altLang="es-ES" sz="2400" dirty="0">
              <a:solidFill>
                <a:srgbClr val="320E04"/>
              </a:solidFill>
              <a:ea typeface="ＭＳ Ｐゴシック" panose="020B0600070205080204" pitchFamily="34" charset="-128"/>
            </a:endParaRPr>
          </a:p>
          <a:p>
            <a:pPr marL="26988" eaLnBrk="1" hangingPunct="1">
              <a:buFont typeface="Wingdings 2" pitchFamily="2" charset="2"/>
              <a:buAutoNum type="arabicPeriod"/>
            </a:pPr>
            <a:endParaRPr lang="es-ES_tradnl" altLang="es-ES" sz="2400" dirty="0">
              <a:solidFill>
                <a:srgbClr val="320E04"/>
              </a:solidFill>
              <a:ea typeface="ＭＳ Ｐゴシック" panose="020B0600070205080204" pitchFamily="34" charset="-128"/>
            </a:endParaRPr>
          </a:p>
          <a:p>
            <a:pPr marL="26988" eaLnBrk="1" hangingPunct="1">
              <a:buFont typeface="Wingdings 2" pitchFamily="2" charset="2"/>
              <a:buAutoNum type="arabicPeriod"/>
            </a:pPr>
            <a:endParaRPr lang="es-ES_tradnl" altLang="es-ES" sz="2400" dirty="0">
              <a:solidFill>
                <a:srgbClr val="320E04"/>
              </a:solidFill>
              <a:ea typeface="ＭＳ Ｐゴシック" panose="020B0600070205080204" pitchFamily="34" charset="-128"/>
            </a:endParaRPr>
          </a:p>
          <a:p>
            <a:pPr marL="26988" eaLnBrk="1" hangingPunct="1"/>
            <a:endParaRPr lang="es-ES_tradnl" altLang="es-ES" sz="24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4E25C5DE-0065-6843-AE82-6053857348D5}"/>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AF8204BE-8DD5-F64C-8FFB-21C65D298717}"/>
              </a:ext>
            </a:extLst>
          </p:cNvPr>
          <p:cNvSpPr>
            <a:spLocks noGrp="1"/>
          </p:cNvSpPr>
          <p:nvPr>
            <p:ph type="subTitle" idx="1"/>
          </p:nvPr>
        </p:nvSpPr>
        <p:spPr>
          <a:xfrm>
            <a:off x="1431925" y="1849438"/>
            <a:ext cx="7407275" cy="4459287"/>
          </a:xfrm>
        </p:spPr>
        <p:txBody>
          <a:bodyPr>
            <a:normAutofit lnSpcReduction="10000"/>
          </a:bodyPr>
          <a:lstStyle/>
          <a:p>
            <a:pPr eaLnBrk="1" fontAlgn="auto" hangingPunct="1">
              <a:spcAft>
                <a:spcPts val="0"/>
              </a:spcAft>
              <a:buFont typeface="Wingdings 2"/>
              <a:buNone/>
              <a:defRPr/>
            </a:pPr>
            <a:r>
              <a:rPr lang="es-ES_tradnl" sz="2400" dirty="0">
                <a:ea typeface="+mn-ea"/>
                <a:cs typeface="+mn-cs"/>
              </a:rPr>
              <a:t>5. Honorarios</a:t>
            </a: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r>
              <a:rPr lang="es-ES_tradnl" sz="2400" dirty="0">
                <a:ea typeface="+mn-ea"/>
                <a:cs typeface="+mn-cs"/>
              </a:rPr>
              <a:t>Antes de junio de1996 las tarifas de honorarios estaban reguladas por e Decreto 1998/1961 de 19 de octubre (BOE 25-10-1961).</a:t>
            </a: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r>
              <a:rPr lang="es-ES_tradnl" sz="2400" dirty="0">
                <a:ea typeface="+mn-ea"/>
                <a:cs typeface="+mn-cs"/>
              </a:rPr>
              <a:t>Actualmente el Decreto 5/96 establece libertad en la aplicación de honorarios profesionales.</a:t>
            </a: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defRPr/>
            </a:pPr>
            <a:r>
              <a:rPr lang="es-ES_tradnl" sz="2400" dirty="0">
                <a:ea typeface="+mn-ea"/>
                <a:cs typeface="+mn-cs"/>
              </a:rPr>
              <a:t>Las leyes de libre competencia en CEE prohíben cobrar por debajo del costo.</a:t>
            </a:r>
          </a:p>
          <a:p>
            <a:pPr marL="484632" indent="-457200" eaLnBrk="1" fontAlgn="auto" hangingPunct="1">
              <a:spcAft>
                <a:spcPts val="0"/>
              </a:spcAft>
              <a:buFont typeface="Wingdings 2"/>
              <a:buAutoNum type="arabicPeriod"/>
              <a:defRPr/>
            </a:pPr>
            <a:endParaRPr lang="es-ES_tradnl" sz="2400" dirty="0">
              <a:ea typeface="+mn-ea"/>
              <a:cs typeface="+mn-cs"/>
            </a:endParaRP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6" name="1 Título">
            <a:extLst>
              <a:ext uri="{FF2B5EF4-FFF2-40B4-BE49-F238E27FC236}">
                <a16:creationId xmlns:a16="http://schemas.microsoft.com/office/drawing/2014/main" id="{51DDFCF3-CAC0-6044-904E-9C50E084D356}"/>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3B116E2C-FC00-F14E-AE39-D8A114F69093}"/>
              </a:ext>
            </a:extLst>
          </p:cNvPr>
          <p:cNvSpPr>
            <a:spLocks noGrp="1"/>
          </p:cNvSpPr>
          <p:nvPr>
            <p:ph type="subTitle" idx="1"/>
          </p:nvPr>
        </p:nvSpPr>
        <p:spPr>
          <a:xfrm>
            <a:off x="1431925" y="1772816"/>
            <a:ext cx="7407275" cy="4536504"/>
          </a:xfrm>
        </p:spPr>
        <p:txBody>
          <a:bodyPr>
            <a:normAutofit/>
          </a:bodyPr>
          <a:lstStyle/>
          <a:p>
            <a:pPr eaLnBrk="1" fontAlgn="auto" hangingPunct="1">
              <a:spcAft>
                <a:spcPts val="0"/>
              </a:spcAft>
              <a:defRPr/>
            </a:pPr>
            <a:r>
              <a:rPr lang="es-ES_tradnl" sz="2400" dirty="0">
                <a:latin typeface="Arial" panose="020B0604020202020204" pitchFamily="34" charset="0"/>
                <a:ea typeface="+mn-ea"/>
                <a:cs typeface="Arial" panose="020B0604020202020204" pitchFamily="34" charset="0"/>
              </a:rPr>
              <a:t>Proceso de cálculo de los honorarios de proyecto </a:t>
            </a:r>
            <a:r>
              <a:rPr lang="es-ES_tradnl" altLang="es-ES" sz="2400"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rPr>
              <a:t>(aplicable antes de mayo 2002).</a:t>
            </a:r>
            <a:endParaRPr lang="es-ES_tradnl" sz="2400" dirty="0">
              <a:latin typeface="Arial" panose="020B0604020202020204" pitchFamily="34" charset="0"/>
              <a:ea typeface="+mn-ea"/>
              <a:cs typeface="Arial" panose="020B0604020202020204" pitchFamily="34" charset="0"/>
            </a:endParaRPr>
          </a:p>
          <a:p>
            <a:pPr marL="484632" indent="-457200" eaLnBrk="1" fontAlgn="auto" hangingPunct="1">
              <a:spcAft>
                <a:spcPts val="0"/>
              </a:spcAft>
              <a:buFont typeface="+mj-lt"/>
              <a:buAutoNum type="arabicPeriod"/>
              <a:defRPr/>
            </a:pPr>
            <a:r>
              <a:rPr lang="es-ES_tradnl" sz="2400" dirty="0">
                <a:ea typeface="+mn-ea"/>
                <a:cs typeface="+mn-cs"/>
              </a:rPr>
              <a:t>Determinar el presupuesto del proyecto</a:t>
            </a:r>
          </a:p>
          <a:p>
            <a:pPr marL="484632" indent="-457200" eaLnBrk="1" fontAlgn="auto" hangingPunct="1">
              <a:spcAft>
                <a:spcPts val="0"/>
              </a:spcAft>
              <a:buFont typeface="+mj-lt"/>
              <a:buAutoNum type="arabicPeriod"/>
              <a:defRPr/>
            </a:pPr>
            <a:r>
              <a:rPr lang="es-ES_tradnl" sz="2400" dirty="0">
                <a:ea typeface="+mn-ea"/>
                <a:cs typeface="+mn-cs"/>
              </a:rPr>
              <a:t>Determinar el precio mínimo a partir de la base de datos baremos mínimos.</a:t>
            </a:r>
          </a:p>
          <a:p>
            <a:pPr marL="484632" indent="-457200" eaLnBrk="1" fontAlgn="auto" hangingPunct="1">
              <a:spcAft>
                <a:spcPts val="0"/>
              </a:spcAft>
              <a:buFont typeface="+mj-lt"/>
              <a:buAutoNum type="arabicPeriod"/>
              <a:defRPr/>
            </a:pPr>
            <a:r>
              <a:rPr lang="es-ES_tradnl" sz="2400" dirty="0">
                <a:ea typeface="+mn-ea"/>
                <a:cs typeface="+mn-cs"/>
              </a:rPr>
              <a:t>Seleccionar el máximo de las dos secciones anteriores</a:t>
            </a:r>
          </a:p>
          <a:p>
            <a:pPr marL="484632" indent="-457200" eaLnBrk="1" fontAlgn="auto" hangingPunct="1">
              <a:spcAft>
                <a:spcPts val="0"/>
              </a:spcAft>
              <a:buFont typeface="+mj-lt"/>
              <a:buAutoNum type="arabicPeriod"/>
              <a:defRPr/>
            </a:pPr>
            <a:r>
              <a:rPr lang="es-ES_tradnl" sz="2400" dirty="0">
                <a:ea typeface="+mn-ea"/>
                <a:cs typeface="+mn-cs"/>
              </a:rPr>
              <a:t>Seleccionar la tabla de tarifas según que el proyecto sea de ejecución o administrativo.</a:t>
            </a:r>
          </a:p>
          <a:p>
            <a:pPr marL="484632" indent="-457200" eaLnBrk="1" fontAlgn="auto" hangingPunct="1">
              <a:spcAft>
                <a:spcPts val="0"/>
              </a:spcAft>
              <a:buFont typeface="+mj-lt"/>
              <a:buAutoNum type="arabicPeriod"/>
              <a:defRPr/>
            </a:pPr>
            <a:r>
              <a:rPr lang="es-ES_tradnl" sz="2400" dirty="0">
                <a:ea typeface="+mn-ea"/>
                <a:cs typeface="+mn-cs"/>
              </a:rPr>
              <a:t>Determinar los honorarios resultantes, finales teniendo en cuenta los honorarios mínimos establecidos por la asociación.</a:t>
            </a: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6" name="1 Título">
            <a:extLst>
              <a:ext uri="{FF2B5EF4-FFF2-40B4-BE49-F238E27FC236}">
                <a16:creationId xmlns:a16="http://schemas.microsoft.com/office/drawing/2014/main" id="{157BFAC4-42C2-2844-85CA-689FCA2EF1A8}"/>
              </a:ext>
            </a:extLst>
          </p:cNvPr>
          <p:cNvSpPr>
            <a:spLocks noGrp="1"/>
          </p:cNvSpPr>
          <p:nvPr>
            <p:ph type="ctrTitle"/>
          </p:nvPr>
        </p:nvSpPr>
        <p:spPr>
          <a:xfrm>
            <a:off x="1431925" y="332656"/>
            <a:ext cx="7407275" cy="1184275"/>
          </a:xfrm>
        </p:spPr>
        <p:txBody>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2. Ejercicio libre de la profesión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D33316A-5738-E94E-93A9-FDF0AE8BA730}"/>
              </a:ext>
            </a:extLst>
          </p:cNvPr>
          <p:cNvSpPr>
            <a:spLocks noGrp="1" noChangeArrowheads="1"/>
          </p:cNvSpPr>
          <p:nvPr>
            <p:ph type="title"/>
          </p:nvPr>
        </p:nvSpPr>
        <p:spPr>
          <a:xfrm>
            <a:off x="1042988" y="274638"/>
            <a:ext cx="7777162" cy="993775"/>
          </a:xfrm>
        </p:spPr>
        <p:txBody>
          <a:bodyPr>
            <a:normAutofit/>
          </a:bodyPr>
          <a:lstStyle/>
          <a:p>
            <a:pPr algn="ctr" eaLnBrk="1" hangingPunct="1">
              <a:defRPr/>
            </a:pPr>
            <a:r>
              <a:rPr lang="es-ES_tradnl" altLang="es-ES" sz="2500" dirty="0">
                <a:effectLst>
                  <a:outerShdw blurRad="38100" dist="38100" dir="2700000" algn="tl">
                    <a:srgbClr val="C0C0C0"/>
                  </a:outerShdw>
                </a:effectLst>
                <a:latin typeface="Arial" panose="020B0604020202020204" pitchFamily="34" charset="0"/>
                <a:ea typeface="ＭＳ Ｐゴシック" panose="020B0600070205080204" pitchFamily="34" charset="-128"/>
              </a:rPr>
              <a:t>Cálculo de honorarios profesionales. Baremo de precios mínimos  (aplicable antes de mayo 2002)</a:t>
            </a:r>
          </a:p>
        </p:txBody>
      </p:sp>
      <p:pic>
        <p:nvPicPr>
          <p:cNvPr id="48130" name="Picture 4">
            <a:extLst>
              <a:ext uri="{FF2B5EF4-FFF2-40B4-BE49-F238E27FC236}">
                <a16:creationId xmlns:a16="http://schemas.microsoft.com/office/drawing/2014/main" id="{8B72C921-00FD-224A-BFC1-1BFACCDDA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412875"/>
            <a:ext cx="7777163"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1" name="3 CuadroTexto">
            <a:extLst>
              <a:ext uri="{FF2B5EF4-FFF2-40B4-BE49-F238E27FC236}">
                <a16:creationId xmlns:a16="http://schemas.microsoft.com/office/drawing/2014/main" id="{F7E7182D-5947-4F4B-932C-06EEA671D941}"/>
              </a:ext>
            </a:extLst>
          </p:cNvPr>
          <p:cNvSpPr txBox="1">
            <a:spLocks noChangeArrowheads="1"/>
          </p:cNvSpPr>
          <p:nvPr/>
        </p:nvSpPr>
        <p:spPr bwMode="auto">
          <a:xfrm>
            <a:off x="6661150" y="2565400"/>
            <a:ext cx="790575" cy="14763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_tradnl" altLang="es-ES" sz="1800">
                <a:latin typeface="Arial" panose="020B0604020202020204" pitchFamily="34" charset="0"/>
              </a:rPr>
              <a:t>0,23</a:t>
            </a:r>
          </a:p>
          <a:p>
            <a:pPr algn="ctr" eaLnBrk="1" hangingPunct="1">
              <a:spcBef>
                <a:spcPct val="0"/>
              </a:spcBef>
              <a:buClrTx/>
              <a:buSzTx/>
              <a:buFontTx/>
              <a:buNone/>
            </a:pPr>
            <a:r>
              <a:rPr lang="es-ES_tradnl" altLang="es-ES" sz="1800">
                <a:latin typeface="Arial" panose="020B0604020202020204" pitchFamily="34" charset="0"/>
              </a:rPr>
              <a:t>0,16</a:t>
            </a:r>
          </a:p>
          <a:p>
            <a:pPr algn="ctr" eaLnBrk="1" hangingPunct="1">
              <a:spcBef>
                <a:spcPct val="0"/>
              </a:spcBef>
              <a:buClrTx/>
              <a:buSzTx/>
              <a:buFontTx/>
              <a:buNone/>
            </a:pPr>
            <a:r>
              <a:rPr lang="es-ES_tradnl" altLang="es-ES" sz="1800">
                <a:latin typeface="Arial" panose="020B0604020202020204" pitchFamily="34" charset="0"/>
              </a:rPr>
              <a:t>0,13</a:t>
            </a:r>
          </a:p>
          <a:p>
            <a:pPr algn="ctr" eaLnBrk="1" hangingPunct="1">
              <a:spcBef>
                <a:spcPct val="0"/>
              </a:spcBef>
              <a:buClrTx/>
              <a:buSzTx/>
              <a:buFontTx/>
              <a:buNone/>
            </a:pPr>
            <a:r>
              <a:rPr lang="es-ES_tradnl" altLang="es-ES" sz="1800">
                <a:latin typeface="Arial" panose="020B0604020202020204" pitchFamily="34" charset="0"/>
              </a:rPr>
              <a:t>0,08</a:t>
            </a:r>
          </a:p>
          <a:p>
            <a:pPr algn="ctr" eaLnBrk="1" hangingPunct="1">
              <a:spcBef>
                <a:spcPct val="0"/>
              </a:spcBef>
              <a:buClrTx/>
              <a:buSzTx/>
              <a:buFontTx/>
              <a:buNone/>
            </a:pPr>
            <a:r>
              <a:rPr lang="es-ES_tradnl" altLang="es-ES" sz="1800">
                <a:latin typeface="Arial" panose="020B0604020202020204" pitchFamily="34" charset="0"/>
              </a:rPr>
              <a:t>0,04</a:t>
            </a:r>
            <a:endParaRPr lang="es-ES" altLang="es-ES" sz="1800">
              <a:latin typeface="Arial" panose="020B0604020202020204" pitchFamily="34" charset="0"/>
            </a:endParaRPr>
          </a:p>
        </p:txBody>
      </p:sp>
      <p:sp>
        <p:nvSpPr>
          <p:cNvPr id="48132" name="4 CuadroTexto">
            <a:extLst>
              <a:ext uri="{FF2B5EF4-FFF2-40B4-BE49-F238E27FC236}">
                <a16:creationId xmlns:a16="http://schemas.microsoft.com/office/drawing/2014/main" id="{E4040B0A-E63C-D84B-8430-3432C86246F0}"/>
              </a:ext>
            </a:extLst>
          </p:cNvPr>
          <p:cNvSpPr txBox="1">
            <a:spLocks noChangeArrowheads="1"/>
          </p:cNvSpPr>
          <p:nvPr/>
        </p:nvSpPr>
        <p:spPr bwMode="auto">
          <a:xfrm>
            <a:off x="7596188" y="2565400"/>
            <a:ext cx="720725" cy="14763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_tradnl" altLang="es-ES" sz="1800">
                <a:latin typeface="Arial" panose="020B0604020202020204" pitchFamily="34" charset="0"/>
              </a:rPr>
              <a:t>€/w</a:t>
            </a:r>
          </a:p>
          <a:p>
            <a:pPr algn="ctr" eaLnBrk="1" hangingPunct="1">
              <a:spcBef>
                <a:spcPct val="0"/>
              </a:spcBef>
              <a:buClrTx/>
              <a:buSzTx/>
              <a:buFontTx/>
              <a:buNone/>
            </a:pPr>
            <a:r>
              <a:rPr lang="es-ES_tradnl" altLang="es-ES" sz="1800">
                <a:latin typeface="Arial" panose="020B0604020202020204" pitchFamily="34" charset="0"/>
              </a:rPr>
              <a:t>€/w</a:t>
            </a:r>
          </a:p>
          <a:p>
            <a:pPr algn="ctr" eaLnBrk="1" hangingPunct="1">
              <a:spcBef>
                <a:spcPct val="0"/>
              </a:spcBef>
              <a:buClrTx/>
              <a:buSzTx/>
              <a:buFontTx/>
              <a:buNone/>
            </a:pPr>
            <a:r>
              <a:rPr lang="es-ES_tradnl" altLang="es-ES" sz="1800">
                <a:latin typeface="Arial" panose="020B0604020202020204" pitchFamily="34" charset="0"/>
              </a:rPr>
              <a:t>€/w</a:t>
            </a:r>
          </a:p>
          <a:p>
            <a:pPr algn="ctr" eaLnBrk="1" hangingPunct="1">
              <a:spcBef>
                <a:spcPct val="0"/>
              </a:spcBef>
              <a:buClrTx/>
              <a:buSzTx/>
              <a:buFontTx/>
              <a:buNone/>
            </a:pPr>
            <a:r>
              <a:rPr lang="es-ES_tradnl" altLang="es-ES" sz="1800">
                <a:latin typeface="Arial" panose="020B0604020202020204" pitchFamily="34" charset="0"/>
              </a:rPr>
              <a:t>€/w</a:t>
            </a:r>
          </a:p>
          <a:p>
            <a:pPr algn="ctr" eaLnBrk="1" hangingPunct="1">
              <a:spcBef>
                <a:spcPct val="0"/>
              </a:spcBef>
              <a:buClrTx/>
              <a:buSzTx/>
              <a:buFontTx/>
              <a:buNone/>
            </a:pPr>
            <a:r>
              <a:rPr lang="es-ES_tradnl" altLang="es-ES" sz="1800">
                <a:latin typeface="Arial" panose="020B0604020202020204" pitchFamily="34" charset="0"/>
              </a:rPr>
              <a:t>€/w</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3" name="Picture 6">
            <a:extLst>
              <a:ext uri="{FF2B5EF4-FFF2-40B4-BE49-F238E27FC236}">
                <a16:creationId xmlns:a16="http://schemas.microsoft.com/office/drawing/2014/main" id="{6B195A57-6879-4248-9424-497EA152F4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908050"/>
            <a:ext cx="7559675"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ángulo 1">
            <a:extLst>
              <a:ext uri="{FF2B5EF4-FFF2-40B4-BE49-F238E27FC236}">
                <a16:creationId xmlns:a16="http://schemas.microsoft.com/office/drawing/2014/main" id="{653E3119-B866-BA40-84C1-1092264B76AA}"/>
              </a:ext>
            </a:extLst>
          </p:cNvPr>
          <p:cNvSpPr/>
          <p:nvPr/>
        </p:nvSpPr>
        <p:spPr>
          <a:xfrm>
            <a:off x="1115616" y="188640"/>
            <a:ext cx="7488435" cy="646331"/>
          </a:xfrm>
          <a:prstGeom prst="rect">
            <a:avLst/>
          </a:prstGeom>
        </p:spPr>
        <p:txBody>
          <a:bodyPr wrap="square">
            <a:spAutoFit/>
          </a:bodyPr>
          <a:lstStyle/>
          <a:p>
            <a:pPr algn="ctr" eaLnBrk="1" hangingPunct="1">
              <a:defRPr/>
            </a:pPr>
            <a:r>
              <a:rPr lang="es-ES_tradnl" b="1" dirty="0">
                <a:solidFill>
                  <a:schemeClr val="tx2">
                    <a:satMod val="130000"/>
                  </a:schemeClr>
                </a:solidFill>
                <a:latin typeface="Arial" charset="0"/>
                <a:ea typeface="ＭＳ Ｐゴシック" charset="0"/>
                <a:cs typeface="ＭＳ Ｐゴシック" charset="0"/>
              </a:rPr>
              <a:t>Honorarios profesionales. Porcentajes aplicables para proyectos constructivos (aplicables antes de mayo 2002)</a:t>
            </a:r>
            <a:endParaRPr lang="es-ES_tradnl" b="1" dirty="0">
              <a:latin typeface="Gill Sans MT" charset="0"/>
              <a:ea typeface="ＭＳ Ｐゴシック" charset="0"/>
              <a:cs typeface="ＭＳ Ｐゴシック"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5">
            <a:extLst>
              <a:ext uri="{FF2B5EF4-FFF2-40B4-BE49-F238E27FC236}">
                <a16:creationId xmlns:a16="http://schemas.microsoft.com/office/drawing/2014/main" id="{6D062FF4-C107-824A-A795-FF3B3E7BB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908893"/>
            <a:ext cx="7777162"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a:extLst>
              <a:ext uri="{FF2B5EF4-FFF2-40B4-BE49-F238E27FC236}">
                <a16:creationId xmlns:a16="http://schemas.microsoft.com/office/drawing/2014/main" id="{4A3D2151-08C0-EC45-B533-DF666FC20075}"/>
              </a:ext>
            </a:extLst>
          </p:cNvPr>
          <p:cNvSpPr/>
          <p:nvPr/>
        </p:nvSpPr>
        <p:spPr>
          <a:xfrm>
            <a:off x="1115616" y="188640"/>
            <a:ext cx="7488435" cy="646331"/>
          </a:xfrm>
          <a:prstGeom prst="rect">
            <a:avLst/>
          </a:prstGeom>
        </p:spPr>
        <p:txBody>
          <a:bodyPr wrap="square">
            <a:spAutoFit/>
          </a:bodyPr>
          <a:lstStyle/>
          <a:p>
            <a:pPr algn="ctr" eaLnBrk="1" hangingPunct="1">
              <a:defRPr/>
            </a:pPr>
            <a:r>
              <a:rPr lang="es-ES_tradnl" b="1" dirty="0">
                <a:solidFill>
                  <a:schemeClr val="tx2">
                    <a:satMod val="130000"/>
                  </a:schemeClr>
                </a:solidFill>
                <a:latin typeface="Arial" charset="0"/>
                <a:ea typeface="ＭＳ Ｐゴシック" charset="0"/>
                <a:cs typeface="ＭＳ Ｐゴシック" charset="0"/>
              </a:rPr>
              <a:t>Honorarios profesionales. Porcentajes aplicables para proyectos administrativos (aplicables antes de mayo 2002)</a:t>
            </a:r>
            <a:endParaRPr lang="es-ES_tradnl" b="1" dirty="0">
              <a:latin typeface="Gill Sans MT" charset="0"/>
              <a:ea typeface="ＭＳ Ｐゴシック" charset="0"/>
              <a:cs typeface="ＭＳ Ｐゴシック"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00D41D4A-148F-BE4D-B263-4F06ABB3A747}"/>
              </a:ext>
            </a:extLst>
          </p:cNvPr>
          <p:cNvGraphicFramePr>
            <a:graphicFrameLocks noGrp="1"/>
          </p:cNvGraphicFramePr>
          <p:nvPr/>
        </p:nvGraphicFramePr>
        <p:xfrm>
          <a:off x="1403350" y="2133600"/>
          <a:ext cx="7272338" cy="3182938"/>
        </p:xfrm>
        <a:graphic>
          <a:graphicData uri="http://schemas.openxmlformats.org/drawingml/2006/table">
            <a:tbl>
              <a:tblPr/>
              <a:tblGrid>
                <a:gridCol w="5073650">
                  <a:extLst>
                    <a:ext uri="{9D8B030D-6E8A-4147-A177-3AD203B41FA5}">
                      <a16:colId xmlns:a16="http://schemas.microsoft.com/office/drawing/2014/main" val="2516534255"/>
                    </a:ext>
                  </a:extLst>
                </a:gridCol>
                <a:gridCol w="2198688">
                  <a:extLst>
                    <a:ext uri="{9D8B030D-6E8A-4147-A177-3AD203B41FA5}">
                      <a16:colId xmlns:a16="http://schemas.microsoft.com/office/drawing/2014/main" val="3747762329"/>
                    </a:ext>
                  </a:extLst>
                </a:gridCol>
              </a:tblGrid>
              <a:tr h="473075">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800" b="1" i="0" u="none" strike="noStrike" cap="none" normalizeH="0" baseline="0">
                          <a:ln>
                            <a:noFill/>
                          </a:ln>
                          <a:solidFill>
                            <a:srgbClr val="FFFFFF"/>
                          </a:solidFill>
                          <a:effectLst/>
                          <a:latin typeface="Calibri" panose="020F0502020204030204" pitchFamily="34" charset="0"/>
                          <a:ea typeface="ＭＳ Ｐゴシック" panose="020B0600070205080204" pitchFamily="34" charset="-128"/>
                        </a:rPr>
                        <a:t>Job</a:t>
                      </a:r>
                      <a:endParaRPr kumimoji="0" lang="es-ES" altLang="es-ES" sz="1800" b="1" i="0" u="none" strike="noStrike" cap="none" normalizeH="0" baseline="0">
                        <a:ln>
                          <a:noFill/>
                        </a:ln>
                        <a:solidFill>
                          <a:srgbClr val="FFFFFF"/>
                        </a:solidFill>
                        <a:effectLst/>
                        <a:latin typeface="Calibri" panose="020F0502020204030204" pitchFamily="34" charset="0"/>
                        <a:ea typeface="ＭＳ Ｐゴシック" panose="020B0600070205080204" pitchFamily="34" charset="-128"/>
                      </a:endParaRPr>
                    </a:p>
                  </a:txBody>
                  <a:tcPr marL="91434" marR="91434"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800" b="1" i="0" u="none" strike="noStrike" cap="none" normalizeH="0" baseline="0">
                          <a:ln>
                            <a:noFill/>
                          </a:ln>
                          <a:solidFill>
                            <a:srgbClr val="FFFFFF"/>
                          </a:solidFill>
                          <a:effectLst/>
                          <a:latin typeface="Calibri" panose="020F0502020204030204" pitchFamily="34" charset="0"/>
                          <a:ea typeface="ＭＳ Ｐゴシック" panose="020B0600070205080204" pitchFamily="34" charset="-128"/>
                        </a:rPr>
                        <a:t>Minimum (€)</a:t>
                      </a:r>
                      <a:endParaRPr kumimoji="0" lang="es-ES" altLang="es-ES" sz="1800" b="1" i="0" u="none" strike="noStrike" cap="none" normalizeH="0" baseline="0">
                        <a:ln>
                          <a:noFill/>
                        </a:ln>
                        <a:solidFill>
                          <a:srgbClr val="FFFFFF"/>
                        </a:solidFill>
                        <a:effectLst/>
                        <a:latin typeface="Calibri" panose="020F0502020204030204" pitchFamily="34" charset="0"/>
                        <a:ea typeface="ＭＳ Ｐゴシック" panose="020B0600070205080204" pitchFamily="34" charset="-128"/>
                      </a:endParaRPr>
                    </a:p>
                  </a:txBody>
                  <a:tcPr marL="91434" marR="91434"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160166263"/>
                  </a:ext>
                </a:extLst>
              </a:tr>
              <a:tr h="473075">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Project</a:t>
                      </a: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300</a:t>
                      </a:r>
                      <a:endParaRPr kumimoji="0" lang="es-E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endParaRP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4151847409"/>
                  </a:ext>
                </a:extLst>
              </a:tr>
              <a:tr h="473075">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Project management</a:t>
                      </a: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300</a:t>
                      </a:r>
                      <a:endParaRPr kumimoji="0" lang="es-E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endParaRP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389190068"/>
                  </a:ext>
                </a:extLst>
              </a:tr>
              <a:tr h="473075">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Project for a town hall license</a:t>
                      </a: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300</a:t>
                      </a:r>
                      <a:endParaRPr kumimoji="0" lang="es-E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endParaRP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2898287771"/>
                  </a:ext>
                </a:extLst>
              </a:tr>
              <a:tr h="473075">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Installation of a crane tower</a:t>
                      </a: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150</a:t>
                      </a:r>
                      <a:endParaRPr kumimoji="0" lang="es-E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endParaRP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3718927145"/>
                  </a:ext>
                </a:extLst>
              </a:tr>
              <a:tr h="817563">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Reports, Expert Opinions, Court expert reports and other</a:t>
                      </a: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rPr>
                        <a:t>150</a:t>
                      </a:r>
                      <a:endParaRPr kumimoji="0" lang="es-ES" altLang="es-ES" sz="1800" b="0" i="0" u="none" strike="noStrike" cap="none" normalizeH="0" baseline="0">
                        <a:ln>
                          <a:noFill/>
                        </a:ln>
                        <a:solidFill>
                          <a:srgbClr val="000000"/>
                        </a:solidFill>
                        <a:effectLst/>
                        <a:latin typeface="Calibri" panose="020F0502020204030204" pitchFamily="34" charset="0"/>
                        <a:ea typeface="ＭＳ Ｐゴシック" panose="020B0600070205080204" pitchFamily="34" charset="-128"/>
                      </a:endParaRPr>
                    </a:p>
                  </a:txBody>
                  <a:tcPr marL="91434" marR="91434" marT="45723" marB="4572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735265089"/>
                  </a:ext>
                </a:extLst>
              </a:tr>
            </a:tbl>
          </a:graphicData>
        </a:graphic>
      </p:graphicFrame>
      <p:sp>
        <p:nvSpPr>
          <p:cNvPr id="51224" name="4 CuadroTexto">
            <a:extLst>
              <a:ext uri="{FF2B5EF4-FFF2-40B4-BE49-F238E27FC236}">
                <a16:creationId xmlns:a16="http://schemas.microsoft.com/office/drawing/2014/main" id="{41B5433C-3D32-EE44-91D7-DA0631006AF0}"/>
              </a:ext>
            </a:extLst>
          </p:cNvPr>
          <p:cNvSpPr txBox="1">
            <a:spLocks noChangeArrowheads="1"/>
          </p:cNvSpPr>
          <p:nvPr/>
        </p:nvSpPr>
        <p:spPr bwMode="auto">
          <a:xfrm>
            <a:off x="1188095" y="1124744"/>
            <a:ext cx="72723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_tradnl" altLang="es-ES" sz="2000" b="1" dirty="0">
                <a:latin typeface="Arial" panose="020B0604020202020204" pitchFamily="34" charset="0"/>
              </a:rPr>
              <a:t>Tarifas mínimas por trabajos profesionales antes de mayo de 2002 (fecha definitiva de aplicación del decreto 5/96)</a:t>
            </a:r>
            <a:endParaRPr lang="es-ES" altLang="es-ES" sz="2000" b="1" dirty="0">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D08C076-CEF9-E245-AC06-F5656114CE39}"/>
              </a:ext>
            </a:extLst>
          </p:cNvPr>
          <p:cNvSpPr>
            <a:spLocks noGrp="1" noChangeArrowheads="1"/>
          </p:cNvSpPr>
          <p:nvPr>
            <p:ph type="title" idx="4294967295"/>
          </p:nvPr>
        </p:nvSpPr>
        <p:spPr bwMode="auto">
          <a:xfrm>
            <a:off x="1042988" y="548680"/>
            <a:ext cx="7489825" cy="1666875"/>
          </a:xfrm>
          <a:extLst>
            <a:ext uri="{909E8E84-426E-40dd-AFC4-6F175D3DCCD1}"/>
            <a:ext uri="{91240B29-F687-4f45-9708-019B960494DF}"/>
          </a:extLst>
        </p:spPr>
        <p:txBody>
          <a:bodyPr>
            <a:normAutofit fontScale="90000"/>
          </a:bodyPr>
          <a:lstStyle/>
          <a:p>
            <a:pPr algn="just" eaLnBrk="1" hangingPunct="1">
              <a:defRPr/>
            </a:pPr>
            <a:r>
              <a:rPr lang="es-ES_tradnl" altLang="es-ES" sz="3200" dirty="0">
                <a:effectLst>
                  <a:outerShdw blurRad="38100" dist="38100" dir="2700000" algn="tl">
                    <a:srgbClr val="C0C0C0"/>
                  </a:outerShdw>
                </a:effectLst>
                <a:latin typeface="Calibri" panose="020F0502020204030204" pitchFamily="34" charset="0"/>
                <a:ea typeface="ＭＳ Ｐゴシック" panose="020B0600070205080204" pitchFamily="34" charset="-128"/>
              </a:rPr>
              <a:t>Ejemplo de cálculo de honorarios, como se hacía antes de mayo de 2002, para un proyecto de instalación eléctrica de baja tensión de uso industrial</a:t>
            </a:r>
          </a:p>
        </p:txBody>
      </p:sp>
      <p:sp>
        <p:nvSpPr>
          <p:cNvPr id="52226" name="Rectangle 3">
            <a:extLst>
              <a:ext uri="{FF2B5EF4-FFF2-40B4-BE49-F238E27FC236}">
                <a16:creationId xmlns:a16="http://schemas.microsoft.com/office/drawing/2014/main" id="{FFBDF2CD-3C50-7244-A30A-D3FC640FFADB}"/>
              </a:ext>
            </a:extLst>
          </p:cNvPr>
          <p:cNvSpPr>
            <a:spLocks noGrp="1"/>
          </p:cNvSpPr>
          <p:nvPr>
            <p:ph type="body" idx="4294967295"/>
          </p:nvPr>
        </p:nvSpPr>
        <p:spPr>
          <a:xfrm>
            <a:off x="1042988" y="2636912"/>
            <a:ext cx="7632700" cy="2293937"/>
          </a:xfrm>
        </p:spPr>
        <p:txBody>
          <a:bodyPr/>
          <a:lstStyle/>
          <a:p>
            <a:pPr eaLnBrk="1" hangingPunct="1">
              <a:buFontTx/>
              <a:buNone/>
            </a:pPr>
            <a:r>
              <a:rPr lang="es-ES" altLang="es-ES" dirty="0">
                <a:latin typeface="Calibri" panose="020F0502020204030204" pitchFamily="34" charset="0"/>
                <a:ea typeface="ＭＳ Ｐゴシック" panose="020B0600070205080204" pitchFamily="34" charset="-128"/>
              </a:rPr>
              <a:t>Datos:</a:t>
            </a:r>
          </a:p>
          <a:p>
            <a:pPr eaLnBrk="1" hangingPunct="1"/>
            <a:r>
              <a:rPr lang="es-ES" altLang="es-ES" dirty="0">
                <a:latin typeface="Calibri" panose="020F0502020204030204" pitchFamily="34" charset="0"/>
                <a:ea typeface="ＭＳ Ｐゴシック" panose="020B0600070205080204" pitchFamily="34" charset="-128"/>
              </a:rPr>
              <a:t>Potencia instalada: 200 </a:t>
            </a:r>
            <a:r>
              <a:rPr lang="es-ES" altLang="es-ES" dirty="0" err="1">
                <a:latin typeface="Calibri" panose="020F0502020204030204" pitchFamily="34" charset="0"/>
                <a:ea typeface="ＭＳ Ｐゴシック" panose="020B0600070205080204" pitchFamily="34" charset="-128"/>
              </a:rPr>
              <a:t>kw</a:t>
            </a:r>
            <a:endParaRPr lang="es-ES" altLang="es-ES" dirty="0">
              <a:latin typeface="Calibri" panose="020F0502020204030204" pitchFamily="34" charset="0"/>
              <a:ea typeface="ＭＳ Ｐゴシック" panose="020B0600070205080204" pitchFamily="34" charset="-128"/>
            </a:endParaRPr>
          </a:p>
          <a:p>
            <a:pPr eaLnBrk="1" hangingPunct="1"/>
            <a:r>
              <a:rPr lang="es-ES" altLang="es-ES" dirty="0">
                <a:latin typeface="Calibri" panose="020F0502020204030204" pitchFamily="34" charset="0"/>
                <a:ea typeface="ＭＳ Ｐゴシック" panose="020B0600070205080204" pitchFamily="34" charset="-128"/>
              </a:rPr>
              <a:t>Presupuesto de ejecución: 30.000 €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a:extLst>
              <a:ext uri="{FF2B5EF4-FFF2-40B4-BE49-F238E27FC236}">
                <a16:creationId xmlns:a16="http://schemas.microsoft.com/office/drawing/2014/main" id="{B4662D07-80B2-2840-AA8F-8349E52F69BC}"/>
              </a:ext>
            </a:extLst>
          </p:cNvPr>
          <p:cNvSpPr>
            <a:spLocks noGrp="1"/>
          </p:cNvSpPr>
          <p:nvPr>
            <p:ph type="body" idx="4294967295"/>
          </p:nvPr>
        </p:nvSpPr>
        <p:spPr>
          <a:xfrm>
            <a:off x="1042988" y="1989138"/>
            <a:ext cx="7345362" cy="4132262"/>
          </a:xfrm>
        </p:spPr>
        <p:txBody>
          <a:bodyPr/>
          <a:lstStyle/>
          <a:p>
            <a:pPr marL="609600" indent="-609600" eaLnBrk="1" hangingPunct="1">
              <a:lnSpc>
                <a:spcPct val="90000"/>
              </a:lnSpc>
              <a:buFontTx/>
              <a:buNone/>
            </a:pPr>
            <a:r>
              <a:rPr lang="es-ES" altLang="es-ES" sz="2800" dirty="0">
                <a:latin typeface="Calibri" panose="020F0502020204030204" pitchFamily="34" charset="0"/>
                <a:ea typeface="ＭＳ Ｐゴシック" panose="020B0600070205080204" pitchFamily="34" charset="-128"/>
              </a:rPr>
              <a:t>1</a:t>
            </a:r>
            <a:r>
              <a:rPr lang="es-ES_tradnl" altLang="es-ES" sz="2800" dirty="0">
                <a:latin typeface="Calibri" panose="020F0502020204030204" pitchFamily="34" charset="0"/>
                <a:ea typeface="ＭＳ Ｐゴシック" panose="020B0600070205080204" pitchFamily="34" charset="-128"/>
              </a:rPr>
              <a:t>. Presupuesto</a:t>
            </a:r>
          </a:p>
          <a:p>
            <a:pPr marL="609600" indent="-609600" eaLnBrk="1" hangingPunct="1">
              <a:lnSpc>
                <a:spcPct val="90000"/>
              </a:lnSpc>
              <a:buFontTx/>
              <a:buNone/>
            </a:pPr>
            <a:r>
              <a:rPr lang="es-ES_tradnl" altLang="es-ES" sz="2800" dirty="0">
                <a:latin typeface="Calibri" panose="020F0502020204030204" pitchFamily="34" charset="0"/>
                <a:ea typeface="ＭＳ Ｐゴシック" panose="020B0600070205080204" pitchFamily="34" charset="-128"/>
              </a:rPr>
              <a:t>			Po = 30.000 €</a:t>
            </a:r>
          </a:p>
          <a:p>
            <a:pPr marL="355600" indent="-355600" eaLnBrk="1" hangingPunct="1">
              <a:lnSpc>
                <a:spcPct val="90000"/>
              </a:lnSpc>
              <a:buFontTx/>
              <a:buNone/>
            </a:pPr>
            <a:r>
              <a:rPr lang="es-ES_tradnl" altLang="es-ES" sz="2800" dirty="0">
                <a:latin typeface="Calibri" panose="020F0502020204030204" pitchFamily="34" charset="0"/>
                <a:ea typeface="ＭＳ Ｐゴシック" panose="020B0600070205080204" pitchFamily="34" charset="-128"/>
              </a:rPr>
              <a:t>2. Presupuesto obtenido por la aplicación de los baremos mínimos:</a:t>
            </a:r>
          </a:p>
          <a:p>
            <a:pPr marL="609600" indent="-609600" eaLnBrk="1" hangingPunct="1">
              <a:lnSpc>
                <a:spcPct val="90000"/>
              </a:lnSpc>
              <a:buFontTx/>
              <a:buNone/>
            </a:pPr>
            <a:r>
              <a:rPr lang="es-ES_tradnl" altLang="es-ES" sz="2800" dirty="0">
                <a:latin typeface="Calibri" panose="020F0502020204030204" pitchFamily="34" charset="0"/>
                <a:ea typeface="ＭＳ Ｐゴシック" panose="020B0600070205080204" pitchFamily="34" charset="-128"/>
              </a:rPr>
              <a:t>		B = 	25.000 w x 0,23</a:t>
            </a:r>
          </a:p>
          <a:p>
            <a:pPr marL="609600" indent="-609600" eaLnBrk="1" hangingPunct="1">
              <a:lnSpc>
                <a:spcPct val="90000"/>
              </a:lnSpc>
              <a:buFontTx/>
              <a:buNone/>
            </a:pPr>
            <a:r>
              <a:rPr lang="es-ES_tradnl" altLang="es-ES" sz="2800" dirty="0">
                <a:latin typeface="Calibri" panose="020F0502020204030204" pitchFamily="34" charset="0"/>
                <a:ea typeface="ＭＳ Ｐゴシック" panose="020B0600070205080204" pitchFamily="34" charset="-128"/>
              </a:rPr>
              <a:t>			25.000 w x 0,16</a:t>
            </a:r>
          </a:p>
          <a:p>
            <a:pPr marL="609600" indent="-609600" eaLnBrk="1" hangingPunct="1">
              <a:lnSpc>
                <a:spcPct val="90000"/>
              </a:lnSpc>
              <a:buFontTx/>
              <a:buNone/>
            </a:pPr>
            <a:r>
              <a:rPr lang="es-ES_tradnl" altLang="es-ES" sz="2800" dirty="0">
                <a:latin typeface="Calibri" panose="020F0502020204030204" pitchFamily="34" charset="0"/>
                <a:ea typeface="ＭＳ Ｐゴシック" panose="020B0600070205080204" pitchFamily="34" charset="-128"/>
              </a:rPr>
              <a:t>		         100.000 w x 0,13</a:t>
            </a:r>
          </a:p>
          <a:p>
            <a:pPr marL="609600" indent="-609600" eaLnBrk="1" hangingPunct="1">
              <a:lnSpc>
                <a:spcPct val="90000"/>
              </a:lnSpc>
              <a:buFontTx/>
              <a:buNone/>
            </a:pPr>
            <a:r>
              <a:rPr lang="es-ES_tradnl" altLang="es-ES" sz="2800" dirty="0">
                <a:latin typeface="Calibri" panose="020F0502020204030204" pitchFamily="34" charset="0"/>
                <a:ea typeface="ＭＳ Ｐゴシック" panose="020B0600070205080204" pitchFamily="34" charset="-128"/>
              </a:rPr>
              <a:t>		</a:t>
            </a:r>
            <a:r>
              <a:rPr lang="es-ES_tradnl" altLang="es-ES" sz="2800" u="sng" dirty="0">
                <a:latin typeface="Calibri" panose="020F0502020204030204" pitchFamily="34" charset="0"/>
                <a:ea typeface="ＭＳ Ｐゴシック" panose="020B0600070205080204" pitchFamily="34" charset="-128"/>
              </a:rPr>
              <a:t>	50.000 w x 0,08  </a:t>
            </a:r>
            <a:endParaRPr lang="es-ES_tradnl" altLang="es-ES" sz="2800" dirty="0">
              <a:latin typeface="Calibri" panose="020F0502020204030204" pitchFamily="34" charset="0"/>
              <a:ea typeface="ＭＳ Ｐゴシック" panose="020B0600070205080204" pitchFamily="34" charset="-128"/>
            </a:endParaRPr>
          </a:p>
          <a:p>
            <a:pPr marL="609600" indent="-609600" eaLnBrk="1" hangingPunct="1">
              <a:lnSpc>
                <a:spcPct val="90000"/>
              </a:lnSpc>
              <a:buFontTx/>
              <a:buNone/>
            </a:pPr>
            <a:r>
              <a:rPr lang="es-ES_tradnl" altLang="es-ES" sz="2800" dirty="0">
                <a:latin typeface="Calibri" panose="020F0502020204030204" pitchFamily="34" charset="0"/>
                <a:ea typeface="ＭＳ Ｐゴシック" panose="020B0600070205080204" pitchFamily="34" charset="-128"/>
              </a:rPr>
              <a:t>		      200 </a:t>
            </a:r>
            <a:r>
              <a:rPr lang="es-ES_tradnl" altLang="es-ES" sz="2800" dirty="0" err="1">
                <a:latin typeface="Calibri" panose="020F0502020204030204" pitchFamily="34" charset="0"/>
                <a:ea typeface="ＭＳ Ｐゴシック" panose="020B0600070205080204" pitchFamily="34" charset="-128"/>
              </a:rPr>
              <a:t>kw</a:t>
            </a:r>
            <a:r>
              <a:rPr lang="es-ES_tradnl" altLang="es-ES" sz="2800" dirty="0">
                <a:latin typeface="Calibri" panose="020F0502020204030204" pitchFamily="34" charset="0"/>
                <a:ea typeface="ＭＳ Ｐゴシック" panose="020B0600070205080204" pitchFamily="34" charset="-128"/>
              </a:rPr>
              <a:t>  </a:t>
            </a:r>
            <a:r>
              <a:rPr lang="es-ES_tradnl" altLang="es-ES" sz="2800" dirty="0">
                <a:latin typeface="Calibri" panose="020F0502020204030204" pitchFamily="34" charset="0"/>
                <a:ea typeface="ＭＳ Ｐゴシック" panose="020B0600070205080204" pitchFamily="34" charset="-128"/>
                <a:sym typeface="Wingdings" pitchFamily="2" charset="2"/>
              </a:rPr>
              <a:t> 26.750 €</a:t>
            </a:r>
            <a:endParaRPr lang="es-ES_tradnl" altLang="es-ES" sz="2800" u="sng" dirty="0">
              <a:latin typeface="Calibri" panose="020F0502020204030204" pitchFamily="34" charset="0"/>
              <a:ea typeface="ＭＳ Ｐゴシック" panose="020B0600070205080204" pitchFamily="34" charset="-128"/>
            </a:endParaRPr>
          </a:p>
        </p:txBody>
      </p:sp>
      <p:sp>
        <p:nvSpPr>
          <p:cNvPr id="4" name="Rectangle 2">
            <a:extLst>
              <a:ext uri="{FF2B5EF4-FFF2-40B4-BE49-F238E27FC236}">
                <a16:creationId xmlns:a16="http://schemas.microsoft.com/office/drawing/2014/main" id="{8DADD337-6851-F540-87E3-1911D2C1FC23}"/>
              </a:ext>
            </a:extLst>
          </p:cNvPr>
          <p:cNvSpPr txBox="1">
            <a:spLocks noChangeArrowheads="1"/>
          </p:cNvSpPr>
          <p:nvPr/>
        </p:nvSpPr>
        <p:spPr bwMode="auto">
          <a:xfrm>
            <a:off x="1029586" y="322263"/>
            <a:ext cx="7489825" cy="1666875"/>
          </a:xfrm>
          <a:prstGeom prst="rect">
            <a:avLst/>
          </a:prstGeom>
          <a:extLst>
            <a:ext uri="{909E8E84-426E-40dd-AFC4-6F175D3DCCD1}"/>
            <a:ext uri="{91240B29-F687-4f45-9708-019B960494DF}"/>
          </a:extLst>
        </p:spPr>
        <p:txBody>
          <a:bodyPr vert="horz" wrap="square" lIns="91440" tIns="45720" rIns="91440" bIns="45720" numCol="1" anchor="ctr" anchorCtr="0" compatLnSpc="1">
            <a:prstTxWarp prst="textNoShape">
              <a:avLst/>
            </a:prstTxWarp>
            <a:normAutofit fontScale="90000" lnSpcReduction="20000"/>
          </a:bodyP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ＭＳ Ｐゴシック" charset="0"/>
                <a:cs typeface="ＭＳ Ｐゴシック" charset="0"/>
              </a:defRPr>
            </a:lvl1pPr>
            <a:lvl2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2pPr>
            <a:lvl3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3pPr>
            <a:lvl4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4pPr>
            <a:lvl5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5pPr>
            <a:lvl6pPr marL="457200" algn="l" rtl="0" fontAlgn="base">
              <a:spcBef>
                <a:spcPct val="0"/>
              </a:spcBef>
              <a:spcAft>
                <a:spcPct val="0"/>
              </a:spcAft>
              <a:defRPr sz="4300">
                <a:solidFill>
                  <a:srgbClr val="572314"/>
                </a:solidFill>
                <a:latin typeface="Gill Sans MT" charset="0"/>
                <a:ea typeface="ＭＳ Ｐゴシック" charset="0"/>
                <a:cs typeface="ＭＳ Ｐゴシック" charset="0"/>
              </a:defRPr>
            </a:lvl6pPr>
            <a:lvl7pPr marL="914400" algn="l" rtl="0" fontAlgn="base">
              <a:spcBef>
                <a:spcPct val="0"/>
              </a:spcBef>
              <a:spcAft>
                <a:spcPct val="0"/>
              </a:spcAft>
              <a:defRPr sz="4300">
                <a:solidFill>
                  <a:srgbClr val="572314"/>
                </a:solidFill>
                <a:latin typeface="Gill Sans MT" charset="0"/>
                <a:ea typeface="ＭＳ Ｐゴシック" charset="0"/>
                <a:cs typeface="ＭＳ Ｐゴシック" charset="0"/>
              </a:defRPr>
            </a:lvl7pPr>
            <a:lvl8pPr marL="1371600" algn="l" rtl="0" fontAlgn="base">
              <a:spcBef>
                <a:spcPct val="0"/>
              </a:spcBef>
              <a:spcAft>
                <a:spcPct val="0"/>
              </a:spcAft>
              <a:defRPr sz="4300">
                <a:solidFill>
                  <a:srgbClr val="572314"/>
                </a:solidFill>
                <a:latin typeface="Gill Sans MT" charset="0"/>
                <a:ea typeface="ＭＳ Ｐゴシック" charset="0"/>
                <a:cs typeface="ＭＳ Ｐゴシック" charset="0"/>
              </a:defRPr>
            </a:lvl8pPr>
            <a:lvl9pPr marL="1828800" algn="l" rtl="0" fontAlgn="base">
              <a:spcBef>
                <a:spcPct val="0"/>
              </a:spcBef>
              <a:spcAft>
                <a:spcPct val="0"/>
              </a:spcAft>
              <a:defRPr sz="4300">
                <a:solidFill>
                  <a:srgbClr val="572314"/>
                </a:solidFill>
                <a:latin typeface="Gill Sans MT" charset="0"/>
                <a:ea typeface="ＭＳ Ｐゴシック" charset="0"/>
                <a:cs typeface="ＭＳ Ｐゴシック" charset="0"/>
              </a:defRPr>
            </a:lvl9pPr>
            <a:extLst/>
          </a:lstStyle>
          <a:p>
            <a:pPr algn="just" eaLnBrk="1" hangingPunct="1">
              <a:defRPr/>
            </a:pPr>
            <a:r>
              <a:rPr lang="es-ES_tradnl" altLang="es-ES" sz="3200" dirty="0">
                <a:effectLst>
                  <a:outerShdw blurRad="38100" dist="38100" dir="2700000" algn="tl">
                    <a:srgbClr val="C0C0C0"/>
                  </a:outerShdw>
                </a:effectLst>
                <a:latin typeface="Calibri" panose="020F0502020204030204" pitchFamily="34" charset="0"/>
                <a:ea typeface="ＭＳ Ｐゴシック" panose="020B0600070205080204" pitchFamily="34" charset="-128"/>
              </a:rPr>
              <a:t>Ejemplo de cálculo de honorarios, como se hacía antes de mayo de 2002, para un proyecto de instalación eléctrica de baja tensión de uso industrial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id="{CA1EF641-7C94-D741-B1BC-C07A1331E9FA}"/>
              </a:ext>
            </a:extLst>
          </p:cNvPr>
          <p:cNvSpPr>
            <a:spLocks noGrp="1"/>
          </p:cNvSpPr>
          <p:nvPr>
            <p:ph type="body" idx="4294967295"/>
          </p:nvPr>
        </p:nvSpPr>
        <p:spPr>
          <a:xfrm>
            <a:off x="1042988" y="1916113"/>
            <a:ext cx="7705725" cy="4897263"/>
          </a:xfrm>
        </p:spPr>
        <p:txBody>
          <a:bodyPr/>
          <a:lstStyle/>
          <a:p>
            <a:pPr marL="609600" indent="-609600" eaLnBrk="1" hangingPunct="1">
              <a:buFontTx/>
              <a:buNone/>
            </a:pPr>
            <a:r>
              <a:rPr lang="es-ES" altLang="es-ES" dirty="0">
                <a:latin typeface="Calibri" panose="020F0502020204030204" pitchFamily="34" charset="0"/>
                <a:ea typeface="ＭＳ Ｐゴシック" panose="020B0600070205080204" pitchFamily="34" charset="-128"/>
              </a:rPr>
              <a:t>3</a:t>
            </a:r>
            <a:r>
              <a:rPr lang="es-ES" altLang="es-ES" sz="2800" dirty="0">
                <a:latin typeface="Calibri" panose="020F0502020204030204" pitchFamily="34" charset="0"/>
                <a:ea typeface="ＭＳ Ｐゴシック" panose="020B0600070205080204" pitchFamily="34" charset="-128"/>
              </a:rPr>
              <a:t>. Presupuesto de cálculo</a:t>
            </a:r>
          </a:p>
          <a:p>
            <a:pPr marL="609600" indent="-609600" eaLnBrk="1" hangingPunct="1">
              <a:buFontTx/>
              <a:buNone/>
            </a:pPr>
            <a:r>
              <a:rPr lang="es-ES" altLang="es-ES" sz="2800" dirty="0">
                <a:latin typeface="Calibri" panose="020F0502020204030204" pitchFamily="34" charset="0"/>
                <a:ea typeface="ＭＳ Ｐゴシック" panose="020B0600070205080204" pitchFamily="34" charset="-128"/>
              </a:rPr>
              <a:t>			Pc = </a:t>
            </a:r>
            <a:r>
              <a:rPr lang="es-ES" altLang="es-ES" sz="2800" dirty="0" err="1">
                <a:latin typeface="Calibri" panose="020F0502020204030204" pitchFamily="34" charset="0"/>
                <a:ea typeface="ＭＳ Ｐゴシック" panose="020B0600070205080204" pitchFamily="34" charset="-128"/>
              </a:rPr>
              <a:t>max</a:t>
            </a:r>
            <a:r>
              <a:rPr lang="es-ES" altLang="es-ES" sz="2800" dirty="0">
                <a:latin typeface="Calibri" panose="020F0502020204030204" pitchFamily="34" charset="0"/>
                <a:ea typeface="ＭＳ Ｐゴシック" panose="020B0600070205080204" pitchFamily="34" charset="-128"/>
              </a:rPr>
              <a:t> (Po, B) = 30.000 €</a:t>
            </a:r>
          </a:p>
          <a:p>
            <a:pPr marL="355600" indent="-355600" eaLnBrk="1" hangingPunct="1">
              <a:buFontTx/>
              <a:buNone/>
            </a:pPr>
            <a:r>
              <a:rPr lang="es-ES" altLang="es-ES" sz="2800" dirty="0">
                <a:latin typeface="Calibri" panose="020F0502020204030204" pitchFamily="34" charset="0"/>
                <a:ea typeface="ＭＳ Ｐゴシック" panose="020B0600070205080204" pitchFamily="34" charset="-128"/>
              </a:rPr>
              <a:t>4. Selección del grupo de tarificación (grupo VII para instalación eléctricas industriales) de las tablas de porcentaje y cálculo del correspondiente honorario.</a:t>
            </a:r>
          </a:p>
          <a:p>
            <a:pPr marL="609600" indent="-609600" eaLnBrk="1" hangingPunct="1">
              <a:buFontTx/>
              <a:buNone/>
            </a:pPr>
            <a:r>
              <a:rPr lang="es-ES" altLang="es-ES" sz="2800" dirty="0">
                <a:latin typeface="Calibri" panose="020F0502020204030204" pitchFamily="34" charset="0"/>
                <a:ea typeface="ＭＳ Ｐゴシック" panose="020B0600070205080204" pitchFamily="34" charset="-128"/>
              </a:rPr>
              <a:t>		Ho = 6.010,0 x 3,5 / 100 = 210,35</a:t>
            </a:r>
          </a:p>
          <a:p>
            <a:pPr marL="609600" indent="-609600" eaLnBrk="1" hangingPunct="1">
              <a:buFontTx/>
              <a:buNone/>
            </a:pPr>
            <a:r>
              <a:rPr lang="es-ES" altLang="es-ES" sz="2800" dirty="0">
                <a:latin typeface="Calibri" panose="020F0502020204030204" pitchFamily="34" charset="0"/>
                <a:ea typeface="ＭＳ Ｐゴシック" panose="020B0600070205080204" pitchFamily="34" charset="-128"/>
              </a:rPr>
              <a:t>			 </a:t>
            </a:r>
            <a:r>
              <a:rPr lang="es-ES" altLang="es-ES" sz="2800" u="sng" dirty="0">
                <a:latin typeface="Calibri" panose="020F0502020204030204" pitchFamily="34" charset="0"/>
                <a:ea typeface="ＭＳ Ｐゴシック" panose="020B0600070205080204" pitchFamily="34" charset="-128"/>
              </a:rPr>
              <a:t>23.990 x 2,8 / 100 = 882,07</a:t>
            </a:r>
          </a:p>
          <a:p>
            <a:pPr marL="609600" indent="-609600" eaLnBrk="1" hangingPunct="1">
              <a:buFontTx/>
              <a:buNone/>
            </a:pPr>
            <a:r>
              <a:rPr lang="es-ES" altLang="es-ES" sz="2800" dirty="0">
                <a:latin typeface="Calibri" panose="020F0502020204030204" pitchFamily="34" charset="0"/>
                <a:ea typeface="ＭＳ Ｐゴシック" panose="020B0600070205080204" pitchFamily="34" charset="-128"/>
              </a:rPr>
              <a:t>		 	</a:t>
            </a:r>
            <a:r>
              <a:rPr lang="es-ES" altLang="es-ES" sz="2800" u="sng" dirty="0">
                <a:latin typeface="Calibri" panose="020F0502020204030204" pitchFamily="34" charset="0"/>
                <a:ea typeface="ＭＳ Ｐゴシック" panose="020B0600070205080204" pitchFamily="34" charset="-128"/>
              </a:rPr>
              <a:t>Total = </a:t>
            </a:r>
            <a:r>
              <a:rPr lang="es-ES" altLang="es-ES" sz="2800" u="sng" dirty="0">
                <a:latin typeface="Calibri" panose="020F0502020204030204" pitchFamily="34" charset="0"/>
                <a:ea typeface="ＭＳ Ｐゴシック" panose="020B0600070205080204" pitchFamily="34" charset="-128"/>
                <a:sym typeface="Wingdings" pitchFamily="2" charset="2"/>
              </a:rPr>
              <a:t>1092,42 €</a:t>
            </a:r>
            <a:endParaRPr lang="es-ES" altLang="es-ES" sz="2800" u="sng" dirty="0">
              <a:latin typeface="Calibri" panose="020F0502020204030204" pitchFamily="34" charset="0"/>
              <a:ea typeface="ＭＳ Ｐゴシック" panose="020B0600070205080204" pitchFamily="34" charset="-128"/>
            </a:endParaRPr>
          </a:p>
        </p:txBody>
      </p:sp>
      <p:sp>
        <p:nvSpPr>
          <p:cNvPr id="4" name="Rectangle 2">
            <a:extLst>
              <a:ext uri="{FF2B5EF4-FFF2-40B4-BE49-F238E27FC236}">
                <a16:creationId xmlns:a16="http://schemas.microsoft.com/office/drawing/2014/main" id="{B6BE92F7-FAB5-134C-9C4D-63782C9F855D}"/>
              </a:ext>
            </a:extLst>
          </p:cNvPr>
          <p:cNvSpPr txBox="1">
            <a:spLocks noChangeArrowheads="1"/>
          </p:cNvSpPr>
          <p:nvPr/>
        </p:nvSpPr>
        <p:spPr bwMode="auto">
          <a:xfrm>
            <a:off x="1042988" y="332656"/>
            <a:ext cx="7489825" cy="1666875"/>
          </a:xfrm>
          <a:prstGeom prst="rect">
            <a:avLst/>
          </a:prstGeom>
          <a:extLst>
            <a:ext uri="{909E8E84-426E-40dd-AFC4-6F175D3DCCD1}"/>
            <a:ext uri="{91240B29-F687-4f45-9708-019B960494DF}"/>
          </a:extLst>
        </p:spPr>
        <p:txBody>
          <a:bodyPr vert="horz" wrap="square" lIns="91440" tIns="45720" rIns="91440" bIns="45720" numCol="1" anchor="ctr" anchorCtr="0" compatLnSpc="1">
            <a:prstTxWarp prst="textNoShape">
              <a:avLst/>
            </a:prstTxWarp>
            <a:normAutofit fontScale="90000" lnSpcReduction="20000"/>
          </a:bodyP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ＭＳ Ｐゴシック" charset="0"/>
                <a:cs typeface="ＭＳ Ｐゴシック" charset="0"/>
              </a:defRPr>
            </a:lvl1pPr>
            <a:lvl2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2pPr>
            <a:lvl3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3pPr>
            <a:lvl4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4pPr>
            <a:lvl5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5pPr>
            <a:lvl6pPr marL="457200" algn="l" rtl="0" fontAlgn="base">
              <a:spcBef>
                <a:spcPct val="0"/>
              </a:spcBef>
              <a:spcAft>
                <a:spcPct val="0"/>
              </a:spcAft>
              <a:defRPr sz="4300">
                <a:solidFill>
                  <a:srgbClr val="572314"/>
                </a:solidFill>
                <a:latin typeface="Gill Sans MT" charset="0"/>
                <a:ea typeface="ＭＳ Ｐゴシック" charset="0"/>
                <a:cs typeface="ＭＳ Ｐゴシック" charset="0"/>
              </a:defRPr>
            </a:lvl6pPr>
            <a:lvl7pPr marL="914400" algn="l" rtl="0" fontAlgn="base">
              <a:spcBef>
                <a:spcPct val="0"/>
              </a:spcBef>
              <a:spcAft>
                <a:spcPct val="0"/>
              </a:spcAft>
              <a:defRPr sz="4300">
                <a:solidFill>
                  <a:srgbClr val="572314"/>
                </a:solidFill>
                <a:latin typeface="Gill Sans MT" charset="0"/>
                <a:ea typeface="ＭＳ Ｐゴシック" charset="0"/>
                <a:cs typeface="ＭＳ Ｐゴシック" charset="0"/>
              </a:defRPr>
            </a:lvl7pPr>
            <a:lvl8pPr marL="1371600" algn="l" rtl="0" fontAlgn="base">
              <a:spcBef>
                <a:spcPct val="0"/>
              </a:spcBef>
              <a:spcAft>
                <a:spcPct val="0"/>
              </a:spcAft>
              <a:defRPr sz="4300">
                <a:solidFill>
                  <a:srgbClr val="572314"/>
                </a:solidFill>
                <a:latin typeface="Gill Sans MT" charset="0"/>
                <a:ea typeface="ＭＳ Ｐゴシック" charset="0"/>
                <a:cs typeface="ＭＳ Ｐゴシック" charset="0"/>
              </a:defRPr>
            </a:lvl8pPr>
            <a:lvl9pPr marL="1828800" algn="l" rtl="0" fontAlgn="base">
              <a:spcBef>
                <a:spcPct val="0"/>
              </a:spcBef>
              <a:spcAft>
                <a:spcPct val="0"/>
              </a:spcAft>
              <a:defRPr sz="4300">
                <a:solidFill>
                  <a:srgbClr val="572314"/>
                </a:solidFill>
                <a:latin typeface="Gill Sans MT" charset="0"/>
                <a:ea typeface="ＭＳ Ｐゴシック" charset="0"/>
                <a:cs typeface="ＭＳ Ｐゴシック" charset="0"/>
              </a:defRPr>
            </a:lvl9pPr>
            <a:extLst/>
          </a:lstStyle>
          <a:p>
            <a:pPr algn="just" eaLnBrk="1" hangingPunct="1">
              <a:defRPr/>
            </a:pPr>
            <a:r>
              <a:rPr lang="es-ES_tradnl" altLang="es-ES" sz="3200" dirty="0">
                <a:effectLst>
                  <a:outerShdw blurRad="38100" dist="38100" dir="2700000" algn="tl">
                    <a:srgbClr val="C0C0C0"/>
                  </a:outerShdw>
                </a:effectLst>
                <a:latin typeface="Calibri" panose="020F0502020204030204" pitchFamily="34" charset="0"/>
                <a:ea typeface="ＭＳ Ｐゴシック" panose="020B0600070205080204" pitchFamily="34" charset="-128"/>
              </a:rPr>
              <a:t>Ejemplo de cálculo de honorarios, como se hacía antes de mayo de 2002, para un proyecto de instalación eléctrica de baja tensión de uso industrial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CD050FDB-E1CB-334F-9632-685B78B9924D}"/>
              </a:ext>
            </a:extLst>
          </p:cNvPr>
          <p:cNvSpPr>
            <a:spLocks noGrp="1"/>
          </p:cNvSpPr>
          <p:nvPr>
            <p:ph type="body" idx="4294967295"/>
          </p:nvPr>
        </p:nvSpPr>
        <p:spPr>
          <a:xfrm>
            <a:off x="1042988" y="1885948"/>
            <a:ext cx="7581900" cy="4972051"/>
          </a:xfrm>
        </p:spPr>
        <p:txBody>
          <a:bodyPr/>
          <a:lstStyle/>
          <a:p>
            <a:pPr marL="400050" indent="-400050" eaLnBrk="1" hangingPunct="1">
              <a:lnSpc>
                <a:spcPct val="90000"/>
              </a:lnSpc>
              <a:buFont typeface="Wingdings 2" pitchFamily="2" charset="2"/>
              <a:buNone/>
            </a:pPr>
            <a:r>
              <a:rPr lang="en-US" altLang="es-ES" dirty="0">
                <a:ea typeface="ＭＳ Ｐゴシック" panose="020B0600070205080204" pitchFamily="34" charset="-128"/>
              </a:rPr>
              <a:t>5. </a:t>
            </a:r>
            <a:r>
              <a:rPr lang="es-ES_tradnl" altLang="es-ES" dirty="0">
                <a:ea typeface="ＭＳ Ｐゴシック" panose="020B0600070205080204" pitchFamily="34" charset="-128"/>
              </a:rPr>
              <a:t>Determinar los honorarios definitivos teniendo en cuenta el precio mínimo por proyecto </a:t>
            </a:r>
            <a:endParaRPr lang="es-ES_tradnl" altLang="es-ES" dirty="0">
              <a:latin typeface="Calibri" panose="020F0502020204030204" pitchFamily="34" charset="0"/>
              <a:ea typeface="ＭＳ Ｐゴシック" panose="020B0600070205080204" pitchFamily="34" charset="-128"/>
            </a:endParaRPr>
          </a:p>
          <a:p>
            <a:pPr marL="400050" indent="-400050" eaLnBrk="1" hangingPunct="1">
              <a:lnSpc>
                <a:spcPct val="90000"/>
              </a:lnSpc>
              <a:buFontTx/>
              <a:buNone/>
            </a:pPr>
            <a:r>
              <a:rPr lang="es-ES_tradnl" altLang="es-ES" dirty="0">
                <a:latin typeface="Calibri" panose="020F0502020204030204" pitchFamily="34" charset="0"/>
                <a:ea typeface="ＭＳ Ｐゴシック" panose="020B0600070205080204" pitchFamily="34" charset="-128"/>
              </a:rPr>
              <a:t>		</a:t>
            </a:r>
            <a:r>
              <a:rPr lang="es-ES_tradnl" altLang="es-ES" dirty="0" err="1">
                <a:latin typeface="Calibri" panose="020F0502020204030204" pitchFamily="34" charset="0"/>
                <a:ea typeface="ＭＳ Ｐゴシック" panose="020B0600070205080204" pitchFamily="34" charset="-128"/>
              </a:rPr>
              <a:t>Hmin</a:t>
            </a:r>
            <a:r>
              <a:rPr lang="es-ES_tradnl" altLang="es-ES" dirty="0">
                <a:latin typeface="Calibri" panose="020F0502020204030204" pitchFamily="34" charset="0"/>
                <a:ea typeface="ＭＳ Ｐゴシック" panose="020B0600070205080204" pitchFamily="34" charset="-128"/>
              </a:rPr>
              <a:t> = 300 € </a:t>
            </a:r>
          </a:p>
          <a:p>
            <a:pPr marL="400050" indent="-400050" eaLnBrk="1" hangingPunct="1">
              <a:lnSpc>
                <a:spcPct val="90000"/>
              </a:lnSpc>
              <a:buFontTx/>
              <a:buNone/>
            </a:pPr>
            <a:r>
              <a:rPr lang="es-ES_tradnl" altLang="es-ES" dirty="0">
                <a:latin typeface="Calibri" panose="020F0502020204030204" pitchFamily="34" charset="0"/>
                <a:ea typeface="ＭＳ Ｐゴシック" panose="020B0600070205080204" pitchFamily="34" charset="-128"/>
              </a:rPr>
              <a:t>		H = </a:t>
            </a:r>
            <a:r>
              <a:rPr lang="es-ES_tradnl" altLang="es-ES" dirty="0" err="1">
                <a:latin typeface="Calibri" panose="020F0502020204030204" pitchFamily="34" charset="0"/>
                <a:ea typeface="ＭＳ Ｐゴシック" panose="020B0600070205080204" pitchFamily="34" charset="-128"/>
              </a:rPr>
              <a:t>max</a:t>
            </a:r>
            <a:r>
              <a:rPr lang="es-ES_tradnl" altLang="es-ES" dirty="0">
                <a:latin typeface="Calibri" panose="020F0502020204030204" pitchFamily="34" charset="0"/>
                <a:ea typeface="ＭＳ Ｐゴシック" panose="020B0600070205080204" pitchFamily="34" charset="-128"/>
              </a:rPr>
              <a:t>(</a:t>
            </a:r>
            <a:r>
              <a:rPr lang="es-ES_tradnl" altLang="es-ES" dirty="0" err="1">
                <a:latin typeface="Calibri" panose="020F0502020204030204" pitchFamily="34" charset="0"/>
                <a:ea typeface="ＭＳ Ｐゴシック" panose="020B0600070205080204" pitchFamily="34" charset="-128"/>
              </a:rPr>
              <a:t>Ho,Hmin</a:t>
            </a:r>
            <a:r>
              <a:rPr lang="es-ES_tradnl" altLang="es-ES" dirty="0">
                <a:latin typeface="Calibri" panose="020F0502020204030204" pitchFamily="34" charset="0"/>
                <a:ea typeface="ＭＳ Ｐゴシック" panose="020B0600070205080204" pitchFamily="34" charset="-128"/>
              </a:rPr>
              <a:t>) = </a:t>
            </a:r>
            <a:r>
              <a:rPr lang="es-ES_tradnl" altLang="es-ES" u="sng" dirty="0">
                <a:latin typeface="Calibri" panose="020F0502020204030204" pitchFamily="34" charset="0"/>
                <a:ea typeface="ＭＳ Ｐゴシック" panose="020B0600070205080204" pitchFamily="34" charset="-128"/>
                <a:sym typeface="Wingdings" pitchFamily="2" charset="2"/>
              </a:rPr>
              <a:t>1092,42</a:t>
            </a:r>
            <a:r>
              <a:rPr lang="es-ES_tradnl" altLang="es-ES" dirty="0">
                <a:latin typeface="Calibri" panose="020F0502020204030204" pitchFamily="34" charset="0"/>
                <a:ea typeface="ＭＳ Ｐゴシック" panose="020B0600070205080204" pitchFamily="34" charset="-128"/>
              </a:rPr>
              <a:t> €</a:t>
            </a:r>
          </a:p>
          <a:p>
            <a:pPr marL="355600" indent="0" eaLnBrk="1" hangingPunct="1">
              <a:lnSpc>
                <a:spcPct val="90000"/>
              </a:lnSpc>
              <a:buFontTx/>
              <a:buNone/>
            </a:pPr>
            <a:r>
              <a:rPr lang="es-ES_tradnl" altLang="es-ES" dirty="0">
                <a:ea typeface="ＭＳ Ｐゴシック" panose="020B0600070205080204" pitchFamily="34" charset="-128"/>
              </a:rPr>
              <a:t>Los honorarios por dirección de Proyecto son los mismos que los del Proyecto. De este modo, si el encargo incluye proyecto y dirección los honorarios serían:</a:t>
            </a:r>
          </a:p>
          <a:p>
            <a:pPr marL="355600" indent="0" eaLnBrk="1" hangingPunct="1">
              <a:lnSpc>
                <a:spcPct val="90000"/>
              </a:lnSpc>
              <a:buFontTx/>
              <a:buNone/>
            </a:pPr>
            <a:r>
              <a:rPr lang="es-ES_tradnl" altLang="es-ES" dirty="0">
                <a:latin typeface="Calibri" panose="020F0502020204030204" pitchFamily="34" charset="0"/>
                <a:ea typeface="ＭＳ Ｐゴシック" panose="020B0600070205080204" pitchFamily="34" charset="-128"/>
              </a:rPr>
              <a:t>	H = 2*1092,42 = </a:t>
            </a:r>
            <a:r>
              <a:rPr lang="es-ES_tradnl" altLang="es-ES" u="sng" dirty="0">
                <a:latin typeface="Calibri" panose="020F0502020204030204" pitchFamily="34" charset="0"/>
                <a:ea typeface="ＭＳ Ｐゴシック" panose="020B0600070205080204" pitchFamily="34" charset="-128"/>
              </a:rPr>
              <a:t>2184,84</a:t>
            </a:r>
            <a:r>
              <a:rPr lang="es-ES_tradnl" altLang="es-ES" dirty="0">
                <a:latin typeface="Calibri" panose="020F0502020204030204" pitchFamily="34" charset="0"/>
                <a:ea typeface="ＭＳ Ｐゴシック" panose="020B0600070205080204" pitchFamily="34" charset="-128"/>
              </a:rPr>
              <a:t> €</a:t>
            </a:r>
          </a:p>
          <a:p>
            <a:pPr marL="609600" indent="-609600" eaLnBrk="1" hangingPunct="1">
              <a:lnSpc>
                <a:spcPct val="90000"/>
              </a:lnSpc>
              <a:buFontTx/>
              <a:buNone/>
            </a:pPr>
            <a:endParaRPr lang="es-ES" altLang="es-ES" dirty="0">
              <a:ea typeface="ＭＳ Ｐゴシック" panose="020B0600070205080204" pitchFamily="34" charset="-128"/>
            </a:endParaRPr>
          </a:p>
        </p:txBody>
      </p:sp>
      <p:sp>
        <p:nvSpPr>
          <p:cNvPr id="4" name="Rectangle 2">
            <a:extLst>
              <a:ext uri="{FF2B5EF4-FFF2-40B4-BE49-F238E27FC236}">
                <a16:creationId xmlns:a16="http://schemas.microsoft.com/office/drawing/2014/main" id="{D1DE58D0-AAFF-B648-9650-CC06BF09FD0F}"/>
              </a:ext>
            </a:extLst>
          </p:cNvPr>
          <p:cNvSpPr txBox="1">
            <a:spLocks noChangeArrowheads="1"/>
          </p:cNvSpPr>
          <p:nvPr/>
        </p:nvSpPr>
        <p:spPr bwMode="auto">
          <a:xfrm>
            <a:off x="1042988" y="219074"/>
            <a:ext cx="7489825" cy="1666875"/>
          </a:xfrm>
          <a:prstGeom prst="rect">
            <a:avLst/>
          </a:prstGeom>
          <a:extLst>
            <a:ext uri="{909E8E84-426E-40dd-AFC4-6F175D3DCCD1}"/>
            <a:ext uri="{91240B29-F687-4f45-9708-019B960494DF}"/>
          </a:extLst>
        </p:spPr>
        <p:txBody>
          <a:bodyPr vert="horz" wrap="square" lIns="91440" tIns="45720" rIns="91440" bIns="45720" numCol="1" anchor="ctr" anchorCtr="0" compatLnSpc="1">
            <a:prstTxWarp prst="textNoShape">
              <a:avLst/>
            </a:prstTxWarp>
            <a:normAutofit fontScale="90000" lnSpcReduction="20000"/>
          </a:bodyP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ＭＳ Ｐゴシック" charset="0"/>
                <a:cs typeface="ＭＳ Ｐゴシック" charset="0"/>
              </a:defRPr>
            </a:lvl1pPr>
            <a:lvl2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2pPr>
            <a:lvl3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3pPr>
            <a:lvl4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4pPr>
            <a:lvl5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5pPr>
            <a:lvl6pPr marL="457200" algn="l" rtl="0" fontAlgn="base">
              <a:spcBef>
                <a:spcPct val="0"/>
              </a:spcBef>
              <a:spcAft>
                <a:spcPct val="0"/>
              </a:spcAft>
              <a:defRPr sz="4300">
                <a:solidFill>
                  <a:srgbClr val="572314"/>
                </a:solidFill>
                <a:latin typeface="Gill Sans MT" charset="0"/>
                <a:ea typeface="ＭＳ Ｐゴシック" charset="0"/>
                <a:cs typeface="ＭＳ Ｐゴシック" charset="0"/>
              </a:defRPr>
            </a:lvl6pPr>
            <a:lvl7pPr marL="914400" algn="l" rtl="0" fontAlgn="base">
              <a:spcBef>
                <a:spcPct val="0"/>
              </a:spcBef>
              <a:spcAft>
                <a:spcPct val="0"/>
              </a:spcAft>
              <a:defRPr sz="4300">
                <a:solidFill>
                  <a:srgbClr val="572314"/>
                </a:solidFill>
                <a:latin typeface="Gill Sans MT" charset="0"/>
                <a:ea typeface="ＭＳ Ｐゴシック" charset="0"/>
                <a:cs typeface="ＭＳ Ｐゴシック" charset="0"/>
              </a:defRPr>
            </a:lvl7pPr>
            <a:lvl8pPr marL="1371600" algn="l" rtl="0" fontAlgn="base">
              <a:spcBef>
                <a:spcPct val="0"/>
              </a:spcBef>
              <a:spcAft>
                <a:spcPct val="0"/>
              </a:spcAft>
              <a:defRPr sz="4300">
                <a:solidFill>
                  <a:srgbClr val="572314"/>
                </a:solidFill>
                <a:latin typeface="Gill Sans MT" charset="0"/>
                <a:ea typeface="ＭＳ Ｐゴシック" charset="0"/>
                <a:cs typeface="ＭＳ Ｐゴシック" charset="0"/>
              </a:defRPr>
            </a:lvl8pPr>
            <a:lvl9pPr marL="1828800" algn="l" rtl="0" fontAlgn="base">
              <a:spcBef>
                <a:spcPct val="0"/>
              </a:spcBef>
              <a:spcAft>
                <a:spcPct val="0"/>
              </a:spcAft>
              <a:defRPr sz="4300">
                <a:solidFill>
                  <a:srgbClr val="572314"/>
                </a:solidFill>
                <a:latin typeface="Gill Sans MT" charset="0"/>
                <a:ea typeface="ＭＳ Ｐゴシック" charset="0"/>
                <a:cs typeface="ＭＳ Ｐゴシック" charset="0"/>
              </a:defRPr>
            </a:lvl9pPr>
            <a:extLst/>
          </a:lstStyle>
          <a:p>
            <a:pPr algn="just" eaLnBrk="1" hangingPunct="1">
              <a:defRPr/>
            </a:pPr>
            <a:r>
              <a:rPr lang="es-ES_tradnl" altLang="es-ES" sz="3200" dirty="0">
                <a:effectLst>
                  <a:outerShdw blurRad="38100" dist="38100" dir="2700000" algn="tl">
                    <a:srgbClr val="C0C0C0"/>
                  </a:outerShdw>
                </a:effectLst>
                <a:latin typeface="Calibri" panose="020F0502020204030204" pitchFamily="34" charset="0"/>
                <a:ea typeface="ＭＳ Ｐゴシック" panose="020B0600070205080204" pitchFamily="34" charset="-128"/>
              </a:rPr>
              <a:t>Ejemplo de cálculo de honorarios, como se hacía antes de mayo de 2002, para un proyecto de instalación eléctrica de baja tensión de uso industrial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CuadroTexto 1">
            <a:extLst>
              <a:ext uri="{FF2B5EF4-FFF2-40B4-BE49-F238E27FC236}">
                <a16:creationId xmlns:a16="http://schemas.microsoft.com/office/drawing/2014/main" id="{89187C68-5D44-4D4E-B86B-6ECF71F94793}"/>
              </a:ext>
            </a:extLst>
          </p:cNvPr>
          <p:cNvSpPr txBox="1">
            <a:spLocks noChangeArrowheads="1"/>
          </p:cNvSpPr>
          <p:nvPr/>
        </p:nvSpPr>
        <p:spPr bwMode="auto">
          <a:xfrm>
            <a:off x="1042987" y="1875596"/>
            <a:ext cx="7993509"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 typeface="+mj-lt"/>
              <a:buAutoNum type="arabicPeriod"/>
            </a:pPr>
            <a:r>
              <a:rPr lang="es-ES_tradnl" altLang="es-ES" sz="2000" dirty="0">
                <a:latin typeface="Arial" panose="020B0604020202020204" pitchFamily="34" charset="0"/>
                <a:cs typeface="Arial" panose="020B0604020202020204" pitchFamily="34" charset="0"/>
              </a:rPr>
              <a:t>Procedimiento antiguo: 5% de los honorarios profesionales.</a:t>
            </a:r>
          </a:p>
          <a:p>
            <a:pPr marL="0" indent="0" eaLnBrk="1" hangingPunct="1">
              <a:spcBef>
                <a:spcPct val="0"/>
              </a:spcBef>
              <a:buClrTx/>
              <a:buSzTx/>
              <a:buNone/>
            </a:pPr>
            <a:r>
              <a:rPr lang="es-ES_tradnl" altLang="es-ES" sz="2000" dirty="0">
                <a:latin typeface="Arial" panose="020B0604020202020204" pitchFamily="34" charset="0"/>
                <a:cs typeface="Arial" panose="020B0604020202020204" pitchFamily="34" charset="0"/>
              </a:rPr>
              <a:t>       En el ejemplo:</a:t>
            </a:r>
          </a:p>
          <a:p>
            <a:pPr marL="0" indent="0" eaLnBrk="1" hangingPunct="1">
              <a:spcBef>
                <a:spcPct val="0"/>
              </a:spcBef>
              <a:buClrTx/>
              <a:buSzTx/>
              <a:buNone/>
            </a:pPr>
            <a:r>
              <a:rPr lang="es-ES_tradnl" altLang="es-ES" sz="2000" dirty="0">
                <a:latin typeface="Arial" panose="020B0604020202020204" pitchFamily="34" charset="0"/>
                <a:cs typeface="Arial" panose="020B0604020202020204" pitchFamily="34" charset="0"/>
              </a:rPr>
              <a:t>	5% (1092.42 +1092.42) = 109.24 €</a:t>
            </a:r>
          </a:p>
          <a:p>
            <a:pPr eaLnBrk="1" hangingPunct="1">
              <a:spcBef>
                <a:spcPct val="0"/>
              </a:spcBef>
              <a:buClrTx/>
              <a:buSzTx/>
              <a:buFont typeface="+mj-lt"/>
              <a:buAutoNum type="arabicPeriod" startAt="2"/>
            </a:pPr>
            <a:r>
              <a:rPr lang="es-ES_tradnl" altLang="es-ES" sz="2000" dirty="0">
                <a:latin typeface="Arial" panose="020B0604020202020204" pitchFamily="34" charset="0"/>
                <a:cs typeface="Arial" panose="020B0604020202020204" pitchFamily="34" charset="0"/>
              </a:rPr>
              <a:t>Procedimiento transitorio (desde 1996 hasta 2002) : 0.3% sobre Max(presupuesto de proyecto, baremo mínimo)</a:t>
            </a:r>
          </a:p>
          <a:p>
            <a:pPr marL="0" indent="0" eaLnBrk="1" hangingPunct="1">
              <a:spcBef>
                <a:spcPct val="0"/>
              </a:spcBef>
              <a:buClrTx/>
              <a:buSzTx/>
              <a:buNone/>
            </a:pPr>
            <a:r>
              <a:rPr lang="es-ES_tradnl" altLang="es-ES" sz="2000" dirty="0">
                <a:latin typeface="Arial" panose="020B0604020202020204" pitchFamily="34" charset="0"/>
                <a:cs typeface="Arial" panose="020B0604020202020204" pitchFamily="34" charset="0"/>
              </a:rPr>
              <a:t>       En el ejemplo:</a:t>
            </a:r>
          </a:p>
          <a:p>
            <a:pPr marL="444500" indent="-444500" eaLnBrk="1" hangingPunct="1">
              <a:spcBef>
                <a:spcPct val="0"/>
              </a:spcBef>
              <a:buClrTx/>
              <a:buSzTx/>
              <a:buNone/>
            </a:pPr>
            <a:r>
              <a:rPr lang="es-ES_tradnl" altLang="es-ES" sz="2000" dirty="0">
                <a:latin typeface="Arial" panose="020B0604020202020204" pitchFamily="34" charset="0"/>
                <a:cs typeface="Arial" panose="020B0604020202020204" pitchFamily="34" charset="0"/>
              </a:rPr>
              <a:t>       	0.3% s. / Max (30.000,26.750) = 90 € por el proyecto. 	Total 180 € por Proyecto y dirección.</a:t>
            </a:r>
          </a:p>
          <a:p>
            <a:pPr eaLnBrk="1" hangingPunct="1">
              <a:spcBef>
                <a:spcPct val="0"/>
              </a:spcBef>
              <a:buClrTx/>
              <a:buSzTx/>
              <a:buFont typeface="+mj-lt"/>
              <a:buAutoNum type="arabicPeriod" startAt="3"/>
            </a:pPr>
            <a:r>
              <a:rPr lang="es-ES_tradnl" altLang="es-ES" sz="2000" dirty="0">
                <a:latin typeface="Arial" panose="020B0604020202020204" pitchFamily="34" charset="0"/>
                <a:cs typeface="Arial" panose="020B0604020202020204" pitchFamily="34" charset="0"/>
              </a:rPr>
              <a:t>Actualmente los porcentajes se calculan con baremos reducidos, similares a los utilizados hasta 2002.</a:t>
            </a:r>
          </a:p>
          <a:p>
            <a:pPr marL="355600" indent="-344488" eaLnBrk="1" hangingPunct="1">
              <a:spcBef>
                <a:spcPct val="0"/>
              </a:spcBef>
              <a:buClrTx/>
              <a:buSzTx/>
              <a:buFontTx/>
              <a:buNone/>
            </a:pPr>
            <a:r>
              <a:rPr lang="es-ES_tradnl" altLang="es-ES" sz="2000" dirty="0">
                <a:latin typeface="Arial" panose="020B0604020202020204" pitchFamily="34" charset="0"/>
                <a:cs typeface="Arial" panose="020B0604020202020204" pitchFamily="34" charset="0"/>
              </a:rPr>
              <a:t>	 (Ver hoja de cálculo del COGITI de Valencia)</a:t>
            </a:r>
          </a:p>
        </p:txBody>
      </p:sp>
      <p:sp>
        <p:nvSpPr>
          <p:cNvPr id="56322" name="CuadroTexto 2">
            <a:extLst>
              <a:ext uri="{FF2B5EF4-FFF2-40B4-BE49-F238E27FC236}">
                <a16:creationId xmlns:a16="http://schemas.microsoft.com/office/drawing/2014/main" id="{157D8168-88C3-744E-9B83-E964D8CE4050}"/>
              </a:ext>
            </a:extLst>
          </p:cNvPr>
          <p:cNvSpPr txBox="1">
            <a:spLocks noChangeArrowheads="1"/>
          </p:cNvSpPr>
          <p:nvPr/>
        </p:nvSpPr>
        <p:spPr bwMode="auto">
          <a:xfrm>
            <a:off x="1042987" y="404664"/>
            <a:ext cx="727342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_tradnl" altLang="es-ES" sz="2800" b="1" dirty="0">
                <a:latin typeface="Arial" panose="020B0604020202020204" pitchFamily="34" charset="0"/>
                <a:cs typeface="Arial" panose="020B0604020202020204" pitchFamily="34" charset="0"/>
              </a:rPr>
              <a:t>Comisiones por visado del colegio profesional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D32947-9C82-E64C-BBE5-66AA4BF673D2}"/>
              </a:ext>
            </a:extLst>
          </p:cNvPr>
          <p:cNvSpPr>
            <a:spLocks noGrp="1"/>
          </p:cNvSpPr>
          <p:nvPr>
            <p:ph type="title"/>
          </p:nvPr>
        </p:nvSpPr>
        <p:spPr>
          <a:xfrm>
            <a:off x="2555875" y="1989138"/>
            <a:ext cx="6400800" cy="2376487"/>
          </a:xfrm>
        </p:spPr>
        <p:txBody>
          <a:bodyPr/>
          <a:lstStyle/>
          <a:p>
            <a:pPr>
              <a:defRPr/>
            </a:pPr>
            <a:r>
              <a:rPr lang="es-ES_tradnl" altLang="es-ES" sz="3600" cap="none">
                <a:effectLst>
                  <a:outerShdw blurRad="38100" dist="38100" dir="2700000" algn="tl">
                    <a:srgbClr val="C0C0C0"/>
                  </a:outerShdw>
                </a:effectLst>
                <a:ea typeface="ＭＳ Ｐゴシック" panose="020B0600070205080204" pitchFamily="34" charset="-128"/>
              </a:rPr>
              <a:t>Tema 3:</a:t>
            </a:r>
            <a:br>
              <a:rPr lang="es-ES_tradnl" altLang="es-ES" sz="3600" cap="none">
                <a:effectLst>
                  <a:outerShdw blurRad="38100" dist="38100" dir="2700000" algn="tl">
                    <a:srgbClr val="C0C0C0"/>
                  </a:outerShdw>
                </a:effectLst>
                <a:ea typeface="ＭＳ Ｐゴシック" panose="020B0600070205080204" pitchFamily="34" charset="-128"/>
              </a:rPr>
            </a:br>
            <a:r>
              <a:rPr lang="es-ES_tradnl" altLang="es-ES" sz="3600" cap="none">
                <a:effectLst>
                  <a:outerShdw blurRad="38100" dist="38100" dir="2700000" algn="tl">
                    <a:srgbClr val="C0C0C0"/>
                  </a:outerShdw>
                </a:effectLst>
                <a:ea typeface="ＭＳ Ｐゴシック" panose="020B0600070205080204" pitchFamily="34" charset="-128"/>
              </a:rPr>
              <a:t> El proyecto: conceptos y clasificación</a:t>
            </a:r>
          </a:p>
        </p:txBody>
      </p:sp>
      <p:sp>
        <p:nvSpPr>
          <p:cNvPr id="5" name="1 Título">
            <a:extLst>
              <a:ext uri="{FF2B5EF4-FFF2-40B4-BE49-F238E27FC236}">
                <a16:creationId xmlns:a16="http://schemas.microsoft.com/office/drawing/2014/main" id="{59DE38F2-AB92-7C44-B7A6-5043BF21201F}"/>
              </a:ext>
            </a:extLst>
          </p:cNvPr>
          <p:cNvSpPr txBox="1">
            <a:spLocks/>
          </p:cNvSpPr>
          <p:nvPr/>
        </p:nvSpPr>
        <p:spPr>
          <a:xfrm>
            <a:off x="2627313" y="836613"/>
            <a:ext cx="3571875" cy="720725"/>
          </a:xfrm>
          <a:prstGeom prst="rect">
            <a:avLst/>
          </a:prstGeom>
        </p:spPr>
        <p:txBody>
          <a:bodyPr>
            <a:normAutofit/>
          </a:bodyPr>
          <a:lstStyle>
            <a:lvl1pPr eaLnBrk="0" hangingPunct="0">
              <a:defRPr sz="24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defRPr sz="24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defRPr sz="2400">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defRPr sz="24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9pPr>
          </a:lstStyle>
          <a:p>
            <a:pPr eaLnBrk="1" hangingPunct="1">
              <a:lnSpc>
                <a:spcPts val="4500"/>
              </a:lnSpc>
              <a:defRPr/>
            </a:pPr>
            <a:r>
              <a:rPr lang="es-ES_tradnl" altLang="es-ES" sz="2700" b="1">
                <a:solidFill>
                  <a:srgbClr val="572314"/>
                </a:solidFill>
                <a:effectLst>
                  <a:outerShdw blurRad="38100" dist="38100" dir="2700000" algn="tl">
                    <a:srgbClr val="C0C0C0"/>
                  </a:outerShdw>
                </a:effectLst>
              </a:rPr>
              <a:t>OFICINA TÉCNICA</a:t>
            </a:r>
            <a:endParaRPr lang="es-ES" altLang="es-ES" sz="2700" b="1">
              <a:solidFill>
                <a:srgbClr val="572314"/>
              </a:solidFill>
              <a:effectLst>
                <a:outerShdw blurRad="38100" dist="38100" dir="2700000" algn="tl">
                  <a:srgbClr val="C0C0C0"/>
                </a:outerShdw>
              </a:effectLs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ADAF5F0B-3BC7-5741-B23E-D1391DCD7C83}"/>
              </a:ext>
            </a:extLst>
          </p:cNvPr>
          <p:cNvSpPr>
            <a:spLocks noGrp="1"/>
          </p:cNvSpPr>
          <p:nvPr>
            <p:ph type="ctrTitle"/>
          </p:nvPr>
        </p:nvSpPr>
        <p:spPr>
          <a:xfrm>
            <a:off x="1431925" y="332656"/>
            <a:ext cx="7407275" cy="1080542"/>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3. El proyecto: conceptos y clasificación</a:t>
            </a:r>
          </a:p>
        </p:txBody>
      </p:sp>
      <p:sp>
        <p:nvSpPr>
          <p:cNvPr id="3" name="2 Subtítulo">
            <a:extLst>
              <a:ext uri="{FF2B5EF4-FFF2-40B4-BE49-F238E27FC236}">
                <a16:creationId xmlns:a16="http://schemas.microsoft.com/office/drawing/2014/main" id="{5BE98711-6331-B94E-A0B6-1D1872F39BF1}"/>
              </a:ext>
            </a:extLst>
          </p:cNvPr>
          <p:cNvSpPr>
            <a:spLocks noGrp="1"/>
          </p:cNvSpPr>
          <p:nvPr>
            <p:ph type="subTitle" idx="1"/>
          </p:nvPr>
        </p:nvSpPr>
        <p:spPr>
          <a:xfrm>
            <a:off x="1431925" y="1849438"/>
            <a:ext cx="7407275" cy="4459287"/>
          </a:xfrm>
        </p:spPr>
        <p:txBody>
          <a:bodyPr>
            <a:normAutofit/>
          </a:bodyPr>
          <a:lstStyle/>
          <a:p>
            <a:pPr eaLnBrk="1" fontAlgn="auto" hangingPunct="1">
              <a:spcAft>
                <a:spcPts val="0"/>
              </a:spcAft>
              <a:buFont typeface="Wingdings 2"/>
              <a:buNone/>
              <a:defRPr/>
            </a:pPr>
            <a:r>
              <a:rPr lang="es-ES_tradnl" sz="2400" dirty="0">
                <a:ea typeface="+mn-ea"/>
                <a:cs typeface="+mn-cs"/>
              </a:rPr>
              <a:t>Contenido:</a:t>
            </a:r>
          </a:p>
          <a:p>
            <a:pPr eaLnBrk="1" fontAlgn="auto" hangingPunct="1">
              <a:spcAft>
                <a:spcPts val="0"/>
              </a:spcAft>
              <a:buFont typeface="Wingdings 2"/>
              <a:buNone/>
              <a:defRPr/>
            </a:pPr>
            <a:endParaRPr lang="es-ES_tradnl" sz="2400" dirty="0">
              <a:ea typeface="+mn-ea"/>
              <a:cs typeface="+mn-cs"/>
            </a:endParaRPr>
          </a:p>
          <a:p>
            <a:pPr marL="723900" indent="-723900" eaLnBrk="1" fontAlgn="auto" hangingPunct="1">
              <a:spcAft>
                <a:spcPts val="0"/>
              </a:spcAft>
              <a:buFont typeface="+mj-lt"/>
              <a:buAutoNum type="arabicPeriod"/>
              <a:defRPr/>
            </a:pPr>
            <a:r>
              <a:rPr lang="es-ES_tradnl" sz="2400" dirty="0">
                <a:latin typeface="Arial" charset="0"/>
                <a:ea typeface="+mn-ea"/>
                <a:cs typeface="+mn-cs"/>
              </a:rPr>
              <a:t>Definiciones.</a:t>
            </a:r>
          </a:p>
          <a:p>
            <a:pPr marL="723900" indent="-723900" eaLnBrk="1" fontAlgn="auto" hangingPunct="1">
              <a:spcAft>
                <a:spcPts val="0"/>
              </a:spcAft>
              <a:buFont typeface="+mj-lt"/>
              <a:buAutoNum type="arabicPeriod"/>
              <a:defRPr/>
            </a:pPr>
            <a:r>
              <a:rPr lang="es-ES_tradnl" sz="2400" dirty="0">
                <a:latin typeface="Arial" charset="0"/>
                <a:ea typeface="+mn-ea"/>
                <a:cs typeface="+mn-cs"/>
              </a:rPr>
              <a:t>Clasificación.</a:t>
            </a:r>
          </a:p>
          <a:p>
            <a:pPr marL="723900" indent="-723900" eaLnBrk="1" fontAlgn="auto" hangingPunct="1">
              <a:spcAft>
                <a:spcPts val="0"/>
              </a:spcAft>
              <a:buFont typeface="+mj-lt"/>
              <a:buAutoNum type="arabicPeriod"/>
              <a:defRPr/>
            </a:pPr>
            <a:r>
              <a:rPr lang="es-ES_tradnl" sz="2400" dirty="0">
                <a:latin typeface="Arial" charset="0"/>
                <a:ea typeface="+mn-ea"/>
                <a:cs typeface="+mn-cs"/>
              </a:rPr>
              <a:t>Proyectos necesarios para conseguir un permiso o licencia.</a:t>
            </a:r>
          </a:p>
          <a:p>
            <a:pPr marL="723900" indent="-723900" eaLnBrk="1" fontAlgn="auto" hangingPunct="1">
              <a:spcAft>
                <a:spcPts val="0"/>
              </a:spcAft>
              <a:buFont typeface="+mj-lt"/>
              <a:buAutoNum type="arabicPeriod"/>
              <a:defRPr/>
            </a:pPr>
            <a:r>
              <a:rPr lang="es-ES_tradnl" sz="2400" dirty="0">
                <a:latin typeface="Arial" charset="0"/>
                <a:ea typeface="+mn-ea"/>
                <a:cs typeface="+mn-cs"/>
              </a:rPr>
              <a:t>Proyectos para la obtención de la licencia ambiental.</a:t>
            </a:r>
            <a:endParaRPr lang="es-ES_tradnl" sz="2400" dirty="0">
              <a:ea typeface="+mn-ea"/>
              <a:cs typeface="+mn-cs"/>
            </a:endParaRPr>
          </a:p>
          <a:p>
            <a:pPr eaLnBrk="1" fontAlgn="auto" hangingPunct="1">
              <a:spcAft>
                <a:spcPts val="0"/>
              </a:spcAft>
              <a:buFont typeface="Wingdings 2"/>
              <a:buNone/>
              <a:defRPr/>
            </a:pPr>
            <a:endParaRPr lang="es-ES_tradnl" sz="2400" dirty="0">
              <a:ea typeface="+mn-ea"/>
              <a:cs typeface="+mn-cs"/>
            </a:endParaRPr>
          </a:p>
          <a:p>
            <a:pPr marL="484632" indent="-457200" eaLnBrk="1" fontAlgn="auto" hangingPunct="1">
              <a:spcAft>
                <a:spcPts val="0"/>
              </a:spcAft>
              <a:buFont typeface="Wingdings 2"/>
              <a:buAutoNum type="arabicPeriod"/>
              <a:defRPr/>
            </a:pPr>
            <a:endParaRPr lang="es-ES_tradnl" sz="2400" dirty="0">
              <a:ea typeface="+mn-ea"/>
              <a:cs typeface="+mn-cs"/>
            </a:endParaRPr>
          </a:p>
          <a:p>
            <a:pPr marL="484632" indent="-457200" eaLnBrk="1" fontAlgn="auto" hangingPunct="1">
              <a:spcAft>
                <a:spcPts val="0"/>
              </a:spcAft>
              <a:buFont typeface="Wingdings 2"/>
              <a:buAutoNum type="arabicPeriod"/>
              <a:defRPr/>
            </a:pPr>
            <a:endParaRPr lang="es-ES_tradnl" sz="2400" dirty="0">
              <a:ea typeface="+mn-ea"/>
              <a:cs typeface="+mn-cs"/>
            </a:endParaRP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2 Subtítulo">
            <a:extLst>
              <a:ext uri="{FF2B5EF4-FFF2-40B4-BE49-F238E27FC236}">
                <a16:creationId xmlns:a16="http://schemas.microsoft.com/office/drawing/2014/main" id="{D9DF9A14-6D10-BE40-B11F-39ADF36029D1}"/>
              </a:ext>
            </a:extLst>
          </p:cNvPr>
          <p:cNvSpPr>
            <a:spLocks noGrp="1"/>
          </p:cNvSpPr>
          <p:nvPr>
            <p:ph type="subTitle" idx="1"/>
          </p:nvPr>
        </p:nvSpPr>
        <p:spPr>
          <a:xfrm>
            <a:off x="1431925" y="1849438"/>
            <a:ext cx="7407275" cy="4459287"/>
          </a:xfrm>
        </p:spPr>
        <p:txBody>
          <a:bodyPr/>
          <a:lstStyle/>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1. Definiciones de proyecto.</a:t>
            </a:r>
          </a:p>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         </a:t>
            </a:r>
          </a:p>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1.1 De acuerdo con el Instituto de Ingenieros Civiles de España: </a:t>
            </a:r>
          </a:p>
          <a:p>
            <a:pPr marL="26988" eaLnBrk="1" hangingPunct="1"/>
            <a:endParaRPr lang="es-ES_tradnl" altLang="es-ES" sz="2400"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a:t>
            </a:r>
            <a:r>
              <a:rPr lang="es-ES_tradnl" altLang="es-ES" sz="2400" i="1" dirty="0">
                <a:solidFill>
                  <a:srgbClr val="320E04"/>
                </a:solidFill>
                <a:latin typeface="Arial" panose="020B0604020202020204" pitchFamily="34" charset="0"/>
                <a:ea typeface="ＭＳ Ｐゴシック" panose="020B0600070205080204" pitchFamily="34" charset="-128"/>
              </a:rPr>
              <a:t>Conjunto de documentos que definen la obra de forma tal que un facultativo distinto del autor pueda dirigir con arreglo al mismo las obras o trabajos correspondientes</a:t>
            </a:r>
            <a:r>
              <a:rPr lang="es-ES_tradnl" altLang="es-ES" sz="2400" dirty="0">
                <a:solidFill>
                  <a:srgbClr val="320E04"/>
                </a:solidFill>
                <a:latin typeface="Arial" panose="020B0604020202020204" pitchFamily="34" charset="0"/>
                <a:ea typeface="ＭＳ Ｐゴシック" panose="020B0600070205080204" pitchFamily="34" charset="-128"/>
              </a:rPr>
              <a:t>’.</a:t>
            </a:r>
            <a:endParaRPr lang="es-ES_tradnl" altLang="es-ES" sz="2400" dirty="0">
              <a:solidFill>
                <a:srgbClr val="320E04"/>
              </a:solidFill>
              <a:ea typeface="ＭＳ Ｐゴシック" panose="020B0600070205080204" pitchFamily="34" charset="-128"/>
            </a:endParaRPr>
          </a:p>
          <a:p>
            <a:pPr marL="26988" eaLnBrk="1" hangingPunct="1"/>
            <a:endParaRPr lang="es-ES_tradnl" altLang="es-ES" sz="24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p:txBody>
      </p:sp>
      <p:sp>
        <p:nvSpPr>
          <p:cNvPr id="7" name="1 Título">
            <a:extLst>
              <a:ext uri="{FF2B5EF4-FFF2-40B4-BE49-F238E27FC236}">
                <a16:creationId xmlns:a16="http://schemas.microsoft.com/office/drawing/2014/main" id="{90E7183C-AA69-464C-9FE4-1E881DFA7448}"/>
              </a:ext>
            </a:extLst>
          </p:cNvPr>
          <p:cNvSpPr>
            <a:spLocks noGrp="1"/>
          </p:cNvSpPr>
          <p:nvPr>
            <p:ph type="ctrTitle"/>
          </p:nvPr>
        </p:nvSpPr>
        <p:spPr>
          <a:xfrm>
            <a:off x="1431925" y="332656"/>
            <a:ext cx="7407275" cy="1080542"/>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3. El proyecto: conceptos y clasificación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2 Subtítulo">
            <a:extLst>
              <a:ext uri="{FF2B5EF4-FFF2-40B4-BE49-F238E27FC236}">
                <a16:creationId xmlns:a16="http://schemas.microsoft.com/office/drawing/2014/main" id="{8D424C99-2140-FD4E-B48C-E1692AFF0F77}"/>
              </a:ext>
            </a:extLst>
          </p:cNvPr>
          <p:cNvSpPr>
            <a:spLocks noGrp="1"/>
          </p:cNvSpPr>
          <p:nvPr>
            <p:ph type="subTitle" idx="1"/>
          </p:nvPr>
        </p:nvSpPr>
        <p:spPr>
          <a:xfrm>
            <a:off x="1431925" y="1849438"/>
            <a:ext cx="7407275" cy="4459287"/>
          </a:xfrm>
        </p:spPr>
        <p:txBody>
          <a:bodyPr/>
          <a:lstStyle/>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1. Definiciones</a:t>
            </a:r>
          </a:p>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1.2 De acuerdo con el diccionario de la Real Academia de la Lengua:</a:t>
            </a:r>
          </a:p>
          <a:p>
            <a:pPr marL="26988" eaLnBrk="1" hangingPunct="1"/>
            <a:endParaRPr lang="es-ES_tradnl" altLang="es-ES" sz="2400"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 ’</a:t>
            </a:r>
            <a:r>
              <a:rPr lang="es-ES_tradnl" altLang="es-ES" sz="2400" i="1" dirty="0">
                <a:solidFill>
                  <a:srgbClr val="320E04"/>
                </a:solidFill>
                <a:latin typeface="Arial" panose="020B0604020202020204" pitchFamily="34" charset="0"/>
                <a:ea typeface="ＭＳ Ｐゴシック" panose="020B0600070205080204" pitchFamily="34" charset="-128"/>
              </a:rPr>
              <a:t>Idea o designio que se tiene de realizar algo’</a:t>
            </a:r>
            <a:endParaRPr lang="es-ES_tradnl" altLang="es-ES" sz="2400" dirty="0">
              <a:solidFill>
                <a:srgbClr val="320E04"/>
              </a:solidFill>
              <a:latin typeface="Arial" panose="020B0604020202020204" pitchFamily="34" charset="0"/>
              <a:ea typeface="ＭＳ Ｐゴシック" panose="020B0600070205080204" pitchFamily="34" charset="-128"/>
            </a:endParaRPr>
          </a:p>
          <a:p>
            <a:pPr marL="26988" eaLnBrk="1" hangingPunct="1"/>
            <a:endParaRPr lang="es-ES_tradnl" altLang="es-ES" sz="2400"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Según esta definición, el proyecto se refiere más bien al plan para hacer algo, no al acto de llevar a cabo ese plan.</a:t>
            </a:r>
            <a:endParaRPr lang="es-ES_tradnl" altLang="es-ES" sz="24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C870E95C-53ED-B140-BE0C-325F2A39F39B}"/>
              </a:ext>
            </a:extLst>
          </p:cNvPr>
          <p:cNvSpPr>
            <a:spLocks noGrp="1"/>
          </p:cNvSpPr>
          <p:nvPr>
            <p:ph type="ctrTitle"/>
          </p:nvPr>
        </p:nvSpPr>
        <p:spPr>
          <a:xfrm>
            <a:off x="1431925" y="332656"/>
            <a:ext cx="7407275" cy="1080542"/>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3. El proyecto: conceptos y clasificación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2 Subtítulo">
            <a:extLst>
              <a:ext uri="{FF2B5EF4-FFF2-40B4-BE49-F238E27FC236}">
                <a16:creationId xmlns:a16="http://schemas.microsoft.com/office/drawing/2014/main" id="{2C3E4226-72AA-314D-833E-2BF12F9BE9E9}"/>
              </a:ext>
            </a:extLst>
          </p:cNvPr>
          <p:cNvSpPr>
            <a:spLocks noGrp="1"/>
          </p:cNvSpPr>
          <p:nvPr>
            <p:ph type="subTitle" idx="1"/>
          </p:nvPr>
        </p:nvSpPr>
        <p:spPr>
          <a:xfrm>
            <a:off x="1431925" y="1849439"/>
            <a:ext cx="7407275" cy="3379762"/>
          </a:xfrm>
        </p:spPr>
        <p:txBody>
          <a:bodyPr/>
          <a:lstStyle/>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1. Definiciones</a:t>
            </a:r>
          </a:p>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1.3 Según la Asociación Española de Empresas de Ingeniería Consultoras (ASEINCO):</a:t>
            </a:r>
          </a:p>
          <a:p>
            <a:pPr marL="26988" eaLnBrk="1" hangingPunct="1"/>
            <a:endParaRPr lang="es-ES_tradnl" altLang="es-ES" sz="2400"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400" dirty="0">
                <a:solidFill>
                  <a:srgbClr val="320E04"/>
                </a:solidFill>
                <a:latin typeface="Arial" panose="020B0604020202020204" pitchFamily="34" charset="0"/>
                <a:ea typeface="ＭＳ Ｐゴシック" panose="020B0600070205080204" pitchFamily="34" charset="-128"/>
              </a:rPr>
              <a:t>‘Conjunto de ideas expresadas en unos documentos para cubrir un conjunto de objetivos con un cierto nivel de fiabilidad, dentro de unas condiciones de economía y tiempo’.</a:t>
            </a: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a:p>
            <a:pPr marL="26988" eaLnBrk="1" hangingPunct="1"/>
            <a:endParaRPr lang="es-ES_tradnl" altLang="es-ES"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BC10132A-C95A-8C4D-AD3B-FD7A2B54C40B}"/>
              </a:ext>
            </a:extLst>
          </p:cNvPr>
          <p:cNvSpPr>
            <a:spLocks noGrp="1"/>
          </p:cNvSpPr>
          <p:nvPr>
            <p:ph type="ctrTitle"/>
          </p:nvPr>
        </p:nvSpPr>
        <p:spPr>
          <a:xfrm>
            <a:off x="1431925" y="332656"/>
            <a:ext cx="7407275" cy="1080542"/>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3. El proyecto: conceptos y clasificación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2 Subtítulo">
            <a:extLst>
              <a:ext uri="{FF2B5EF4-FFF2-40B4-BE49-F238E27FC236}">
                <a16:creationId xmlns:a16="http://schemas.microsoft.com/office/drawing/2014/main" id="{85C5FEBC-B34F-A94F-B265-575EECA2F1BB}"/>
              </a:ext>
            </a:extLst>
          </p:cNvPr>
          <p:cNvSpPr>
            <a:spLocks noGrp="1"/>
          </p:cNvSpPr>
          <p:nvPr>
            <p:ph type="subTitle" idx="1"/>
          </p:nvPr>
        </p:nvSpPr>
        <p:spPr>
          <a:xfrm>
            <a:off x="1431924" y="1431122"/>
            <a:ext cx="7407275" cy="5166230"/>
          </a:xfrm>
        </p:spPr>
        <p:txBody>
          <a:bodyPr/>
          <a:lstStyle/>
          <a:p>
            <a:pPr marL="26988" eaLnBrk="1" hangingPunct="1"/>
            <a:r>
              <a:rPr lang="es-ES_tradnl" altLang="es-ES" sz="2000" dirty="0">
                <a:solidFill>
                  <a:srgbClr val="320E04"/>
                </a:solidFill>
                <a:latin typeface="Arial" panose="020B0604020202020204" pitchFamily="34" charset="0"/>
                <a:ea typeface="ＭＳ Ｐゴシック" panose="020B0600070205080204" pitchFamily="34" charset="-128"/>
              </a:rPr>
              <a:t>1. Definiciones</a:t>
            </a:r>
          </a:p>
          <a:p>
            <a:pPr marL="0" eaLnBrk="1" hangingPunct="1">
              <a:lnSpc>
                <a:spcPct val="90000"/>
              </a:lnSpc>
            </a:pPr>
            <a:r>
              <a:rPr lang="es-ES_tradnl" altLang="es-ES" sz="2000" dirty="0">
                <a:solidFill>
                  <a:srgbClr val="320E04"/>
                </a:solidFill>
                <a:latin typeface="Arial Narrow" panose="020B0604020202020204" pitchFamily="34" charset="0"/>
                <a:ea typeface="ＭＳ Ｐゴシック" panose="020B0600070205080204" pitchFamily="34" charset="-128"/>
              </a:rPr>
              <a:t>1.4 Según Wikipedia</a:t>
            </a:r>
          </a:p>
          <a:p>
            <a:pPr marL="0" eaLnBrk="1" hangingPunct="1">
              <a:lnSpc>
                <a:spcPct val="90000"/>
              </a:lnSpc>
            </a:pPr>
            <a:r>
              <a:rPr lang="es-ES_tradnl" altLang="es-ES" sz="2000" dirty="0">
                <a:solidFill>
                  <a:srgbClr val="320E04"/>
                </a:solidFill>
                <a:latin typeface="Arial Narrow" panose="020B0604020202020204" pitchFamily="34" charset="0"/>
                <a:ea typeface="ＭＳ Ｐゴシック" panose="020B0600070205080204" pitchFamily="34" charset="-128"/>
              </a:rPr>
              <a:t>En muchos países, los contenidos de determinados proyectos de ingeniería  están regulados y definidos mediante legislación específica, que en determinadas ocasiones establece que dichos proyectos solamente puedan ser efectuados por empresas o por </a:t>
            </a:r>
            <a:r>
              <a:rPr lang="es-ES_tradnl" altLang="es-ES" sz="2000" u="sng" dirty="0">
                <a:solidFill>
                  <a:srgbClr val="320E04"/>
                </a:solidFill>
                <a:latin typeface="Arial Narrow" panose="020B0604020202020204" pitchFamily="34" charset="0"/>
                <a:ea typeface="ＭＳ Ｐゴシック" panose="020B0600070205080204" pitchFamily="34" charset="-128"/>
              </a:rPr>
              <a:t>técnicos titulados competentes</a:t>
            </a:r>
            <a:r>
              <a:rPr lang="es-ES_tradnl" altLang="es-ES" sz="2000" dirty="0">
                <a:solidFill>
                  <a:srgbClr val="320E04"/>
                </a:solidFill>
                <a:latin typeface="Arial Narrow" panose="020B0604020202020204" pitchFamily="34" charset="0"/>
                <a:ea typeface="ＭＳ Ｐゴシック" panose="020B0600070205080204" pitchFamily="34" charset="-128"/>
              </a:rPr>
              <a:t>, y llevados a cabo por empresas con licencia específica para llevar a cabo determinados tipos de proyectos como centrales eléctricas, instalaciones industriales, instalación y montaje de redes eléctricas, infraestructura de transporte y similares.</a:t>
            </a:r>
          </a:p>
          <a:p>
            <a:pPr marL="0" eaLnBrk="1" hangingPunct="1">
              <a:lnSpc>
                <a:spcPct val="90000"/>
              </a:lnSpc>
            </a:pPr>
            <a:r>
              <a:rPr lang="es-ES_tradnl" altLang="es-ES" sz="2000" dirty="0">
                <a:solidFill>
                  <a:srgbClr val="320E04"/>
                </a:solidFill>
                <a:latin typeface="Arial Narrow" panose="020B0604020202020204" pitchFamily="34" charset="0"/>
                <a:ea typeface="ＭＳ Ｐゴシック" panose="020B0600070205080204" pitchFamily="34" charset="-128"/>
              </a:rPr>
              <a:t>Normalmente, el proyecto se desarrolla bajo las condiciones establecidas mediante un contrato entre propiedad, ingeniería y empresa contratista, instaladora o constructora. Por regla general, un proyecto de ingeniería se lleva a cabo en dos fases: diseño y construcción. La fase de diseño incluye toda la documentación necesaria para llevar a cabo la fase de ejecución, que comprende planos y especificaciones escritas y toda la documentación necesaria para la planificación de la ejecución, presupuestos, cálculos y justificaciones técnicas</a:t>
            </a:r>
            <a:endParaRPr lang="es-ES_tradnl" altLang="es-ES" sz="1700" dirty="0">
              <a:solidFill>
                <a:srgbClr val="320E04"/>
              </a:solidFill>
              <a:ea typeface="ＭＳ Ｐゴシック" panose="020B0600070205080204" pitchFamily="34" charset="-128"/>
            </a:endParaRPr>
          </a:p>
          <a:p>
            <a:pPr marL="0" eaLnBrk="1" hangingPunct="1">
              <a:lnSpc>
                <a:spcPct val="90000"/>
              </a:lnSpc>
            </a:pPr>
            <a:endParaRPr lang="es-ES_tradnl" altLang="es-ES" sz="1700" dirty="0">
              <a:solidFill>
                <a:srgbClr val="320E04"/>
              </a:solidFill>
              <a:ea typeface="ＭＳ Ｐゴシック" panose="020B0600070205080204" pitchFamily="34" charset="-128"/>
            </a:endParaRPr>
          </a:p>
          <a:p>
            <a:pPr marL="0" eaLnBrk="1" hangingPunct="1">
              <a:lnSpc>
                <a:spcPct val="90000"/>
              </a:lnSpc>
            </a:pPr>
            <a:endParaRPr lang="es-ES_tradnl" altLang="es-ES" sz="2200" dirty="0">
              <a:solidFill>
                <a:srgbClr val="320E04"/>
              </a:solidFill>
              <a:ea typeface="ＭＳ Ｐゴシック" panose="020B0600070205080204" pitchFamily="34" charset="-128"/>
            </a:endParaRPr>
          </a:p>
          <a:p>
            <a:pPr marL="0" eaLnBrk="1" hangingPunct="1">
              <a:lnSpc>
                <a:spcPct val="90000"/>
              </a:lnSpc>
            </a:pPr>
            <a:endParaRPr lang="es-ES_tradnl" altLang="es-ES" sz="2200" dirty="0">
              <a:solidFill>
                <a:srgbClr val="320E04"/>
              </a:solidFill>
              <a:ea typeface="ＭＳ Ｐゴシック" panose="020B0600070205080204" pitchFamily="34" charset="-128"/>
            </a:endParaRPr>
          </a:p>
          <a:p>
            <a:pPr marL="0" eaLnBrk="1" hangingPunct="1">
              <a:lnSpc>
                <a:spcPct val="90000"/>
              </a:lnSpc>
            </a:pPr>
            <a:endParaRPr lang="es-ES_tradnl" altLang="es-ES" sz="22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97322EB8-939A-864C-9941-4FBE74683CFA}"/>
              </a:ext>
            </a:extLst>
          </p:cNvPr>
          <p:cNvSpPr>
            <a:spLocks noGrp="1"/>
          </p:cNvSpPr>
          <p:nvPr>
            <p:ph type="ctrTitle"/>
          </p:nvPr>
        </p:nvSpPr>
        <p:spPr>
          <a:xfrm>
            <a:off x="1431923" y="260648"/>
            <a:ext cx="7407275" cy="1080542"/>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3. El proyecto: conceptos y clasificación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23B80037-D893-9F43-A0CF-E7DA06241436}"/>
              </a:ext>
            </a:extLst>
          </p:cNvPr>
          <p:cNvSpPr>
            <a:spLocks noGrp="1"/>
          </p:cNvSpPr>
          <p:nvPr>
            <p:ph type="subTitle" idx="1"/>
          </p:nvPr>
        </p:nvSpPr>
        <p:spPr>
          <a:xfrm>
            <a:off x="1431925" y="1849438"/>
            <a:ext cx="7407275" cy="4459287"/>
          </a:xfrm>
        </p:spPr>
        <p:txBody>
          <a:bodyPr>
            <a:normAutofit/>
          </a:bodyPr>
          <a:lstStyle/>
          <a:p>
            <a:pPr marL="0" eaLnBrk="1" fontAlgn="auto" hangingPunct="1">
              <a:spcAft>
                <a:spcPts val="0"/>
              </a:spcAft>
              <a:buFont typeface="Wingdings 2"/>
              <a:buNone/>
              <a:defRPr/>
            </a:pPr>
            <a:r>
              <a:rPr lang="es-ES_tradnl" sz="2400" dirty="0">
                <a:ea typeface="+mn-ea"/>
                <a:cs typeface="+mn-cs"/>
              </a:rPr>
              <a:t>2. Tipos de proyecto</a:t>
            </a:r>
            <a:endParaRPr lang="es-ES_tradnl" sz="2400" dirty="0">
              <a:latin typeface="Arial" charset="0"/>
              <a:ea typeface="+mn-ea"/>
              <a:cs typeface="+mn-cs"/>
            </a:endParaRPr>
          </a:p>
          <a:p>
            <a:pPr eaLnBrk="1" fontAlgn="auto" hangingPunct="1">
              <a:spcAft>
                <a:spcPts val="0"/>
              </a:spcAft>
              <a:buFont typeface="Wingdings 2"/>
              <a:buNone/>
              <a:defRPr/>
            </a:pPr>
            <a:r>
              <a:rPr lang="es-ES_tradnl" sz="2400" b="1" dirty="0">
                <a:latin typeface="Arial Narrow"/>
                <a:ea typeface="+mn-ea"/>
                <a:cs typeface="Arial Narrow"/>
              </a:rPr>
              <a:t>2.1 De acuerdo con la finalidad:</a:t>
            </a:r>
          </a:p>
          <a:p>
            <a:pPr marL="370332" indent="-342900" eaLnBrk="1" fontAlgn="auto" hangingPunct="1">
              <a:spcAft>
                <a:spcPts val="0"/>
              </a:spcAft>
              <a:buFont typeface="Arial"/>
              <a:buChar char="•"/>
              <a:defRPr/>
            </a:pPr>
            <a:r>
              <a:rPr lang="es-ES_tradnl" sz="2200" dirty="0">
                <a:latin typeface="Arial Narrow"/>
                <a:ea typeface="+mn-ea"/>
                <a:cs typeface="Arial Narrow"/>
              </a:rPr>
              <a:t>Legalización o administrativo</a:t>
            </a:r>
          </a:p>
          <a:p>
            <a:pPr marL="370332" indent="-342900" eaLnBrk="1" fontAlgn="auto" hangingPunct="1">
              <a:spcAft>
                <a:spcPts val="0"/>
              </a:spcAft>
              <a:buFont typeface="Arial"/>
              <a:buChar char="•"/>
              <a:defRPr/>
            </a:pPr>
            <a:r>
              <a:rPr lang="es-ES_tradnl" sz="2200" dirty="0">
                <a:latin typeface="Arial Narrow"/>
                <a:ea typeface="+mn-ea"/>
                <a:cs typeface="Arial Narrow"/>
              </a:rPr>
              <a:t>Ejecución</a:t>
            </a:r>
          </a:p>
          <a:p>
            <a:pPr eaLnBrk="1" fontAlgn="auto" hangingPunct="1">
              <a:spcAft>
                <a:spcPts val="0"/>
              </a:spcAft>
              <a:buFont typeface="Wingdings 2"/>
              <a:buNone/>
              <a:defRPr/>
            </a:pPr>
            <a:r>
              <a:rPr lang="es-ES_tradnl" sz="2400" b="1" dirty="0">
                <a:latin typeface="Arial Narrow"/>
                <a:ea typeface="+mn-ea"/>
                <a:cs typeface="Arial Narrow"/>
              </a:rPr>
              <a:t>2.2 En función del sistema:</a:t>
            </a:r>
          </a:p>
          <a:p>
            <a:pPr marL="370332" indent="-342900" eaLnBrk="1" fontAlgn="auto" hangingPunct="1">
              <a:spcAft>
                <a:spcPts val="0"/>
              </a:spcAft>
              <a:buFont typeface="Arial"/>
              <a:buChar char="•"/>
              <a:defRPr/>
            </a:pPr>
            <a:r>
              <a:rPr lang="es-ES_tradnl" sz="2400" dirty="0">
                <a:latin typeface="Arial Narrow"/>
                <a:ea typeface="+mn-ea"/>
                <a:cs typeface="Arial Narrow"/>
              </a:rPr>
              <a:t>De producto o servicio</a:t>
            </a:r>
          </a:p>
          <a:p>
            <a:pPr marL="370332" indent="-342900" eaLnBrk="1" fontAlgn="auto" hangingPunct="1">
              <a:spcAft>
                <a:spcPts val="0"/>
              </a:spcAft>
              <a:buFont typeface="Arial"/>
              <a:buChar char="•"/>
              <a:defRPr/>
            </a:pPr>
            <a:r>
              <a:rPr lang="es-ES_tradnl" sz="2400" dirty="0">
                <a:latin typeface="Arial Narrow"/>
                <a:ea typeface="+mn-ea"/>
                <a:cs typeface="Arial Narrow"/>
              </a:rPr>
              <a:t>Redes e instalaciones</a:t>
            </a:r>
          </a:p>
          <a:p>
            <a:pPr marL="370332" indent="-342900" eaLnBrk="1" fontAlgn="auto" hangingPunct="1">
              <a:spcAft>
                <a:spcPts val="0"/>
              </a:spcAft>
              <a:buFont typeface="Arial"/>
              <a:buChar char="•"/>
              <a:defRPr/>
            </a:pPr>
            <a:r>
              <a:rPr lang="es-ES_tradnl" sz="2400" dirty="0">
                <a:latin typeface="Arial Narrow"/>
                <a:ea typeface="+mn-ea"/>
                <a:cs typeface="Arial Narrow"/>
              </a:rPr>
              <a:t>De planta industrial</a:t>
            </a:r>
          </a:p>
          <a:p>
            <a:pPr marL="370332" indent="-342900" eaLnBrk="1" fontAlgn="auto" hangingPunct="1">
              <a:spcAft>
                <a:spcPts val="0"/>
              </a:spcAft>
              <a:buFont typeface="Arial"/>
              <a:buChar char="•"/>
              <a:defRPr/>
            </a:pPr>
            <a:r>
              <a:rPr lang="es-ES_tradnl" sz="2400" dirty="0">
                <a:latin typeface="Arial Narrow"/>
                <a:ea typeface="+mn-ea"/>
                <a:cs typeface="Arial Narrow"/>
              </a:rPr>
              <a:t>De polígono industrial</a:t>
            </a: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6" name="1 Título">
            <a:extLst>
              <a:ext uri="{FF2B5EF4-FFF2-40B4-BE49-F238E27FC236}">
                <a16:creationId xmlns:a16="http://schemas.microsoft.com/office/drawing/2014/main" id="{6C9B7735-8CCC-264B-9A6C-37A6EFB4934A}"/>
              </a:ext>
            </a:extLst>
          </p:cNvPr>
          <p:cNvSpPr>
            <a:spLocks noGrp="1"/>
          </p:cNvSpPr>
          <p:nvPr>
            <p:ph type="ctrTitle"/>
          </p:nvPr>
        </p:nvSpPr>
        <p:spPr>
          <a:xfrm>
            <a:off x="1431925" y="332656"/>
            <a:ext cx="7407275" cy="1080542"/>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3. El proyecto: conceptos y clasificación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2 Subtítulo">
            <a:extLst>
              <a:ext uri="{FF2B5EF4-FFF2-40B4-BE49-F238E27FC236}">
                <a16:creationId xmlns:a16="http://schemas.microsoft.com/office/drawing/2014/main" id="{3E8EBF99-8F74-A644-8C9A-52275EA480FF}"/>
              </a:ext>
            </a:extLst>
          </p:cNvPr>
          <p:cNvSpPr>
            <a:spLocks noGrp="1"/>
          </p:cNvSpPr>
          <p:nvPr>
            <p:ph type="subTitle" idx="1"/>
          </p:nvPr>
        </p:nvSpPr>
        <p:spPr>
          <a:xfrm>
            <a:off x="1431925" y="1556792"/>
            <a:ext cx="7407275" cy="4459287"/>
          </a:xfrm>
        </p:spPr>
        <p:txBody>
          <a:bodyPr/>
          <a:lstStyle/>
          <a:p>
            <a:pPr marL="0" eaLnBrk="1" hangingPunct="1">
              <a:lnSpc>
                <a:spcPct val="80000"/>
              </a:lnSpc>
            </a:pPr>
            <a:r>
              <a:rPr lang="es-ES_tradnl" altLang="es-ES" sz="2200" dirty="0">
                <a:solidFill>
                  <a:srgbClr val="320E04"/>
                </a:solidFill>
                <a:ea typeface="ＭＳ Ｐゴシック" panose="020B0600070205080204" pitchFamily="34" charset="-128"/>
              </a:rPr>
              <a:t>2. Clasificación</a:t>
            </a:r>
            <a:endParaRPr lang="es-ES_tradnl" altLang="es-ES" sz="2200" dirty="0">
              <a:solidFill>
                <a:srgbClr val="320E04"/>
              </a:solidFill>
              <a:latin typeface="Arial" panose="020B0604020202020204" pitchFamily="34" charset="0"/>
              <a:ea typeface="ＭＳ Ｐゴシック" panose="020B0600070205080204" pitchFamily="34" charset="-128"/>
            </a:endParaRPr>
          </a:p>
          <a:p>
            <a:pPr marL="0" eaLnBrk="1" hangingPunct="1">
              <a:lnSpc>
                <a:spcPct val="80000"/>
              </a:lnSpc>
            </a:pPr>
            <a:r>
              <a:rPr lang="es-ES_tradnl" altLang="es-ES" sz="2200" b="1" dirty="0">
                <a:solidFill>
                  <a:srgbClr val="320E04"/>
                </a:solidFill>
                <a:latin typeface="Arial Narrow" panose="020B0604020202020204" pitchFamily="34" charset="0"/>
                <a:ea typeface="ＭＳ Ｐゴシック" panose="020B0600070205080204" pitchFamily="34" charset="-128"/>
              </a:rPr>
              <a:t>2.3 En función de la etapa de la vida del sistema:</a:t>
            </a:r>
          </a:p>
          <a:p>
            <a:pPr marL="800100" lvl="1" indent="-342900" algn="l" eaLnBrk="1" hangingPunct="1">
              <a:lnSpc>
                <a:spcPct val="80000"/>
              </a:lnSpc>
              <a:buFont typeface="Arial" panose="020B0604020202020204" pitchFamily="34" charset="0"/>
              <a:buChar char="•"/>
            </a:pPr>
            <a:r>
              <a:rPr lang="es-ES_tradnl" altLang="es-ES" sz="1800" dirty="0">
                <a:latin typeface="Arial" panose="020B0604020202020204" pitchFamily="34" charset="0"/>
                <a:ea typeface="ＭＳ Ｐゴシック" panose="020B0600070205080204" pitchFamily="34" charset="-128"/>
                <a:cs typeface="Arial" panose="020B0604020202020204" pitchFamily="34" charset="0"/>
              </a:rPr>
              <a:t>Definición (estudios de viabilidad)</a:t>
            </a:r>
          </a:p>
          <a:p>
            <a:pPr marL="800100" lvl="1" indent="-342900" algn="l" eaLnBrk="1" hangingPunct="1">
              <a:lnSpc>
                <a:spcPct val="80000"/>
              </a:lnSpc>
              <a:buFont typeface="Arial" panose="020B0604020202020204" pitchFamily="34" charset="0"/>
              <a:buChar char="•"/>
            </a:pPr>
            <a:r>
              <a:rPr lang="es-ES_tradnl" altLang="es-ES" sz="1800" dirty="0">
                <a:latin typeface="Arial" panose="020B0604020202020204" pitchFamily="34" charset="0"/>
                <a:ea typeface="ＭＳ Ｐゴシック" panose="020B0600070205080204" pitchFamily="34" charset="-128"/>
                <a:cs typeface="Arial" panose="020B0604020202020204" pitchFamily="34" charset="0"/>
              </a:rPr>
              <a:t>Concepción (anteproyecto)</a:t>
            </a:r>
          </a:p>
          <a:p>
            <a:pPr marL="800100" lvl="1" indent="-342900" algn="l" eaLnBrk="1" hangingPunct="1">
              <a:lnSpc>
                <a:spcPct val="80000"/>
              </a:lnSpc>
              <a:buFont typeface="Arial" panose="020B0604020202020204" pitchFamily="34" charset="0"/>
              <a:buChar char="•"/>
            </a:pPr>
            <a:r>
              <a:rPr lang="es-ES_tradnl" altLang="es-ES" sz="1800" dirty="0">
                <a:latin typeface="Arial" panose="020B0604020202020204" pitchFamily="34" charset="0"/>
                <a:ea typeface="ＭＳ Ｐゴシック" panose="020B0600070205080204" pitchFamily="34" charset="-128"/>
                <a:cs typeface="Arial" panose="020B0604020202020204" pitchFamily="34" charset="0"/>
              </a:rPr>
              <a:t>Investigación </a:t>
            </a:r>
          </a:p>
          <a:p>
            <a:pPr marL="800100" lvl="1" indent="-342900" algn="l" eaLnBrk="1" hangingPunct="1">
              <a:lnSpc>
                <a:spcPct val="80000"/>
              </a:lnSpc>
              <a:buFont typeface="Arial" panose="020B0604020202020204" pitchFamily="34" charset="0"/>
              <a:buChar char="•"/>
            </a:pPr>
            <a:r>
              <a:rPr lang="es-ES_tradnl" altLang="es-ES" sz="1800" dirty="0">
                <a:latin typeface="Arial" panose="020B0604020202020204" pitchFamily="34" charset="0"/>
                <a:ea typeface="ＭＳ Ｐゴシック" panose="020B0600070205080204" pitchFamily="34" charset="-128"/>
                <a:cs typeface="Arial" panose="020B0604020202020204" pitchFamily="34" charset="0"/>
              </a:rPr>
              <a:t>Desarrollo (proyecto detallado – especificaciones para fabricar, construir, montar o instalar).</a:t>
            </a:r>
          </a:p>
          <a:p>
            <a:pPr marL="800100" lvl="1" indent="-342900" algn="l" eaLnBrk="1" hangingPunct="1">
              <a:lnSpc>
                <a:spcPct val="80000"/>
              </a:lnSpc>
              <a:buFont typeface="Arial" panose="020B0604020202020204" pitchFamily="34" charset="0"/>
              <a:buChar char="•"/>
            </a:pPr>
            <a:r>
              <a:rPr lang="es-ES_tradnl" altLang="es-ES" sz="1800" dirty="0">
                <a:latin typeface="Arial" panose="020B0604020202020204" pitchFamily="34" charset="0"/>
                <a:ea typeface="ＭＳ Ｐゴシック" panose="020B0600070205080204" pitchFamily="34" charset="-128"/>
                <a:cs typeface="Arial" panose="020B0604020202020204" pitchFamily="34" charset="0"/>
              </a:rPr>
              <a:t>Ejecución (descripción y plan detallado para el montaje)</a:t>
            </a:r>
          </a:p>
          <a:p>
            <a:pPr marL="800100" lvl="1" indent="-342900" algn="l" eaLnBrk="1" hangingPunct="1">
              <a:lnSpc>
                <a:spcPct val="80000"/>
              </a:lnSpc>
              <a:buFont typeface="Arial" panose="020B0604020202020204" pitchFamily="34" charset="0"/>
              <a:buChar char="•"/>
            </a:pPr>
            <a:r>
              <a:rPr lang="es-ES_tradnl" altLang="es-ES" sz="1800" dirty="0">
                <a:latin typeface="Arial" panose="020B0604020202020204" pitchFamily="34" charset="0"/>
                <a:ea typeface="ＭＳ Ｐゴシック" panose="020B0600070205080204" pitchFamily="34" charset="-128"/>
                <a:cs typeface="Arial" panose="020B0604020202020204" pitchFamily="34" charset="0"/>
              </a:rPr>
              <a:t>Operación (descripción y plan detallado de manejo, uso o explotación)</a:t>
            </a:r>
          </a:p>
          <a:p>
            <a:pPr marL="800100" lvl="1" indent="-342900" algn="l" eaLnBrk="1" hangingPunct="1">
              <a:lnSpc>
                <a:spcPct val="80000"/>
              </a:lnSpc>
              <a:buFont typeface="Arial" panose="020B0604020202020204" pitchFamily="34" charset="0"/>
              <a:buChar char="•"/>
            </a:pPr>
            <a:r>
              <a:rPr lang="es-ES_tradnl" altLang="es-ES" sz="1800" dirty="0">
                <a:latin typeface="Arial" panose="020B0604020202020204" pitchFamily="34" charset="0"/>
                <a:ea typeface="ＭＳ Ｐゴシック" panose="020B0600070205080204" pitchFamily="34" charset="-128"/>
                <a:cs typeface="Arial" panose="020B0604020202020204" pitchFamily="34" charset="0"/>
              </a:rPr>
              <a:t>Mantenimiento (descripción y plan detallado de operaciones de mantenimiento)</a:t>
            </a:r>
          </a:p>
          <a:p>
            <a:pPr marL="800100" lvl="1" indent="-342900" algn="l" eaLnBrk="1" hangingPunct="1">
              <a:lnSpc>
                <a:spcPct val="80000"/>
              </a:lnSpc>
              <a:buFont typeface="Arial" panose="020B0604020202020204" pitchFamily="34" charset="0"/>
              <a:buChar char="•"/>
            </a:pPr>
            <a:r>
              <a:rPr lang="es-ES_tradnl" altLang="es-ES" sz="1800" dirty="0">
                <a:latin typeface="Arial" panose="020B0604020202020204" pitchFamily="34" charset="0"/>
                <a:ea typeface="ＭＳ Ｐゴシック" panose="020B0600070205080204" pitchFamily="34" charset="-128"/>
                <a:cs typeface="Arial" panose="020B0604020202020204" pitchFamily="34" charset="0"/>
              </a:rPr>
              <a:t>Reparación (descripción y plan detallado de operaciones de reparación)</a:t>
            </a:r>
          </a:p>
          <a:p>
            <a:pPr marL="800100" lvl="1" indent="-342900" algn="l" eaLnBrk="1" hangingPunct="1">
              <a:lnSpc>
                <a:spcPct val="80000"/>
              </a:lnSpc>
              <a:buFont typeface="Arial" panose="020B0604020202020204" pitchFamily="34" charset="0"/>
              <a:buChar char="•"/>
            </a:pPr>
            <a:r>
              <a:rPr lang="es-ES_tradnl" altLang="es-ES" sz="1800" dirty="0">
                <a:latin typeface="Arial" panose="020B0604020202020204" pitchFamily="34" charset="0"/>
                <a:ea typeface="ＭＳ Ｐゴシック" panose="020B0600070205080204" pitchFamily="34" charset="-128"/>
                <a:cs typeface="Arial" panose="020B0604020202020204" pitchFamily="34" charset="0"/>
              </a:rPr>
              <a:t>Retiro (descripción y plan detallado de operaciones de desmontaje o demolición)</a:t>
            </a:r>
          </a:p>
          <a:p>
            <a:pPr marL="0" eaLnBrk="1" hangingPunct="1">
              <a:lnSpc>
                <a:spcPct val="80000"/>
              </a:lnSpc>
            </a:pPr>
            <a:endParaRPr lang="es-ES_tradnl" altLang="es-ES" sz="1900" dirty="0">
              <a:solidFill>
                <a:srgbClr val="320E04"/>
              </a:solidFill>
              <a:ea typeface="ＭＳ Ｐゴシック" panose="020B0600070205080204" pitchFamily="34" charset="-128"/>
            </a:endParaRPr>
          </a:p>
          <a:p>
            <a:pPr marL="0" eaLnBrk="1" hangingPunct="1">
              <a:lnSpc>
                <a:spcPct val="80000"/>
              </a:lnSpc>
            </a:pPr>
            <a:endParaRPr lang="es-ES_tradnl" altLang="es-ES" sz="1900" dirty="0">
              <a:solidFill>
                <a:srgbClr val="320E04"/>
              </a:solidFill>
              <a:ea typeface="ＭＳ Ｐゴシック" panose="020B0600070205080204" pitchFamily="34" charset="-128"/>
            </a:endParaRPr>
          </a:p>
          <a:p>
            <a:pPr marL="0" eaLnBrk="1" hangingPunct="1">
              <a:lnSpc>
                <a:spcPct val="80000"/>
              </a:lnSpc>
            </a:pPr>
            <a:endParaRPr lang="es-ES_tradnl" altLang="es-ES" sz="2400" dirty="0">
              <a:solidFill>
                <a:srgbClr val="320E04"/>
              </a:solidFill>
              <a:ea typeface="ＭＳ Ｐゴシック" panose="020B0600070205080204" pitchFamily="34" charset="-128"/>
            </a:endParaRPr>
          </a:p>
          <a:p>
            <a:pPr marL="0" eaLnBrk="1" hangingPunct="1">
              <a:lnSpc>
                <a:spcPct val="80000"/>
              </a:lnSpc>
            </a:pPr>
            <a:endParaRPr lang="es-ES_tradnl" altLang="es-ES" sz="2400" dirty="0">
              <a:solidFill>
                <a:srgbClr val="320E04"/>
              </a:solidFill>
              <a:ea typeface="ＭＳ Ｐゴシック" panose="020B0600070205080204" pitchFamily="34" charset="-128"/>
            </a:endParaRPr>
          </a:p>
          <a:p>
            <a:pPr marL="0" eaLnBrk="1" hangingPunct="1">
              <a:lnSpc>
                <a:spcPct val="80000"/>
              </a:lnSpc>
            </a:pPr>
            <a:endParaRPr lang="es-ES_tradnl" altLang="es-ES" sz="24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869EEEA5-C780-904C-AFFE-6C3786E02716}"/>
              </a:ext>
            </a:extLst>
          </p:cNvPr>
          <p:cNvSpPr>
            <a:spLocks noGrp="1"/>
          </p:cNvSpPr>
          <p:nvPr>
            <p:ph type="ctrTitle"/>
          </p:nvPr>
        </p:nvSpPr>
        <p:spPr>
          <a:xfrm>
            <a:off x="1431925" y="332656"/>
            <a:ext cx="7407275" cy="1080542"/>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3. El proyecto: conceptos y clasificación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5">
            <a:extLst>
              <a:ext uri="{FF2B5EF4-FFF2-40B4-BE49-F238E27FC236}">
                <a16:creationId xmlns:a16="http://schemas.microsoft.com/office/drawing/2014/main" id="{EB2611B0-C512-8741-80DC-4DEA29803DC7}"/>
              </a:ext>
            </a:extLst>
          </p:cNvPr>
          <p:cNvSpPr>
            <a:spLocks noChangeArrowheads="1"/>
          </p:cNvSpPr>
          <p:nvPr/>
        </p:nvSpPr>
        <p:spPr bwMode="auto">
          <a:xfrm>
            <a:off x="1260475" y="188913"/>
            <a:ext cx="712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Proyectos de legalización o administrativos</a:t>
            </a:r>
          </a:p>
        </p:txBody>
      </p:sp>
      <p:pic>
        <p:nvPicPr>
          <p:cNvPr id="2" name="Picture 4">
            <a:extLst>
              <a:ext uri="{FF2B5EF4-FFF2-40B4-BE49-F238E27FC236}">
                <a16:creationId xmlns:a16="http://schemas.microsoft.com/office/drawing/2014/main" id="{F0C40A20-0CEC-71BC-5C31-9E883BD873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091658" y="908050"/>
            <a:ext cx="7862384" cy="5646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953085C4-7CFD-5447-8013-B0BA88BBB93A}"/>
              </a:ext>
            </a:extLst>
          </p:cNvPr>
          <p:cNvGraphicFramePr>
            <a:graphicFrameLocks noGrp="1"/>
          </p:cNvGraphicFramePr>
          <p:nvPr>
            <p:extLst>
              <p:ext uri="{D42A27DB-BD31-4B8C-83A1-F6EECF244321}">
                <p14:modId xmlns:p14="http://schemas.microsoft.com/office/powerpoint/2010/main" val="698033668"/>
              </p:ext>
            </p:extLst>
          </p:nvPr>
        </p:nvGraphicFramePr>
        <p:xfrm>
          <a:off x="1116013" y="765175"/>
          <a:ext cx="7920037" cy="5950038"/>
        </p:xfrm>
        <a:graphic>
          <a:graphicData uri="http://schemas.openxmlformats.org/drawingml/2006/table">
            <a:tbl>
              <a:tblPr/>
              <a:tblGrid>
                <a:gridCol w="1355725">
                  <a:extLst>
                    <a:ext uri="{9D8B030D-6E8A-4147-A177-3AD203B41FA5}">
                      <a16:colId xmlns:a16="http://schemas.microsoft.com/office/drawing/2014/main" val="2092313907"/>
                    </a:ext>
                  </a:extLst>
                </a:gridCol>
                <a:gridCol w="1641475">
                  <a:extLst>
                    <a:ext uri="{9D8B030D-6E8A-4147-A177-3AD203B41FA5}">
                      <a16:colId xmlns:a16="http://schemas.microsoft.com/office/drawing/2014/main" val="2723148128"/>
                    </a:ext>
                  </a:extLst>
                </a:gridCol>
                <a:gridCol w="1782762">
                  <a:extLst>
                    <a:ext uri="{9D8B030D-6E8A-4147-A177-3AD203B41FA5}">
                      <a16:colId xmlns:a16="http://schemas.microsoft.com/office/drawing/2014/main" val="2604322445"/>
                    </a:ext>
                  </a:extLst>
                </a:gridCol>
                <a:gridCol w="1069975">
                  <a:extLst>
                    <a:ext uri="{9D8B030D-6E8A-4147-A177-3AD203B41FA5}">
                      <a16:colId xmlns:a16="http://schemas.microsoft.com/office/drawing/2014/main" val="1362364816"/>
                    </a:ext>
                  </a:extLst>
                </a:gridCol>
                <a:gridCol w="2070100">
                  <a:extLst>
                    <a:ext uri="{9D8B030D-6E8A-4147-A177-3AD203B41FA5}">
                      <a16:colId xmlns:a16="http://schemas.microsoft.com/office/drawing/2014/main" val="1441570851"/>
                    </a:ext>
                  </a:extLst>
                </a:gridCol>
              </a:tblGrid>
              <a:tr h="834981">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Grupo</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Organismo</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Tipo</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Normativa de referencia</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Ámbito</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Otros documentos normativos</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682248713"/>
                  </a:ext>
                </a:extLst>
              </a:tr>
              <a:tr h="441302">
                <a:tc rowSpan="7">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Instalaciones de baja tensión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(Consejería de Industria – CI)</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Edificios de vivienda</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rowSpan="3">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Reglamento Electrotécnico de BT (REBT)</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NTE-IEEV</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rowSpan="2">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P&gt;= 100 Kw</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rowSpan="3">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CM- Contenido mínimo (orden 89/4366 y actualizaciones posteriores).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CM-EE6</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NTE-IEB, IEE,IEI,IEP</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CERINSBT</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549537759"/>
                  </a:ext>
                </a:extLst>
              </a:tr>
              <a:tr h="236526">
                <a:tc vMerge="1">
                  <a:txBody>
                    <a:bodyPr/>
                    <a:lstStyle/>
                    <a:p>
                      <a:endParaRPr lang="es-ES"/>
                    </a:p>
                  </a:txBody>
                  <a:tcPr/>
                </a:tc>
                <a:tc rowSpan="2">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Casas</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vMerge="1">
                  <a:txBody>
                    <a:bodyPr/>
                    <a:lstStyle/>
                    <a:p>
                      <a:endParaRPr lang="es-ES"/>
                    </a:p>
                  </a:txBody>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2153163238"/>
                  </a:ext>
                </a:extLst>
              </a:tr>
              <a:tr h="693702">
                <a:tc vMerge="1">
                  <a:txBody>
                    <a:bodyPr/>
                    <a:lstStyle/>
                    <a:p>
                      <a:endParaRPr lang="es-ES"/>
                    </a:p>
                  </a:txBody>
                  <a:tcPr/>
                </a:tc>
                <a:tc vMerge="1">
                  <a:txBody>
                    <a:bodyPr/>
                    <a:lstStyle/>
                    <a:p>
                      <a:endParaRPr lang="es-ES"/>
                    </a:p>
                  </a:txBody>
                  <a:tcPr/>
                </a:tc>
                <a:tc vMerge="1">
                  <a:txBody>
                    <a:bodyPr/>
                    <a:lstStyle/>
                    <a:p>
                      <a:endParaRPr lang="es-ES"/>
                    </a:p>
                  </a:txBody>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P&gt;= 50 Kw</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vMerge="1">
                  <a:txBody>
                    <a:bodyPr/>
                    <a:lstStyle/>
                    <a:p>
                      <a:endParaRPr lang="es-ES"/>
                    </a:p>
                  </a:txBody>
                  <a:tcPr/>
                </a:tc>
                <a:extLst>
                  <a:ext uri="{0D108BD9-81ED-4DB2-BD59-A6C34878D82A}">
                    <a16:rowId xmlns:a16="http://schemas.microsoft.com/office/drawing/2014/main" val="1419488094"/>
                  </a:ext>
                </a:extLst>
              </a:tr>
              <a:tr h="640039">
                <a:tc vMerge="1">
                  <a:txBody>
                    <a:bodyPr/>
                    <a:lstStyle/>
                    <a:p>
                      <a:endParaRPr lang="es-ES"/>
                    </a:p>
                  </a:txBody>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Edificios industriales</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REBT</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P&gt;=20 Kw</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CM-EE5</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CERFINBT</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CERTOCA</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179308281"/>
                  </a:ext>
                </a:extLst>
              </a:tr>
              <a:tr h="1006422">
                <a:tc vMerge="1">
                  <a:txBody>
                    <a:bodyPr/>
                    <a:lstStyle/>
                    <a:p>
                      <a:endParaRPr lang="es-ES"/>
                    </a:p>
                  </a:txBody>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Otros usos</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REBT</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Según el caso:</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P &lt;=50 </a:t>
                      </a:r>
                      <a:r>
                        <a:rPr kumimoji="0" lang="es-ES_tradnl" altLang="es-ES" sz="1200" b="0" i="0" u="none" strike="noStrike" cap="none" normalizeH="0" baseline="0" noProof="0" dirty="0" err="1">
                          <a:ln>
                            <a:noFill/>
                          </a:ln>
                          <a:solidFill>
                            <a:srgbClr val="000000"/>
                          </a:solidFill>
                          <a:effectLst/>
                          <a:latin typeface="Arial" panose="020B0604020202020204" pitchFamily="34" charset="0"/>
                          <a:ea typeface="ＭＳ Ｐゴシック" panose="020B0600070205080204" pitchFamily="34" charset="-128"/>
                        </a:rPr>
                        <a:t>Kw</a:t>
                      </a:r>
                      <a:endPar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CM-EE7</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CERINSBT</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CERTOCA</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849491047"/>
                  </a:ext>
                </a:extLst>
              </a:tr>
              <a:tr h="908003">
                <a:tc vMerge="1">
                  <a:txBody>
                    <a:bodyPr/>
                    <a:lstStyle/>
                    <a:p>
                      <a:endParaRPr lang="es-ES"/>
                    </a:p>
                  </a:txBody>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Alumbrado urbano</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REBT</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Reglamento sobre eficiencia energética Alumbrado Exterior</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P&gt;= 5 Kw</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Narrow" panose="020B0606020202030204" pitchFamily="34" charset="0"/>
                          <a:ea typeface="ＭＳ Ｐゴシック" panose="020B0600070205080204" pitchFamily="34" charset="-128"/>
                        </a:rPr>
                        <a:t>ITC – EA – 05</a:t>
                      </a:r>
                      <a:endPar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CERFINBT</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CERPROV</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18539236"/>
                  </a:ext>
                </a:extLst>
              </a:tr>
              <a:tr h="1188976">
                <a:tc vMerge="1">
                  <a:txBody>
                    <a:bodyPr/>
                    <a:lstStyle/>
                    <a:p>
                      <a:endParaRPr lang="es-ES"/>
                    </a:p>
                  </a:txBody>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Redes de distribución</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REBT</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Narrow" panose="020B0606020202030204" pitchFamily="34" charset="0"/>
                          <a:ea typeface="ＭＳ Ｐゴシック" panose="020B0600070205080204" pitchFamily="34" charset="-128"/>
                        </a:rPr>
                        <a:t>MT 2.03.20 Normas particulares  de media y baja tensión</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In all cases</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Proyecto tipo:</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Narrow" panose="020B0606020202030204" pitchFamily="34" charset="0"/>
                          <a:ea typeface="ＭＳ Ｐゴシック" panose="020B0600070205080204" pitchFamily="34" charset="-128"/>
                        </a:rPr>
                        <a:t>MT 2.41.20 – Aérea Trenzada sobre soportes.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Narrow" panose="020B0606020202030204" pitchFamily="34" charset="0"/>
                          <a:ea typeface="ＭＳ Ｐゴシック" panose="020B0600070205080204" pitchFamily="34" charset="-128"/>
                        </a:rPr>
                        <a:t>MT 2.41.22 – Aérea Trenzada sobre fachadas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Narrow" panose="020B0606020202030204" pitchFamily="34" charset="0"/>
                          <a:ea typeface="ＭＳ Ｐゴシック" panose="020B0600070205080204" pitchFamily="34" charset="-128"/>
                        </a:rPr>
                        <a:t>MT 2.51.01 - Subterráneas</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2386008244"/>
                  </a:ext>
                </a:extLst>
              </a:tr>
            </a:tbl>
          </a:graphicData>
        </a:graphic>
      </p:graphicFrame>
      <p:sp>
        <p:nvSpPr>
          <p:cNvPr id="66605" name="Rectangle 5">
            <a:extLst>
              <a:ext uri="{FF2B5EF4-FFF2-40B4-BE49-F238E27FC236}">
                <a16:creationId xmlns:a16="http://schemas.microsoft.com/office/drawing/2014/main" id="{7417F833-0CAE-6443-ABEB-61806700923A}"/>
              </a:ext>
            </a:extLst>
          </p:cNvPr>
          <p:cNvSpPr>
            <a:spLocks noChangeArrowheads="1"/>
          </p:cNvSpPr>
          <p:nvPr/>
        </p:nvSpPr>
        <p:spPr bwMode="auto">
          <a:xfrm>
            <a:off x="1260475" y="115888"/>
            <a:ext cx="712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Proyectos de Legalización o Administrativos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953085C4-7CFD-5447-8013-B0BA88BBB93A}"/>
              </a:ext>
            </a:extLst>
          </p:cNvPr>
          <p:cNvGraphicFramePr>
            <a:graphicFrameLocks noGrp="1"/>
          </p:cNvGraphicFramePr>
          <p:nvPr>
            <p:extLst>
              <p:ext uri="{D42A27DB-BD31-4B8C-83A1-F6EECF244321}">
                <p14:modId xmlns:p14="http://schemas.microsoft.com/office/powerpoint/2010/main" val="158833606"/>
              </p:ext>
            </p:extLst>
          </p:nvPr>
        </p:nvGraphicFramePr>
        <p:xfrm>
          <a:off x="1115616" y="620688"/>
          <a:ext cx="7920037" cy="5560186"/>
        </p:xfrm>
        <a:graphic>
          <a:graphicData uri="http://schemas.openxmlformats.org/drawingml/2006/table">
            <a:tbl>
              <a:tblPr/>
              <a:tblGrid>
                <a:gridCol w="1296144">
                  <a:extLst>
                    <a:ext uri="{9D8B030D-6E8A-4147-A177-3AD203B41FA5}">
                      <a16:colId xmlns:a16="http://schemas.microsoft.com/office/drawing/2014/main" val="2092313907"/>
                    </a:ext>
                  </a:extLst>
                </a:gridCol>
                <a:gridCol w="2375867">
                  <a:extLst>
                    <a:ext uri="{9D8B030D-6E8A-4147-A177-3AD203B41FA5}">
                      <a16:colId xmlns:a16="http://schemas.microsoft.com/office/drawing/2014/main" val="2723148128"/>
                    </a:ext>
                  </a:extLst>
                </a:gridCol>
                <a:gridCol w="1656581">
                  <a:extLst>
                    <a:ext uri="{9D8B030D-6E8A-4147-A177-3AD203B41FA5}">
                      <a16:colId xmlns:a16="http://schemas.microsoft.com/office/drawing/2014/main" val="2604322445"/>
                    </a:ext>
                  </a:extLst>
                </a:gridCol>
                <a:gridCol w="863699">
                  <a:extLst>
                    <a:ext uri="{9D8B030D-6E8A-4147-A177-3AD203B41FA5}">
                      <a16:colId xmlns:a16="http://schemas.microsoft.com/office/drawing/2014/main" val="1362364816"/>
                    </a:ext>
                  </a:extLst>
                </a:gridCol>
                <a:gridCol w="1727746">
                  <a:extLst>
                    <a:ext uri="{9D8B030D-6E8A-4147-A177-3AD203B41FA5}">
                      <a16:colId xmlns:a16="http://schemas.microsoft.com/office/drawing/2014/main" val="1441570851"/>
                    </a:ext>
                  </a:extLst>
                </a:gridCol>
              </a:tblGrid>
              <a:tr h="647600">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Grupo</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(Organismo)</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Tipo</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Norma</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Ámbito</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Otros documentos</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682248713"/>
                  </a:ext>
                </a:extLst>
              </a:tr>
              <a:tr h="1008112">
                <a:tc rowSpan="4">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Instalaciones de BT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(Consejería de Industria - CI)</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Instalaciones fotovoltaicas de generación de energía eléctrica de baja tensión destinadas a autoconsumo con o sin venta de excedentes</a:t>
                      </a:r>
                    </a:p>
                  </a:txBody>
                  <a:tcPr marL="90000"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REBT</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P≥ 10 Kw</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rowSpan="3">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CM- Contenido mínimo del Consejo General de Colegios de Ingenieros Industriales.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DECRETO LEY 14/2020, de 7 de agosto, del Consell</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549537759"/>
                  </a:ext>
                </a:extLst>
              </a:tr>
              <a:tr h="980077">
                <a:tc vMerge="1">
                  <a:txBody>
                    <a:bodyPr/>
                    <a:lstStyle/>
                    <a:p>
                      <a:endParaRPr lang="es-ES"/>
                    </a:p>
                  </a:txBody>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Instalaciones de producción de energía eléctrica fotovoltaica con inscripción en el Registro de Instalaciones de Producción de Energía Eléctrica en el Régimen Especial</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REBT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Artículo 2 del Real Decreto 661/2007 y en el artículo 3 del Real Decreto 1578/2008</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10 ≤P≤ 100 </a:t>
                      </a:r>
                      <a:r>
                        <a:rPr kumimoji="0" lang="es-ES_tradnl" altLang="es-ES" sz="1200" b="0" i="0" u="none" strike="noStrike" cap="none" normalizeH="0" baseline="0" noProof="0" dirty="0" err="1">
                          <a:ln>
                            <a:noFill/>
                          </a:ln>
                          <a:solidFill>
                            <a:srgbClr val="000000"/>
                          </a:solidFill>
                          <a:effectLst/>
                          <a:latin typeface="Arial" panose="020B0604020202020204" pitchFamily="34" charset="0"/>
                          <a:ea typeface="ＭＳ Ｐゴシック" panose="020B0600070205080204" pitchFamily="34" charset="-128"/>
                        </a:rPr>
                        <a:t>Kw</a:t>
                      </a:r>
                      <a:endPar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vMerge="1">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s-E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179308281"/>
                  </a:ext>
                </a:extLst>
              </a:tr>
              <a:tr h="821796">
                <a:tc vMerge="1">
                  <a:txBody>
                    <a:bodyPr/>
                    <a:lstStyle/>
                    <a:p>
                      <a:endParaRPr lang="es-ES"/>
                    </a:p>
                  </a:txBody>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Instalaciones fotovoltaicas de producción de energía eléctrica con potencia mayor a 100 kW o conectadas a la red de alta tensión</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Real Decreto 661/2007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REBT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RAT</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Siempre</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vMerge="1">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s-E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18539236"/>
                  </a:ext>
                </a:extLst>
              </a:tr>
              <a:tr h="1709938">
                <a:tc vMerge="1">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Centrales fotovoltaicas que vayan a emplazarse sobre suelo NO urbanizable conectados en ALTA TENSIÓN a redes de transporte o distribución de energía eléctrica</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Real Decreto 661/2007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REBT</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Siempre</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Reglamento de alta tensión (RAT)</a:t>
                      </a:r>
                    </a:p>
                  </a:txBody>
                  <a:tcPr marL="91435" marR="91435" marT="45714" marB="4571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527732775"/>
                  </a:ext>
                </a:extLst>
              </a:tr>
            </a:tbl>
          </a:graphicData>
        </a:graphic>
      </p:graphicFrame>
      <p:sp>
        <p:nvSpPr>
          <p:cNvPr id="2" name="Rectangle 5">
            <a:extLst>
              <a:ext uri="{FF2B5EF4-FFF2-40B4-BE49-F238E27FC236}">
                <a16:creationId xmlns:a16="http://schemas.microsoft.com/office/drawing/2014/main" id="{4F2C3408-BD97-D65A-C426-80232AE190D5}"/>
              </a:ext>
            </a:extLst>
          </p:cNvPr>
          <p:cNvSpPr>
            <a:spLocks noChangeArrowheads="1"/>
          </p:cNvSpPr>
          <p:nvPr/>
        </p:nvSpPr>
        <p:spPr bwMode="auto">
          <a:xfrm>
            <a:off x="1260475" y="115888"/>
            <a:ext cx="712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Proyectos de Legalización o Administrativos</a:t>
            </a:r>
          </a:p>
        </p:txBody>
      </p:sp>
    </p:spTree>
    <p:extLst>
      <p:ext uri="{BB962C8B-B14F-4D97-AF65-F5344CB8AC3E}">
        <p14:creationId xmlns:p14="http://schemas.microsoft.com/office/powerpoint/2010/main" val="42521008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768E48CF-9839-7942-956D-89CA296F3703}"/>
              </a:ext>
            </a:extLst>
          </p:cNvPr>
          <p:cNvGraphicFramePr>
            <a:graphicFrameLocks noGrp="1"/>
          </p:cNvGraphicFramePr>
          <p:nvPr>
            <p:extLst>
              <p:ext uri="{D42A27DB-BD31-4B8C-83A1-F6EECF244321}">
                <p14:modId xmlns:p14="http://schemas.microsoft.com/office/powerpoint/2010/main" val="1608941899"/>
              </p:ext>
            </p:extLst>
          </p:nvPr>
        </p:nvGraphicFramePr>
        <p:xfrm>
          <a:off x="1043608" y="404664"/>
          <a:ext cx="7920037" cy="6388860"/>
        </p:xfrm>
        <a:graphic>
          <a:graphicData uri="http://schemas.openxmlformats.org/drawingml/2006/table">
            <a:tbl>
              <a:tblPr/>
              <a:tblGrid>
                <a:gridCol w="1439763">
                  <a:extLst>
                    <a:ext uri="{9D8B030D-6E8A-4147-A177-3AD203B41FA5}">
                      <a16:colId xmlns:a16="http://schemas.microsoft.com/office/drawing/2014/main" val="1651368038"/>
                    </a:ext>
                  </a:extLst>
                </a:gridCol>
                <a:gridCol w="1152624">
                  <a:extLst>
                    <a:ext uri="{9D8B030D-6E8A-4147-A177-3AD203B41FA5}">
                      <a16:colId xmlns:a16="http://schemas.microsoft.com/office/drawing/2014/main" val="3289119516"/>
                    </a:ext>
                  </a:extLst>
                </a:gridCol>
                <a:gridCol w="2087563">
                  <a:extLst>
                    <a:ext uri="{9D8B030D-6E8A-4147-A177-3AD203B41FA5}">
                      <a16:colId xmlns:a16="http://schemas.microsoft.com/office/drawing/2014/main" val="3658277586"/>
                    </a:ext>
                  </a:extLst>
                </a:gridCol>
                <a:gridCol w="1295400">
                  <a:extLst>
                    <a:ext uri="{9D8B030D-6E8A-4147-A177-3AD203B41FA5}">
                      <a16:colId xmlns:a16="http://schemas.microsoft.com/office/drawing/2014/main" val="1128182221"/>
                    </a:ext>
                  </a:extLst>
                </a:gridCol>
                <a:gridCol w="1944687">
                  <a:extLst>
                    <a:ext uri="{9D8B030D-6E8A-4147-A177-3AD203B41FA5}">
                      <a16:colId xmlns:a16="http://schemas.microsoft.com/office/drawing/2014/main" val="2013810830"/>
                    </a:ext>
                  </a:extLst>
                </a:gridCol>
              </a:tblGrid>
              <a:tr h="790690">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Grupo (Organismo)</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Tipo</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Normativa de referencia</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Ámbito</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Otros documentos normativos</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965092206"/>
                  </a:ext>
                </a:extLst>
              </a:tr>
              <a:tr h="1002010">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Transformadores eléctricos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(CI)</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Reglamento sobre condiciones técnicas y garantías de seguridad en instalaciones eléctricas de alta tensión (RAT)</a:t>
                      </a:r>
                      <a:endParaRPr lang="es-ES_tradnl" sz="1200" noProof="0" dirty="0"/>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Allways</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CM-EE2</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CERT – CE3</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Normas particulares de compañías distribuidoras</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576795250"/>
                  </a:ext>
                </a:extLst>
              </a:tr>
              <a:tr h="1211761">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Líneas de alta tensión</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(CI)</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Aéreas</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Reglamento de seguridad sobre condiciones técnicas y garantías de seguridad de líneas aéreas de alta tensión (LAT)</a:t>
                      </a:r>
                      <a:endParaRPr lang="es-ES_tradnl" noProof="0" dirty="0"/>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Always</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CM EE1</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CERT- CE2</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Normas particulares de compañías distribuidoras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987408668"/>
                  </a:ext>
                </a:extLst>
              </a:tr>
              <a:tr h="1002010">
                <a:tc vMerge="1">
                  <a:txBody>
                    <a:bodyPr/>
                    <a:lstStyle/>
                    <a:p>
                      <a:endParaRPr lang="es-ES"/>
                    </a:p>
                  </a:txBody>
                  <a:tcPr>
                    <a:lnT w="38100" cap="flat" cmpd="sng" algn="ctr">
                      <a:solidFill>
                        <a:schemeClr val="bg1"/>
                      </a:solidFill>
                      <a:prstDash val="solid"/>
                      <a:round/>
                      <a:headEnd type="none" w="med" len="med"/>
                      <a:tailEnd type="none" w="med" len="med"/>
                    </a:lnT>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Subterráneas</a:t>
                      </a:r>
                    </a:p>
                  </a:txBody>
                  <a:tcPr marL="91435" marR="91435" marT="45694" marB="45694" anchor="ctr" horzOverflow="overflow">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Reglamento sobre condiciones técnicas y garantías de seguridad en instalaciones eléctricas de alta tensión (RAT)</a:t>
                      </a:r>
                      <a:endParaRPr lang="es-ES_tradnl" noProof="0" dirty="0"/>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Always</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vMerge="1">
                  <a:txBody>
                    <a:bodyPr/>
                    <a:lstStyle/>
                    <a:p>
                      <a:endParaRPr lang="es-ES"/>
                    </a:p>
                  </a:txBody>
                  <a:tcPr>
                    <a:lnL w="127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3409079788"/>
                  </a:ext>
                </a:extLst>
              </a:tr>
              <a:tr h="1002010">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Calefacción, refrigeración y agua caliente sanitaria</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(CI – </a:t>
                      </a:r>
                      <a:r>
                        <a:rPr kumimoji="0" lang="es-ES_tradnl" altLang="es-ES" sz="1200" b="0" i="0" u="none" strike="noStrike" cap="none" normalizeH="0" baseline="0" noProof="0" dirty="0" err="1">
                          <a:ln>
                            <a:noFill/>
                          </a:ln>
                          <a:solidFill>
                            <a:srgbClr val="000000"/>
                          </a:solidFill>
                          <a:effectLst/>
                          <a:latin typeface="Arial" panose="020B0604020202020204" pitchFamily="34" charset="0"/>
                          <a:ea typeface="ＭＳ Ｐゴシック" panose="020B0600070205080204" pitchFamily="34" charset="-128"/>
                        </a:rPr>
                        <a:t>Ayto</a:t>
                      </a: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Reglamento de instalaciones térmicas (RIT) </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P &gt; 70 </a:t>
                      </a:r>
                      <a:r>
                        <a:rPr kumimoji="0" lang="es-ES_tradnl" altLang="es-ES" sz="1200" b="0" i="0" u="none" strike="noStrike" cap="none" normalizeH="0" baseline="0" noProof="0" dirty="0" err="1">
                          <a:ln>
                            <a:noFill/>
                          </a:ln>
                          <a:solidFill>
                            <a:srgbClr val="000000"/>
                          </a:solidFill>
                          <a:effectLst/>
                          <a:latin typeface="Arial" panose="020B0604020202020204" pitchFamily="34" charset="0"/>
                          <a:ea typeface="ＭＳ Ｐゴシック" panose="020B0600070205080204" pitchFamily="34" charset="-128"/>
                        </a:rPr>
                        <a:t>kw</a:t>
                      </a:r>
                      <a:endPar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CM- EC1</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Código técnico de la edficación</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011544879"/>
                  </a:ext>
                </a:extLst>
              </a:tr>
              <a:tr h="729017">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Refrigeración industrial</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(CI)</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Cámaras y sistemas frigoríficos</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Reglamento de seguridad para plantas frigoríficas</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Vol &gt; 500 m3</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P &gt; 30 kw</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CM – SD-2</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61514600"/>
                  </a:ext>
                </a:extLst>
              </a:tr>
              <a:tr h="637624">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Suministro de agua</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(CI - </a:t>
                      </a:r>
                      <a:r>
                        <a:rPr kumimoji="0" lang="es-ES_tradnl" altLang="es-ES" sz="1200" b="0" i="0" u="none" strike="noStrike" cap="none" normalizeH="0" baseline="0" noProof="0" dirty="0" err="1">
                          <a:ln>
                            <a:noFill/>
                          </a:ln>
                          <a:solidFill>
                            <a:srgbClr val="000000"/>
                          </a:solidFill>
                          <a:effectLst/>
                          <a:latin typeface="Arial" panose="020B0604020202020204" pitchFamily="34" charset="0"/>
                          <a:ea typeface="ＭＳ Ｐゴシック" panose="020B0600070205080204" pitchFamily="34" charset="-128"/>
                        </a:rPr>
                        <a:t>Ayto</a:t>
                      </a: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endParaRP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Código Técnico de la edificación</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Q &gt; 15 l/seg</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CM – Código de la edificación</a:t>
                      </a:r>
                    </a:p>
                  </a:txBody>
                  <a:tcPr marL="91435" marR="91435" marT="45694" marB="4569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840139268"/>
                  </a:ext>
                </a:extLst>
              </a:tr>
            </a:tbl>
          </a:graphicData>
        </a:graphic>
      </p:graphicFrame>
      <p:sp>
        <p:nvSpPr>
          <p:cNvPr id="5" name="Rectangle 5">
            <a:extLst>
              <a:ext uri="{FF2B5EF4-FFF2-40B4-BE49-F238E27FC236}">
                <a16:creationId xmlns:a16="http://schemas.microsoft.com/office/drawing/2014/main" id="{D0BAC56D-E3A0-2641-A99C-4C52FA3C750F}"/>
              </a:ext>
            </a:extLst>
          </p:cNvPr>
          <p:cNvSpPr>
            <a:spLocks noChangeArrowheads="1"/>
          </p:cNvSpPr>
          <p:nvPr/>
        </p:nvSpPr>
        <p:spPr bwMode="auto">
          <a:xfrm>
            <a:off x="1259632" y="24035"/>
            <a:ext cx="712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Proyectos de Legalización o Administrativos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5877C295-B36D-FD49-8F15-5C11C96E87E5}"/>
              </a:ext>
            </a:extLst>
          </p:cNvPr>
          <p:cNvGraphicFramePr>
            <a:graphicFrameLocks noGrp="1"/>
          </p:cNvGraphicFramePr>
          <p:nvPr>
            <p:extLst>
              <p:ext uri="{D42A27DB-BD31-4B8C-83A1-F6EECF244321}">
                <p14:modId xmlns:p14="http://schemas.microsoft.com/office/powerpoint/2010/main" val="813877960"/>
              </p:ext>
            </p:extLst>
          </p:nvPr>
        </p:nvGraphicFramePr>
        <p:xfrm>
          <a:off x="1115617" y="899428"/>
          <a:ext cx="8028383" cy="5270482"/>
        </p:xfrm>
        <a:graphic>
          <a:graphicData uri="http://schemas.openxmlformats.org/drawingml/2006/table">
            <a:tbl>
              <a:tblPr/>
              <a:tblGrid>
                <a:gridCol w="1374271">
                  <a:extLst>
                    <a:ext uri="{9D8B030D-6E8A-4147-A177-3AD203B41FA5}">
                      <a16:colId xmlns:a16="http://schemas.microsoft.com/office/drawing/2014/main" val="1504307792"/>
                    </a:ext>
                  </a:extLst>
                </a:gridCol>
                <a:gridCol w="1472433">
                  <a:extLst>
                    <a:ext uri="{9D8B030D-6E8A-4147-A177-3AD203B41FA5}">
                      <a16:colId xmlns:a16="http://schemas.microsoft.com/office/drawing/2014/main" val="4243931486"/>
                    </a:ext>
                  </a:extLst>
                </a:gridCol>
                <a:gridCol w="2043706">
                  <a:extLst>
                    <a:ext uri="{9D8B030D-6E8A-4147-A177-3AD203B41FA5}">
                      <a16:colId xmlns:a16="http://schemas.microsoft.com/office/drawing/2014/main" val="1295143988"/>
                    </a:ext>
                  </a:extLst>
                </a:gridCol>
                <a:gridCol w="1313121">
                  <a:extLst>
                    <a:ext uri="{9D8B030D-6E8A-4147-A177-3AD203B41FA5}">
                      <a16:colId xmlns:a16="http://schemas.microsoft.com/office/drawing/2014/main" val="2004762426"/>
                    </a:ext>
                  </a:extLst>
                </a:gridCol>
                <a:gridCol w="1824852">
                  <a:extLst>
                    <a:ext uri="{9D8B030D-6E8A-4147-A177-3AD203B41FA5}">
                      <a16:colId xmlns:a16="http://schemas.microsoft.com/office/drawing/2014/main" val="1933672910"/>
                    </a:ext>
                  </a:extLst>
                </a:gridCol>
              </a:tblGrid>
              <a:tr h="942298">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Grupo</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Tipo</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Normativa de referencia</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Ámbito</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Otros documentos normativos</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639253003"/>
                  </a:ext>
                </a:extLst>
              </a:tr>
              <a:tr h="1499025">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Licencia ambiental</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a:t>
                      </a:r>
                      <a:r>
                        <a:rPr kumimoji="0" lang="es-ES_tradnl" altLang="es-ES" sz="1400" b="0" i="0" u="none" strike="noStrike" cap="none" normalizeH="0" baseline="0" noProof="0" dirty="0" err="1">
                          <a:ln>
                            <a:noFill/>
                          </a:ln>
                          <a:solidFill>
                            <a:srgbClr val="000000"/>
                          </a:solidFill>
                          <a:effectLst/>
                          <a:latin typeface="Arial" panose="020B0604020202020204" pitchFamily="34" charset="0"/>
                          <a:ea typeface="ＭＳ Ｐゴシック" panose="020B0600070205080204" pitchFamily="34" charset="-128"/>
                        </a:rPr>
                        <a:t>Ayto</a:t>
                      </a: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Actividades clasificadas y no clasificadas</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Ley 5/2013</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Prevención y control integrados de la contaminación.</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Ordenanza reguladora de obras de edificación y actividades</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Actividades clasificadas</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Código Técnico de la Edificación</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CM – Instrucción 2/83</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Anexo II.- Ordenanza de obras de edificación y actividades (BOP 16/7/2012)</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394671418"/>
                  </a:ext>
                </a:extLst>
              </a:tr>
              <a:tr h="1300124">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Aparatos a presión</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(CI)</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cs typeface="Arial" panose="020B0604020202020204" pitchFamily="34" charset="0"/>
                        </a:rPr>
                        <a:t>Calderas, recipientes a presión, compresores, sistemas de alta y baja presión</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Reglamento de aparatos a presión</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Según el caso</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cs typeface="Arial" panose="020B0604020202020204" pitchFamily="34" charset="0"/>
                        </a:rPr>
                        <a:t>CM – SP1</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cs typeface="Arial" panose="020B0604020202020204" pitchFamily="34" charset="0"/>
                        </a:rPr>
                        <a:t>CM – SP2</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438140015"/>
                  </a:ext>
                </a:extLst>
              </a:tr>
              <a:tr h="867065">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Aparatos elevadores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(CI)</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cs typeface="Arial" panose="020B0604020202020204" pitchFamily="34" charset="0"/>
                        </a:rPr>
                        <a:t>Ascensores, grúas, transportadores, elevadores...</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cs typeface="Arial" panose="020B0604020202020204" pitchFamily="34" charset="0"/>
                        </a:rPr>
                        <a:t>Reglamento de aparatos elevadores</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Siempre</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CM – SGT1</a:t>
                      </a:r>
                    </a:p>
                  </a:txBody>
                  <a:tcPr marL="91435" marR="91435"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206938610"/>
                  </a:ext>
                </a:extLst>
              </a:tr>
            </a:tbl>
          </a:graphicData>
        </a:graphic>
      </p:graphicFrame>
      <p:sp>
        <p:nvSpPr>
          <p:cNvPr id="5" name="Rectangle 5">
            <a:extLst>
              <a:ext uri="{FF2B5EF4-FFF2-40B4-BE49-F238E27FC236}">
                <a16:creationId xmlns:a16="http://schemas.microsoft.com/office/drawing/2014/main" id="{34742D08-9B5C-5747-8620-B93602E5B1AA}"/>
              </a:ext>
            </a:extLst>
          </p:cNvPr>
          <p:cNvSpPr>
            <a:spLocks noChangeArrowheads="1"/>
          </p:cNvSpPr>
          <p:nvPr/>
        </p:nvSpPr>
        <p:spPr bwMode="auto">
          <a:xfrm>
            <a:off x="1260475" y="115888"/>
            <a:ext cx="712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Proyectos de Legalización o Administrativos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a:extLst>
              <a:ext uri="{FF2B5EF4-FFF2-40B4-BE49-F238E27FC236}">
                <a16:creationId xmlns:a16="http://schemas.microsoft.com/office/drawing/2014/main" id="{B2CB7895-40D3-7A41-8DE6-1EF03BD9167A}"/>
              </a:ext>
            </a:extLst>
          </p:cNvPr>
          <p:cNvGraphicFramePr>
            <a:graphicFrameLocks noGrp="1"/>
          </p:cNvGraphicFramePr>
          <p:nvPr>
            <p:extLst>
              <p:ext uri="{D42A27DB-BD31-4B8C-83A1-F6EECF244321}">
                <p14:modId xmlns:p14="http://schemas.microsoft.com/office/powerpoint/2010/main" val="3097472657"/>
              </p:ext>
            </p:extLst>
          </p:nvPr>
        </p:nvGraphicFramePr>
        <p:xfrm>
          <a:off x="1116013" y="1052513"/>
          <a:ext cx="7920037" cy="4665305"/>
        </p:xfrm>
        <a:graphic>
          <a:graphicData uri="http://schemas.openxmlformats.org/drawingml/2006/table">
            <a:tbl>
              <a:tblPr/>
              <a:tblGrid>
                <a:gridCol w="1355725">
                  <a:extLst>
                    <a:ext uri="{9D8B030D-6E8A-4147-A177-3AD203B41FA5}">
                      <a16:colId xmlns:a16="http://schemas.microsoft.com/office/drawing/2014/main" val="1478086267"/>
                    </a:ext>
                  </a:extLst>
                </a:gridCol>
                <a:gridCol w="1739900">
                  <a:extLst>
                    <a:ext uri="{9D8B030D-6E8A-4147-A177-3AD203B41FA5}">
                      <a16:colId xmlns:a16="http://schemas.microsoft.com/office/drawing/2014/main" val="1982017128"/>
                    </a:ext>
                  </a:extLst>
                </a:gridCol>
                <a:gridCol w="2160587">
                  <a:extLst>
                    <a:ext uri="{9D8B030D-6E8A-4147-A177-3AD203B41FA5}">
                      <a16:colId xmlns:a16="http://schemas.microsoft.com/office/drawing/2014/main" val="2687026234"/>
                    </a:ext>
                  </a:extLst>
                </a:gridCol>
                <a:gridCol w="863600">
                  <a:extLst>
                    <a:ext uri="{9D8B030D-6E8A-4147-A177-3AD203B41FA5}">
                      <a16:colId xmlns:a16="http://schemas.microsoft.com/office/drawing/2014/main" val="762872564"/>
                    </a:ext>
                  </a:extLst>
                </a:gridCol>
                <a:gridCol w="1800225">
                  <a:extLst>
                    <a:ext uri="{9D8B030D-6E8A-4147-A177-3AD203B41FA5}">
                      <a16:colId xmlns:a16="http://schemas.microsoft.com/office/drawing/2014/main" val="2856190314"/>
                    </a:ext>
                  </a:extLst>
                </a:gridCol>
              </a:tblGrid>
              <a:tr h="793750">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a:ln>
                            <a:noFill/>
                          </a:ln>
                          <a:solidFill>
                            <a:srgbClr val="FFFFFF"/>
                          </a:solidFill>
                          <a:effectLst/>
                          <a:latin typeface="Arial" panose="020B0604020202020204" pitchFamily="34" charset="0"/>
                          <a:ea typeface="ＭＳ Ｐゴシック" panose="020B0600070205080204" pitchFamily="34" charset="-128"/>
                        </a:rPr>
                        <a:t>Group</a:t>
                      </a:r>
                    </a:p>
                  </a:txBody>
                  <a:tcPr marL="91435" marR="91435" marT="45711" marB="4571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Tipo</a:t>
                      </a:r>
                    </a:p>
                  </a:txBody>
                  <a:tcPr marL="91435" marR="91435" marT="45711" marB="4571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Normativa de referencia</a:t>
                      </a:r>
                    </a:p>
                  </a:txBody>
                  <a:tcPr marL="91435" marR="91435" marT="45711" marB="4571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Ámbito</a:t>
                      </a:r>
                    </a:p>
                  </a:txBody>
                  <a:tcPr marL="91435" marR="91435" marT="45711" marB="4571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1" i="0" u="none" strike="noStrike" cap="none" normalizeH="0" baseline="0" noProof="0" dirty="0">
                          <a:ln>
                            <a:noFill/>
                          </a:ln>
                          <a:solidFill>
                            <a:srgbClr val="FFFFFF"/>
                          </a:solidFill>
                          <a:effectLst/>
                          <a:latin typeface="Arial" panose="020B0604020202020204" pitchFamily="34" charset="0"/>
                          <a:ea typeface="ＭＳ Ｐゴシック" panose="020B0600070205080204" pitchFamily="34" charset="-128"/>
                        </a:rPr>
                        <a:t>Otros documentos normativos</a:t>
                      </a:r>
                    </a:p>
                  </a:txBody>
                  <a:tcPr marL="91435" marR="91435" marT="45711" marB="4571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385070607"/>
                  </a:ext>
                </a:extLst>
              </a:tr>
              <a:tr h="1768475">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Instalaciones de gas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(CI)</a:t>
                      </a:r>
                    </a:p>
                  </a:txBody>
                  <a:tcPr marL="91428" marR="91428" marT="45688" marB="4568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Almacenamiento de gas.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Interiores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Homologación de aparatos de gas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Instalaciones de distribución.</a:t>
                      </a:r>
                    </a:p>
                  </a:txBody>
                  <a:tcPr marL="91428" marR="91428" marT="45688" marB="4568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1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Norma básica de instalaciones de gas (NIG)</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1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Reglamento de redes y acometidas de combustibles gaseosos (RCG)</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1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Reglamento sobre gases licuados del petróleo (RGL)</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1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Reglamento de aparatos que utilizan gas como combustible (RAGC)</a:t>
                      </a:r>
                    </a:p>
                  </a:txBody>
                  <a:tcPr marL="91428" marR="91428" marT="45688" marB="4568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Siempre</a:t>
                      </a:r>
                    </a:p>
                  </a:txBody>
                  <a:tcPr marL="91428" marR="91428" marT="45688" marB="4568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EG- 1. Almacenamiento de gas.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EG -2. Instalaciones interiores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EG -3. Homologación de aparatos de gas</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EG -4. Redes de gas</a:t>
                      </a:r>
                    </a:p>
                  </a:txBody>
                  <a:tcPr marL="91428" marR="91428" marT="45688" marB="4568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926510442"/>
                  </a:ext>
                </a:extLst>
              </a:tr>
              <a:tr h="1600200">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Combustible líquido</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4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(CI)</a:t>
                      </a:r>
                    </a:p>
                  </a:txBody>
                  <a:tcPr marL="91428" marR="91428" marT="45700" marB="457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Estaciones de servicio de uso privado</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Estaciones de servicio de uso público</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Parques de almacenamiento de productos petrolíferos</a:t>
                      </a:r>
                    </a:p>
                  </a:txBody>
                  <a:tcPr marL="91428" marR="91428" marT="45700" marB="457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100" b="0" i="0" u="none" strike="noStrike" cap="none" normalizeH="0" baseline="0" noProof="0">
                          <a:ln>
                            <a:noFill/>
                          </a:ln>
                          <a:solidFill>
                            <a:srgbClr val="000000"/>
                          </a:solidFill>
                          <a:effectLst/>
                          <a:latin typeface="Arial" panose="020B0604020202020204" pitchFamily="34" charset="0"/>
                          <a:ea typeface="ＭＳ Ｐゴシック" panose="020B0600070205080204" pitchFamily="34" charset="-128"/>
                        </a:rPr>
                        <a:t>Reglamento de instalaciones petrolíferas (RIP)</a:t>
                      </a:r>
                    </a:p>
                  </a:txBody>
                  <a:tcPr marL="91428" marR="91428" marT="45700" marB="457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rgbClr val="000000"/>
                          </a:solidFill>
                          <a:effectLst/>
                          <a:latin typeface="Arial" panose="020B0604020202020204" pitchFamily="34" charset="0"/>
                          <a:ea typeface="ＭＳ Ｐゴシック" panose="020B0600070205080204" pitchFamily="34" charset="-128"/>
                        </a:rPr>
                        <a:t>Siempre</a:t>
                      </a:r>
                    </a:p>
                  </a:txBody>
                  <a:tcPr marL="91428" marR="91428" marT="45700" marB="457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ts val="600"/>
                        </a:spcBef>
                        <a:buClr>
                          <a:schemeClr val="accent1"/>
                        </a:buClr>
                        <a:buSzPct val="80000"/>
                        <a:buFont typeface="Wingdings 2" pitchFamily="2" charset="2"/>
                        <a:defRPr sz="28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spcBef>
                          <a:spcPts val="550"/>
                        </a:spcBef>
                        <a:buClr>
                          <a:schemeClr val="accent1"/>
                        </a:buClr>
                        <a:buFont typeface="Verdana" panose="020B0604030504040204" pitchFamily="34" charse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spcBef>
                          <a:spcPct val="20000"/>
                        </a:spcBef>
                        <a:buClr>
                          <a:schemeClr val="accent2"/>
                        </a:buClr>
                        <a:buFont typeface="Wingdings 2" pitchFamily="2" charset="2"/>
                        <a:defRPr sz="20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spcBef>
                          <a:spcPct val="20000"/>
                        </a:spcBef>
                        <a:buClr>
                          <a:srgbClr val="C32D2E"/>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spcBef>
                          <a:spcPct val="20000"/>
                        </a:spcBef>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defRPr>
                          <a:solidFill>
                            <a:schemeClr val="tx1"/>
                          </a:solidFill>
                          <a:latin typeface="Gill Sans MT" panose="020B0502020104020203" pitchFamily="34" charset="77"/>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EL-1  Instalaciones de productos petrolíferos para uso privado ( MI -IP- 03)</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EL-2 Estaciones de servicio públicas ( MI -IP- 04)</a:t>
                      </a:r>
                    </a:p>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altLang="es-ES" sz="1200" b="0" i="0" u="none" strike="noStrike" cap="none" normalizeH="0" baseline="0" noProof="0" dirty="0">
                          <a:ln>
                            <a:noFill/>
                          </a:ln>
                          <a:solidFill>
                            <a:schemeClr val="tx1"/>
                          </a:solidFill>
                          <a:effectLst/>
                          <a:latin typeface="Gill Sans MT" panose="020B0502020104020203" pitchFamily="34" charset="77"/>
                          <a:ea typeface="ＭＳ Ｐゴシック" panose="020B0600070205080204" pitchFamily="34" charset="-128"/>
                        </a:rPr>
                        <a:t>EL-3 Parques para el almacenamiento de productos petrolíferos ( MI- IP 02 )</a:t>
                      </a:r>
                    </a:p>
                  </a:txBody>
                  <a:tcPr marL="91428" marR="91428" marT="45700" marB="457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337839414"/>
                  </a:ext>
                </a:extLst>
              </a:tr>
            </a:tbl>
          </a:graphicData>
        </a:graphic>
      </p:graphicFrame>
      <p:sp>
        <p:nvSpPr>
          <p:cNvPr id="5" name="Rectangle 5">
            <a:extLst>
              <a:ext uri="{FF2B5EF4-FFF2-40B4-BE49-F238E27FC236}">
                <a16:creationId xmlns:a16="http://schemas.microsoft.com/office/drawing/2014/main" id="{0847C325-1FC5-1145-A1E2-60A1F3875B6F}"/>
              </a:ext>
            </a:extLst>
          </p:cNvPr>
          <p:cNvSpPr>
            <a:spLocks noChangeArrowheads="1"/>
          </p:cNvSpPr>
          <p:nvPr/>
        </p:nvSpPr>
        <p:spPr bwMode="auto">
          <a:xfrm>
            <a:off x="1260475" y="115888"/>
            <a:ext cx="712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Proyectos de Legalización o Administrativos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5">
            <a:extLst>
              <a:ext uri="{FF2B5EF4-FFF2-40B4-BE49-F238E27FC236}">
                <a16:creationId xmlns:a16="http://schemas.microsoft.com/office/drawing/2014/main" id="{FBB43DE4-DF50-004E-A842-7EAD0004527D}"/>
              </a:ext>
            </a:extLst>
          </p:cNvPr>
          <p:cNvSpPr>
            <a:spLocks noChangeArrowheads="1"/>
          </p:cNvSpPr>
          <p:nvPr/>
        </p:nvSpPr>
        <p:spPr bwMode="auto">
          <a:xfrm>
            <a:off x="1260475" y="115888"/>
            <a:ext cx="71278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_tradnl" altLang="es-ES" sz="1800" b="1" dirty="0">
                <a:latin typeface="Arial" panose="020B0604020202020204" pitchFamily="34" charset="0"/>
                <a:cs typeface="Arial" panose="020B0604020202020204" pitchFamily="34" charset="0"/>
              </a:rPr>
              <a:t>Listado de proyectos de ingeniería que hay que presentar en la Consejería de Industria</a:t>
            </a:r>
          </a:p>
          <a:p>
            <a:pPr algn="ctr" eaLnBrk="1" hangingPunct="1">
              <a:spcBef>
                <a:spcPct val="0"/>
              </a:spcBef>
              <a:buClrTx/>
              <a:buSzTx/>
              <a:buFontTx/>
              <a:buNone/>
            </a:pPr>
            <a:r>
              <a:rPr lang="es-ES_tradnl" altLang="es-ES" sz="1800" b="1" dirty="0">
                <a:latin typeface="Arial" panose="020B0604020202020204" pitchFamily="34" charset="0"/>
                <a:cs typeface="Arial" panose="020B0604020202020204" pitchFamily="34" charset="0"/>
              </a:rPr>
              <a:t>(Según orden </a:t>
            </a:r>
            <a:r>
              <a:rPr lang="es-ES_tradnl" altLang="es-ES" sz="1800" b="1" dirty="0">
                <a:solidFill>
                  <a:srgbClr val="000000"/>
                </a:solidFill>
                <a:latin typeface="Arial" panose="020B0604020202020204" pitchFamily="34" charset="0"/>
                <a:cs typeface="Arial" panose="020B0604020202020204" pitchFamily="34" charset="0"/>
              </a:rPr>
              <a:t>89/4366 y posteriores actualizaciones)</a:t>
            </a:r>
            <a:endParaRPr lang="es-ES_tradnl" altLang="es-ES" sz="1800" b="1" dirty="0">
              <a:latin typeface="Arial" panose="020B0604020202020204" pitchFamily="34" charset="0"/>
              <a:cs typeface="Arial" panose="020B0604020202020204" pitchFamily="34" charset="0"/>
            </a:endParaRPr>
          </a:p>
        </p:txBody>
      </p:sp>
      <p:sp>
        <p:nvSpPr>
          <p:cNvPr id="70658" name="CuadroTexto 1">
            <a:extLst>
              <a:ext uri="{FF2B5EF4-FFF2-40B4-BE49-F238E27FC236}">
                <a16:creationId xmlns:a16="http://schemas.microsoft.com/office/drawing/2014/main" id="{BB736691-BCE7-3946-8EF0-C4C96DB9211A}"/>
              </a:ext>
            </a:extLst>
          </p:cNvPr>
          <p:cNvSpPr txBox="1">
            <a:spLocks noChangeArrowheads="1"/>
          </p:cNvSpPr>
          <p:nvPr/>
        </p:nvSpPr>
        <p:spPr bwMode="auto">
          <a:xfrm>
            <a:off x="1331913" y="1136650"/>
            <a:ext cx="74168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s-ES_tradnl" altLang="es-ES" sz="1800" dirty="0"/>
              <a:t>I-1. Nueva industria .</a:t>
            </a:r>
          </a:p>
          <a:p>
            <a:pPr eaLnBrk="1" hangingPunct="1">
              <a:spcBef>
                <a:spcPct val="0"/>
              </a:spcBef>
              <a:buClrTx/>
              <a:buSzTx/>
              <a:buFontTx/>
              <a:buNone/>
            </a:pPr>
            <a:r>
              <a:rPr lang="es-ES_tradnl" altLang="es-ES" sz="1800" dirty="0"/>
              <a:t>I-2.  Ampliación de industria.</a:t>
            </a:r>
          </a:p>
          <a:p>
            <a:pPr eaLnBrk="1" hangingPunct="1">
              <a:spcBef>
                <a:spcPct val="0"/>
              </a:spcBef>
              <a:buClrTx/>
              <a:buSzTx/>
              <a:buFontTx/>
              <a:buNone/>
            </a:pPr>
            <a:r>
              <a:rPr lang="es-ES_tradnl" altLang="es-ES" sz="1800" dirty="0"/>
              <a:t>I-3. Corrección de la contaminación.</a:t>
            </a:r>
          </a:p>
          <a:p>
            <a:pPr eaLnBrk="1" hangingPunct="1">
              <a:spcBef>
                <a:spcPct val="0"/>
              </a:spcBef>
              <a:buClrTx/>
              <a:buSzTx/>
              <a:buFontTx/>
              <a:buNone/>
            </a:pPr>
            <a:r>
              <a:rPr lang="es-ES_tradnl" altLang="es-ES" sz="1800" dirty="0"/>
              <a:t>EE- 1. Líneas aéreas de alta tensión.</a:t>
            </a:r>
          </a:p>
          <a:p>
            <a:pPr eaLnBrk="1" hangingPunct="1">
              <a:spcBef>
                <a:spcPct val="0"/>
              </a:spcBef>
              <a:buClrTx/>
              <a:buSzTx/>
              <a:buFontTx/>
              <a:buNone/>
            </a:pPr>
            <a:r>
              <a:rPr lang="es-ES_tradnl" altLang="es-ES" sz="1800" dirty="0"/>
              <a:t>EE -2. Líneas de alta tensión aisladas.</a:t>
            </a:r>
          </a:p>
          <a:p>
            <a:pPr eaLnBrk="1" hangingPunct="1">
              <a:spcBef>
                <a:spcPct val="0"/>
              </a:spcBef>
              <a:buClrTx/>
              <a:buSzTx/>
              <a:buFontTx/>
              <a:buNone/>
            </a:pPr>
            <a:r>
              <a:rPr lang="es-ES_tradnl" altLang="es-ES" sz="1800" dirty="0"/>
              <a:t>EE -3. Líneas de alta tensión subterráneas.</a:t>
            </a:r>
          </a:p>
          <a:p>
            <a:pPr eaLnBrk="1" hangingPunct="1">
              <a:spcBef>
                <a:spcPct val="0"/>
              </a:spcBef>
              <a:buClrTx/>
              <a:buSzTx/>
              <a:buFontTx/>
              <a:buNone/>
            </a:pPr>
            <a:r>
              <a:rPr lang="es-ES_tradnl" altLang="es-ES" sz="1800" dirty="0"/>
              <a:t>EE -4.Transformadores</a:t>
            </a:r>
          </a:p>
          <a:p>
            <a:pPr eaLnBrk="1" hangingPunct="1">
              <a:spcBef>
                <a:spcPct val="0"/>
              </a:spcBef>
              <a:buClrTx/>
              <a:buSzTx/>
              <a:buFontTx/>
              <a:buNone/>
            </a:pPr>
            <a:r>
              <a:rPr lang="es-ES_tradnl" altLang="es-ES" sz="1800" dirty="0"/>
              <a:t>EE -5. Instalaciones eléctricas de baja tensión para industrias.</a:t>
            </a:r>
          </a:p>
          <a:p>
            <a:pPr eaLnBrk="1" hangingPunct="1">
              <a:spcBef>
                <a:spcPct val="0"/>
              </a:spcBef>
              <a:buClrTx/>
              <a:buSzTx/>
              <a:buFontTx/>
              <a:buNone/>
            </a:pPr>
            <a:r>
              <a:rPr lang="es-ES_tradnl" altLang="es-ES" sz="1800" dirty="0"/>
              <a:t>EE -6. Instalaciones eléctricas de baja tensión para edificios de viviendas.</a:t>
            </a:r>
          </a:p>
          <a:p>
            <a:pPr eaLnBrk="1" hangingPunct="1">
              <a:spcBef>
                <a:spcPct val="0"/>
              </a:spcBef>
              <a:buClrTx/>
              <a:buSzTx/>
              <a:buFontTx/>
              <a:buNone/>
            </a:pPr>
            <a:r>
              <a:rPr lang="es-ES_tradnl" altLang="es-ES" sz="1800" dirty="0"/>
              <a:t>EE -7. Instalaciones eléctricas de baja tensión en locales no destinados a uso industrial y de viviendas.</a:t>
            </a:r>
          </a:p>
          <a:p>
            <a:pPr eaLnBrk="1" hangingPunct="1">
              <a:spcBef>
                <a:spcPct val="0"/>
              </a:spcBef>
              <a:buClrTx/>
              <a:buSzTx/>
              <a:buFontTx/>
              <a:buNone/>
            </a:pPr>
            <a:r>
              <a:rPr lang="es-ES_tradnl" altLang="es-ES" sz="1800" dirty="0"/>
              <a:t>EG- 1. Instalaciones de almacenamiento de gas.</a:t>
            </a:r>
          </a:p>
          <a:p>
            <a:pPr eaLnBrk="1" hangingPunct="1">
              <a:spcBef>
                <a:spcPct val="0"/>
              </a:spcBef>
              <a:buClrTx/>
              <a:buSzTx/>
              <a:buFontTx/>
              <a:buNone/>
            </a:pPr>
            <a:r>
              <a:rPr lang="es-ES_tradnl" altLang="es-ES" sz="1800" dirty="0"/>
              <a:t>EG -2. Instalaciones interiores de gas.</a:t>
            </a:r>
          </a:p>
          <a:p>
            <a:pPr eaLnBrk="1" hangingPunct="1">
              <a:spcBef>
                <a:spcPct val="0"/>
              </a:spcBef>
              <a:buClrTx/>
              <a:buSzTx/>
              <a:buFontTx/>
              <a:buNone/>
            </a:pPr>
            <a:r>
              <a:rPr lang="es-ES_tradnl" altLang="es-ES" sz="1800" dirty="0"/>
              <a:t>EG -3. Homologación de aparatos de gas</a:t>
            </a:r>
          </a:p>
          <a:p>
            <a:pPr eaLnBrk="1" hangingPunct="1">
              <a:spcBef>
                <a:spcPct val="0"/>
              </a:spcBef>
              <a:buClrTx/>
              <a:buSzTx/>
              <a:buFontTx/>
              <a:buNone/>
            </a:pPr>
            <a:r>
              <a:rPr lang="es-ES_tradnl" altLang="es-ES" sz="1800" dirty="0"/>
              <a:t>EG -4. Redes de distribución de gas.</a:t>
            </a:r>
          </a:p>
          <a:p>
            <a:pPr eaLnBrk="1" hangingPunct="1">
              <a:spcBef>
                <a:spcPct val="0"/>
              </a:spcBef>
              <a:buClrTx/>
              <a:buSzTx/>
              <a:buFontTx/>
              <a:buNone/>
            </a:pPr>
            <a:r>
              <a:rPr lang="es-ES_tradnl" altLang="es-ES" sz="1800" dirty="0"/>
              <a:t>EA- 1. Redes de instalaciones interiores de agua.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uadroTexto 1">
            <a:extLst>
              <a:ext uri="{FF2B5EF4-FFF2-40B4-BE49-F238E27FC236}">
                <a16:creationId xmlns:a16="http://schemas.microsoft.com/office/drawing/2014/main" id="{9CDCC4D9-9165-ED41-AC32-E367FAFE6521}"/>
              </a:ext>
            </a:extLst>
          </p:cNvPr>
          <p:cNvSpPr txBox="1">
            <a:spLocks noChangeArrowheads="1"/>
          </p:cNvSpPr>
          <p:nvPr/>
        </p:nvSpPr>
        <p:spPr bwMode="auto">
          <a:xfrm>
            <a:off x="1331913" y="1258888"/>
            <a:ext cx="741680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s-ES_tradnl" altLang="es-ES" sz="1800" dirty="0"/>
              <a:t>EL-1 Instalaciones de productos petrolíferos para uso privado ( MI -IP- 03)</a:t>
            </a:r>
          </a:p>
          <a:p>
            <a:pPr eaLnBrk="1" hangingPunct="1">
              <a:spcBef>
                <a:spcPct val="0"/>
              </a:spcBef>
              <a:buClrTx/>
              <a:buSzTx/>
              <a:buFontTx/>
              <a:buNone/>
            </a:pPr>
            <a:r>
              <a:rPr lang="es-ES_tradnl" altLang="es-ES" sz="1800" dirty="0"/>
              <a:t>EL-2 Instalaciones fijas para la distribución al por menor de combustibles de petróleo ( MI -IP- 04)</a:t>
            </a:r>
          </a:p>
          <a:p>
            <a:pPr eaLnBrk="1" hangingPunct="1">
              <a:spcBef>
                <a:spcPct val="0"/>
              </a:spcBef>
              <a:buClrTx/>
              <a:buSzTx/>
              <a:buFontTx/>
              <a:buNone/>
            </a:pPr>
            <a:r>
              <a:rPr lang="es-ES_tradnl" altLang="es-ES" sz="1800" dirty="0"/>
              <a:t>EL-3 Parques para el almacenamiento de productos petrolíferos ( MI- IP 02 )</a:t>
            </a:r>
          </a:p>
          <a:p>
            <a:pPr eaLnBrk="1" hangingPunct="1">
              <a:spcBef>
                <a:spcPct val="0"/>
              </a:spcBef>
              <a:buClrTx/>
              <a:buSzTx/>
              <a:buFontTx/>
              <a:buNone/>
            </a:pPr>
            <a:r>
              <a:rPr lang="es-ES_tradnl" altLang="es-ES" sz="1800" dirty="0"/>
              <a:t>EC-1 Instalaciones de calefacción, refrigeración y agua caliente sanitaria.</a:t>
            </a:r>
          </a:p>
          <a:p>
            <a:pPr eaLnBrk="1" hangingPunct="1">
              <a:spcBef>
                <a:spcPct val="0"/>
              </a:spcBef>
              <a:buClrTx/>
              <a:buSzTx/>
              <a:buFontTx/>
              <a:buNone/>
            </a:pPr>
            <a:r>
              <a:rPr lang="es-ES_tradnl" altLang="es-ES" sz="1800" dirty="0"/>
              <a:t>EQ-1 Almacenamiento de líquidos inflamables y combustibles (Reglamento para el almacenamiento de productos químicos (ITC MIE APQ 001 )</a:t>
            </a:r>
          </a:p>
          <a:p>
            <a:pPr eaLnBrk="1" hangingPunct="1">
              <a:spcBef>
                <a:spcPct val="0"/>
              </a:spcBef>
              <a:buClrTx/>
              <a:buSzTx/>
              <a:buFontTx/>
              <a:buNone/>
            </a:pPr>
            <a:r>
              <a:rPr lang="es-ES_tradnl" altLang="es-ES" sz="1800" dirty="0"/>
              <a:t>SP-1 Instalación de calderas, economizadores, intercambiadores de calor y redes de tuberías de fluidos presurizados (aplicación ITC MIE -AP1 y AP2 )</a:t>
            </a:r>
          </a:p>
          <a:p>
            <a:pPr eaLnBrk="1" hangingPunct="1">
              <a:spcBef>
                <a:spcPct val="0"/>
              </a:spcBef>
              <a:buClrTx/>
              <a:buSzTx/>
              <a:buFontTx/>
              <a:buNone/>
            </a:pPr>
            <a:r>
              <a:rPr lang="es-ES_tradnl" altLang="es-ES" sz="1800" dirty="0"/>
              <a:t>SP-2 Sistemas de aire comprimido</a:t>
            </a:r>
          </a:p>
          <a:p>
            <a:pPr eaLnBrk="1" hangingPunct="1">
              <a:spcBef>
                <a:spcPct val="0"/>
              </a:spcBef>
              <a:buClrTx/>
              <a:buSzTx/>
              <a:buFontTx/>
              <a:buNone/>
            </a:pPr>
            <a:r>
              <a:rPr lang="es-ES_tradnl" altLang="es-ES" sz="1800" dirty="0"/>
              <a:t>SV-1 Estudio sobre las modificaciones de importancia de vehículos a motor.</a:t>
            </a:r>
          </a:p>
          <a:p>
            <a:pPr eaLnBrk="1" hangingPunct="1">
              <a:spcBef>
                <a:spcPct val="0"/>
              </a:spcBef>
              <a:buClrTx/>
              <a:buSzTx/>
              <a:buFontTx/>
              <a:buNone/>
            </a:pPr>
            <a:r>
              <a:rPr lang="es-ES_tradnl" altLang="es-ES" sz="1800" dirty="0"/>
              <a:t>SGT- Grúas y ascensores.</a:t>
            </a:r>
          </a:p>
          <a:p>
            <a:pPr eaLnBrk="1" hangingPunct="1">
              <a:spcBef>
                <a:spcPct val="0"/>
              </a:spcBef>
              <a:buClrTx/>
              <a:buSzTx/>
              <a:buFontTx/>
              <a:buNone/>
            </a:pPr>
            <a:r>
              <a:rPr lang="es-ES_tradnl" altLang="es-ES" sz="1800" dirty="0"/>
              <a:t>SF-1 Sistemas de refrigeración con una potencia de accionamiento del compresor superior a 30 kW o un volumen de la cámara frigorífica superior a 500 m³.</a:t>
            </a:r>
          </a:p>
        </p:txBody>
      </p:sp>
      <p:sp>
        <p:nvSpPr>
          <p:cNvPr id="4" name="Rectangle 5">
            <a:extLst>
              <a:ext uri="{FF2B5EF4-FFF2-40B4-BE49-F238E27FC236}">
                <a16:creationId xmlns:a16="http://schemas.microsoft.com/office/drawing/2014/main" id="{08946348-2BB0-D445-BE2B-9FC4F27B6523}"/>
              </a:ext>
            </a:extLst>
          </p:cNvPr>
          <p:cNvSpPr>
            <a:spLocks noChangeArrowheads="1"/>
          </p:cNvSpPr>
          <p:nvPr/>
        </p:nvSpPr>
        <p:spPr bwMode="auto">
          <a:xfrm>
            <a:off x="1260475" y="115888"/>
            <a:ext cx="71278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_tradnl" altLang="es-ES" sz="1800" b="1" dirty="0">
                <a:latin typeface="Arial" panose="020B0604020202020204" pitchFamily="34" charset="0"/>
                <a:cs typeface="Arial" panose="020B0604020202020204" pitchFamily="34" charset="0"/>
              </a:rPr>
              <a:t>Listado de proyectos de ingeniería que hay que presentar en la Consejería de Industria</a:t>
            </a:r>
          </a:p>
          <a:p>
            <a:pPr algn="ctr" eaLnBrk="1" hangingPunct="1">
              <a:spcBef>
                <a:spcPct val="0"/>
              </a:spcBef>
              <a:buClrTx/>
              <a:buSzTx/>
              <a:buFontTx/>
              <a:buNone/>
            </a:pPr>
            <a:r>
              <a:rPr lang="es-ES_tradnl" altLang="es-ES" sz="1800" b="1" dirty="0">
                <a:latin typeface="Arial" panose="020B0604020202020204" pitchFamily="34" charset="0"/>
                <a:cs typeface="Arial" panose="020B0604020202020204" pitchFamily="34" charset="0"/>
              </a:rPr>
              <a:t>(Según orden </a:t>
            </a:r>
            <a:r>
              <a:rPr lang="es-ES_tradnl" altLang="es-ES" sz="1800" b="1" dirty="0">
                <a:solidFill>
                  <a:srgbClr val="000000"/>
                </a:solidFill>
                <a:latin typeface="Arial" panose="020B0604020202020204" pitchFamily="34" charset="0"/>
                <a:cs typeface="Arial" panose="020B0604020202020204" pitchFamily="34" charset="0"/>
              </a:rPr>
              <a:t>89/4366 y posteriores actualizaciones)</a:t>
            </a:r>
            <a:endParaRPr lang="es-ES_tradnl" altLang="es-ES" sz="1800" b="1" dirty="0">
              <a:latin typeface="Arial" panose="020B0604020202020204" pitchFamily="34" charset="0"/>
              <a:cs typeface="Arial" panose="020B0604020202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5">
            <a:extLst>
              <a:ext uri="{FF2B5EF4-FFF2-40B4-BE49-F238E27FC236}">
                <a16:creationId xmlns:a16="http://schemas.microsoft.com/office/drawing/2014/main" id="{47217F77-C288-C74B-85E5-718006CEDBC6}"/>
              </a:ext>
            </a:extLst>
          </p:cNvPr>
          <p:cNvSpPr>
            <a:spLocks noChangeArrowheads="1"/>
          </p:cNvSpPr>
          <p:nvPr/>
        </p:nvSpPr>
        <p:spPr bwMode="auto">
          <a:xfrm>
            <a:off x="1260475" y="115888"/>
            <a:ext cx="7127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 Contenido mínimo de los proyectos para la obtención de licencia medioambiental</a:t>
            </a:r>
          </a:p>
        </p:txBody>
      </p:sp>
      <p:sp>
        <p:nvSpPr>
          <p:cNvPr id="72706" name="CuadroTexto 1">
            <a:extLst>
              <a:ext uri="{FF2B5EF4-FFF2-40B4-BE49-F238E27FC236}">
                <a16:creationId xmlns:a16="http://schemas.microsoft.com/office/drawing/2014/main" id="{6558C53D-740B-AE45-9998-E62636CED171}"/>
              </a:ext>
            </a:extLst>
          </p:cNvPr>
          <p:cNvSpPr txBox="1">
            <a:spLocks noChangeArrowheads="1"/>
          </p:cNvSpPr>
          <p:nvPr/>
        </p:nvSpPr>
        <p:spPr bwMode="auto">
          <a:xfrm>
            <a:off x="1331913" y="692150"/>
            <a:ext cx="7416800"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s-ES_tradnl" altLang="es-ES" sz="1800" b="1" dirty="0"/>
              <a:t>Memoria</a:t>
            </a:r>
          </a:p>
          <a:p>
            <a:pPr eaLnBrk="1" hangingPunct="1">
              <a:spcBef>
                <a:spcPct val="0"/>
              </a:spcBef>
              <a:buClrTx/>
              <a:buSzTx/>
              <a:buFontTx/>
              <a:buNone/>
            </a:pPr>
            <a:endParaRPr lang="es-ES_tradnl" altLang="es-ES" sz="1800" b="1" dirty="0"/>
          </a:p>
          <a:p>
            <a:pPr eaLnBrk="1" hangingPunct="1">
              <a:spcBef>
                <a:spcPct val="0"/>
              </a:spcBef>
              <a:buClrTx/>
              <a:buSzTx/>
              <a:buFontTx/>
              <a:buAutoNum type="arabicPeriod"/>
            </a:pPr>
            <a:r>
              <a:rPr lang="es-ES_tradnl" altLang="es-ES" sz="1800" b="1" dirty="0"/>
              <a:t> </a:t>
            </a:r>
            <a:r>
              <a:rPr lang="es-ES_tradnl" altLang="es-ES" sz="1600" b="1" dirty="0">
                <a:latin typeface="Arial" panose="020B0604020202020204" pitchFamily="34" charset="0"/>
                <a:cs typeface="Arial" panose="020B0604020202020204" pitchFamily="34" charset="0"/>
              </a:rPr>
              <a:t>Objeto</a:t>
            </a:r>
          </a:p>
          <a:p>
            <a:pPr eaLnBrk="1" hangingPunct="1">
              <a:spcBef>
                <a:spcPct val="0"/>
              </a:spcBef>
              <a:buClrTx/>
              <a:buSzTx/>
              <a:buNone/>
            </a:pPr>
            <a:r>
              <a:rPr lang="es-ES_tradnl" altLang="es-ES" sz="1600" dirty="0">
                <a:latin typeface="Arial" panose="020B0604020202020204" pitchFamily="34" charset="0"/>
                <a:cs typeface="Arial" panose="020B0604020202020204" pitchFamily="34" charset="0"/>
              </a:rPr>
              <a:t>Descripción de la actividad con objeto de poder evaluar los posibles peligros o riesgos para las personas o el medio ambiente.</a:t>
            </a:r>
            <a:endParaRPr lang="es-ES_tradnl" altLang="es-ES" sz="1600" b="1" dirty="0">
              <a:latin typeface="Arial" panose="020B0604020202020204" pitchFamily="34" charset="0"/>
              <a:cs typeface="Arial" panose="020B0604020202020204" pitchFamily="34" charset="0"/>
            </a:endParaRPr>
          </a:p>
          <a:p>
            <a:pPr eaLnBrk="1" hangingPunct="1">
              <a:spcBef>
                <a:spcPct val="0"/>
              </a:spcBef>
              <a:buClrTx/>
              <a:buSzTx/>
              <a:buNone/>
            </a:pPr>
            <a:r>
              <a:rPr lang="es-ES_tradnl" altLang="es-ES" sz="1600" b="1" dirty="0">
                <a:latin typeface="Arial" panose="020B0604020202020204" pitchFamily="34" charset="0"/>
                <a:cs typeface="Arial" panose="020B0604020202020204" pitchFamily="34" charset="0"/>
              </a:rPr>
              <a:t>2. Datos del propietario.</a:t>
            </a:r>
          </a:p>
          <a:p>
            <a:pPr eaLnBrk="1" hangingPunct="1">
              <a:spcBef>
                <a:spcPct val="0"/>
              </a:spcBef>
              <a:buClrTx/>
              <a:buSzTx/>
              <a:buNone/>
            </a:pPr>
            <a:r>
              <a:rPr lang="es-ES_tradnl" altLang="es-ES" sz="1600" dirty="0">
                <a:latin typeface="Arial" panose="020B0604020202020204" pitchFamily="34" charset="0"/>
                <a:cs typeface="Arial" panose="020B0604020202020204" pitchFamily="34" charset="0"/>
              </a:rPr>
              <a:t>Indicar el nombre y apellidos, dirección y número del Documento Nacional de Identidad del solicitante y si actúa en nombre propio o por delegación: facilitando, en su caso, los datos fiscales y comerciales de la entidad e indicando la dirección donde pretende instalar la actividad.</a:t>
            </a:r>
            <a:endParaRPr lang="es-ES_tradnl" altLang="es-ES" sz="1600" b="1" dirty="0">
              <a:latin typeface="Arial" panose="020B0604020202020204" pitchFamily="34" charset="0"/>
              <a:cs typeface="Arial" panose="020B0604020202020204" pitchFamily="34" charset="0"/>
            </a:endParaRPr>
          </a:p>
          <a:p>
            <a:pPr eaLnBrk="1" hangingPunct="1">
              <a:spcBef>
                <a:spcPct val="0"/>
              </a:spcBef>
              <a:buClrTx/>
              <a:buSzTx/>
              <a:buNone/>
            </a:pPr>
            <a:r>
              <a:rPr lang="es-ES_tradnl" altLang="es-ES" sz="1600" b="1" dirty="0">
                <a:latin typeface="Arial" panose="020B0604020202020204" pitchFamily="34" charset="0"/>
                <a:cs typeface="Arial" panose="020B0604020202020204" pitchFamily="34" charset="0"/>
              </a:rPr>
              <a:t>3. Situación y emplazamiento.</a:t>
            </a:r>
          </a:p>
          <a:p>
            <a:pPr eaLnBrk="1" hangingPunct="1">
              <a:spcBef>
                <a:spcPct val="0"/>
              </a:spcBef>
              <a:buClrTx/>
              <a:buSzTx/>
              <a:buNone/>
            </a:pPr>
            <a:r>
              <a:rPr lang="es-ES_tradnl" altLang="es-ES" sz="1600" dirty="0">
                <a:latin typeface="Arial" panose="020B0604020202020204" pitchFamily="34" charset="0"/>
                <a:cs typeface="Arial" panose="020B0604020202020204" pitchFamily="34" charset="0"/>
              </a:rPr>
              <a:t>Se deberá comunicar la situación urbanística del suelo en el que se pretende ubicar la actividad con la correspondiente certificación municipal que contendrá: la fecha de aprobación definitiva del documento de ordenación que se base en esta calificación (plan general , normas subsidiarias de planeamiento o delimitación del suelo urbano ) y las normas y ordenanzas que puedan ser de aplicación a la zona. A partir de estos datos , se extraerán las conclusiones oportunas sobre la admisibilidad o no del emplazamiento propuesto.</a:t>
            </a:r>
          </a:p>
          <a:p>
            <a:pPr eaLnBrk="1" hangingPunct="1">
              <a:spcBef>
                <a:spcPct val="0"/>
              </a:spcBef>
              <a:buClrTx/>
              <a:buSzTx/>
              <a:buNone/>
            </a:pPr>
            <a:r>
              <a:rPr lang="es-ES_tradnl" altLang="es-ES" sz="1600" b="1" dirty="0">
                <a:latin typeface="Arial" panose="020B0604020202020204" pitchFamily="34" charset="0"/>
                <a:cs typeface="Arial" panose="020B0604020202020204" pitchFamily="34" charset="0"/>
              </a:rPr>
              <a:t>3.1 Edificios en general.</a:t>
            </a:r>
          </a:p>
          <a:p>
            <a:pPr eaLnBrk="1" hangingPunct="1">
              <a:spcBef>
                <a:spcPct val="0"/>
              </a:spcBef>
              <a:buClrTx/>
              <a:buSzTx/>
              <a:buNone/>
            </a:pPr>
            <a:r>
              <a:rPr lang="es-ES_tradnl" altLang="es-ES" sz="1600" dirty="0">
                <a:latin typeface="Arial" panose="020B0604020202020204" pitchFamily="34" charset="0"/>
                <a:cs typeface="Arial" panose="020B0604020202020204" pitchFamily="34" charset="0"/>
              </a:rPr>
              <a:t>Se describirá el edificio o actividad local indicando sus características y año de construcción.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uadroTexto 1">
            <a:extLst>
              <a:ext uri="{FF2B5EF4-FFF2-40B4-BE49-F238E27FC236}">
                <a16:creationId xmlns:a16="http://schemas.microsoft.com/office/drawing/2014/main" id="{B769310A-6169-544B-846A-CF6BB3370074}"/>
              </a:ext>
            </a:extLst>
          </p:cNvPr>
          <p:cNvSpPr txBox="1">
            <a:spLocks noChangeArrowheads="1"/>
          </p:cNvSpPr>
          <p:nvPr/>
        </p:nvSpPr>
        <p:spPr bwMode="auto">
          <a:xfrm>
            <a:off x="1278063" y="905232"/>
            <a:ext cx="7416800" cy="504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s-ES_tradnl" altLang="es-ES" sz="1400" b="1" dirty="0">
                <a:latin typeface="Arial" panose="020B0604020202020204" pitchFamily="34" charset="0"/>
                <a:cs typeface="Arial" panose="020B0604020202020204" pitchFamily="34" charset="0"/>
              </a:rPr>
              <a:t>3.2 Las construcciones en terrenos urbanos consolidados.</a:t>
            </a:r>
          </a:p>
          <a:p>
            <a:pPr eaLnBrk="1" hangingPunct="1">
              <a:spcBef>
                <a:spcPct val="0"/>
              </a:spcBef>
              <a:buClrTx/>
              <a:buSzTx/>
              <a:buFontTx/>
              <a:buNone/>
            </a:pPr>
            <a:r>
              <a:rPr lang="es-ES_tradnl" altLang="es-ES" sz="1400" dirty="0">
                <a:latin typeface="Arial" panose="020B0604020202020204" pitchFamily="34" charset="0"/>
                <a:cs typeface="Arial" panose="020B0604020202020204" pitchFamily="34" charset="0"/>
              </a:rPr>
              <a:t>Si ocupa una ocupación completa , como si es una ocupación parcial , indican el uso actual de los locales adyacentes: derecha en , izquierda y suelo, así como encima y debajo de la actividad, si la hay , y de los situados en su frente , cuando la calle es ancha , no más de cinco metros.</a:t>
            </a:r>
          </a:p>
          <a:p>
            <a:pPr eaLnBrk="1" hangingPunct="1">
              <a:spcBef>
                <a:spcPct val="0"/>
              </a:spcBef>
              <a:buClrTx/>
              <a:buSzTx/>
              <a:buFontTx/>
              <a:buNone/>
            </a:pPr>
            <a:r>
              <a:rPr lang="es-ES_tradnl" altLang="es-ES" sz="1400" dirty="0">
                <a:latin typeface="Arial" panose="020B0604020202020204" pitchFamily="34" charset="0"/>
                <a:cs typeface="Arial" panose="020B0604020202020204" pitchFamily="34" charset="0"/>
              </a:rPr>
              <a:t>Si por alguna razón el uso urbano no coincidiera con el real medido se anotará en la memoria también .</a:t>
            </a:r>
          </a:p>
          <a:p>
            <a:pPr eaLnBrk="1" hangingPunct="1">
              <a:spcBef>
                <a:spcPct val="0"/>
              </a:spcBef>
              <a:buClrTx/>
              <a:buSzTx/>
              <a:buFontTx/>
              <a:buNone/>
            </a:pPr>
            <a:r>
              <a:rPr lang="es-ES_tradnl" altLang="es-ES" sz="1400" b="1" dirty="0">
                <a:latin typeface="Arial" panose="020B0604020202020204" pitchFamily="34" charset="0"/>
                <a:cs typeface="Arial" panose="020B0604020202020204" pitchFamily="34" charset="0"/>
              </a:rPr>
              <a:t>3.3 Los edificios fuera del centro de la población. </a:t>
            </a:r>
          </a:p>
          <a:p>
            <a:pPr eaLnBrk="1" hangingPunct="1">
              <a:spcBef>
                <a:spcPct val="0"/>
              </a:spcBef>
              <a:buClrTx/>
              <a:buSzTx/>
              <a:buFontTx/>
              <a:buNone/>
            </a:pPr>
            <a:r>
              <a:rPr lang="es-ES_tradnl" altLang="es-ES" sz="1400" dirty="0">
                <a:latin typeface="Arial" panose="020B0604020202020204" pitchFamily="34" charset="0"/>
                <a:cs typeface="Arial" panose="020B0604020202020204" pitchFamily="34" charset="0"/>
              </a:rPr>
              <a:t>Siempre se indicará la misma distancia o la más cercana a las zonas pobladas y de captación de agua, embalses y fuentes naturales, y se mencionará la existencia en las proximidades de escuelas, servicios sanitarios y otras actividades que puedan ser afectadas por los ruidos generados por la nueva actividad, con indicación de su distancia.</a:t>
            </a:r>
          </a:p>
          <a:p>
            <a:pPr eaLnBrk="1" hangingPunct="1">
              <a:spcBef>
                <a:spcPct val="0"/>
              </a:spcBef>
              <a:buClrTx/>
              <a:buSzTx/>
              <a:buFontTx/>
              <a:buNone/>
            </a:pPr>
            <a:r>
              <a:rPr lang="es-ES_tradnl" altLang="es-ES" sz="1400" dirty="0">
                <a:latin typeface="Arial" panose="020B0604020202020204" pitchFamily="34" charset="0"/>
                <a:cs typeface="Arial" panose="020B0604020202020204" pitchFamily="34" charset="0"/>
              </a:rPr>
              <a:t>Si se trata de una construcción industrial, además de lo anterior, se deberán indicar los retranqueos respecto de los límites de la propiedad y con respecto a caminos, carreteras o zanjas.</a:t>
            </a:r>
          </a:p>
          <a:p>
            <a:pPr eaLnBrk="1" hangingPunct="1">
              <a:spcBef>
                <a:spcPct val="0"/>
              </a:spcBef>
              <a:buClrTx/>
              <a:buSzTx/>
              <a:buFontTx/>
              <a:buNone/>
            </a:pPr>
            <a:r>
              <a:rPr lang="es-ES_tradnl" altLang="es-ES" sz="1400" dirty="0">
                <a:latin typeface="Arial" panose="020B0604020202020204" pitchFamily="34" charset="0"/>
                <a:cs typeface="Arial" panose="020B0604020202020204" pitchFamily="34" charset="0"/>
              </a:rPr>
              <a:t>También se deberán indicar las superficies correspondientes al total de m2 de la parcela y superficie total construida en plantas bajas, plantas intermedias y áticos.</a:t>
            </a:r>
            <a:endParaRPr lang="es-ES_tradnl" altLang="es-ES" sz="1400" b="1" dirty="0">
              <a:latin typeface="Arial" panose="020B0604020202020204" pitchFamily="34" charset="0"/>
              <a:cs typeface="Arial" panose="020B0604020202020204" pitchFamily="34" charset="0"/>
            </a:endParaRPr>
          </a:p>
          <a:p>
            <a:pPr eaLnBrk="1" hangingPunct="1">
              <a:spcBef>
                <a:spcPct val="0"/>
              </a:spcBef>
              <a:buClrTx/>
              <a:buSzTx/>
              <a:buFontTx/>
              <a:buNone/>
            </a:pPr>
            <a:r>
              <a:rPr lang="es-ES_tradnl" altLang="es-ES" sz="1400" b="1" dirty="0">
                <a:latin typeface="Arial" panose="020B0604020202020204" pitchFamily="34" charset="0"/>
                <a:cs typeface="Arial" panose="020B0604020202020204" pitchFamily="34" charset="0"/>
              </a:rPr>
              <a:t>4 . Proceso industrial. </a:t>
            </a:r>
          </a:p>
          <a:p>
            <a:pPr eaLnBrk="1" hangingPunct="1">
              <a:spcBef>
                <a:spcPct val="0"/>
              </a:spcBef>
              <a:buClrTx/>
              <a:buSzTx/>
              <a:buFontTx/>
              <a:buNone/>
            </a:pPr>
            <a:r>
              <a:rPr lang="es-ES_tradnl" altLang="es-ES" sz="1400" dirty="0">
                <a:latin typeface="Arial" panose="020B0604020202020204" pitchFamily="34" charset="0"/>
                <a:cs typeface="Arial" panose="020B0604020202020204" pitchFamily="34" charset="0"/>
              </a:rPr>
              <a:t>Es esencial describir clara y detalladamente el proceso de producción correspondiente con la actividad industrial principal y con servicios desarrolladas en otras áreas del edificio.</a:t>
            </a:r>
          </a:p>
          <a:p>
            <a:pPr eaLnBrk="1" hangingPunct="1">
              <a:spcBef>
                <a:spcPct val="0"/>
              </a:spcBef>
              <a:buClrTx/>
              <a:buSzTx/>
              <a:buFontTx/>
              <a:buNone/>
            </a:pPr>
            <a:r>
              <a:rPr lang="es-ES_tradnl" altLang="es-ES" sz="1400" b="1" dirty="0">
                <a:latin typeface="Arial" panose="020B0604020202020204" pitchFamily="34" charset="0"/>
                <a:cs typeface="Arial" panose="020B0604020202020204" pitchFamily="34" charset="0"/>
              </a:rPr>
              <a:t>5. Número de personas. </a:t>
            </a:r>
          </a:p>
          <a:p>
            <a:pPr eaLnBrk="1" hangingPunct="1">
              <a:spcBef>
                <a:spcPct val="0"/>
              </a:spcBef>
              <a:buClrTx/>
              <a:buSzTx/>
              <a:buFontTx/>
              <a:buNone/>
            </a:pPr>
            <a:r>
              <a:rPr lang="es-ES_tradnl" altLang="es-ES" sz="1400" dirty="0">
                <a:latin typeface="Arial" panose="020B0604020202020204" pitchFamily="34" charset="0"/>
                <a:cs typeface="Arial" panose="020B0604020202020204" pitchFamily="34" charset="0"/>
              </a:rPr>
              <a:t>Se deberá describir con detalle el organigrama general de la empresa, indicando el número total de personas que trabajarán en la organización.</a:t>
            </a:r>
          </a:p>
        </p:txBody>
      </p:sp>
      <p:sp>
        <p:nvSpPr>
          <p:cNvPr id="4" name="Rectangle 5">
            <a:extLst>
              <a:ext uri="{FF2B5EF4-FFF2-40B4-BE49-F238E27FC236}">
                <a16:creationId xmlns:a16="http://schemas.microsoft.com/office/drawing/2014/main" id="{B2292E73-1AEE-AE45-BD2C-998D6554F93F}"/>
              </a:ext>
            </a:extLst>
          </p:cNvPr>
          <p:cNvSpPr>
            <a:spLocks noChangeArrowheads="1"/>
          </p:cNvSpPr>
          <p:nvPr/>
        </p:nvSpPr>
        <p:spPr bwMode="auto">
          <a:xfrm>
            <a:off x="1260475" y="44624"/>
            <a:ext cx="7127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 Contenido mínimo de los proyectos para la obtención de licencia medioambiental</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uadroTexto 1">
            <a:extLst>
              <a:ext uri="{FF2B5EF4-FFF2-40B4-BE49-F238E27FC236}">
                <a16:creationId xmlns:a16="http://schemas.microsoft.com/office/drawing/2014/main" id="{9A494BED-ED8F-F24E-925E-CD710BB14869}"/>
              </a:ext>
            </a:extLst>
          </p:cNvPr>
          <p:cNvSpPr txBox="1">
            <a:spLocks noChangeArrowheads="1"/>
          </p:cNvSpPr>
          <p:nvPr/>
        </p:nvSpPr>
        <p:spPr bwMode="auto">
          <a:xfrm>
            <a:off x="1331913" y="962719"/>
            <a:ext cx="7416800"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6. Maquinaria y otros medios. </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Lista de máquinas y otros medios, con expresión de potencia, definida como : energía mecánica o electromecánica de cada uno de los motores que accionan los elementos de la actividad, expresada en CV, y elementos estáticos expresados en kW, como indicador de su posible grado de peligrosidad, de molestia o incomodidad. Para las actividades calificadas de no industriales se deberán relacionar el conjunto de fuentes de sonido que puedan resultar molestas a los vecinos o al entorno próximo, también se deberá especificar claramente su situación.</a:t>
            </a:r>
          </a:p>
          <a:p>
            <a:pPr eaLnBrk="1" hangingPunct="1">
              <a:spcBef>
                <a:spcPct val="0"/>
              </a:spcBef>
              <a:buClrTx/>
              <a:buSzTx/>
              <a:buFontTx/>
              <a:buNone/>
            </a:pPr>
            <a:endParaRPr lang="es-ES_tradnl" altLang="es-ES" sz="1600" b="1" dirty="0">
              <a:latin typeface="Arial" panose="020B0604020202020204" pitchFamily="34" charset="0"/>
              <a:cs typeface="Arial" panose="020B0604020202020204" pitchFamily="34" charset="0"/>
            </a:endParaRPr>
          </a:p>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7. Materias primas, productos intermedios y terminados.</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Será necesario indicar sus características y el stock medio de almacenamiento de cada uno de los productos almacenados. También se indicarán los riesgos asociados a cada uno de los materiales almacenados debido a sus características y a la evolución de su estado de conservación.</a:t>
            </a:r>
          </a:p>
          <a:p>
            <a:pPr eaLnBrk="1" hangingPunct="1">
              <a:spcBef>
                <a:spcPct val="0"/>
              </a:spcBef>
              <a:buClrTx/>
              <a:buSzTx/>
              <a:buFontTx/>
              <a:buNone/>
            </a:pPr>
            <a:endParaRPr lang="es-ES_tradnl" altLang="es-ES" sz="1600" b="1" dirty="0">
              <a:latin typeface="Arial" panose="020B0604020202020204" pitchFamily="34" charset="0"/>
              <a:cs typeface="Arial" panose="020B0604020202020204" pitchFamily="34" charset="0"/>
            </a:endParaRPr>
          </a:p>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8. Combustibles. Clases , cantidad , tipo y condiciones de almacenamiento. </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Indicación explícita de los reglamentos específicos que se deberán aplicar.</a:t>
            </a:r>
          </a:p>
        </p:txBody>
      </p:sp>
      <p:sp>
        <p:nvSpPr>
          <p:cNvPr id="4" name="Rectangle 5">
            <a:extLst>
              <a:ext uri="{FF2B5EF4-FFF2-40B4-BE49-F238E27FC236}">
                <a16:creationId xmlns:a16="http://schemas.microsoft.com/office/drawing/2014/main" id="{88B82942-A2B0-774E-B8BC-2EA9E1C70FFA}"/>
              </a:ext>
            </a:extLst>
          </p:cNvPr>
          <p:cNvSpPr>
            <a:spLocks noChangeArrowheads="1"/>
          </p:cNvSpPr>
          <p:nvPr/>
        </p:nvSpPr>
        <p:spPr bwMode="auto">
          <a:xfrm>
            <a:off x="1260475" y="44624"/>
            <a:ext cx="7127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 Contenido mínimo de los proyectos para la obtención de licencia medioambiental</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uadroTexto 1">
            <a:extLst>
              <a:ext uri="{FF2B5EF4-FFF2-40B4-BE49-F238E27FC236}">
                <a16:creationId xmlns:a16="http://schemas.microsoft.com/office/drawing/2014/main" id="{F1FE569F-39B9-4A4C-8D80-6EAE399DCDBA}"/>
              </a:ext>
            </a:extLst>
          </p:cNvPr>
          <p:cNvSpPr txBox="1">
            <a:spLocks noChangeArrowheads="1"/>
          </p:cNvSpPr>
          <p:nvPr/>
        </p:nvSpPr>
        <p:spPr bwMode="auto">
          <a:xfrm>
            <a:off x="1260475" y="980728"/>
            <a:ext cx="7416800"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9. Sanitarios. </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Se deberán relacionar el conjunto de vestuarios y baños para hombres y mujeres según establece la Ordenanza General de Seguridad y Salud en el Trabajo.</a:t>
            </a:r>
          </a:p>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10. Ventilación e iluminación. </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Se debe indicar los medios que están disponibles para cumplir con las disposiciones de la Ordenanza General de Seguridad y Salud en el Trabajo.</a:t>
            </a:r>
          </a:p>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11 . Explicación sobre el impacto de la actividad en el medio ambiente.</a:t>
            </a:r>
          </a:p>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11.1 Ruido.</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Indicar el nivel de ruido máximo y medio que puede generar la actividad en el entorno próximo. Se especificarán en las medidas correctoras propuestas que irán acompañadas de cálculos justificativos. Estos cálculos, especialmente para las actividades situadas en la ciudad y en lugares próximos a viviendas, se determinarán con todo tipo de detalles para cada paramento, forjado, etc. Las medidas correctoras se incluirán en los planos del proyecto.</a:t>
            </a:r>
            <a:endParaRPr lang="es-ES_tradnl" altLang="es-ES" sz="1600" b="1" dirty="0">
              <a:latin typeface="Arial" panose="020B0604020202020204" pitchFamily="34" charset="0"/>
              <a:cs typeface="Arial" panose="020B0604020202020204" pitchFamily="34" charset="0"/>
            </a:endParaRPr>
          </a:p>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11.2 Vibraciones.</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Cuando las máquinas pueden producir vibraciones molestas, se efectuará una enumeración los dispositivos anti-vibratorios dispuestos con las especificaciones escritas necesarias, sin necesidad de adjuntar planos.  También se describirán las cimentaciones o bancadas de las máquinas y, si el caso lo requiere, se justificará su dimensionamiento mediante el cálculo correspondiente.</a:t>
            </a:r>
            <a:endParaRPr lang="es-ES_tradnl" altLang="es-ES" sz="1800" dirty="0">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43C9C6F8-3CA4-9F46-85AC-2A4AD8B3BB7A}"/>
              </a:ext>
            </a:extLst>
          </p:cNvPr>
          <p:cNvSpPr>
            <a:spLocks noChangeArrowheads="1"/>
          </p:cNvSpPr>
          <p:nvPr/>
        </p:nvSpPr>
        <p:spPr bwMode="auto">
          <a:xfrm>
            <a:off x="1260475" y="44624"/>
            <a:ext cx="7127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 Contenido mínimo de los proyectos para la obtención de licencia medioambiental</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uadroTexto 1">
            <a:extLst>
              <a:ext uri="{FF2B5EF4-FFF2-40B4-BE49-F238E27FC236}">
                <a16:creationId xmlns:a16="http://schemas.microsoft.com/office/drawing/2014/main" id="{83A0165E-D77E-B342-BD67-71388F9EEE80}"/>
              </a:ext>
            </a:extLst>
          </p:cNvPr>
          <p:cNvSpPr txBox="1">
            <a:spLocks noChangeArrowheads="1"/>
          </p:cNvSpPr>
          <p:nvPr/>
        </p:nvSpPr>
        <p:spPr bwMode="auto">
          <a:xfrm>
            <a:off x="1331913" y="836613"/>
            <a:ext cx="7416800"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11.3. Gases, nieblas, polvos y olores en general. </a:t>
            </a:r>
          </a:p>
          <a:p>
            <a:pPr eaLnBrk="1" hangingPunct="1">
              <a:spcBef>
                <a:spcPct val="0"/>
              </a:spcBef>
              <a:buClrTx/>
              <a:buSzTx/>
              <a:buNone/>
            </a:pPr>
            <a:r>
              <a:rPr lang="es-ES" sz="1600" dirty="0">
                <a:latin typeface="Arial" panose="020B0604020202020204" pitchFamily="34" charset="0"/>
                <a:ea typeface="Times New Roman" panose="02020603050405020304" pitchFamily="18" charset="0"/>
                <a:cs typeface="Arial" panose="020B0604020202020204" pitchFamily="34" charset="0"/>
              </a:rPr>
              <a:t>Chimeneas, campanas y extractores. Deberán de describirse minuciosamente, detallando ubicación, trayecto y punto final de vertido o eliminación. Se tendrá presente la altura de vertido por encima de edificios situados en el radio que proceda.</a:t>
            </a:r>
          </a:p>
          <a:p>
            <a:pPr eaLnBrk="1" hangingPunct="1">
              <a:spcBef>
                <a:spcPct val="0"/>
              </a:spcBef>
              <a:buClrTx/>
              <a:buSzTx/>
              <a:buNone/>
            </a:pPr>
            <a:r>
              <a:rPr lang="es-ES" sz="1600" dirty="0">
                <a:latin typeface="Arial" panose="020B0604020202020204" pitchFamily="34" charset="0"/>
                <a:ea typeface="Times New Roman" panose="02020603050405020304" pitchFamily="18" charset="0"/>
                <a:cs typeface="Arial" panose="020B0604020202020204" pitchFamily="34" charset="0"/>
              </a:rPr>
              <a:t>Gases, nieblas, polvos y olores en general. Deberá describirse el conjunto de mecanismos correctores y grado de eficacia de los mismos, haciendo mención expresa de no sobrepasar los máximos establecidos en el Anexo 2 del vigente Reglamento de Actividades Molestas, Insalubres, Nocivas y Peligrosas de 30 de noviembre de 1961 (citado). Especificará con todo detalle la composición de las mismas.</a:t>
            </a:r>
            <a:endParaRPr lang="es-ES_tradnl" altLang="es-ES" sz="1600" b="1" dirty="0">
              <a:latin typeface="Arial" panose="020B0604020202020204" pitchFamily="34" charset="0"/>
              <a:cs typeface="Arial" panose="020B0604020202020204" pitchFamily="34" charset="0"/>
            </a:endParaRPr>
          </a:p>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11.4. Riesgo de incendio, deflagración y explosión.</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Se especificarán las medidas correctoras así como el grado de eficacia de las mismas.</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Los medios previstos para la extinción de incendios se justificarán en función de la carga térmica ponderada, proponiendo entre tales medios, el tipo de extintores, número y capacidad, así como la instalación, en el caso, de tomas de agua normalizadas.</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La carga térmica ponderada se calculará en mega calorías por metro cuadrado (</a:t>
            </a:r>
            <a:r>
              <a:rPr lang="es-ES_tradnl" altLang="es-ES" sz="1600" dirty="0" err="1">
                <a:latin typeface="Arial" panose="020B0604020202020204" pitchFamily="34" charset="0"/>
                <a:cs typeface="Arial" panose="020B0604020202020204" pitchFamily="34" charset="0"/>
              </a:rPr>
              <a:t>Mcal</a:t>
            </a:r>
            <a:r>
              <a:rPr lang="es-ES_tradnl" altLang="es-ES" sz="1600" dirty="0">
                <a:latin typeface="Arial" panose="020B0604020202020204" pitchFamily="34" charset="0"/>
                <a:cs typeface="Arial" panose="020B0604020202020204" pitchFamily="34" charset="0"/>
              </a:rPr>
              <a:t>/m</a:t>
            </a:r>
            <a:r>
              <a:rPr lang="es-ES_tradnl" altLang="es-ES" sz="1600" baseline="30000" dirty="0">
                <a:latin typeface="Arial" panose="020B0604020202020204" pitchFamily="34" charset="0"/>
                <a:cs typeface="Arial" panose="020B0604020202020204" pitchFamily="34" charset="0"/>
              </a:rPr>
              <a:t>2</a:t>
            </a:r>
            <a:r>
              <a:rPr lang="es-ES_tradnl" altLang="es-ES" sz="1600" dirty="0">
                <a:latin typeface="Arial" panose="020B0604020202020204" pitchFamily="34" charset="0"/>
                <a:cs typeface="Arial" panose="020B0604020202020204" pitchFamily="34" charset="0"/>
              </a:rPr>
              <a:t>) o en equivalente en madera en kilogramos por metro cuadrado (Kg/m</a:t>
            </a:r>
            <a:r>
              <a:rPr lang="es-ES_tradnl" altLang="es-ES" sz="1600" baseline="30000" dirty="0">
                <a:latin typeface="Arial" panose="020B0604020202020204" pitchFamily="34" charset="0"/>
                <a:cs typeface="Arial" panose="020B0604020202020204" pitchFamily="34" charset="0"/>
              </a:rPr>
              <a:t>2</a:t>
            </a:r>
            <a:r>
              <a:rPr lang="es-ES_tradnl" altLang="es-ES" sz="1600" dirty="0">
                <a:latin typeface="Arial" panose="020B0604020202020204" pitchFamily="34" charset="0"/>
                <a:cs typeface="Arial" panose="020B0604020202020204" pitchFamily="34" charset="0"/>
              </a:rPr>
              <a:t>).</a:t>
            </a:r>
          </a:p>
          <a:p>
            <a:pPr eaLnBrk="1" hangingPunct="1">
              <a:spcBef>
                <a:spcPct val="0"/>
              </a:spcBef>
              <a:buClrTx/>
              <a:buSzTx/>
              <a:buFontTx/>
              <a:buNone/>
            </a:pPr>
            <a:endParaRPr lang="es-ES_tradnl" altLang="es-ES" sz="1600" b="1" dirty="0">
              <a:latin typeface="Arial" panose="020B0604020202020204" pitchFamily="34" charset="0"/>
              <a:cs typeface="Arial" panose="020B0604020202020204" pitchFamily="34" charset="0"/>
            </a:endParaRPr>
          </a:p>
        </p:txBody>
      </p:sp>
      <p:sp>
        <p:nvSpPr>
          <p:cNvPr id="4" name="Rectangle 5">
            <a:extLst>
              <a:ext uri="{FF2B5EF4-FFF2-40B4-BE49-F238E27FC236}">
                <a16:creationId xmlns:a16="http://schemas.microsoft.com/office/drawing/2014/main" id="{9180D62F-EA2A-D240-A36C-7076EB8B055A}"/>
              </a:ext>
            </a:extLst>
          </p:cNvPr>
          <p:cNvSpPr>
            <a:spLocks noChangeArrowheads="1"/>
          </p:cNvSpPr>
          <p:nvPr/>
        </p:nvSpPr>
        <p:spPr bwMode="auto">
          <a:xfrm>
            <a:off x="1260475" y="44624"/>
            <a:ext cx="7127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 Contenido mínimo de los proyectos para la obtención de licencia medioambiental</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uadroTexto 1">
            <a:extLst>
              <a:ext uri="{FF2B5EF4-FFF2-40B4-BE49-F238E27FC236}">
                <a16:creationId xmlns:a16="http://schemas.microsoft.com/office/drawing/2014/main" id="{55F6894F-79ED-4843-8C81-5C0C10A6BAB0}"/>
              </a:ext>
            </a:extLst>
          </p:cNvPr>
          <p:cNvSpPr txBox="1">
            <a:spLocks noChangeArrowheads="1"/>
          </p:cNvSpPr>
          <p:nvPr/>
        </p:nvSpPr>
        <p:spPr bwMode="auto">
          <a:xfrm>
            <a:off x="1331913" y="836613"/>
            <a:ext cx="7416800"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12.1 Agua potable.</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Se mencionará su procedencia: red municipal de abastecimiento, pozos, manantiales, aljibes o depósitos propios, empleo de camiones - cisterna, etc. Se enumerarán las medidas para garantizar el mantenimiento de la calidad sanitaria del agua.</a:t>
            </a:r>
            <a:endParaRPr lang="es-ES_tradnl" altLang="es-ES" sz="1600" b="1" dirty="0">
              <a:latin typeface="Arial" panose="020B0604020202020204" pitchFamily="34" charset="0"/>
              <a:cs typeface="Arial" panose="020B0604020202020204" pitchFamily="34" charset="0"/>
            </a:endParaRPr>
          </a:p>
          <a:p>
            <a:pPr eaLnBrk="1" hangingPunct="1">
              <a:spcBef>
                <a:spcPct val="0"/>
              </a:spcBef>
              <a:buClrTx/>
              <a:buSzTx/>
              <a:buFontTx/>
              <a:buNone/>
            </a:pPr>
            <a:r>
              <a:rPr lang="es-ES_tradnl" altLang="es-ES" sz="1600" b="1" dirty="0">
                <a:latin typeface="Arial" panose="020B0604020202020204" pitchFamily="34" charset="0"/>
                <a:cs typeface="Arial" panose="020B0604020202020204" pitchFamily="34" charset="0"/>
              </a:rPr>
              <a:t>12.2. Aguas residuales.</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Se detallará la composición de las mismas. Cuando haya alcantarillado debe indicarse, además, sí va a estación depuradora de aguas residuales y punto final de vertido, proponiendo un sistema de depuración, preferentemente de oxidación total, que, se acompañara de los planos correspondientes con datos y dimensionado. Pese a la existencia de alcantarillado municipal, puede ser necesario realzar una depuración previa al vertido para evitar la contaminación química del afluente de la población o su sobrecarga con materia orgánica y consiguiente aumento de la Demanda Bioquímica de Oxígeno (D.B.O.). En el supuesto de que se estime como no necesaria la depuración previa, este extremo habrá de ser justificado adecuadamente en la memoria.</a:t>
            </a:r>
          </a:p>
          <a:p>
            <a:pPr eaLnBrk="1" hangingPunct="1">
              <a:spcBef>
                <a:spcPct val="0"/>
              </a:spcBef>
              <a:buClrTx/>
              <a:buSzTx/>
              <a:buFontTx/>
              <a:buNone/>
            </a:pPr>
            <a:r>
              <a:rPr lang="es-ES_tradnl" altLang="es-ES" sz="1600" dirty="0">
                <a:latin typeface="Arial" panose="020B0604020202020204" pitchFamily="34" charset="0"/>
                <a:cs typeface="Arial" panose="020B0604020202020204" pitchFamily="34" charset="0"/>
              </a:rPr>
              <a:t>Los aceites, grasas y, en general, cualquier líquido que no sean aguas residuales, si son arrastrados por estos, serán separados previamente a su vertido y determinado su destino.</a:t>
            </a:r>
          </a:p>
        </p:txBody>
      </p:sp>
      <p:sp>
        <p:nvSpPr>
          <p:cNvPr id="4" name="Rectangle 5">
            <a:extLst>
              <a:ext uri="{FF2B5EF4-FFF2-40B4-BE49-F238E27FC236}">
                <a16:creationId xmlns:a16="http://schemas.microsoft.com/office/drawing/2014/main" id="{523503DD-322D-8A48-8401-495ADD0E5FF0}"/>
              </a:ext>
            </a:extLst>
          </p:cNvPr>
          <p:cNvSpPr>
            <a:spLocks noChangeArrowheads="1"/>
          </p:cNvSpPr>
          <p:nvPr/>
        </p:nvSpPr>
        <p:spPr bwMode="auto">
          <a:xfrm>
            <a:off x="1260475" y="44624"/>
            <a:ext cx="7127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 Contenido mínimo de los proyectos para la obtención de licencia medioambiental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AF76A4E-EE06-D547-BC02-78C529B4054C}"/>
              </a:ext>
            </a:extLst>
          </p:cNvPr>
          <p:cNvSpPr txBox="1"/>
          <p:nvPr/>
        </p:nvSpPr>
        <p:spPr>
          <a:xfrm>
            <a:off x="1331913" y="836613"/>
            <a:ext cx="7416800" cy="3077766"/>
          </a:xfrm>
          <a:prstGeom prst="rect">
            <a:avLst/>
          </a:prstGeom>
          <a:noFill/>
        </p:spPr>
        <p:txBody>
          <a:bodyPr>
            <a:spAutoFit/>
          </a:bodyPr>
          <a:lstStyle/>
          <a:p>
            <a:pPr eaLnBrk="1" fontAlgn="auto" hangingPunct="1">
              <a:spcBef>
                <a:spcPts val="0"/>
              </a:spcBef>
              <a:spcAft>
                <a:spcPts val="0"/>
              </a:spcAft>
              <a:defRPr/>
            </a:pPr>
            <a:r>
              <a:rPr lang="es-ES_tradnl" sz="1600" b="1" dirty="0">
                <a:latin typeface="Arial" panose="020B0604020202020204" pitchFamily="34" charset="0"/>
                <a:ea typeface="+mn-ea"/>
                <a:cs typeface="Arial" panose="020B0604020202020204" pitchFamily="34" charset="0"/>
              </a:rPr>
              <a:t>13. Residuos sólidos. </a:t>
            </a:r>
          </a:p>
          <a:p>
            <a:pPr eaLnBrk="1" fontAlgn="auto" hangingPunct="1">
              <a:spcBef>
                <a:spcPts val="0"/>
              </a:spcBef>
              <a:spcAft>
                <a:spcPts val="0"/>
              </a:spcAft>
              <a:defRPr/>
            </a:pPr>
            <a:r>
              <a:rPr lang="es-ES_tradnl" sz="1600" dirty="0">
                <a:latin typeface="Arial" panose="020B0604020202020204" pitchFamily="34" charset="0"/>
                <a:ea typeface="+mn-ea"/>
                <a:cs typeface="Arial" panose="020B0604020202020204" pitchFamily="34" charset="0"/>
              </a:rPr>
              <a:t>Indicar composición, modo de eliminación, evaluación de su cantidad y las medidas correctoras que procedan, con la autorización del lugar de vertido cuando fuera procedente.</a:t>
            </a:r>
          </a:p>
          <a:p>
            <a:pPr eaLnBrk="1" fontAlgn="auto" hangingPunct="1">
              <a:spcBef>
                <a:spcPts val="0"/>
              </a:spcBef>
              <a:spcAft>
                <a:spcPts val="0"/>
              </a:spcAft>
              <a:defRPr/>
            </a:pPr>
            <a:r>
              <a:rPr lang="es-ES_tradnl" sz="1600" dirty="0">
                <a:latin typeface="Arial" panose="020B0604020202020204" pitchFamily="34" charset="0"/>
                <a:ea typeface="+mn-ea"/>
                <a:cs typeface="Arial" panose="020B0604020202020204" pitchFamily="34" charset="0"/>
              </a:rPr>
              <a:t>En el supuesto de que la actividad fuese susceptible de producir lixiviados, en la memoria se hará constar, bien el estudio geológico de la zona en el que se demuestre la no afectación de dichos lixiviados bien el establecimiento de las medidas correctoras oportunas.</a:t>
            </a:r>
          </a:p>
          <a:p>
            <a:pPr eaLnBrk="1" fontAlgn="auto" hangingPunct="1">
              <a:spcBef>
                <a:spcPts val="0"/>
              </a:spcBef>
              <a:spcAft>
                <a:spcPts val="0"/>
              </a:spcAft>
              <a:defRPr/>
            </a:pPr>
            <a:r>
              <a:rPr lang="es-ES_tradnl" sz="1600" dirty="0">
                <a:latin typeface="Arial" panose="020B0604020202020204" pitchFamily="34" charset="0"/>
                <a:ea typeface="+mn-ea"/>
                <a:cs typeface="Arial" panose="020B0604020202020204" pitchFamily="34" charset="0"/>
              </a:rPr>
              <a:t>En el caso de ser de origen orgánico, se establecerán en la memoria las medidas que se van a adoptar para impedir la proliferación de insectos y roedores.</a:t>
            </a:r>
          </a:p>
          <a:p>
            <a:pPr eaLnBrk="1" fontAlgn="auto" hangingPunct="1">
              <a:spcBef>
                <a:spcPts val="0"/>
              </a:spcBef>
              <a:spcAft>
                <a:spcPts val="0"/>
              </a:spcAft>
              <a:defRPr/>
            </a:pPr>
            <a:endParaRPr lang="es-ES_tradnl" dirty="0">
              <a:latin typeface="+mn-lt"/>
              <a:ea typeface="+mn-ea"/>
            </a:endParaRPr>
          </a:p>
        </p:txBody>
      </p:sp>
      <p:sp>
        <p:nvSpPr>
          <p:cNvPr id="4" name="Rectangle 5">
            <a:extLst>
              <a:ext uri="{FF2B5EF4-FFF2-40B4-BE49-F238E27FC236}">
                <a16:creationId xmlns:a16="http://schemas.microsoft.com/office/drawing/2014/main" id="{84FB0341-CF9F-4F40-B3AE-57E05F6FA3A6}"/>
              </a:ext>
            </a:extLst>
          </p:cNvPr>
          <p:cNvSpPr>
            <a:spLocks noChangeArrowheads="1"/>
          </p:cNvSpPr>
          <p:nvPr/>
        </p:nvSpPr>
        <p:spPr bwMode="auto">
          <a:xfrm>
            <a:off x="1260475" y="44624"/>
            <a:ext cx="7127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 Contenido mínimo de los proyectos para la obtención de licencia medioambiental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230A42-F8F3-5F45-AF98-9439FA00C56A}"/>
              </a:ext>
            </a:extLst>
          </p:cNvPr>
          <p:cNvSpPr txBox="1"/>
          <p:nvPr/>
        </p:nvSpPr>
        <p:spPr>
          <a:xfrm>
            <a:off x="1331913" y="836613"/>
            <a:ext cx="7416800" cy="5262979"/>
          </a:xfrm>
          <a:prstGeom prst="rect">
            <a:avLst/>
          </a:prstGeom>
          <a:noFill/>
        </p:spPr>
        <p:txBody>
          <a:bodyPr>
            <a:spAutoFit/>
          </a:bodyPr>
          <a:lstStyle/>
          <a:p>
            <a:pPr eaLnBrk="1" fontAlgn="auto" hangingPunct="1">
              <a:spcBef>
                <a:spcPts val="0"/>
              </a:spcBef>
              <a:spcAft>
                <a:spcPts val="0"/>
              </a:spcAft>
              <a:defRPr/>
            </a:pPr>
            <a:r>
              <a:rPr lang="es-ES_tradnl" sz="1600" b="1" dirty="0">
                <a:latin typeface="Arial" panose="020B0604020202020204" pitchFamily="34" charset="0"/>
                <a:ea typeface="+mn-ea"/>
                <a:cs typeface="Arial" panose="020B0604020202020204" pitchFamily="34" charset="0"/>
              </a:rPr>
              <a:t>Planos. </a:t>
            </a:r>
          </a:p>
          <a:p>
            <a:pPr eaLnBrk="1" fontAlgn="auto" hangingPunct="1">
              <a:spcBef>
                <a:spcPts val="0"/>
              </a:spcBef>
              <a:spcAft>
                <a:spcPts val="0"/>
              </a:spcAft>
              <a:defRPr/>
            </a:pPr>
            <a:endParaRPr lang="es-ES_tradnl" sz="1600" dirty="0">
              <a:latin typeface="Arial" panose="020B0604020202020204" pitchFamily="34" charset="0"/>
              <a:ea typeface="+mn-ea"/>
              <a:cs typeface="Arial" panose="020B0604020202020204" pitchFamily="34" charset="0"/>
            </a:endParaRPr>
          </a:p>
          <a:p>
            <a:pPr eaLnBrk="1" fontAlgn="auto" hangingPunct="1">
              <a:spcBef>
                <a:spcPts val="0"/>
              </a:spcBef>
              <a:spcAft>
                <a:spcPts val="0"/>
              </a:spcAft>
              <a:defRPr/>
            </a:pPr>
            <a:r>
              <a:rPr lang="es-ES_tradnl" sz="1600" dirty="0">
                <a:latin typeface="Arial" panose="020B0604020202020204" pitchFamily="34" charset="0"/>
                <a:ea typeface="+mn-ea"/>
                <a:cs typeface="Arial" panose="020B0604020202020204" pitchFamily="34" charset="0"/>
              </a:rPr>
              <a:t>Figurarán, debidamente acotados, los siguientes:</a:t>
            </a:r>
          </a:p>
          <a:p>
            <a:pPr eaLnBrk="1" fontAlgn="auto" hangingPunct="1">
              <a:spcBef>
                <a:spcPts val="0"/>
              </a:spcBef>
              <a:spcAft>
                <a:spcPts val="0"/>
              </a:spcAft>
              <a:defRPr/>
            </a:pPr>
            <a:endParaRPr lang="es-ES_tradnl" sz="1600" dirty="0">
              <a:latin typeface="Arial" panose="020B0604020202020204" pitchFamily="34" charset="0"/>
              <a:ea typeface="+mn-ea"/>
              <a:cs typeface="Arial" panose="020B0604020202020204" pitchFamily="34" charset="0"/>
            </a:endParaRPr>
          </a:p>
          <a:p>
            <a:pPr eaLnBrk="1" fontAlgn="auto" hangingPunct="1">
              <a:spcBef>
                <a:spcPts val="0"/>
              </a:spcBef>
              <a:spcAft>
                <a:spcPts val="0"/>
              </a:spcAft>
              <a:defRPr/>
            </a:pPr>
            <a:r>
              <a:rPr lang="es-ES_tradnl" sz="1600" dirty="0">
                <a:latin typeface="Arial" panose="020B0604020202020204" pitchFamily="34" charset="0"/>
                <a:ea typeface="+mn-ea"/>
                <a:cs typeface="Arial" panose="020B0604020202020204" pitchFamily="34" charset="0"/>
              </a:rPr>
              <a:t>1 Plano de emplazamiento del local en el que haya de situarse la actividad, a escala mínima 1:5000. Este plano habrá de ser lo suficientemente explícito, aun en el supuesto de que el emplazamiento esté alejado del núcleo o núcleos de población.</a:t>
            </a:r>
          </a:p>
          <a:p>
            <a:pPr eaLnBrk="1" fontAlgn="auto" hangingPunct="1">
              <a:spcBef>
                <a:spcPts val="0"/>
              </a:spcBef>
              <a:spcAft>
                <a:spcPts val="0"/>
              </a:spcAft>
              <a:defRPr/>
            </a:pPr>
            <a:r>
              <a:rPr lang="es-ES_tradnl" sz="1600" dirty="0">
                <a:latin typeface="Arial" panose="020B0604020202020204" pitchFamily="34" charset="0"/>
                <a:ea typeface="+mn-ea"/>
                <a:cs typeface="Arial" panose="020B0604020202020204" pitchFamily="34" charset="0"/>
              </a:rPr>
              <a:t>2. Plano de alineaciones, planta y alzado, del edificio y su colindantes conteniendo las secciones suficientes como para que sea posible apreciar las características de la actividad y su influencia en el entorno inmediato. La escala mínima a utilizar en este caso será la de 1:1000, como mínimo.</a:t>
            </a:r>
          </a:p>
          <a:p>
            <a:pPr eaLnBrk="1" fontAlgn="auto" hangingPunct="1">
              <a:spcBef>
                <a:spcPts val="0"/>
              </a:spcBef>
              <a:spcAft>
                <a:spcPts val="0"/>
              </a:spcAft>
              <a:defRPr/>
            </a:pPr>
            <a:r>
              <a:rPr lang="es-ES_tradnl" sz="1600" dirty="0">
                <a:latin typeface="Arial" panose="020B0604020202020204" pitchFamily="34" charset="0"/>
                <a:ea typeface="+mn-ea"/>
                <a:cs typeface="Arial" panose="020B0604020202020204" pitchFamily="34" charset="0"/>
              </a:rPr>
              <a:t>En el caso de que se trate de una edificación exenta, deberán indicarse los retranqueos.</a:t>
            </a:r>
          </a:p>
          <a:p>
            <a:pPr eaLnBrk="1" fontAlgn="auto" hangingPunct="1">
              <a:spcBef>
                <a:spcPts val="0"/>
              </a:spcBef>
              <a:spcAft>
                <a:spcPts val="0"/>
              </a:spcAft>
              <a:defRPr/>
            </a:pPr>
            <a:r>
              <a:rPr lang="es-ES_tradnl" sz="1600" dirty="0">
                <a:latin typeface="Arial" panose="020B0604020202020204" pitchFamily="34" charset="0"/>
                <a:ea typeface="+mn-ea"/>
                <a:cs typeface="Arial" panose="020B0604020202020204" pitchFamily="34" charset="0"/>
              </a:rPr>
              <a:t>3. Plano de planta del local en el que se vaya a desarrollar la actividad, en el que se detallará la situación de las máquinas, servicios,  mobiliario, distribución, lugares de almacenamiento, cabina de pintura, chimeneas de evacuación de humos. etc. Se situará igualmente en este plano las medidas correctoras que se hayan previsto y sean precisas para efectuar una valoración precisa de la actividad.</a:t>
            </a:r>
          </a:p>
          <a:p>
            <a:pPr eaLnBrk="1" fontAlgn="auto" hangingPunct="1">
              <a:spcBef>
                <a:spcPts val="0"/>
              </a:spcBef>
              <a:spcAft>
                <a:spcPts val="0"/>
              </a:spcAft>
              <a:defRPr/>
            </a:pPr>
            <a:r>
              <a:rPr lang="es-ES_tradnl" sz="1600" dirty="0">
                <a:latin typeface="Arial" panose="020B0604020202020204" pitchFamily="34" charset="0"/>
                <a:ea typeface="+mn-ea"/>
                <a:cs typeface="Arial" panose="020B0604020202020204" pitchFamily="34" charset="0"/>
              </a:rPr>
              <a:t>4. Cuantos otros planos se estimen convenientes.</a:t>
            </a:r>
          </a:p>
        </p:txBody>
      </p:sp>
      <p:sp>
        <p:nvSpPr>
          <p:cNvPr id="4" name="Rectangle 5">
            <a:extLst>
              <a:ext uri="{FF2B5EF4-FFF2-40B4-BE49-F238E27FC236}">
                <a16:creationId xmlns:a16="http://schemas.microsoft.com/office/drawing/2014/main" id="{19DF6CDC-2599-5342-9054-E8ECEB633A2B}"/>
              </a:ext>
            </a:extLst>
          </p:cNvPr>
          <p:cNvSpPr>
            <a:spLocks noChangeArrowheads="1"/>
          </p:cNvSpPr>
          <p:nvPr/>
        </p:nvSpPr>
        <p:spPr bwMode="auto">
          <a:xfrm>
            <a:off x="1260475" y="44624"/>
            <a:ext cx="7127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algn="ctr" eaLnBrk="1" hangingPunct="1">
              <a:spcBef>
                <a:spcPct val="0"/>
              </a:spcBef>
              <a:buClrTx/>
              <a:buSzTx/>
              <a:buFontTx/>
              <a:buNone/>
            </a:pPr>
            <a:r>
              <a:rPr lang="es-ES" altLang="es-ES" sz="1800" b="1" dirty="0"/>
              <a:t> Contenido mínimo de los proyectos para la obtención de licencia medioambiental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C04CEB-17AD-1E45-B00B-284DD3F9C759}"/>
              </a:ext>
            </a:extLst>
          </p:cNvPr>
          <p:cNvSpPr>
            <a:spLocks noGrp="1"/>
          </p:cNvSpPr>
          <p:nvPr>
            <p:ph type="title"/>
          </p:nvPr>
        </p:nvSpPr>
        <p:spPr>
          <a:xfrm>
            <a:off x="2555875" y="1989138"/>
            <a:ext cx="6400800" cy="2376487"/>
          </a:xfrm>
        </p:spPr>
        <p:txBody>
          <a:bodyPr/>
          <a:lstStyle/>
          <a:p>
            <a:pPr>
              <a:defRPr/>
            </a:pPr>
            <a:r>
              <a:rPr lang="es-ES_tradnl" altLang="es-ES" sz="3600" cap="none">
                <a:effectLst>
                  <a:outerShdw blurRad="38100" dist="38100" dir="2700000" algn="tl">
                    <a:srgbClr val="C0C0C0"/>
                  </a:outerShdw>
                </a:effectLst>
                <a:ea typeface="ＭＳ Ｐゴシック" panose="020B0600070205080204" pitchFamily="34" charset="-128"/>
              </a:rPr>
              <a:t>Tema 4:</a:t>
            </a:r>
            <a:br>
              <a:rPr lang="es-ES_tradnl" altLang="es-ES" sz="3600" cap="none">
                <a:effectLst>
                  <a:outerShdw blurRad="38100" dist="38100" dir="2700000" algn="tl">
                    <a:srgbClr val="C0C0C0"/>
                  </a:outerShdw>
                </a:effectLst>
                <a:ea typeface="ＭＳ Ｐゴシック" panose="020B0600070205080204" pitchFamily="34" charset="-128"/>
              </a:rPr>
            </a:br>
            <a:r>
              <a:rPr lang="es-ES_tradnl" altLang="es-ES" sz="3600" cap="none">
                <a:effectLst>
                  <a:outerShdw blurRad="38100" dist="38100" dir="2700000" algn="tl">
                    <a:srgbClr val="C0C0C0"/>
                  </a:outerShdw>
                </a:effectLst>
                <a:ea typeface="ＭＳ Ｐゴシック" panose="020B0600070205080204" pitchFamily="34" charset="-128"/>
              </a:rPr>
              <a:t>Documentos del Proyecto: Memoria.</a:t>
            </a:r>
          </a:p>
        </p:txBody>
      </p:sp>
      <p:sp>
        <p:nvSpPr>
          <p:cNvPr id="5" name="1 Título">
            <a:extLst>
              <a:ext uri="{FF2B5EF4-FFF2-40B4-BE49-F238E27FC236}">
                <a16:creationId xmlns:a16="http://schemas.microsoft.com/office/drawing/2014/main" id="{6A9E60CA-84EA-3E45-BBEC-349B847C91A2}"/>
              </a:ext>
            </a:extLst>
          </p:cNvPr>
          <p:cNvSpPr txBox="1">
            <a:spLocks/>
          </p:cNvSpPr>
          <p:nvPr/>
        </p:nvSpPr>
        <p:spPr>
          <a:xfrm>
            <a:off x="2627313" y="836613"/>
            <a:ext cx="3571875" cy="720725"/>
          </a:xfrm>
          <a:prstGeom prst="rect">
            <a:avLst/>
          </a:prstGeom>
        </p:spPr>
        <p:txBody>
          <a:bodyPr>
            <a:normAutofit/>
          </a:bodyPr>
          <a:lstStyle>
            <a:lvl1pPr eaLnBrk="0" hangingPunct="0">
              <a:defRPr sz="24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defRPr sz="24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defRPr sz="2400">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defRPr sz="24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9pPr>
          </a:lstStyle>
          <a:p>
            <a:pPr eaLnBrk="1" hangingPunct="1">
              <a:lnSpc>
                <a:spcPts val="4500"/>
              </a:lnSpc>
              <a:defRPr/>
            </a:pPr>
            <a:r>
              <a:rPr lang="es-ES_tradnl" altLang="es-ES" sz="2700" b="1">
                <a:solidFill>
                  <a:srgbClr val="572314"/>
                </a:solidFill>
                <a:effectLst>
                  <a:outerShdw blurRad="38100" dist="38100" dir="2700000" algn="tl">
                    <a:srgbClr val="C0C0C0"/>
                  </a:outerShdw>
                </a:effectLst>
              </a:rPr>
              <a:t>OFICINA TÉCNICA</a:t>
            </a:r>
            <a:endParaRPr lang="es-ES" altLang="es-ES" sz="2700" b="1">
              <a:solidFill>
                <a:srgbClr val="572314"/>
              </a:solidFill>
              <a:effectLst>
                <a:outerShdw blurRad="38100" dist="38100" dir="2700000" algn="tl">
                  <a:srgbClr val="C0C0C0"/>
                </a:outerShdw>
              </a:effectLs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22C5FE7A-FF22-6E4C-95CB-7B182C0D0C5F}"/>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
        <p:nvSpPr>
          <p:cNvPr id="3" name="2 Subtítulo">
            <a:extLst>
              <a:ext uri="{FF2B5EF4-FFF2-40B4-BE49-F238E27FC236}">
                <a16:creationId xmlns:a16="http://schemas.microsoft.com/office/drawing/2014/main" id="{498F8413-6399-234E-959F-231C14FB62AC}"/>
              </a:ext>
            </a:extLst>
          </p:cNvPr>
          <p:cNvSpPr>
            <a:spLocks noGrp="1"/>
          </p:cNvSpPr>
          <p:nvPr>
            <p:ph type="subTitle" idx="1"/>
          </p:nvPr>
        </p:nvSpPr>
        <p:spPr>
          <a:xfrm>
            <a:off x="1431925" y="1849438"/>
            <a:ext cx="7407275" cy="4459287"/>
          </a:xfrm>
        </p:spPr>
        <p:txBody>
          <a:bodyPr>
            <a:normAutofit/>
          </a:bodyPr>
          <a:lstStyle/>
          <a:p>
            <a:pPr eaLnBrk="1" fontAlgn="auto" hangingPunct="1">
              <a:spcAft>
                <a:spcPts val="0"/>
              </a:spcAft>
              <a:buFont typeface="Wingdings 2"/>
              <a:buNone/>
              <a:defRPr/>
            </a:pPr>
            <a:r>
              <a:rPr lang="es-ES_tradnl" sz="2400" dirty="0">
                <a:ea typeface="+mn-ea"/>
                <a:cs typeface="+mn-cs"/>
              </a:rPr>
              <a:t>Contenido:</a:t>
            </a:r>
          </a:p>
          <a:p>
            <a:pPr eaLnBrk="1" fontAlgn="auto" hangingPunct="1">
              <a:spcAft>
                <a:spcPts val="0"/>
              </a:spcAft>
              <a:buFont typeface="Wingdings 2"/>
              <a:buNone/>
              <a:defRPr/>
            </a:pPr>
            <a:endParaRPr lang="es-ES_tradnl" sz="2400" dirty="0">
              <a:ea typeface="+mn-ea"/>
              <a:cs typeface="+mn-cs"/>
            </a:endParaRPr>
          </a:p>
          <a:p>
            <a:pPr marL="723900" indent="-723900" eaLnBrk="1" fontAlgn="auto" hangingPunct="1">
              <a:spcAft>
                <a:spcPts val="0"/>
              </a:spcAft>
              <a:buFont typeface="+mj-lt"/>
              <a:buAutoNum type="arabicPeriod"/>
              <a:defRPr/>
            </a:pPr>
            <a:r>
              <a:rPr lang="es-ES_tradnl" sz="2400" dirty="0">
                <a:latin typeface="Arial" charset="0"/>
                <a:ea typeface="+mn-ea"/>
                <a:cs typeface="+mn-cs"/>
              </a:rPr>
              <a:t>Documentos del Proyecto según la teoría clásica</a:t>
            </a:r>
          </a:p>
          <a:p>
            <a:pPr marL="723900" indent="-723900" eaLnBrk="1" fontAlgn="auto" hangingPunct="1">
              <a:spcAft>
                <a:spcPts val="0"/>
              </a:spcAft>
              <a:buFont typeface="+mj-lt"/>
              <a:buAutoNum type="arabicPeriod"/>
              <a:defRPr/>
            </a:pPr>
            <a:r>
              <a:rPr lang="es-ES_tradnl" sz="2400" dirty="0">
                <a:latin typeface="Arial" charset="0"/>
                <a:ea typeface="+mn-ea"/>
                <a:cs typeface="+mn-cs"/>
              </a:rPr>
              <a:t>Documentos del proyecto según la concepción actual</a:t>
            </a:r>
          </a:p>
          <a:p>
            <a:pPr marL="723900" indent="-723900" eaLnBrk="1" fontAlgn="auto" hangingPunct="1">
              <a:spcAft>
                <a:spcPts val="0"/>
              </a:spcAft>
              <a:buFont typeface="+mj-lt"/>
              <a:buAutoNum type="arabicPeriod"/>
              <a:defRPr/>
            </a:pPr>
            <a:r>
              <a:rPr lang="es-ES_tradnl" sz="2400" dirty="0">
                <a:latin typeface="Arial" charset="0"/>
                <a:ea typeface="+mn-ea"/>
                <a:cs typeface="+mn-cs"/>
              </a:rPr>
              <a:t>Necesidad de cada uno de los documentos</a:t>
            </a:r>
          </a:p>
          <a:p>
            <a:pPr marL="723900" indent="-723900" eaLnBrk="1" fontAlgn="auto" hangingPunct="1">
              <a:spcAft>
                <a:spcPts val="0"/>
              </a:spcAft>
              <a:buFont typeface="+mj-lt"/>
              <a:buAutoNum type="arabicPeriod"/>
              <a:defRPr/>
            </a:pPr>
            <a:r>
              <a:rPr lang="es-ES_tradnl" sz="2400" dirty="0">
                <a:latin typeface="Arial" charset="0"/>
                <a:ea typeface="+mn-ea"/>
                <a:cs typeface="+mn-cs"/>
              </a:rPr>
              <a:t>Objetivos de la memoria</a:t>
            </a:r>
          </a:p>
          <a:p>
            <a:pPr marL="723900" indent="-723900" eaLnBrk="1" fontAlgn="auto" hangingPunct="1">
              <a:spcAft>
                <a:spcPts val="0"/>
              </a:spcAft>
              <a:buFont typeface="+mj-lt"/>
              <a:buAutoNum type="arabicPeriod"/>
              <a:defRPr/>
            </a:pPr>
            <a:r>
              <a:rPr lang="es-ES_tradnl" sz="2400" dirty="0">
                <a:latin typeface="Arial" charset="0"/>
                <a:ea typeface="+mn-ea"/>
                <a:cs typeface="+mn-cs"/>
              </a:rPr>
              <a:t>Estructura de la memoria</a:t>
            </a:r>
          </a:p>
          <a:p>
            <a:pPr marL="723900" indent="-723900" eaLnBrk="1" fontAlgn="auto" hangingPunct="1">
              <a:spcAft>
                <a:spcPts val="0"/>
              </a:spcAft>
              <a:buFont typeface="+mj-lt"/>
              <a:buAutoNum type="arabicPeriod"/>
              <a:defRPr/>
            </a:pPr>
            <a:r>
              <a:rPr lang="es-ES_tradnl" sz="2400" dirty="0">
                <a:latin typeface="Arial" charset="0"/>
                <a:ea typeface="+mn-ea"/>
                <a:cs typeface="+mn-cs"/>
              </a:rPr>
              <a:t>Contenido de la memoria</a:t>
            </a:r>
            <a:endParaRPr lang="es-ES_tradnl" sz="2400" dirty="0">
              <a:ea typeface="+mn-ea"/>
              <a:cs typeface="+mn-cs"/>
            </a:endParaRPr>
          </a:p>
          <a:p>
            <a:pPr marL="484632" indent="-457200" eaLnBrk="1" fontAlgn="auto" hangingPunct="1">
              <a:spcAft>
                <a:spcPts val="0"/>
              </a:spcAft>
              <a:buFont typeface="Wingdings 2"/>
              <a:buAutoNum type="arabicPeriod"/>
              <a:defRPr/>
            </a:pPr>
            <a:endParaRPr lang="es-ES_tradnl" sz="2400" dirty="0">
              <a:ea typeface="+mn-ea"/>
              <a:cs typeface="+mn-cs"/>
            </a:endParaRPr>
          </a:p>
          <a:p>
            <a:pPr marL="484632" indent="-457200" eaLnBrk="1" fontAlgn="auto" hangingPunct="1">
              <a:spcAft>
                <a:spcPts val="0"/>
              </a:spcAft>
              <a:buFont typeface="Wingdings 2"/>
              <a:buAutoNum type="arabicPeriod"/>
              <a:defRPr/>
            </a:pPr>
            <a:endParaRPr lang="es-ES_tradnl" sz="2400" dirty="0">
              <a:ea typeface="+mn-ea"/>
              <a:cs typeface="+mn-cs"/>
            </a:endParaRP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2 Subtítulo">
            <a:extLst>
              <a:ext uri="{FF2B5EF4-FFF2-40B4-BE49-F238E27FC236}">
                <a16:creationId xmlns:a16="http://schemas.microsoft.com/office/drawing/2014/main" id="{2CDC3667-AAE7-0E4C-986E-9FAE6913A8EF}"/>
              </a:ext>
            </a:extLst>
          </p:cNvPr>
          <p:cNvSpPr>
            <a:spLocks noGrp="1"/>
          </p:cNvSpPr>
          <p:nvPr>
            <p:ph type="subTitle" idx="1"/>
          </p:nvPr>
        </p:nvSpPr>
        <p:spPr>
          <a:xfrm>
            <a:off x="1417573" y="1772816"/>
            <a:ext cx="7407275" cy="4176464"/>
          </a:xfrm>
        </p:spPr>
        <p:txBody>
          <a:bodyPr/>
          <a:lstStyle/>
          <a:p>
            <a:pPr marL="0" eaLnBrk="1" hangingPunct="1"/>
            <a:r>
              <a:rPr lang="es-ES_tradnl" altLang="es-ES" sz="2000" b="1" u="sng" dirty="0">
                <a:solidFill>
                  <a:srgbClr val="320E04"/>
                </a:solidFill>
                <a:latin typeface="Arial" panose="020B0604020202020204" pitchFamily="34" charset="0"/>
                <a:ea typeface="ＭＳ Ｐゴシック" panose="020B0600070205080204" pitchFamily="34" charset="-128"/>
              </a:rPr>
              <a:t>Documentos del proyecto según la teoría clásica</a:t>
            </a:r>
          </a:p>
          <a:p>
            <a:pPr marL="0" eaLnBrk="1" hangingPunct="1"/>
            <a:endParaRPr lang="es-ES_tradnl" altLang="es-ES" sz="2400" dirty="0">
              <a:solidFill>
                <a:srgbClr val="320E04"/>
              </a:solidFill>
              <a:ea typeface="ＭＳ Ｐゴシック" panose="020B0600070205080204" pitchFamily="34" charset="-128"/>
            </a:endParaRPr>
          </a:p>
          <a:p>
            <a:pPr marL="457200" indent="-457200" eaLnBrk="1" hangingPunct="1">
              <a:buFont typeface="+mj-lt"/>
              <a:buAutoNum type="arabicPeriod"/>
            </a:pPr>
            <a:r>
              <a:rPr lang="es-ES_tradnl" altLang="es-ES" sz="2000" b="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Memoria</a:t>
            </a: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Dirigida al cliente y al agente encargado de autorizar el permiso.</a:t>
            </a:r>
          </a:p>
          <a:p>
            <a:pPr marL="457200" indent="-457200" eaLnBrk="1" hangingPunct="1">
              <a:buFont typeface="+mj-lt"/>
              <a:buAutoNum type="arabicPeriod"/>
            </a:pPr>
            <a:r>
              <a:rPr lang="es-ES_tradnl" altLang="es-ES" sz="2000" b="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Planos</a:t>
            </a: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Afectan directamente al contratista.</a:t>
            </a:r>
          </a:p>
          <a:p>
            <a:pPr marL="457200" indent="-457200" eaLnBrk="1" hangingPunct="1">
              <a:buFont typeface="+mj-lt"/>
              <a:buAutoNum type="arabicPeriod"/>
            </a:pPr>
            <a:r>
              <a:rPr lang="es-ES_tradnl" altLang="es-ES" sz="2000" b="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Pliego de condiciones</a:t>
            </a: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Afectan directamente al contratista.</a:t>
            </a:r>
          </a:p>
          <a:p>
            <a:pPr marL="457200" indent="-457200" eaLnBrk="1" hangingPunct="1">
              <a:buFont typeface="+mj-lt"/>
              <a:buAutoNum type="arabicPeriod"/>
            </a:pPr>
            <a:r>
              <a:rPr lang="es-ES_tradnl" altLang="es-ES" sz="2000" b="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Presupuesto</a:t>
            </a:r>
            <a:r>
              <a:rPr lang="es-ES_tradnl" altLang="es-ES" sz="20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Dirigido al cliente. El determinado por el ingeniero es informativo exclusivamente, no es vinculante. Solamente es vinculante el presupuesto propuesto en la oferta por el contratista al que se le ha adjudicado la ejecución del proyecto. </a:t>
            </a:r>
            <a:endParaRPr lang="es-ES_tradnl" altLang="es-ES" sz="2000" dirty="0">
              <a:solidFill>
                <a:srgbClr val="320E04"/>
              </a:solidFill>
              <a:ea typeface="ＭＳ Ｐゴシック" panose="020B0600070205080204" pitchFamily="34" charset="-128"/>
            </a:endParaRPr>
          </a:p>
          <a:p>
            <a:pPr marL="0" eaLnBrk="1" hangingPunct="1"/>
            <a:endParaRPr lang="es-ES_tradnl" altLang="es-ES" sz="2000" dirty="0">
              <a:solidFill>
                <a:srgbClr val="320E04"/>
              </a:solidFill>
              <a:ea typeface="ＭＳ Ｐゴシック" panose="020B0600070205080204" pitchFamily="34" charset="-128"/>
            </a:endParaRPr>
          </a:p>
          <a:p>
            <a:pPr marL="0" eaLnBrk="1" hangingPunct="1"/>
            <a:endParaRPr lang="es-ES_tradnl" altLang="es-ES" dirty="0">
              <a:solidFill>
                <a:srgbClr val="320E04"/>
              </a:solidFill>
              <a:ea typeface="ＭＳ Ｐゴシック" panose="020B0600070205080204" pitchFamily="34" charset="-128"/>
            </a:endParaRPr>
          </a:p>
          <a:p>
            <a:pPr marL="0" eaLnBrk="1" hangingPunct="1"/>
            <a:endParaRPr lang="es-ES_tradnl" altLang="es-ES" dirty="0">
              <a:solidFill>
                <a:srgbClr val="320E04"/>
              </a:solidFill>
              <a:ea typeface="ＭＳ Ｐゴシック" panose="020B0600070205080204" pitchFamily="34" charset="-128"/>
            </a:endParaRPr>
          </a:p>
          <a:p>
            <a:pPr marL="0" eaLnBrk="1" hangingPunct="1"/>
            <a:endParaRPr lang="es-ES_tradnl" altLang="es-ES" dirty="0">
              <a:solidFill>
                <a:srgbClr val="320E04"/>
              </a:solidFill>
              <a:ea typeface="ＭＳ Ｐゴシック" panose="020B0600070205080204" pitchFamily="34" charset="-128"/>
            </a:endParaRPr>
          </a:p>
        </p:txBody>
      </p:sp>
      <p:sp>
        <p:nvSpPr>
          <p:cNvPr id="5" name="1 Título">
            <a:extLst>
              <a:ext uri="{FF2B5EF4-FFF2-40B4-BE49-F238E27FC236}">
                <a16:creationId xmlns:a16="http://schemas.microsoft.com/office/drawing/2014/main" id="{B506224B-8195-684C-902D-E6D01855F34B}"/>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CEB0B0FD-03ED-B848-9AE8-8F97FED99930}"/>
              </a:ext>
            </a:extLst>
          </p:cNvPr>
          <p:cNvSpPr>
            <a:spLocks noGrp="1"/>
          </p:cNvSpPr>
          <p:nvPr>
            <p:ph type="subTitle" idx="1"/>
          </p:nvPr>
        </p:nvSpPr>
        <p:spPr>
          <a:xfrm>
            <a:off x="1431925" y="1849438"/>
            <a:ext cx="7407275" cy="4459287"/>
          </a:xfrm>
        </p:spPr>
        <p:txBody>
          <a:bodyPr>
            <a:normAutofit fontScale="92500" lnSpcReduction="20000"/>
          </a:bodyPr>
          <a:lstStyle/>
          <a:p>
            <a:pPr marL="0" eaLnBrk="1" fontAlgn="auto" hangingPunct="1">
              <a:spcAft>
                <a:spcPts val="0"/>
              </a:spcAft>
              <a:buFont typeface="Wingdings 2"/>
              <a:buNone/>
              <a:defRPr/>
            </a:pPr>
            <a:r>
              <a:rPr lang="es-ES_tradnl" sz="2000" b="1" u="sng" dirty="0">
                <a:latin typeface="Arial" charset="0"/>
                <a:ea typeface="+mn-ea"/>
                <a:cs typeface="+mn-cs"/>
              </a:rPr>
              <a:t>Documentos del Proyecto según la concepción actual.</a:t>
            </a:r>
          </a:p>
          <a:p>
            <a:pPr marL="0" eaLnBrk="1" fontAlgn="auto" hangingPunct="1">
              <a:spcAft>
                <a:spcPts val="0"/>
              </a:spcAft>
              <a:buFont typeface="Wingdings 2"/>
              <a:buNone/>
              <a:defRPr/>
            </a:pPr>
            <a:endParaRPr lang="es-ES_tradnl" sz="2000" b="1" u="sng" dirty="0">
              <a:latin typeface="Arial" charset="0"/>
              <a:ea typeface="+mn-ea"/>
              <a:cs typeface="+mn-cs"/>
            </a:endParaRPr>
          </a:p>
          <a:p>
            <a:pPr marL="370332" indent="-342900" eaLnBrk="1" fontAlgn="auto" hangingPunct="1">
              <a:spcAft>
                <a:spcPts val="0"/>
              </a:spcAft>
              <a:buFont typeface="Arial"/>
              <a:buChar char="•"/>
              <a:defRPr/>
            </a:pPr>
            <a:r>
              <a:rPr lang="es-ES_tradnl" sz="2400" dirty="0">
                <a:ea typeface="+mn-ea"/>
                <a:cs typeface="+mn-cs"/>
              </a:rPr>
              <a:t>Contratos y documentos para la licitación.</a:t>
            </a:r>
          </a:p>
          <a:p>
            <a:pPr marL="370332" indent="-342900" eaLnBrk="1" fontAlgn="auto" hangingPunct="1">
              <a:spcAft>
                <a:spcPts val="0"/>
              </a:spcAft>
              <a:buFont typeface="Arial"/>
              <a:buChar char="•"/>
              <a:defRPr/>
            </a:pPr>
            <a:r>
              <a:rPr lang="es-ES_tradnl" sz="2400" dirty="0">
                <a:ea typeface="+mn-ea"/>
                <a:cs typeface="+mn-cs"/>
              </a:rPr>
              <a:t>Informes, estudios, análisis y otros documentos para la toma de decisiones.</a:t>
            </a:r>
          </a:p>
          <a:p>
            <a:pPr marL="370332" indent="-342900" eaLnBrk="1" fontAlgn="auto" hangingPunct="1">
              <a:spcAft>
                <a:spcPts val="0"/>
              </a:spcAft>
              <a:buFont typeface="Arial"/>
              <a:buChar char="•"/>
              <a:defRPr/>
            </a:pPr>
            <a:r>
              <a:rPr lang="es-ES_tradnl" sz="2400" dirty="0">
                <a:ea typeface="+mn-ea"/>
                <a:cs typeface="+mn-cs"/>
              </a:rPr>
              <a:t>Programación y planificación.</a:t>
            </a:r>
          </a:p>
          <a:p>
            <a:pPr marL="370332" indent="-342900" eaLnBrk="1" fontAlgn="auto" hangingPunct="1">
              <a:spcAft>
                <a:spcPts val="0"/>
              </a:spcAft>
              <a:buFont typeface="Arial"/>
              <a:buChar char="•"/>
              <a:defRPr/>
            </a:pPr>
            <a:r>
              <a:rPr lang="es-ES_tradnl" sz="2400" dirty="0">
                <a:ea typeface="+mn-ea"/>
                <a:cs typeface="+mn-cs"/>
              </a:rPr>
              <a:t>Planos y dibujos.</a:t>
            </a:r>
          </a:p>
          <a:p>
            <a:pPr marL="370332" indent="-342900" eaLnBrk="1" fontAlgn="auto" hangingPunct="1">
              <a:spcAft>
                <a:spcPts val="0"/>
              </a:spcAft>
              <a:buFont typeface="Arial"/>
              <a:buChar char="•"/>
              <a:defRPr/>
            </a:pPr>
            <a:r>
              <a:rPr lang="es-ES_tradnl" sz="2400" dirty="0">
                <a:ea typeface="+mn-ea"/>
                <a:cs typeface="+mn-cs"/>
              </a:rPr>
              <a:t>Especificaciones técnicas.</a:t>
            </a:r>
          </a:p>
          <a:p>
            <a:pPr marL="370332" indent="-342900" eaLnBrk="1" fontAlgn="auto" hangingPunct="1">
              <a:spcAft>
                <a:spcPts val="0"/>
              </a:spcAft>
              <a:buFont typeface="Arial"/>
              <a:buChar char="•"/>
              <a:defRPr/>
            </a:pPr>
            <a:r>
              <a:rPr lang="es-ES_tradnl" sz="2400" dirty="0">
                <a:ea typeface="+mn-ea"/>
                <a:cs typeface="+mn-cs"/>
              </a:rPr>
              <a:t>Presupuestos y ofertas.</a:t>
            </a:r>
          </a:p>
          <a:p>
            <a:pPr marL="370332" indent="-342900" eaLnBrk="1" fontAlgn="auto" hangingPunct="1">
              <a:spcAft>
                <a:spcPts val="0"/>
              </a:spcAft>
              <a:buFont typeface="Arial"/>
              <a:buChar char="•"/>
              <a:defRPr/>
            </a:pPr>
            <a:r>
              <a:rPr lang="es-ES_tradnl" sz="2400" dirty="0">
                <a:ea typeface="+mn-ea"/>
                <a:cs typeface="+mn-cs"/>
              </a:rPr>
              <a:t>Estudio económico y de viabilidad</a:t>
            </a:r>
          </a:p>
          <a:p>
            <a:pPr marL="370332" indent="-342900" eaLnBrk="1" fontAlgn="auto" hangingPunct="1">
              <a:spcAft>
                <a:spcPts val="0"/>
              </a:spcAft>
              <a:buFont typeface="Arial"/>
              <a:buChar char="•"/>
              <a:defRPr/>
            </a:pPr>
            <a:r>
              <a:rPr lang="es-ES_tradnl" sz="2400" dirty="0">
                <a:ea typeface="+mn-ea"/>
                <a:cs typeface="+mn-cs"/>
              </a:rPr>
              <a:t>Manuales de uso, mantenimiento o reparación.</a:t>
            </a:r>
          </a:p>
          <a:p>
            <a:pPr marL="370332" indent="-342900" eaLnBrk="1" fontAlgn="auto" hangingPunct="1">
              <a:spcAft>
                <a:spcPts val="0"/>
              </a:spcAft>
              <a:buFont typeface="Arial"/>
              <a:buChar char="•"/>
              <a:defRPr/>
            </a:pPr>
            <a:r>
              <a:rPr lang="es-ES_tradnl" sz="2400" dirty="0">
                <a:ea typeface="+mn-ea"/>
                <a:cs typeface="+mn-cs"/>
              </a:rPr>
              <a:t>Programas de garantía de salud y seguridad.</a:t>
            </a:r>
          </a:p>
          <a:p>
            <a:pPr marL="370332" indent="-342900" eaLnBrk="1" fontAlgn="auto" hangingPunct="1">
              <a:spcAft>
                <a:spcPts val="0"/>
              </a:spcAft>
              <a:buFont typeface="Arial"/>
              <a:buChar char="•"/>
              <a:defRPr/>
            </a:pPr>
            <a:r>
              <a:rPr lang="es-ES_tradnl" sz="2400" dirty="0">
                <a:ea typeface="+mn-ea"/>
                <a:cs typeface="+mn-cs"/>
              </a:rPr>
              <a:t>Programas de garantía de la calidad.</a:t>
            </a:r>
          </a:p>
          <a:p>
            <a:pPr eaLnBrk="1" fontAlgn="auto" hangingPunct="1">
              <a:spcAft>
                <a:spcPts val="0"/>
              </a:spcAft>
              <a:buFont typeface="Wingdings 2"/>
              <a:buNone/>
              <a:defRPr/>
            </a:pPr>
            <a:endParaRPr lang="es-ES_tradnl" sz="24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6" name="1 Título">
            <a:extLst>
              <a:ext uri="{FF2B5EF4-FFF2-40B4-BE49-F238E27FC236}">
                <a16:creationId xmlns:a16="http://schemas.microsoft.com/office/drawing/2014/main" id="{7F4933E6-F33C-6F4D-A005-A65956FF1E45}"/>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930E80A3-B2DB-CF4A-91CF-FF00BB91FE09}"/>
              </a:ext>
            </a:extLst>
          </p:cNvPr>
          <p:cNvSpPr>
            <a:spLocks noGrp="1"/>
          </p:cNvSpPr>
          <p:nvPr>
            <p:ph type="subTitle" idx="1"/>
          </p:nvPr>
        </p:nvSpPr>
        <p:spPr>
          <a:xfrm>
            <a:off x="1431925" y="1849438"/>
            <a:ext cx="7407275" cy="4459287"/>
          </a:xfrm>
        </p:spPr>
        <p:txBody>
          <a:bodyPr>
            <a:normAutofit fontScale="92500" lnSpcReduction="10000"/>
          </a:bodyPr>
          <a:lstStyle/>
          <a:p>
            <a:pPr marL="0" eaLnBrk="1" fontAlgn="auto" hangingPunct="1">
              <a:spcAft>
                <a:spcPts val="0"/>
              </a:spcAft>
              <a:buFont typeface="Wingdings 2"/>
              <a:buNone/>
              <a:defRPr/>
            </a:pPr>
            <a:r>
              <a:rPr lang="es-ES_tradnl" sz="2000" b="1" u="sng" dirty="0">
                <a:latin typeface="Arial" charset="0"/>
                <a:ea typeface="+mn-ea"/>
                <a:cs typeface="+mn-cs"/>
              </a:rPr>
              <a:t>Necesidad de los documentos del proyecto</a:t>
            </a:r>
          </a:p>
          <a:p>
            <a:pPr marL="0" eaLnBrk="1" fontAlgn="auto" hangingPunct="1">
              <a:spcAft>
                <a:spcPts val="0"/>
              </a:spcAft>
              <a:buFont typeface="Wingdings 2"/>
              <a:buNone/>
              <a:defRPr/>
            </a:pPr>
            <a:endParaRPr lang="es-ES_tradnl" sz="2000" b="1" u="sng" dirty="0">
              <a:latin typeface="Arial" charset="0"/>
              <a:ea typeface="+mn-ea"/>
              <a:cs typeface="+mn-cs"/>
            </a:endParaRPr>
          </a:p>
          <a:p>
            <a:pPr marL="723900" indent="-723900" eaLnBrk="1" fontAlgn="auto" hangingPunct="1">
              <a:spcAft>
                <a:spcPts val="0"/>
              </a:spcAft>
              <a:buFont typeface="+mj-lt"/>
              <a:buAutoNum type="arabicPeriod"/>
              <a:defRPr/>
            </a:pPr>
            <a:r>
              <a:rPr lang="es-ES_tradnl" sz="2000" dirty="0">
                <a:latin typeface="Arial" panose="020B0604020202020204" pitchFamily="34" charset="0"/>
                <a:ea typeface="+mn-ea"/>
                <a:cs typeface="Arial" panose="020B0604020202020204" pitchFamily="34" charset="0"/>
              </a:rPr>
              <a:t>Hay proyectos que no requieren la preparación de ningún documento.</a:t>
            </a:r>
          </a:p>
          <a:p>
            <a:pPr marL="723900" indent="-723900" eaLnBrk="1" fontAlgn="auto" hangingPunct="1">
              <a:spcAft>
                <a:spcPts val="0"/>
              </a:spcAft>
              <a:buFont typeface="+mj-lt"/>
              <a:buAutoNum type="arabicPeriod"/>
              <a:defRPr/>
            </a:pPr>
            <a:r>
              <a:rPr lang="es-ES_tradnl" sz="2000" dirty="0">
                <a:latin typeface="Arial" panose="020B0604020202020204" pitchFamily="34" charset="0"/>
                <a:ea typeface="+mn-ea"/>
                <a:cs typeface="Arial" panose="020B0604020202020204" pitchFamily="34" charset="0"/>
              </a:rPr>
              <a:t>Muchos proyectos pueden requerir solamente los planos. Por ejemplo, en oficinas técnicas orientadas a la fabricación. </a:t>
            </a:r>
          </a:p>
          <a:p>
            <a:pPr marL="723900" indent="-723900" eaLnBrk="1" fontAlgn="auto" hangingPunct="1">
              <a:spcAft>
                <a:spcPts val="0"/>
              </a:spcAft>
              <a:buFont typeface="+mj-lt"/>
              <a:buAutoNum type="arabicPeriod"/>
              <a:defRPr/>
            </a:pPr>
            <a:r>
              <a:rPr lang="es-ES_tradnl" sz="2000" dirty="0">
                <a:latin typeface="Arial" panose="020B0604020202020204" pitchFamily="34" charset="0"/>
                <a:ea typeface="+mn-ea"/>
                <a:cs typeface="Arial" panose="020B0604020202020204" pitchFamily="34" charset="0"/>
              </a:rPr>
              <a:t>Hay muchos tipos de proyectos, necesarios para la obtención de una licencia administrativa, que pueden no requerir planos. Depende del caso y de la normativa vigente.</a:t>
            </a:r>
          </a:p>
          <a:p>
            <a:pPr marL="723900" indent="-723900" eaLnBrk="1" fontAlgn="auto" hangingPunct="1">
              <a:spcAft>
                <a:spcPts val="0"/>
              </a:spcAft>
              <a:buFont typeface="+mj-lt"/>
              <a:buAutoNum type="arabicPeriod"/>
              <a:defRPr/>
            </a:pPr>
            <a:r>
              <a:rPr lang="es-ES_tradnl" sz="2000" dirty="0">
                <a:latin typeface="Arial" panose="020B0604020202020204" pitchFamily="34" charset="0"/>
                <a:ea typeface="+mn-ea"/>
                <a:cs typeface="Arial" panose="020B0604020202020204" pitchFamily="34" charset="0"/>
              </a:rPr>
              <a:t>En muchos casos, el presupuesto real es proporcionado por el proveedor, instalador o contratista por medio de una oferta.</a:t>
            </a:r>
          </a:p>
          <a:p>
            <a:pPr marL="723900" indent="-723900" eaLnBrk="1" fontAlgn="auto" hangingPunct="1">
              <a:spcAft>
                <a:spcPts val="0"/>
              </a:spcAft>
              <a:buFont typeface="+mj-lt"/>
              <a:buAutoNum type="arabicPeriod"/>
              <a:defRPr/>
            </a:pPr>
            <a:r>
              <a:rPr lang="es-ES_tradnl" sz="2000" dirty="0">
                <a:latin typeface="Arial" panose="020B0604020202020204" pitchFamily="34" charset="0"/>
                <a:ea typeface="+mn-ea"/>
                <a:cs typeface="Arial" panose="020B0604020202020204" pitchFamily="34" charset="0"/>
              </a:rPr>
              <a:t>La memoria solamente será necesaria si lo requiere el propietario o la legislación vigente.</a:t>
            </a: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7" name="1 Título">
            <a:extLst>
              <a:ext uri="{FF2B5EF4-FFF2-40B4-BE49-F238E27FC236}">
                <a16:creationId xmlns:a16="http://schemas.microsoft.com/office/drawing/2014/main" id="{7BFBBE26-AAB2-9E45-BD82-674C452BE2D4}"/>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D89C6D8E-0C95-8141-AA34-0FB265C21AEF}"/>
              </a:ext>
            </a:extLst>
          </p:cNvPr>
          <p:cNvSpPr>
            <a:spLocks noGrp="1"/>
          </p:cNvSpPr>
          <p:nvPr>
            <p:ph type="subTitle" idx="1"/>
          </p:nvPr>
        </p:nvSpPr>
        <p:spPr>
          <a:xfrm>
            <a:off x="1431925" y="1849438"/>
            <a:ext cx="7407275" cy="4531890"/>
          </a:xfrm>
        </p:spPr>
        <p:txBody>
          <a:bodyPr>
            <a:normAutofit fontScale="62500" lnSpcReduction="20000"/>
          </a:bodyPr>
          <a:lstStyle/>
          <a:p>
            <a:pPr marL="0" eaLnBrk="1" fontAlgn="auto" hangingPunct="1">
              <a:spcAft>
                <a:spcPts val="0"/>
              </a:spcAft>
              <a:buFont typeface="Wingdings 2"/>
              <a:buNone/>
              <a:defRPr/>
            </a:pPr>
            <a:r>
              <a:rPr lang="es-ES_tradnl" b="1" u="sng" dirty="0">
                <a:latin typeface="Arial" charset="0"/>
                <a:ea typeface="+mn-ea"/>
                <a:cs typeface="+mn-cs"/>
              </a:rPr>
              <a:t>Objetivos de la memoria</a:t>
            </a:r>
          </a:p>
          <a:p>
            <a:pPr marL="0" eaLnBrk="1" fontAlgn="auto" hangingPunct="1">
              <a:spcAft>
                <a:spcPts val="0"/>
              </a:spcAft>
              <a:buFont typeface="Wingdings 2"/>
              <a:buNone/>
              <a:defRPr/>
            </a:pPr>
            <a:endParaRPr lang="es-ES_tradnl" sz="2000" b="1" u="sng" dirty="0">
              <a:latin typeface="Arial" charset="0"/>
              <a:ea typeface="+mn-ea"/>
              <a:cs typeface="+mn-cs"/>
            </a:endParaRPr>
          </a:p>
          <a:p>
            <a:pPr marL="723900" indent="-723900" eaLnBrk="1" fontAlgn="auto" hangingPunct="1">
              <a:spcAft>
                <a:spcPts val="0"/>
              </a:spcAft>
              <a:buFont typeface="+mj-lt"/>
              <a:buAutoNum type="arabicPeriod"/>
              <a:defRPr/>
            </a:pPr>
            <a:r>
              <a:rPr lang="es-ES_tradnl" sz="2400" dirty="0">
                <a:latin typeface="Arial" charset="0"/>
                <a:ea typeface="+mn-ea"/>
                <a:cs typeface="+mn-cs"/>
              </a:rPr>
              <a:t>Se trata de un informe final.</a:t>
            </a:r>
          </a:p>
          <a:p>
            <a:pPr marL="723900" indent="-723900" eaLnBrk="1" fontAlgn="auto" hangingPunct="1">
              <a:spcAft>
                <a:spcPts val="0"/>
              </a:spcAft>
              <a:buFont typeface="+mj-lt"/>
              <a:buAutoNum type="arabicPeriod"/>
              <a:defRPr/>
            </a:pPr>
            <a:r>
              <a:rPr lang="es-ES_tradnl" sz="2400" dirty="0">
                <a:latin typeface="Arial" charset="0"/>
                <a:ea typeface="+mn-ea"/>
                <a:cs typeface="+mn-cs"/>
              </a:rPr>
              <a:t>Debe proporciona una descripción más o menos detallada del problema que se pretende resolver.</a:t>
            </a:r>
          </a:p>
          <a:p>
            <a:pPr marL="723900" indent="-723900" eaLnBrk="1" fontAlgn="auto" hangingPunct="1">
              <a:spcAft>
                <a:spcPts val="0"/>
              </a:spcAft>
              <a:buFont typeface="+mj-lt"/>
              <a:buAutoNum type="arabicPeriod"/>
              <a:defRPr/>
            </a:pPr>
            <a:r>
              <a:rPr lang="es-ES_tradnl" sz="2400" dirty="0">
                <a:latin typeface="Arial" charset="0"/>
                <a:ea typeface="+mn-ea"/>
                <a:cs typeface="+mn-cs"/>
              </a:rPr>
              <a:t>Puede proporcionar visión general del método utilizado hasta llegar a la solución escogida a partir del problema inicial.</a:t>
            </a:r>
          </a:p>
          <a:p>
            <a:pPr marL="723900" indent="-723900" eaLnBrk="1" fontAlgn="auto" hangingPunct="1">
              <a:spcAft>
                <a:spcPts val="0"/>
              </a:spcAft>
              <a:buFont typeface="+mj-lt"/>
              <a:buAutoNum type="arabicPeriod"/>
              <a:defRPr/>
            </a:pPr>
            <a:r>
              <a:rPr lang="es-ES_tradnl" sz="2400" dirty="0">
                <a:latin typeface="Arial" charset="0"/>
                <a:ea typeface="+mn-ea"/>
                <a:cs typeface="+mn-cs"/>
              </a:rPr>
              <a:t>Suele proporcionar datos útiles para la toma de decisiones respecto del plan de inversiones o acerca de la continuidad de proyecto.</a:t>
            </a:r>
          </a:p>
          <a:p>
            <a:pPr marL="723900" indent="-723900" eaLnBrk="1" fontAlgn="auto" hangingPunct="1">
              <a:spcAft>
                <a:spcPts val="0"/>
              </a:spcAft>
              <a:buFont typeface="+mj-lt"/>
              <a:buAutoNum type="arabicPeriod"/>
              <a:defRPr/>
            </a:pPr>
            <a:r>
              <a:rPr lang="es-ES_tradnl" sz="2400" dirty="0">
                <a:latin typeface="Arial" charset="0"/>
                <a:ea typeface="+mn-ea"/>
                <a:cs typeface="+mn-cs"/>
              </a:rPr>
              <a:t>Muy frecuentemente, las memorias únicamente incluyen una descripción más o menos detallada del sistema objeto del proyecto.</a:t>
            </a:r>
          </a:p>
          <a:p>
            <a:pPr marL="723900" indent="-723900" eaLnBrk="1" fontAlgn="auto" hangingPunct="1">
              <a:spcAft>
                <a:spcPts val="0"/>
              </a:spcAft>
              <a:buFont typeface="+mj-lt"/>
              <a:buAutoNum type="arabicPeriod"/>
              <a:defRPr/>
            </a:pPr>
            <a:r>
              <a:rPr lang="es-ES_tradnl" sz="2400" dirty="0">
                <a:latin typeface="Arial" charset="0"/>
                <a:ea typeface="+mn-ea"/>
                <a:cs typeface="+mn-cs"/>
              </a:rPr>
              <a:t>Puede incluir justificación de criterios o métodos de cálculo utilizados para la selección o diseño de los componentes o subsistemas del proyecto. </a:t>
            </a:r>
          </a:p>
          <a:p>
            <a:pPr marL="723900" indent="-723900" eaLnBrk="1" fontAlgn="auto" hangingPunct="1">
              <a:spcAft>
                <a:spcPts val="0"/>
              </a:spcAft>
              <a:buFont typeface="+mj-lt"/>
              <a:buAutoNum type="arabicPeriod"/>
              <a:defRPr/>
            </a:pPr>
            <a:r>
              <a:rPr lang="es-ES_tradnl" sz="2400" dirty="0">
                <a:latin typeface="Arial" charset="0"/>
              </a:rPr>
              <a:t>Puede proporcionar información, más o menos detallada, referente al plan de ejecución</a:t>
            </a:r>
            <a:r>
              <a:rPr lang="es-ES_tradnl" sz="2400" dirty="0">
                <a:latin typeface="Arial" charset="0"/>
                <a:ea typeface="+mn-ea"/>
                <a:cs typeface="+mn-cs"/>
              </a:rPr>
              <a:t>.</a:t>
            </a:r>
          </a:p>
          <a:p>
            <a:pPr marL="723900" indent="-723900" eaLnBrk="1" fontAlgn="auto" hangingPunct="1">
              <a:spcAft>
                <a:spcPts val="0"/>
              </a:spcAft>
              <a:buFont typeface="+mj-lt"/>
              <a:buAutoNum type="arabicPeriod"/>
              <a:defRPr/>
            </a:pPr>
            <a:r>
              <a:rPr lang="es-ES_tradnl" sz="2400" dirty="0">
                <a:latin typeface="Arial" charset="0"/>
              </a:rPr>
              <a:t>Puede proporcionar información, más o menos detallada, acerca de las instrucciones de manejo y de mantenimiento del sistema objeto del proyecto.</a:t>
            </a:r>
          </a:p>
          <a:p>
            <a:pPr marL="723900" indent="-723900" eaLnBrk="1" fontAlgn="auto" hangingPunct="1">
              <a:spcAft>
                <a:spcPts val="0"/>
              </a:spcAft>
              <a:buFont typeface="+mj-lt"/>
              <a:buAutoNum type="arabicPeriod"/>
              <a:defRPr/>
            </a:pPr>
            <a:r>
              <a:rPr lang="es-ES_tradnl" sz="2400" dirty="0">
                <a:latin typeface="Arial" charset="0"/>
                <a:ea typeface="+mn-ea"/>
                <a:cs typeface="+mn-cs"/>
              </a:rPr>
              <a:t>Debe demostrar el cumplimiento de los requisitos establecidos por la normativa vigente. </a:t>
            </a: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6" name="1 Título">
            <a:extLst>
              <a:ext uri="{FF2B5EF4-FFF2-40B4-BE49-F238E27FC236}">
                <a16:creationId xmlns:a16="http://schemas.microsoft.com/office/drawing/2014/main" id="{ECE09C5B-1CC8-0343-B267-627627211610}"/>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2 Subtítulo">
            <a:extLst>
              <a:ext uri="{FF2B5EF4-FFF2-40B4-BE49-F238E27FC236}">
                <a16:creationId xmlns:a16="http://schemas.microsoft.com/office/drawing/2014/main" id="{DBFF19E9-D4DD-7945-97F7-BE033CECA476}"/>
              </a:ext>
            </a:extLst>
          </p:cNvPr>
          <p:cNvSpPr>
            <a:spLocks noGrp="1"/>
          </p:cNvSpPr>
          <p:nvPr>
            <p:ph type="subTitle" idx="1"/>
          </p:nvPr>
        </p:nvSpPr>
        <p:spPr>
          <a:xfrm>
            <a:off x="1431925" y="1849439"/>
            <a:ext cx="7407275" cy="4099842"/>
          </a:xfrm>
        </p:spPr>
        <p:txBody>
          <a:bodyPr/>
          <a:lstStyle/>
          <a:p>
            <a:pPr marL="0" eaLnBrk="1" hangingPunct="1"/>
            <a:r>
              <a:rPr lang="es-ES_tradnl" altLang="es-ES" sz="2000" b="1" u="sng" dirty="0">
                <a:solidFill>
                  <a:srgbClr val="320E04"/>
                </a:solidFill>
                <a:latin typeface="Arial" panose="020B0604020202020204" pitchFamily="34" charset="0"/>
                <a:ea typeface="ＭＳ Ｐゴシック" panose="020B0600070205080204" pitchFamily="34" charset="-128"/>
              </a:rPr>
              <a:t>Diferentes tipos de estructuras de documentos técnicos</a:t>
            </a:r>
          </a:p>
          <a:p>
            <a:pPr marL="0" eaLnBrk="1" hangingPunct="1"/>
            <a:endParaRPr lang="es-ES_tradnl" altLang="es-ES" sz="2000" b="1" u="sng" dirty="0">
              <a:solidFill>
                <a:srgbClr val="320E04"/>
              </a:solidFill>
              <a:latin typeface="Arial" panose="020B0604020202020204" pitchFamily="34" charset="0"/>
              <a:ea typeface="ＭＳ Ｐゴシック" panose="020B0600070205080204" pitchFamily="34" charset="-128"/>
            </a:endParaRPr>
          </a:p>
          <a:p>
            <a:pPr marL="0" eaLnBrk="1" hangingPunct="1">
              <a:buFont typeface="Arial" panose="020B0604020202020204" pitchFamily="34" charset="0"/>
              <a:buChar char="•"/>
            </a:pPr>
            <a:r>
              <a:rPr lang="es-ES_tradnl" altLang="es-ES" sz="2800" dirty="0">
                <a:solidFill>
                  <a:srgbClr val="320E04"/>
                </a:solidFill>
                <a:latin typeface="Arial" panose="020B0604020202020204" pitchFamily="34" charset="0"/>
                <a:ea typeface="ＭＳ Ｐゴシック" panose="020B0600070205080204" pitchFamily="34" charset="-128"/>
              </a:rPr>
              <a:t>Tesis doctoral o artículo científico:</a:t>
            </a:r>
          </a:p>
          <a:p>
            <a:pPr marL="0" eaLnBrk="1" hangingPunct="1"/>
            <a:r>
              <a:rPr lang="es-ES_tradnl" altLang="es-ES" sz="2800" b="1" dirty="0">
                <a:solidFill>
                  <a:srgbClr val="320E04"/>
                </a:solidFill>
                <a:latin typeface="Arial" panose="020B0604020202020204" pitchFamily="34" charset="0"/>
                <a:ea typeface="ＭＳ Ｐゴシック" panose="020B0600070205080204" pitchFamily="34" charset="-128"/>
              </a:rPr>
              <a:t>	Hipótesis – Confirmación</a:t>
            </a:r>
            <a:r>
              <a:rPr lang="es-ES_tradnl" altLang="es-ES" sz="2800" dirty="0">
                <a:solidFill>
                  <a:srgbClr val="320E04"/>
                </a:solidFill>
                <a:latin typeface="Arial" panose="020B0604020202020204" pitchFamily="34" charset="0"/>
                <a:ea typeface="ＭＳ Ｐゴシック" panose="020B0600070205080204" pitchFamily="34" charset="-128"/>
              </a:rPr>
              <a:t>. </a:t>
            </a:r>
            <a:endParaRPr lang="es-ES_tradnl" altLang="es-ES" sz="2800" dirty="0">
              <a:solidFill>
                <a:srgbClr val="320E04"/>
              </a:solidFill>
              <a:ea typeface="ＭＳ Ｐゴシック" panose="020B0600070205080204" pitchFamily="34" charset="-128"/>
            </a:endParaRPr>
          </a:p>
          <a:p>
            <a:pPr marL="0" eaLnBrk="1" hangingPunct="1">
              <a:buFont typeface="Arial" panose="020B0604020202020204" pitchFamily="34" charset="0"/>
              <a:buChar char="•"/>
            </a:pPr>
            <a:r>
              <a:rPr lang="es-ES_tradnl" altLang="es-ES" sz="2800" dirty="0">
                <a:solidFill>
                  <a:srgbClr val="320E04"/>
                </a:solidFill>
                <a:ea typeface="ＭＳ Ｐゴシック" panose="020B0600070205080204" pitchFamily="34" charset="-128"/>
              </a:rPr>
              <a:t>Informe técnico en general:</a:t>
            </a:r>
          </a:p>
          <a:p>
            <a:pPr marL="0" eaLnBrk="1" hangingPunct="1"/>
            <a:r>
              <a:rPr lang="es-ES_tradnl" altLang="es-ES" sz="2800" dirty="0">
                <a:solidFill>
                  <a:srgbClr val="320E04"/>
                </a:solidFill>
                <a:ea typeface="ＭＳ Ｐゴシック" panose="020B0600070205080204" pitchFamily="34" charset="-128"/>
              </a:rPr>
              <a:t>	</a:t>
            </a:r>
            <a:r>
              <a:rPr lang="es-ES_tradnl" altLang="es-ES" sz="2800" b="1" dirty="0">
                <a:solidFill>
                  <a:srgbClr val="320E04"/>
                </a:solidFill>
                <a:ea typeface="ＭＳ Ｐゴシック" panose="020B0600070205080204" pitchFamily="34" charset="-128"/>
              </a:rPr>
              <a:t>Hechos – Información</a:t>
            </a:r>
          </a:p>
          <a:p>
            <a:pPr marL="0" eaLnBrk="1" hangingPunct="1">
              <a:buFont typeface="Arial" panose="020B0604020202020204" pitchFamily="34" charset="0"/>
              <a:buChar char="•"/>
            </a:pPr>
            <a:r>
              <a:rPr lang="es-ES_tradnl" altLang="es-ES" sz="2800" dirty="0">
                <a:solidFill>
                  <a:srgbClr val="320E04"/>
                </a:solidFill>
                <a:ea typeface="ＭＳ Ｐゴシック" panose="020B0600070205080204" pitchFamily="34" charset="-128"/>
              </a:rPr>
              <a:t>Memoria:</a:t>
            </a:r>
          </a:p>
          <a:p>
            <a:pPr marL="0" eaLnBrk="1" hangingPunct="1"/>
            <a:r>
              <a:rPr lang="es-ES_tradnl" altLang="es-ES" sz="2800" dirty="0">
                <a:solidFill>
                  <a:srgbClr val="320E04"/>
                </a:solidFill>
                <a:ea typeface="ＭＳ Ｐゴシック" panose="020B0600070205080204" pitchFamily="34" charset="-128"/>
              </a:rPr>
              <a:t>	</a:t>
            </a:r>
            <a:r>
              <a:rPr lang="es-ES_tradnl" altLang="es-ES" sz="2800" b="1" dirty="0">
                <a:solidFill>
                  <a:srgbClr val="320E04"/>
                </a:solidFill>
                <a:ea typeface="ＭＳ Ｐゴシック" panose="020B0600070205080204" pitchFamily="34" charset="-128"/>
              </a:rPr>
              <a:t>Problema - Solución</a:t>
            </a:r>
            <a:endParaRPr lang="es-ES_tradnl" altLang="es-ES" sz="2400" dirty="0">
              <a:solidFill>
                <a:srgbClr val="320E04"/>
              </a:solidFill>
              <a:ea typeface="ＭＳ Ｐゴシック" panose="020B0600070205080204" pitchFamily="34" charset="-128"/>
            </a:endParaRPr>
          </a:p>
          <a:p>
            <a:pPr marL="0" eaLnBrk="1" hangingPunct="1"/>
            <a:endParaRPr lang="es-ES_tradnl" altLang="es-ES" sz="2000" dirty="0">
              <a:solidFill>
                <a:srgbClr val="320E04"/>
              </a:solidFill>
              <a:ea typeface="ＭＳ Ｐゴシック" panose="020B0600070205080204" pitchFamily="34" charset="-128"/>
            </a:endParaRPr>
          </a:p>
          <a:p>
            <a:pPr marL="0" eaLnBrk="1" hangingPunct="1"/>
            <a:endParaRPr lang="es-ES_tradnl" altLang="es-ES" sz="2000" dirty="0">
              <a:solidFill>
                <a:srgbClr val="320E04"/>
              </a:solidFill>
              <a:ea typeface="ＭＳ Ｐゴシック" panose="020B0600070205080204" pitchFamily="34" charset="-128"/>
            </a:endParaRPr>
          </a:p>
          <a:p>
            <a:pPr marL="0" eaLnBrk="1" hangingPunct="1"/>
            <a:endParaRPr lang="es-ES_tradnl" altLang="es-ES" sz="2000" dirty="0">
              <a:solidFill>
                <a:srgbClr val="320E04"/>
              </a:solidFill>
              <a:ea typeface="ＭＳ Ｐゴシック" panose="020B0600070205080204" pitchFamily="34" charset="-128"/>
            </a:endParaRPr>
          </a:p>
          <a:p>
            <a:pPr marL="0" eaLnBrk="1" hangingPunct="1"/>
            <a:endParaRPr lang="es-ES_tradnl" altLang="es-ES" sz="2000" dirty="0">
              <a:solidFill>
                <a:srgbClr val="320E04"/>
              </a:solidFill>
              <a:ea typeface="ＭＳ Ｐゴシック" panose="020B0600070205080204" pitchFamily="34" charset="-128"/>
            </a:endParaRPr>
          </a:p>
          <a:p>
            <a:pPr marL="0" eaLnBrk="1" hangingPunct="1"/>
            <a:endParaRPr lang="es-ES_tradnl" altLang="es-ES" sz="2000" dirty="0">
              <a:solidFill>
                <a:srgbClr val="320E04"/>
              </a:solidFill>
              <a:ea typeface="ＭＳ Ｐゴシック" panose="020B0600070205080204" pitchFamily="34" charset="-128"/>
            </a:endParaRPr>
          </a:p>
          <a:p>
            <a:pPr marL="0" eaLnBrk="1" hangingPunct="1"/>
            <a:endParaRPr lang="es-ES_tradnl" altLang="es-ES" dirty="0">
              <a:solidFill>
                <a:srgbClr val="320E04"/>
              </a:solidFill>
              <a:ea typeface="ＭＳ Ｐゴシック" panose="020B0600070205080204" pitchFamily="34" charset="-128"/>
            </a:endParaRPr>
          </a:p>
          <a:p>
            <a:pPr marL="0" eaLnBrk="1" hangingPunct="1"/>
            <a:endParaRPr lang="es-ES_tradnl" altLang="es-ES" dirty="0">
              <a:solidFill>
                <a:srgbClr val="320E04"/>
              </a:solidFill>
              <a:ea typeface="ＭＳ Ｐゴシック" panose="020B0600070205080204" pitchFamily="34" charset="-128"/>
            </a:endParaRPr>
          </a:p>
          <a:p>
            <a:pPr marL="0" eaLnBrk="1" hangingPunct="1"/>
            <a:endParaRPr lang="es-ES_tradnl" altLang="es-ES"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A4B7326D-4CAA-1640-8BFE-7F680F621F41}"/>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5A962481-EF69-B54C-BC56-C1AE7E7AD7B1}"/>
              </a:ext>
            </a:extLst>
          </p:cNvPr>
          <p:cNvSpPr>
            <a:spLocks noGrp="1"/>
          </p:cNvSpPr>
          <p:nvPr>
            <p:ph type="subTitle" idx="1"/>
          </p:nvPr>
        </p:nvSpPr>
        <p:spPr>
          <a:xfrm>
            <a:off x="1431925" y="1849439"/>
            <a:ext cx="7407275" cy="4171850"/>
          </a:xfrm>
        </p:spPr>
        <p:txBody>
          <a:bodyPr>
            <a:normAutofit fontScale="92500" lnSpcReduction="20000"/>
          </a:bodyPr>
          <a:lstStyle/>
          <a:p>
            <a:pPr marL="0" eaLnBrk="1" fontAlgn="auto" hangingPunct="1">
              <a:spcAft>
                <a:spcPts val="0"/>
              </a:spcAft>
              <a:buFont typeface="Wingdings 2"/>
              <a:buNone/>
              <a:defRPr/>
            </a:pPr>
            <a:r>
              <a:rPr lang="es-ES_tradnl" sz="2000" b="1" u="sng" dirty="0">
                <a:latin typeface="Arial" charset="0"/>
                <a:ea typeface="+mn-ea"/>
                <a:cs typeface="+mn-cs"/>
              </a:rPr>
              <a:t>Hipótesis - Confirmación </a:t>
            </a:r>
            <a:endParaRPr lang="es-ES_tradnl" sz="2000" b="1" u="sng" dirty="0">
              <a:ea typeface="+mn-ea"/>
              <a:cs typeface="+mn-cs"/>
            </a:endParaRPr>
          </a:p>
          <a:p>
            <a:pPr eaLnBrk="1" fontAlgn="auto" hangingPunct="1">
              <a:spcAft>
                <a:spcPts val="0"/>
              </a:spcAft>
              <a:buFont typeface="Wingdings 2"/>
              <a:buNone/>
              <a:defRPr/>
            </a:pPr>
            <a:r>
              <a:rPr lang="es-ES_tradnl" sz="2400" dirty="0">
                <a:ea typeface="+mn-ea"/>
                <a:cs typeface="+mn-cs"/>
              </a:rPr>
              <a:t>Estructura (IMRAD):</a:t>
            </a:r>
          </a:p>
          <a:p>
            <a:pPr marL="370332" indent="-342900" eaLnBrk="1" fontAlgn="auto" hangingPunct="1">
              <a:spcAft>
                <a:spcPts val="0"/>
              </a:spcAft>
              <a:buFont typeface="Arial"/>
              <a:buChar char="•"/>
              <a:defRPr/>
            </a:pPr>
            <a:r>
              <a:rPr lang="es-ES_tradnl" sz="2400" b="1" dirty="0">
                <a:ea typeface="+mn-ea"/>
                <a:cs typeface="+mn-cs"/>
              </a:rPr>
              <a:t>Introducción</a:t>
            </a:r>
            <a:r>
              <a:rPr lang="es-ES_tradnl" sz="2400" dirty="0">
                <a:ea typeface="+mn-ea"/>
                <a:cs typeface="+mn-cs"/>
              </a:rPr>
              <a:t> (por qué se necesita la investigación, los antecedentes sobre el tema, los objetivos de la investigación o la hipótesis a verificar)</a:t>
            </a:r>
          </a:p>
          <a:p>
            <a:pPr marL="370332" indent="-342900" eaLnBrk="1" fontAlgn="auto" hangingPunct="1">
              <a:spcAft>
                <a:spcPts val="0"/>
              </a:spcAft>
              <a:buFont typeface="Arial"/>
              <a:buChar char="•"/>
              <a:defRPr/>
            </a:pPr>
            <a:r>
              <a:rPr lang="es-ES_tradnl" sz="2400" b="1" dirty="0">
                <a:ea typeface="+mn-ea"/>
                <a:cs typeface="+mn-cs"/>
              </a:rPr>
              <a:t>Método</a:t>
            </a:r>
            <a:r>
              <a:rPr lang="es-ES_tradnl" sz="2400" dirty="0">
                <a:ea typeface="+mn-ea"/>
                <a:cs typeface="+mn-cs"/>
              </a:rPr>
              <a:t> (descripción detallada del experimento realizado para verificar la hipótesis y los objetivos)</a:t>
            </a:r>
          </a:p>
          <a:p>
            <a:pPr marL="370332" indent="-342900" eaLnBrk="1" fontAlgn="auto" hangingPunct="1">
              <a:spcAft>
                <a:spcPts val="0"/>
              </a:spcAft>
              <a:buFont typeface="Arial"/>
              <a:buChar char="•"/>
              <a:defRPr/>
            </a:pPr>
            <a:r>
              <a:rPr lang="es-ES_tradnl" sz="2400" b="1" dirty="0">
                <a:ea typeface="+mn-ea"/>
                <a:cs typeface="+mn-cs"/>
              </a:rPr>
              <a:t>Resultados</a:t>
            </a:r>
            <a:r>
              <a:rPr lang="es-ES_tradnl" sz="2400" dirty="0">
                <a:ea typeface="+mn-ea"/>
                <a:cs typeface="+mn-cs"/>
              </a:rPr>
              <a:t> (descripción objetiva de los resultados del proceso experimental, libre de interpretaciones)</a:t>
            </a:r>
          </a:p>
          <a:p>
            <a:pPr marL="370332" indent="-342900" eaLnBrk="1" fontAlgn="auto" hangingPunct="1">
              <a:spcAft>
                <a:spcPts val="0"/>
              </a:spcAft>
              <a:buFont typeface="Arial"/>
              <a:buChar char="•"/>
              <a:defRPr/>
            </a:pPr>
            <a:r>
              <a:rPr lang="es-ES_tradnl" sz="2400" b="1" dirty="0">
                <a:ea typeface="+mn-ea"/>
                <a:cs typeface="+mn-cs"/>
              </a:rPr>
              <a:t>Discusión</a:t>
            </a:r>
            <a:r>
              <a:rPr lang="es-ES_tradnl" sz="2400" dirty="0">
                <a:ea typeface="+mn-ea"/>
                <a:cs typeface="+mn-cs"/>
              </a:rPr>
              <a:t> (interpretaciones relacionadas con los resultados obtenidos, a fin de verificar la hipótesis o los objetivos, y comparación con los resultados obtenidos por otros autores, si los hubiera, y consideraciones sobre posibles líneas de investigación futuras)</a:t>
            </a: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6" name="1 Título">
            <a:extLst>
              <a:ext uri="{FF2B5EF4-FFF2-40B4-BE49-F238E27FC236}">
                <a16:creationId xmlns:a16="http://schemas.microsoft.com/office/drawing/2014/main" id="{1D220840-FE6A-E640-A858-2EA0AE8ACCB0}"/>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2 Subtítulo">
            <a:extLst>
              <a:ext uri="{FF2B5EF4-FFF2-40B4-BE49-F238E27FC236}">
                <a16:creationId xmlns:a16="http://schemas.microsoft.com/office/drawing/2014/main" id="{7145E0B1-CDE4-7F43-892D-7863C72FB5A1}"/>
              </a:ext>
            </a:extLst>
          </p:cNvPr>
          <p:cNvSpPr>
            <a:spLocks noGrp="1"/>
          </p:cNvSpPr>
          <p:nvPr>
            <p:ph type="subTitle" idx="1"/>
          </p:nvPr>
        </p:nvSpPr>
        <p:spPr>
          <a:xfrm>
            <a:off x="1431925" y="1631772"/>
            <a:ext cx="7407275" cy="3957467"/>
          </a:xfrm>
        </p:spPr>
        <p:txBody>
          <a:bodyPr/>
          <a:lstStyle/>
          <a:p>
            <a:pPr marL="0" eaLnBrk="1" hangingPunct="1"/>
            <a:r>
              <a:rPr lang="es-ES_tradnl" altLang="es-ES" sz="2000" b="1" u="sng" dirty="0">
                <a:solidFill>
                  <a:srgbClr val="320E04"/>
                </a:solidFill>
                <a:ea typeface="ＭＳ Ｐゴシック" panose="020B0600070205080204" pitchFamily="34" charset="-128"/>
              </a:rPr>
              <a:t>Hechos - información</a:t>
            </a:r>
          </a:p>
          <a:p>
            <a:pPr marL="0" eaLnBrk="1" hangingPunct="1"/>
            <a:r>
              <a:rPr lang="es-ES_tradnl" altLang="es-ES" sz="2000" dirty="0">
                <a:solidFill>
                  <a:srgbClr val="320E04"/>
                </a:solidFill>
                <a:ea typeface="ＭＳ Ｐゴシック" panose="020B0600070205080204" pitchFamily="34" charset="-128"/>
              </a:rPr>
              <a:t>Estructura de un informe técnico de propuesta general</a:t>
            </a:r>
          </a:p>
          <a:p>
            <a:pPr marL="0" eaLnBrk="1" hangingPunct="1"/>
            <a:r>
              <a:rPr lang="es-ES_tradnl" altLang="es-ES" sz="2000" b="1" dirty="0">
                <a:solidFill>
                  <a:srgbClr val="320E04"/>
                </a:solidFill>
                <a:ea typeface="ＭＳ Ｐゴシック" panose="020B0600070205080204" pitchFamily="34" charset="-128"/>
              </a:rPr>
              <a:t>Secciones:</a:t>
            </a:r>
          </a:p>
          <a:p>
            <a:pPr marL="0" eaLnBrk="1" hangingPunct="1"/>
            <a:r>
              <a:rPr lang="es-ES_tradnl" altLang="es-ES" sz="2000" b="1" dirty="0">
                <a:solidFill>
                  <a:srgbClr val="320E04"/>
                </a:solidFill>
                <a:ea typeface="ＭＳ Ｐゴシック" panose="020B0600070205080204" pitchFamily="34" charset="-128"/>
              </a:rPr>
              <a:t>Titular o resumen </a:t>
            </a:r>
            <a:r>
              <a:rPr lang="es-ES_tradnl" altLang="es-ES" sz="2000" dirty="0">
                <a:solidFill>
                  <a:srgbClr val="320E04"/>
                </a:solidFill>
                <a:ea typeface="ＭＳ Ｐゴシック" panose="020B0600070205080204" pitchFamily="34" charset="-128"/>
              </a:rPr>
              <a:t>(resumen de los objetivos del informe, los interesados, dónde y cuándo)</a:t>
            </a:r>
          </a:p>
          <a:p>
            <a:pPr marL="0" eaLnBrk="1" hangingPunct="1"/>
            <a:r>
              <a:rPr lang="es-ES_tradnl" altLang="es-ES" sz="2000" b="1" dirty="0">
                <a:solidFill>
                  <a:srgbClr val="320E04"/>
                </a:solidFill>
                <a:ea typeface="ＭＳ Ｐゴシック" panose="020B0600070205080204" pitchFamily="34" charset="-128"/>
              </a:rPr>
              <a:t>Introducción </a:t>
            </a:r>
            <a:r>
              <a:rPr lang="es-ES_tradnl" altLang="es-ES" sz="2000" dirty="0">
                <a:solidFill>
                  <a:srgbClr val="320E04"/>
                </a:solidFill>
                <a:ea typeface="ＭＳ Ｐゴシック" panose="020B0600070205080204" pitchFamily="34" charset="-128"/>
              </a:rPr>
              <a:t>(descripción detallada sobre el problema o el asunto al que ser refiere el informe, antecedentes y/o breve explicación sobre la metodología utilizada)</a:t>
            </a:r>
          </a:p>
          <a:p>
            <a:pPr marL="0" eaLnBrk="1" hangingPunct="1"/>
            <a:r>
              <a:rPr lang="es-ES_tradnl" altLang="es-ES" sz="2000" b="1" dirty="0">
                <a:solidFill>
                  <a:srgbClr val="320E04"/>
                </a:solidFill>
                <a:ea typeface="ＭＳ Ｐゴシック" panose="020B0600070205080204" pitchFamily="34" charset="-128"/>
              </a:rPr>
              <a:t>Cuerpo </a:t>
            </a:r>
            <a:r>
              <a:rPr lang="es-ES_tradnl" altLang="es-ES" sz="2000" dirty="0">
                <a:solidFill>
                  <a:srgbClr val="320E04"/>
                </a:solidFill>
                <a:ea typeface="ＭＳ Ｐゴシック" panose="020B0600070205080204" pitchFamily="34" charset="-128"/>
              </a:rPr>
              <a:t>(descripción completa de los hechos, organizada cronológicamente o  por orden de relevancia)</a:t>
            </a:r>
          </a:p>
          <a:p>
            <a:pPr marL="0" eaLnBrk="1" hangingPunct="1"/>
            <a:r>
              <a:rPr lang="es-ES_tradnl" altLang="es-ES" sz="2000" b="1" dirty="0">
                <a:solidFill>
                  <a:srgbClr val="320E04"/>
                </a:solidFill>
                <a:ea typeface="ＭＳ Ｐゴシック" panose="020B0600070205080204" pitchFamily="34" charset="-128"/>
              </a:rPr>
              <a:t>Conclusiones </a:t>
            </a:r>
            <a:r>
              <a:rPr lang="es-ES_tradnl" altLang="es-ES" sz="2000" dirty="0">
                <a:solidFill>
                  <a:srgbClr val="320E04"/>
                </a:solidFill>
                <a:ea typeface="ＭＳ Ｐゴシック" panose="020B0600070205080204" pitchFamily="34" charset="-128"/>
              </a:rPr>
              <a:t>(opinión, interpretación y/o decisión o juicio final)</a:t>
            </a:r>
          </a:p>
        </p:txBody>
      </p:sp>
      <p:sp>
        <p:nvSpPr>
          <p:cNvPr id="7" name="1 Título">
            <a:extLst>
              <a:ext uri="{FF2B5EF4-FFF2-40B4-BE49-F238E27FC236}">
                <a16:creationId xmlns:a16="http://schemas.microsoft.com/office/drawing/2014/main" id="{08C1798F-E339-0940-9CFB-80002276903C}"/>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48FCEC4F-BDAE-1A41-B764-D33124238CB7}"/>
              </a:ext>
            </a:extLst>
          </p:cNvPr>
          <p:cNvSpPr>
            <a:spLocks noGrp="1"/>
          </p:cNvSpPr>
          <p:nvPr>
            <p:ph type="subTitle" idx="1"/>
          </p:nvPr>
        </p:nvSpPr>
        <p:spPr>
          <a:xfrm>
            <a:off x="1431925" y="1849438"/>
            <a:ext cx="7407275" cy="4459287"/>
          </a:xfrm>
        </p:spPr>
        <p:txBody>
          <a:bodyPr>
            <a:normAutofit/>
          </a:bodyPr>
          <a:lstStyle/>
          <a:p>
            <a:pPr marL="0" eaLnBrk="1" fontAlgn="auto" hangingPunct="1">
              <a:spcAft>
                <a:spcPts val="0"/>
              </a:spcAft>
              <a:buFont typeface="Wingdings 2"/>
              <a:buNone/>
              <a:defRPr/>
            </a:pPr>
            <a:r>
              <a:rPr lang="es-ES_tradnl" sz="2000" b="1" u="sng" dirty="0">
                <a:ea typeface="+mn-ea"/>
                <a:cs typeface="+mn-cs"/>
              </a:rPr>
              <a:t>Problema - Solución</a:t>
            </a:r>
          </a:p>
          <a:p>
            <a:pPr eaLnBrk="1" fontAlgn="auto" hangingPunct="1">
              <a:spcAft>
                <a:spcPts val="0"/>
              </a:spcAft>
              <a:buFont typeface="Wingdings 2"/>
              <a:buNone/>
              <a:defRPr/>
            </a:pPr>
            <a:r>
              <a:rPr lang="es-ES_tradnl" sz="2000" dirty="0">
                <a:ea typeface="+mn-ea"/>
                <a:cs typeface="+mn-cs"/>
              </a:rPr>
              <a:t>Típica en la memoria de un proyecto</a:t>
            </a:r>
          </a:p>
          <a:p>
            <a:pPr eaLnBrk="1" fontAlgn="auto" hangingPunct="1">
              <a:spcAft>
                <a:spcPts val="0"/>
              </a:spcAft>
              <a:buFont typeface="Wingdings 2"/>
              <a:buNone/>
              <a:defRPr/>
            </a:pPr>
            <a:r>
              <a:rPr lang="es-ES_tradnl" sz="2000" b="1" dirty="0">
                <a:ea typeface="+mn-ea"/>
                <a:cs typeface="+mn-cs"/>
              </a:rPr>
              <a:t>Secciones</a:t>
            </a:r>
            <a:r>
              <a:rPr lang="es-ES_tradnl" sz="2000" dirty="0">
                <a:ea typeface="+mn-ea"/>
                <a:cs typeface="+mn-cs"/>
              </a:rPr>
              <a:t>:</a:t>
            </a:r>
          </a:p>
          <a:p>
            <a:pPr eaLnBrk="1" fontAlgn="auto" hangingPunct="1">
              <a:spcAft>
                <a:spcPts val="0"/>
              </a:spcAft>
              <a:buFont typeface="Wingdings 2"/>
              <a:buNone/>
              <a:defRPr/>
            </a:pPr>
            <a:endParaRPr lang="es-ES_tradnl" sz="2000" dirty="0">
              <a:ea typeface="+mn-ea"/>
              <a:cs typeface="+mn-cs"/>
            </a:endParaRPr>
          </a:p>
          <a:p>
            <a:pPr marL="484632" indent="-457200" eaLnBrk="1" fontAlgn="auto" hangingPunct="1">
              <a:spcAft>
                <a:spcPts val="0"/>
              </a:spcAft>
              <a:buFont typeface="Wingdings 2"/>
              <a:buAutoNum type="arabicPeriod"/>
              <a:defRPr/>
            </a:pPr>
            <a:r>
              <a:rPr lang="es-ES_tradnl" sz="2400" b="1" dirty="0">
                <a:ea typeface="+mn-ea"/>
                <a:cs typeface="+mn-cs"/>
              </a:rPr>
              <a:t>Antecedentes y descripción del problema</a:t>
            </a:r>
          </a:p>
          <a:p>
            <a:pPr marL="484632" indent="-457200" eaLnBrk="1" fontAlgn="auto" hangingPunct="1">
              <a:spcAft>
                <a:spcPts val="0"/>
              </a:spcAft>
              <a:buFont typeface="Wingdings 2"/>
              <a:buAutoNum type="arabicPeriod"/>
              <a:defRPr/>
            </a:pPr>
            <a:r>
              <a:rPr lang="es-ES_tradnl" sz="2400" b="1" dirty="0">
                <a:ea typeface="+mn-ea"/>
                <a:cs typeface="+mn-cs"/>
              </a:rPr>
              <a:t>Soluciones alternativas</a:t>
            </a:r>
          </a:p>
          <a:p>
            <a:pPr marL="484632" indent="-457200" eaLnBrk="1" fontAlgn="auto" hangingPunct="1">
              <a:spcAft>
                <a:spcPts val="0"/>
              </a:spcAft>
              <a:buFont typeface="Wingdings 2"/>
              <a:buAutoNum type="arabicPeriod"/>
              <a:defRPr/>
            </a:pPr>
            <a:r>
              <a:rPr lang="es-ES_tradnl" sz="2400" b="1" dirty="0">
                <a:ea typeface="+mn-ea"/>
                <a:cs typeface="+mn-cs"/>
              </a:rPr>
              <a:t>Justificación de la solución elegida</a:t>
            </a:r>
          </a:p>
          <a:p>
            <a:pPr marL="484632" indent="-457200" eaLnBrk="1" fontAlgn="auto" hangingPunct="1">
              <a:spcAft>
                <a:spcPts val="0"/>
              </a:spcAft>
              <a:buFont typeface="Wingdings 2"/>
              <a:buAutoNum type="arabicPeriod"/>
              <a:defRPr/>
            </a:pPr>
            <a:r>
              <a:rPr lang="es-ES_tradnl" sz="2400" b="1" dirty="0">
                <a:ea typeface="+mn-ea"/>
                <a:cs typeface="+mn-cs"/>
              </a:rPr>
              <a:t>Detalles sobre la solución seleccionada</a:t>
            </a:r>
            <a:endParaRPr lang="es-ES_tradnl" sz="2400" dirty="0">
              <a:ea typeface="+mn-ea"/>
              <a:cs typeface="+mn-cs"/>
            </a:endParaRPr>
          </a:p>
          <a:p>
            <a:pPr eaLnBrk="1" fontAlgn="auto" hangingPunct="1">
              <a:spcAft>
                <a:spcPts val="0"/>
              </a:spcAft>
              <a:buFont typeface="Wingdings 2"/>
              <a:buNone/>
              <a:defRPr/>
            </a:pPr>
            <a:endParaRPr lang="es-ES_tradnl" dirty="0">
              <a:ea typeface="+mn-ea"/>
              <a:cs typeface="+mn-cs"/>
            </a:endParaRPr>
          </a:p>
          <a:p>
            <a:pPr eaLnBrk="1" fontAlgn="auto" hangingPunct="1">
              <a:spcAft>
                <a:spcPts val="0"/>
              </a:spcAft>
              <a:buFont typeface="Wingdings 2"/>
              <a:buNone/>
              <a:defRPr/>
            </a:pPr>
            <a:endParaRPr lang="es-ES_tradnl" dirty="0">
              <a:ea typeface="+mn-ea"/>
              <a:cs typeface="+mn-cs"/>
            </a:endParaRPr>
          </a:p>
        </p:txBody>
      </p:sp>
      <p:sp>
        <p:nvSpPr>
          <p:cNvPr id="7" name="1 Título">
            <a:extLst>
              <a:ext uri="{FF2B5EF4-FFF2-40B4-BE49-F238E27FC236}">
                <a16:creationId xmlns:a16="http://schemas.microsoft.com/office/drawing/2014/main" id="{E4935FB3-9D5E-0C43-A902-7531045C99B8}"/>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FA4C6F17-2912-5A46-9476-789EBC0F7505}"/>
              </a:ext>
            </a:extLst>
          </p:cNvPr>
          <p:cNvSpPr>
            <a:spLocks noGrp="1"/>
          </p:cNvSpPr>
          <p:nvPr>
            <p:ph type="subTitle" idx="1"/>
          </p:nvPr>
        </p:nvSpPr>
        <p:spPr>
          <a:xfrm>
            <a:off x="1431925" y="1988840"/>
            <a:ext cx="7407275" cy="4099842"/>
          </a:xfrm>
        </p:spPr>
        <p:txBody>
          <a:bodyPr>
            <a:normAutofit fontScale="62500" lnSpcReduction="20000"/>
          </a:bodyPr>
          <a:lstStyle/>
          <a:p>
            <a:pPr marL="0" eaLnBrk="1" fontAlgn="auto" hangingPunct="1">
              <a:spcAft>
                <a:spcPts val="0"/>
              </a:spcAft>
              <a:buFont typeface="Wingdings 2"/>
              <a:buNone/>
              <a:defRPr/>
            </a:pPr>
            <a:r>
              <a:rPr lang="es-ES_tradnl" sz="2900" b="1" u="sng" dirty="0">
                <a:ea typeface="+mn-ea"/>
                <a:cs typeface="+mn-cs"/>
              </a:rPr>
              <a:t>Índice general del contenido de una memoria</a:t>
            </a:r>
          </a:p>
          <a:p>
            <a:pPr marL="0" eaLnBrk="1" fontAlgn="auto" hangingPunct="1">
              <a:spcAft>
                <a:spcPts val="0"/>
              </a:spcAft>
              <a:buFont typeface="Wingdings 2"/>
              <a:buNone/>
              <a:defRPr/>
            </a:pPr>
            <a:endParaRPr lang="es-ES_tradnl" sz="2000" b="1" u="sng" dirty="0">
              <a:ea typeface="+mn-ea"/>
              <a:cs typeface="+mn-cs"/>
            </a:endParaRPr>
          </a:p>
          <a:p>
            <a:pPr marL="541782" indent="-514350" eaLnBrk="1" fontAlgn="auto" hangingPunct="1">
              <a:spcAft>
                <a:spcPts val="0"/>
              </a:spcAft>
              <a:buFont typeface="+mj-lt"/>
              <a:buAutoNum type="arabicPeriod"/>
              <a:defRPr/>
            </a:pPr>
            <a:r>
              <a:rPr lang="es-ES_tradnl" sz="2800" dirty="0">
                <a:ea typeface="+mn-ea"/>
                <a:cs typeface="+mn-cs"/>
              </a:rPr>
              <a:t>Objeto</a:t>
            </a:r>
          </a:p>
          <a:p>
            <a:pPr marL="541782" indent="-514350" eaLnBrk="1" fontAlgn="auto" hangingPunct="1">
              <a:spcAft>
                <a:spcPts val="0"/>
              </a:spcAft>
              <a:buFont typeface="+mj-lt"/>
              <a:buAutoNum type="arabicPeriod"/>
              <a:defRPr/>
            </a:pPr>
            <a:r>
              <a:rPr lang="es-ES_tradnl" sz="2800" dirty="0">
                <a:ea typeface="+mn-ea"/>
                <a:cs typeface="+mn-cs"/>
              </a:rPr>
              <a:t>Antecedentes</a:t>
            </a:r>
          </a:p>
          <a:p>
            <a:pPr marL="541782" indent="-514350" eaLnBrk="1" fontAlgn="auto" hangingPunct="1">
              <a:spcAft>
                <a:spcPts val="0"/>
              </a:spcAft>
              <a:buFont typeface="+mj-lt"/>
              <a:buAutoNum type="arabicPeriod"/>
              <a:defRPr/>
            </a:pPr>
            <a:r>
              <a:rPr lang="es-ES_tradnl" sz="2800" dirty="0">
                <a:ea typeface="+mn-ea"/>
                <a:cs typeface="+mn-cs"/>
              </a:rPr>
              <a:t>Estudio de necesidades</a:t>
            </a:r>
          </a:p>
          <a:p>
            <a:pPr marL="541782" indent="-514350" eaLnBrk="1" fontAlgn="auto" hangingPunct="1">
              <a:spcAft>
                <a:spcPts val="0"/>
              </a:spcAft>
              <a:buFont typeface="+mj-lt"/>
              <a:buAutoNum type="arabicPeriod"/>
              <a:defRPr/>
            </a:pPr>
            <a:r>
              <a:rPr lang="es-ES_tradnl" sz="2800" dirty="0">
                <a:ea typeface="+mn-ea"/>
                <a:cs typeface="+mn-cs"/>
              </a:rPr>
              <a:t>Planteamiento de soluciones y justificación de la adoptada.</a:t>
            </a:r>
          </a:p>
          <a:p>
            <a:pPr marL="541782" indent="-514350" eaLnBrk="1" fontAlgn="auto" hangingPunct="1">
              <a:spcAft>
                <a:spcPts val="0"/>
              </a:spcAft>
              <a:buFont typeface="+mj-lt"/>
              <a:buAutoNum type="arabicPeriod"/>
              <a:defRPr/>
            </a:pPr>
            <a:r>
              <a:rPr lang="es-ES_tradnl" sz="2800" dirty="0">
                <a:ea typeface="+mn-ea"/>
                <a:cs typeface="+mn-cs"/>
              </a:rPr>
              <a:t>Descripción detallada de la solución adoptada.</a:t>
            </a:r>
          </a:p>
          <a:p>
            <a:pPr marL="541782" indent="-514350" eaLnBrk="1" fontAlgn="auto" hangingPunct="1">
              <a:spcAft>
                <a:spcPts val="0"/>
              </a:spcAft>
              <a:buFont typeface="+mj-lt"/>
              <a:buAutoNum type="arabicPeriod"/>
              <a:defRPr/>
            </a:pPr>
            <a:r>
              <a:rPr lang="es-ES_tradnl" sz="2800" dirty="0">
                <a:ea typeface="+mn-ea"/>
                <a:cs typeface="+mn-cs"/>
              </a:rPr>
              <a:t>Justificación de la selección de subsistemas, componentes o partes.</a:t>
            </a:r>
          </a:p>
          <a:p>
            <a:pPr marL="541782" indent="-514350" eaLnBrk="1" fontAlgn="auto" hangingPunct="1">
              <a:spcAft>
                <a:spcPts val="0"/>
              </a:spcAft>
              <a:buFont typeface="+mj-lt"/>
              <a:buAutoNum type="arabicPeriod"/>
              <a:defRPr/>
            </a:pPr>
            <a:r>
              <a:rPr lang="es-ES_tradnl" sz="2800" dirty="0">
                <a:ea typeface="+mn-ea"/>
                <a:cs typeface="+mn-cs"/>
              </a:rPr>
              <a:t>Programa de ejecución o plan de montaje.</a:t>
            </a:r>
          </a:p>
          <a:p>
            <a:pPr marL="541782" indent="-514350" eaLnBrk="1" fontAlgn="auto" hangingPunct="1">
              <a:spcAft>
                <a:spcPts val="0"/>
              </a:spcAft>
              <a:buFont typeface="+mj-lt"/>
              <a:buAutoNum type="arabicPeriod"/>
              <a:defRPr/>
            </a:pPr>
            <a:r>
              <a:rPr lang="es-ES_tradnl" sz="2800" dirty="0">
                <a:ea typeface="+mn-ea"/>
                <a:cs typeface="+mn-cs"/>
              </a:rPr>
              <a:t>Descripción general de operaciones de manejo, uso, mantenimiento o reparación del sistema. Manuales de usuario.</a:t>
            </a:r>
          </a:p>
          <a:p>
            <a:pPr marL="541782" indent="-514350" eaLnBrk="1" fontAlgn="auto" hangingPunct="1">
              <a:spcAft>
                <a:spcPts val="0"/>
              </a:spcAft>
              <a:buFont typeface="+mj-lt"/>
              <a:buAutoNum type="arabicPeriod"/>
              <a:defRPr/>
            </a:pPr>
            <a:r>
              <a:rPr lang="es-ES_tradnl" sz="2800" dirty="0">
                <a:ea typeface="+mn-ea"/>
                <a:cs typeface="+mn-cs"/>
              </a:rPr>
              <a:t>Estudio económico relacionado con la explotación del sistema objeto del proyecto.</a:t>
            </a:r>
          </a:p>
          <a:p>
            <a:pPr marL="541782" indent="-514350" eaLnBrk="1" fontAlgn="auto" hangingPunct="1">
              <a:spcAft>
                <a:spcPts val="0"/>
              </a:spcAft>
              <a:buFont typeface="+mj-lt"/>
              <a:buAutoNum type="arabicPeriod"/>
              <a:defRPr/>
            </a:pPr>
            <a:r>
              <a:rPr lang="es-ES_tradnl" sz="2800" dirty="0">
                <a:ea typeface="+mn-ea"/>
                <a:cs typeface="+mn-cs"/>
              </a:rPr>
              <a:t>Anexos para estudios detallados y otros documentos necesarios</a:t>
            </a:r>
            <a:endParaRPr lang="es-ES_tradnl" dirty="0">
              <a:ea typeface="+mn-ea"/>
              <a:cs typeface="+mn-cs"/>
            </a:endParaRPr>
          </a:p>
        </p:txBody>
      </p:sp>
      <p:sp>
        <p:nvSpPr>
          <p:cNvPr id="6" name="1 Título">
            <a:extLst>
              <a:ext uri="{FF2B5EF4-FFF2-40B4-BE49-F238E27FC236}">
                <a16:creationId xmlns:a16="http://schemas.microsoft.com/office/drawing/2014/main" id="{E51AC862-2D3B-114A-8D74-EA1EA4480909}"/>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D53EC522-3A96-444B-9750-3B2587540D97}"/>
              </a:ext>
            </a:extLst>
          </p:cNvPr>
          <p:cNvSpPr>
            <a:spLocks noGrp="1"/>
          </p:cNvSpPr>
          <p:nvPr>
            <p:ph type="subTitle" idx="1"/>
          </p:nvPr>
        </p:nvSpPr>
        <p:spPr>
          <a:xfrm>
            <a:off x="1431925" y="1916832"/>
            <a:ext cx="7407275" cy="4459287"/>
          </a:xfrm>
        </p:spPr>
        <p:txBody>
          <a:bodyPr>
            <a:normAutofit fontScale="92500" lnSpcReduction="20000"/>
          </a:bodyPr>
          <a:lstStyle/>
          <a:p>
            <a:pPr marL="541782" indent="-514350" eaLnBrk="1" fontAlgn="auto" hangingPunct="1">
              <a:spcAft>
                <a:spcPts val="0"/>
              </a:spcAft>
              <a:buFont typeface="Wingdings 2"/>
              <a:buAutoNum type="arabicPeriod"/>
              <a:defRPr/>
            </a:pPr>
            <a:r>
              <a:rPr lang="es-ES_tradnl" b="1" dirty="0">
                <a:ea typeface="+mn-ea"/>
                <a:cs typeface="+mn-cs"/>
              </a:rPr>
              <a:t>Objeto y ámbito</a:t>
            </a:r>
          </a:p>
          <a:p>
            <a:pPr eaLnBrk="1" fontAlgn="auto" hangingPunct="1">
              <a:spcAft>
                <a:spcPts val="0"/>
              </a:spcAft>
              <a:defRPr/>
            </a:pPr>
            <a:endParaRPr lang="es-ES_tradnl" sz="2800" b="1" dirty="0">
              <a:ea typeface="+mn-ea"/>
              <a:cs typeface="+mn-cs"/>
            </a:endParaRPr>
          </a:p>
          <a:p>
            <a:pPr marL="484632" indent="-457200" eaLnBrk="1" fontAlgn="auto" hangingPunct="1">
              <a:spcAft>
                <a:spcPts val="0"/>
              </a:spcAft>
              <a:buFont typeface="Arial"/>
              <a:buChar char="•"/>
              <a:defRPr/>
            </a:pPr>
            <a:r>
              <a:rPr lang="es-ES_tradnl" dirty="0">
                <a:ea typeface="+mn-ea"/>
                <a:cs typeface="+mn-cs"/>
              </a:rPr>
              <a:t>Breve descripción del contenido del proyecto con indicación de los parámetros característicos.</a:t>
            </a:r>
          </a:p>
          <a:p>
            <a:pPr marL="484632" indent="-457200" eaLnBrk="1" fontAlgn="auto" hangingPunct="1">
              <a:spcAft>
                <a:spcPts val="0"/>
              </a:spcAft>
              <a:buFont typeface="Arial"/>
              <a:buChar char="•"/>
              <a:defRPr/>
            </a:pPr>
            <a:r>
              <a:rPr lang="es-ES_tradnl" dirty="0">
                <a:ea typeface="+mn-ea"/>
                <a:cs typeface="+mn-cs"/>
              </a:rPr>
              <a:t>Propósito del proyecto, indicando si se trata de proyecto constructivo o administrativo y si está orientado a obtener algún permiso o licencia.</a:t>
            </a:r>
          </a:p>
          <a:p>
            <a:pPr marL="484632" indent="-457200" eaLnBrk="1" fontAlgn="auto" hangingPunct="1">
              <a:spcAft>
                <a:spcPts val="0"/>
              </a:spcAft>
              <a:buFont typeface="Arial"/>
              <a:buChar char="•"/>
              <a:defRPr/>
            </a:pPr>
            <a:r>
              <a:rPr lang="es-ES_tradnl" dirty="0">
                <a:ea typeface="+mn-ea"/>
                <a:cs typeface="+mn-cs"/>
              </a:rPr>
              <a:t>Indicación de la legislación que requiere la redacción del proyecto</a:t>
            </a:r>
          </a:p>
          <a:p>
            <a:pPr marL="484632" indent="-457200" eaLnBrk="1" fontAlgn="auto" hangingPunct="1">
              <a:spcAft>
                <a:spcPts val="0"/>
              </a:spcAft>
              <a:buFont typeface="Arial"/>
              <a:buChar char="•"/>
              <a:defRPr/>
            </a:pPr>
            <a:r>
              <a:rPr lang="es-ES_tradnl" dirty="0">
                <a:ea typeface="+mn-ea"/>
                <a:cs typeface="+mn-cs"/>
              </a:rPr>
              <a:t>Datos del propietario</a:t>
            </a:r>
          </a:p>
          <a:p>
            <a:pPr marL="484632" indent="-457200" eaLnBrk="1" fontAlgn="auto" hangingPunct="1">
              <a:spcAft>
                <a:spcPts val="0"/>
              </a:spcAft>
              <a:buFont typeface="Arial"/>
              <a:buChar char="•"/>
              <a:defRPr/>
            </a:pPr>
            <a:r>
              <a:rPr lang="es-ES_tradnl" dirty="0">
                <a:ea typeface="+mn-ea"/>
                <a:cs typeface="+mn-cs"/>
              </a:rPr>
              <a:t>Si procede, otra información sobre la ubicación e identificación del proyecto</a:t>
            </a:r>
          </a:p>
        </p:txBody>
      </p:sp>
      <p:sp>
        <p:nvSpPr>
          <p:cNvPr id="6" name="1 Título">
            <a:extLst>
              <a:ext uri="{FF2B5EF4-FFF2-40B4-BE49-F238E27FC236}">
                <a16:creationId xmlns:a16="http://schemas.microsoft.com/office/drawing/2014/main" id="{4207A0CC-0513-1941-BB43-905D46283717}"/>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2 Subtítulo">
            <a:extLst>
              <a:ext uri="{FF2B5EF4-FFF2-40B4-BE49-F238E27FC236}">
                <a16:creationId xmlns:a16="http://schemas.microsoft.com/office/drawing/2014/main" id="{63CFA404-5637-9240-B176-F834427C126B}"/>
              </a:ext>
            </a:extLst>
          </p:cNvPr>
          <p:cNvSpPr>
            <a:spLocks noGrp="1"/>
          </p:cNvSpPr>
          <p:nvPr>
            <p:ph type="subTitle" idx="1"/>
          </p:nvPr>
        </p:nvSpPr>
        <p:spPr>
          <a:xfrm>
            <a:off x="1431925" y="1849439"/>
            <a:ext cx="7407275" cy="3883818"/>
          </a:xfrm>
        </p:spPr>
        <p:txBody>
          <a:bodyPr/>
          <a:lstStyle/>
          <a:p>
            <a:pPr marL="26988" eaLnBrk="1" hangingPunct="1"/>
            <a:r>
              <a:rPr lang="es-ES_tradnl" altLang="es-ES" sz="2400" dirty="0">
                <a:solidFill>
                  <a:srgbClr val="320E04"/>
                </a:solidFill>
                <a:ea typeface="ＭＳ Ｐゴシック" panose="020B0600070205080204" pitchFamily="34" charset="-128"/>
              </a:rPr>
              <a:t>Ejemplo de objeto:</a:t>
            </a:r>
          </a:p>
          <a:p>
            <a:pPr marL="26988" eaLnBrk="1" hangingPunct="1"/>
            <a:r>
              <a:rPr lang="es-ES_tradnl" altLang="es-ES" sz="2400" dirty="0">
                <a:solidFill>
                  <a:srgbClr val="320E04"/>
                </a:solidFill>
                <a:ea typeface="ＭＳ Ｐゴシック" panose="020B0600070205080204" pitchFamily="34" charset="-128"/>
              </a:rPr>
              <a:t>"Este proyecto se refiere a una instalación de baja tensión para un edificio de 22 viviendas, incluyendo la instalación eléctrica necesaria para aparcamiento y locales comerciales, situado en la avenida Blasco Ibáñez, 23 de Valencia. Se redacta en cumplimiento del Reglamento Electrotécnico de Baja Tensión para obtener la correspondiente autorización de instalación y puesta en marcha por parte de la Consejería de Industria de Valencia"</a:t>
            </a:r>
          </a:p>
        </p:txBody>
      </p:sp>
      <p:sp>
        <p:nvSpPr>
          <p:cNvPr id="6" name="1 Título">
            <a:extLst>
              <a:ext uri="{FF2B5EF4-FFF2-40B4-BE49-F238E27FC236}">
                <a16:creationId xmlns:a16="http://schemas.microsoft.com/office/drawing/2014/main" id="{B5E37EFC-6388-C541-8E2D-053972715453}"/>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D4FDF5A1-0B6B-0E45-A914-C8ABE2F960A3}"/>
              </a:ext>
            </a:extLst>
          </p:cNvPr>
          <p:cNvSpPr>
            <a:spLocks noGrp="1"/>
          </p:cNvSpPr>
          <p:nvPr>
            <p:ph type="subTitle" idx="1"/>
          </p:nvPr>
        </p:nvSpPr>
        <p:spPr>
          <a:xfrm>
            <a:off x="1431925" y="1849438"/>
            <a:ext cx="7407275" cy="4459287"/>
          </a:xfrm>
        </p:spPr>
        <p:txBody>
          <a:bodyPr>
            <a:normAutofit/>
          </a:bodyPr>
          <a:lstStyle/>
          <a:p>
            <a:pPr marL="484632" indent="-457200" eaLnBrk="1" fontAlgn="auto" hangingPunct="1">
              <a:spcAft>
                <a:spcPts val="0"/>
              </a:spcAft>
              <a:buFont typeface="+mj-lt"/>
              <a:buAutoNum type="arabicPeriod" startAt="2"/>
              <a:defRPr/>
            </a:pPr>
            <a:r>
              <a:rPr lang="es-ES_tradnl" sz="2400" dirty="0">
                <a:ea typeface="+mn-ea"/>
                <a:cs typeface="+mn-cs"/>
              </a:rPr>
              <a:t>Antecedentes</a:t>
            </a:r>
          </a:p>
          <a:p>
            <a:pPr eaLnBrk="1" fontAlgn="auto" hangingPunct="1">
              <a:spcAft>
                <a:spcPts val="0"/>
              </a:spcAft>
              <a:defRPr/>
            </a:pPr>
            <a:endParaRPr lang="es-ES_tradnl" sz="2400" dirty="0">
              <a:ea typeface="+mn-ea"/>
              <a:cs typeface="+mn-cs"/>
            </a:endParaRPr>
          </a:p>
          <a:p>
            <a:pPr marL="484632" indent="-457200" eaLnBrk="1" fontAlgn="auto" hangingPunct="1">
              <a:spcAft>
                <a:spcPts val="0"/>
              </a:spcAft>
              <a:buFont typeface="Arial"/>
              <a:buChar char="•"/>
              <a:defRPr/>
            </a:pPr>
            <a:r>
              <a:rPr lang="es-ES_tradnl" dirty="0"/>
              <a:t>Explicación de las razones (técnicas, económicas o de otra índole) que justifican la ejecución del proyecto.</a:t>
            </a:r>
          </a:p>
          <a:p>
            <a:pPr marL="484632" indent="-457200" eaLnBrk="1" fontAlgn="auto" hangingPunct="1">
              <a:spcAft>
                <a:spcPts val="0"/>
              </a:spcAft>
              <a:buFont typeface="Arial"/>
              <a:buChar char="•"/>
              <a:defRPr/>
            </a:pPr>
            <a:r>
              <a:rPr lang="es-ES_tradnl" dirty="0"/>
              <a:t>Estudios previos (de viabilidad, anteproyectos, prospecciones, estudios, etc.) realizados para resolver el problema.</a:t>
            </a:r>
            <a:endParaRPr lang="es-ES_tradnl" sz="2400" dirty="0">
              <a:ea typeface="+mn-ea"/>
              <a:cs typeface="+mn-cs"/>
            </a:endParaRPr>
          </a:p>
        </p:txBody>
      </p:sp>
      <p:sp>
        <p:nvSpPr>
          <p:cNvPr id="6" name="1 Título">
            <a:extLst>
              <a:ext uri="{FF2B5EF4-FFF2-40B4-BE49-F238E27FC236}">
                <a16:creationId xmlns:a16="http://schemas.microsoft.com/office/drawing/2014/main" id="{08F607DC-EC02-8F42-BEC0-70C4842DEFC0}"/>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D4FDF5A1-0B6B-0E45-A914-C8ABE2F960A3}"/>
              </a:ext>
            </a:extLst>
          </p:cNvPr>
          <p:cNvSpPr>
            <a:spLocks noGrp="1"/>
          </p:cNvSpPr>
          <p:nvPr>
            <p:ph type="subTitle" idx="1"/>
          </p:nvPr>
        </p:nvSpPr>
        <p:spPr>
          <a:xfrm>
            <a:off x="1431925" y="1849439"/>
            <a:ext cx="7407275" cy="4027834"/>
          </a:xfrm>
        </p:spPr>
        <p:txBody>
          <a:bodyPr>
            <a:normAutofit/>
          </a:bodyPr>
          <a:lstStyle/>
          <a:p>
            <a:pPr marL="541782" indent="-514350" eaLnBrk="1" fontAlgn="auto" hangingPunct="1">
              <a:spcAft>
                <a:spcPts val="0"/>
              </a:spcAft>
              <a:buFont typeface="+mj-lt"/>
              <a:buAutoNum type="arabicPeriod" startAt="3"/>
              <a:defRPr/>
            </a:pPr>
            <a:r>
              <a:rPr lang="es-ES_tradnl" sz="2400" b="1" dirty="0">
                <a:ea typeface="+mn-ea"/>
                <a:cs typeface="+mn-cs"/>
              </a:rPr>
              <a:t>Estudio de necesidades</a:t>
            </a:r>
          </a:p>
          <a:p>
            <a:pPr marL="484632" indent="-457200" eaLnBrk="1" fontAlgn="auto" hangingPunct="1">
              <a:spcAft>
                <a:spcPts val="0"/>
              </a:spcAft>
              <a:buFont typeface="Arial"/>
              <a:buChar char="•"/>
              <a:defRPr/>
            </a:pPr>
            <a:r>
              <a:rPr lang="es-ES_tradnl" sz="2400" dirty="0">
                <a:ea typeface="+mn-ea"/>
                <a:cs typeface="+mn-cs"/>
              </a:rPr>
              <a:t>Especificaciones del encargo.</a:t>
            </a:r>
          </a:p>
          <a:p>
            <a:pPr marL="484632" indent="-457200" eaLnBrk="1" fontAlgn="auto" hangingPunct="1">
              <a:spcAft>
                <a:spcPts val="0"/>
              </a:spcAft>
              <a:buFont typeface="Arial"/>
              <a:buChar char="•"/>
              <a:defRPr/>
            </a:pPr>
            <a:r>
              <a:rPr lang="es-ES_tradnl" sz="2400" dirty="0">
                <a:ea typeface="+mn-ea"/>
                <a:cs typeface="+mn-cs"/>
              </a:rPr>
              <a:t>Normativa tenida en cuenta para la redacción del proyecto</a:t>
            </a:r>
          </a:p>
          <a:p>
            <a:pPr marL="484632" indent="-457200" eaLnBrk="1" fontAlgn="auto" hangingPunct="1">
              <a:spcAft>
                <a:spcPts val="0"/>
              </a:spcAft>
              <a:buFont typeface="Arial"/>
              <a:buChar char="•"/>
              <a:defRPr/>
            </a:pPr>
            <a:r>
              <a:rPr lang="es-ES_tradnl" sz="2400" dirty="0">
                <a:ea typeface="+mn-ea"/>
                <a:cs typeface="+mn-cs"/>
              </a:rPr>
              <a:t>Necesidades establecidas por la experiencia propia del proyectista o de la empresa encargada del desarrollo del proyecto.</a:t>
            </a:r>
          </a:p>
          <a:p>
            <a:pPr marL="484632" indent="-457200" eaLnBrk="1" fontAlgn="auto" hangingPunct="1">
              <a:spcAft>
                <a:spcPts val="0"/>
              </a:spcAft>
              <a:buFont typeface="Arial"/>
              <a:buChar char="•"/>
              <a:defRPr/>
            </a:pPr>
            <a:r>
              <a:rPr lang="es-ES_tradnl" sz="2400" dirty="0">
                <a:ea typeface="+mn-ea"/>
                <a:cs typeface="+mn-cs"/>
              </a:rPr>
              <a:t>Necesidades establecidas por recopilaciones generales procedentes de otros orígenes, resumidas o no a modo de listas de comprobación.</a:t>
            </a:r>
          </a:p>
        </p:txBody>
      </p:sp>
      <p:sp>
        <p:nvSpPr>
          <p:cNvPr id="6" name="1 Título">
            <a:extLst>
              <a:ext uri="{FF2B5EF4-FFF2-40B4-BE49-F238E27FC236}">
                <a16:creationId xmlns:a16="http://schemas.microsoft.com/office/drawing/2014/main" id="{08F607DC-EC02-8F42-BEC0-70C4842DEFC0}"/>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extLst>
      <p:ext uri="{BB962C8B-B14F-4D97-AF65-F5344CB8AC3E}">
        <p14:creationId xmlns:p14="http://schemas.microsoft.com/office/powerpoint/2010/main" val="12613113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23136BE4-3D7C-FB42-ADD9-EC94B2931E69}"/>
              </a:ext>
            </a:extLst>
          </p:cNvPr>
          <p:cNvSpPr>
            <a:spLocks noGrp="1"/>
          </p:cNvSpPr>
          <p:nvPr>
            <p:ph type="subTitle" idx="1"/>
          </p:nvPr>
        </p:nvSpPr>
        <p:spPr>
          <a:xfrm>
            <a:off x="1398471" y="1633673"/>
            <a:ext cx="7407275" cy="4748212"/>
          </a:xfrm>
        </p:spPr>
        <p:txBody>
          <a:bodyPr>
            <a:noAutofit/>
          </a:bodyPr>
          <a:lstStyle/>
          <a:p>
            <a:pPr eaLnBrk="1" fontAlgn="auto" hangingPunct="1">
              <a:spcAft>
                <a:spcPts val="0"/>
              </a:spcAft>
              <a:buFont typeface="Wingdings 2"/>
              <a:buNone/>
              <a:defRPr/>
            </a:pPr>
            <a:r>
              <a:rPr lang="es-ES_tradnl" sz="2400" dirty="0">
                <a:ea typeface="+mn-ea"/>
                <a:cs typeface="+mn-cs"/>
              </a:rPr>
              <a:t>Las necesidades se pueden agrupar en tres grupos distintos:</a:t>
            </a:r>
          </a:p>
          <a:p>
            <a:pPr marL="484632" indent="-457200" eaLnBrk="1" fontAlgn="auto" hangingPunct="1">
              <a:spcAft>
                <a:spcPts val="0"/>
              </a:spcAft>
              <a:buFont typeface="Arial"/>
              <a:buChar char="•"/>
              <a:defRPr/>
            </a:pPr>
            <a:r>
              <a:rPr lang="es-ES_tradnl" sz="2400" dirty="0">
                <a:ea typeface="+mn-ea"/>
                <a:cs typeface="+mn-cs"/>
              </a:rPr>
              <a:t>Técnicas. Referentes a características, prestaciones, funciones, capacidades, seguridad, fiabilidad, mantenibilidad, facilidad de uso, ergonomía, estética, forma o tamaño.</a:t>
            </a:r>
          </a:p>
          <a:p>
            <a:pPr marL="484632" indent="-457200" eaLnBrk="1" fontAlgn="auto" hangingPunct="1">
              <a:spcAft>
                <a:spcPts val="0"/>
              </a:spcAft>
              <a:buFont typeface="Arial"/>
              <a:buChar char="•"/>
              <a:defRPr/>
            </a:pPr>
            <a:r>
              <a:rPr lang="es-ES_tradnl" sz="2400" dirty="0">
                <a:ea typeface="+mn-ea"/>
                <a:cs typeface="+mn-cs"/>
              </a:rPr>
              <a:t>Gestión. Referentes al cumplimiento del calendario o programación, fechas de entrega, procedimientos, protocolos, licencias, seguros y cumplimiento de la normativa aplicable al proyecto.</a:t>
            </a:r>
          </a:p>
          <a:p>
            <a:pPr marL="484632" indent="-457200" eaLnBrk="1" fontAlgn="auto" hangingPunct="1">
              <a:spcAft>
                <a:spcPts val="0"/>
              </a:spcAft>
              <a:buFont typeface="Arial"/>
              <a:buChar char="•"/>
              <a:defRPr/>
            </a:pPr>
            <a:r>
              <a:rPr lang="es-ES_tradnl" sz="2400" dirty="0">
                <a:ea typeface="+mn-ea"/>
                <a:cs typeface="+mn-cs"/>
              </a:rPr>
              <a:t>Económicas. Referentes a precios, costes, márgenes, beneficios, ingresos o penalizaciones.</a:t>
            </a:r>
          </a:p>
        </p:txBody>
      </p:sp>
      <p:sp>
        <p:nvSpPr>
          <p:cNvPr id="6" name="1 Título">
            <a:extLst>
              <a:ext uri="{FF2B5EF4-FFF2-40B4-BE49-F238E27FC236}">
                <a16:creationId xmlns:a16="http://schemas.microsoft.com/office/drawing/2014/main" id="{EA46CD10-76D1-CB41-9764-F2CC5D3B0A45}"/>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871B3E78-862B-0448-920D-F4CB271A2FBB}"/>
              </a:ext>
            </a:extLst>
          </p:cNvPr>
          <p:cNvSpPr>
            <a:spLocks noGrp="1"/>
          </p:cNvSpPr>
          <p:nvPr>
            <p:ph type="subTitle" idx="1"/>
          </p:nvPr>
        </p:nvSpPr>
        <p:spPr>
          <a:xfrm>
            <a:off x="1431925" y="2168563"/>
            <a:ext cx="7407275" cy="3384376"/>
          </a:xfrm>
        </p:spPr>
        <p:txBody>
          <a:bodyPr>
            <a:normAutofit/>
          </a:bodyPr>
          <a:lstStyle/>
          <a:p>
            <a:pPr eaLnBrk="1" fontAlgn="auto" hangingPunct="1">
              <a:spcAft>
                <a:spcPts val="0"/>
              </a:spcAft>
              <a:defRPr/>
            </a:pPr>
            <a:r>
              <a:rPr lang="es-ES_tradnl" sz="2000" b="1" dirty="0">
                <a:latin typeface="Arial"/>
                <a:ea typeface="+mn-ea"/>
                <a:cs typeface="Arial"/>
              </a:rPr>
              <a:t>4. Soluciones alternativas y justificación de la adoptada.</a:t>
            </a:r>
          </a:p>
          <a:p>
            <a:pPr marL="484632" indent="-457200" eaLnBrk="1" fontAlgn="auto" hangingPunct="1">
              <a:spcAft>
                <a:spcPts val="0"/>
              </a:spcAft>
              <a:buFont typeface="+mj-lt"/>
              <a:buAutoNum type="arabicPeriod" startAt="4"/>
              <a:defRPr/>
            </a:pPr>
            <a:endParaRPr lang="es-ES_tradnl" sz="2000" dirty="0">
              <a:latin typeface="Arial"/>
              <a:ea typeface="+mn-ea"/>
              <a:cs typeface="Arial"/>
            </a:endParaRPr>
          </a:p>
          <a:p>
            <a:pPr marL="370332" indent="-342900" eaLnBrk="1" fontAlgn="auto" hangingPunct="1">
              <a:spcAft>
                <a:spcPts val="0"/>
              </a:spcAft>
              <a:buFont typeface="Arial" panose="020B0604020202020204" pitchFamily="34" charset="0"/>
              <a:buChar char="•"/>
              <a:defRPr/>
            </a:pPr>
            <a:r>
              <a:rPr lang="es-ES_tradnl" sz="2000" dirty="0">
                <a:latin typeface="Arial"/>
                <a:ea typeface="+mn-ea"/>
                <a:cs typeface="Arial"/>
              </a:rPr>
              <a:t>Breve descripción de los diferentes enfoques o soluciones sugeridas para el proyecto</a:t>
            </a:r>
          </a:p>
          <a:p>
            <a:pPr marL="370332" indent="-342900" eaLnBrk="1" fontAlgn="auto" hangingPunct="1">
              <a:spcAft>
                <a:spcPts val="0"/>
              </a:spcAft>
              <a:buFont typeface="Arial" panose="020B0604020202020204" pitchFamily="34" charset="0"/>
              <a:buChar char="•"/>
              <a:defRPr/>
            </a:pPr>
            <a:r>
              <a:rPr lang="es-ES_tradnl" sz="2000" dirty="0">
                <a:latin typeface="Arial"/>
                <a:ea typeface="+mn-ea"/>
                <a:cs typeface="Arial"/>
              </a:rPr>
              <a:t>Argumentos a favor de la solución adoptada.</a:t>
            </a:r>
          </a:p>
          <a:p>
            <a:pPr marL="370332" indent="-342900" eaLnBrk="1" fontAlgn="auto" hangingPunct="1">
              <a:spcAft>
                <a:spcPts val="0"/>
              </a:spcAft>
              <a:buFont typeface="Arial" panose="020B0604020202020204" pitchFamily="34" charset="0"/>
              <a:buChar char="•"/>
              <a:defRPr/>
            </a:pPr>
            <a:r>
              <a:rPr lang="es-ES_tradnl" sz="2000" dirty="0">
                <a:latin typeface="Arial"/>
                <a:ea typeface="+mn-ea"/>
                <a:cs typeface="Arial"/>
              </a:rPr>
              <a:t>Los argumentos pueden ser técnicos, económicos o de gestión.</a:t>
            </a:r>
          </a:p>
          <a:p>
            <a:pPr marL="370332" indent="-342900" eaLnBrk="1" fontAlgn="auto" hangingPunct="1">
              <a:spcAft>
                <a:spcPts val="0"/>
              </a:spcAft>
              <a:buFont typeface="Arial" panose="020B0604020202020204" pitchFamily="34" charset="0"/>
              <a:buChar char="•"/>
              <a:defRPr/>
            </a:pPr>
            <a:r>
              <a:rPr lang="es-ES_tradnl" sz="2000" dirty="0">
                <a:latin typeface="Arial"/>
                <a:ea typeface="+mn-ea"/>
                <a:cs typeface="Arial"/>
              </a:rPr>
              <a:t>Pueden utilizarse métodos cuantitativos y cualitativos para justificar la elección realizada.</a:t>
            </a:r>
            <a:endParaRPr lang="es-ES_tradnl" sz="2400" dirty="0">
              <a:ea typeface="+mn-ea"/>
              <a:cs typeface="+mn-cs"/>
            </a:endParaRPr>
          </a:p>
        </p:txBody>
      </p:sp>
      <p:sp>
        <p:nvSpPr>
          <p:cNvPr id="6" name="1 Título">
            <a:extLst>
              <a:ext uri="{FF2B5EF4-FFF2-40B4-BE49-F238E27FC236}">
                <a16:creationId xmlns:a16="http://schemas.microsoft.com/office/drawing/2014/main" id="{09B68747-C09C-684C-A921-EBC35990D5A1}"/>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88054677-1311-E941-8ACA-07989602AACE}"/>
              </a:ext>
            </a:extLst>
          </p:cNvPr>
          <p:cNvSpPr>
            <a:spLocks noGrp="1"/>
          </p:cNvSpPr>
          <p:nvPr>
            <p:ph type="subTitle" idx="1"/>
          </p:nvPr>
        </p:nvSpPr>
        <p:spPr>
          <a:xfrm>
            <a:off x="1187625" y="2062858"/>
            <a:ext cx="7651576" cy="3310358"/>
          </a:xfrm>
        </p:spPr>
        <p:txBody>
          <a:bodyPr>
            <a:normAutofit/>
          </a:bodyPr>
          <a:lstStyle/>
          <a:p>
            <a:pPr eaLnBrk="1" fontAlgn="auto" hangingPunct="1">
              <a:spcAft>
                <a:spcPts val="0"/>
              </a:spcAft>
              <a:defRPr/>
            </a:pPr>
            <a:r>
              <a:rPr lang="es-ES_tradnl" sz="2000" b="1" dirty="0">
                <a:ea typeface="+mn-ea"/>
                <a:cs typeface="+mn-cs"/>
              </a:rPr>
              <a:t>5. Descripción detallada de la solución adoptada</a:t>
            </a:r>
          </a:p>
          <a:p>
            <a:pPr eaLnBrk="1" fontAlgn="auto" hangingPunct="1">
              <a:spcAft>
                <a:spcPts val="0"/>
              </a:spcAft>
              <a:defRPr/>
            </a:pPr>
            <a:endParaRPr lang="es-ES_tradnl" sz="2000" dirty="0">
              <a:ea typeface="+mn-ea"/>
              <a:cs typeface="+mn-cs"/>
            </a:endParaRPr>
          </a:p>
          <a:p>
            <a:pPr marL="370332" indent="-342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Es la sección más habitual en una memoria de proyecto.</a:t>
            </a:r>
          </a:p>
          <a:p>
            <a:pPr marL="370332" indent="-342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Debe contener una descripción funcional del sistema.</a:t>
            </a:r>
          </a:p>
          <a:p>
            <a:pPr marL="370332" indent="-342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Debe organizarse teniendo en cuenta el organigrama técnico del proyecto (WBS –</a:t>
            </a:r>
            <a:r>
              <a:rPr lang="es-ES_tradnl" sz="2000" i="1" dirty="0">
                <a:latin typeface="Arial" panose="020B0604020202020204" pitchFamily="34" charset="0"/>
                <a:ea typeface="+mn-ea"/>
                <a:cs typeface="Arial" panose="020B0604020202020204" pitchFamily="34" charset="0"/>
              </a:rPr>
              <a:t>’</a:t>
            </a:r>
            <a:r>
              <a:rPr lang="es-ES_tradnl" sz="2000" i="1" dirty="0" err="1">
                <a:latin typeface="Arial" panose="020B0604020202020204" pitchFamily="34" charset="0"/>
                <a:ea typeface="+mn-ea"/>
                <a:cs typeface="Arial" panose="020B0604020202020204" pitchFamily="34" charset="0"/>
              </a:rPr>
              <a:t>Work</a:t>
            </a:r>
            <a:r>
              <a:rPr lang="es-ES_tradnl" sz="2000" i="1" dirty="0">
                <a:latin typeface="Arial" panose="020B0604020202020204" pitchFamily="34" charset="0"/>
                <a:ea typeface="+mn-ea"/>
                <a:cs typeface="Arial" panose="020B0604020202020204" pitchFamily="34" charset="0"/>
              </a:rPr>
              <a:t> </a:t>
            </a:r>
            <a:r>
              <a:rPr lang="es-ES_tradnl" sz="2000" i="1" dirty="0" err="1">
                <a:latin typeface="Arial" panose="020B0604020202020204" pitchFamily="34" charset="0"/>
                <a:ea typeface="+mn-ea"/>
                <a:cs typeface="Arial" panose="020B0604020202020204" pitchFamily="34" charset="0"/>
              </a:rPr>
              <a:t>Breakdown</a:t>
            </a:r>
            <a:r>
              <a:rPr lang="es-ES_tradnl" sz="2000" i="1" dirty="0">
                <a:latin typeface="Arial" panose="020B0604020202020204" pitchFamily="34" charset="0"/>
                <a:ea typeface="+mn-ea"/>
                <a:cs typeface="Arial" panose="020B0604020202020204" pitchFamily="34" charset="0"/>
              </a:rPr>
              <a:t> </a:t>
            </a:r>
            <a:r>
              <a:rPr lang="es-ES_tradnl" sz="2000" i="1" dirty="0" err="1">
                <a:latin typeface="Arial" panose="020B0604020202020204" pitchFamily="34" charset="0"/>
                <a:ea typeface="+mn-ea"/>
                <a:cs typeface="Arial" panose="020B0604020202020204" pitchFamily="34" charset="0"/>
              </a:rPr>
              <a:t>Structure</a:t>
            </a:r>
            <a:r>
              <a:rPr lang="es-ES_tradnl" sz="2000" dirty="0">
                <a:latin typeface="Arial" panose="020B0604020202020204" pitchFamily="34" charset="0"/>
                <a:ea typeface="+mn-ea"/>
                <a:cs typeface="Arial" panose="020B0604020202020204" pitchFamily="34" charset="0"/>
              </a:rPr>
              <a:t>’)</a:t>
            </a:r>
          </a:p>
        </p:txBody>
      </p:sp>
      <p:sp>
        <p:nvSpPr>
          <p:cNvPr id="6" name="1 Título">
            <a:extLst>
              <a:ext uri="{FF2B5EF4-FFF2-40B4-BE49-F238E27FC236}">
                <a16:creationId xmlns:a16="http://schemas.microsoft.com/office/drawing/2014/main" id="{DF99047D-746D-3645-BCD8-B099F5B37D94}"/>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1" name="Picture 4">
            <a:extLst>
              <a:ext uri="{FF2B5EF4-FFF2-40B4-BE49-F238E27FC236}">
                <a16:creationId xmlns:a16="http://schemas.microsoft.com/office/drawing/2014/main" id="{A39C1E58-DD8E-7F47-9E48-DCD7470C67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586" y="1772816"/>
            <a:ext cx="8101012" cy="4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1 Título">
            <a:extLst>
              <a:ext uri="{FF2B5EF4-FFF2-40B4-BE49-F238E27FC236}">
                <a16:creationId xmlns:a16="http://schemas.microsoft.com/office/drawing/2014/main" id="{CE906290-24F6-C14B-8E96-8C3059B3A7FE}"/>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5E942988-0028-D74D-8598-D5354FF6BDE3}"/>
              </a:ext>
            </a:extLst>
          </p:cNvPr>
          <p:cNvSpPr>
            <a:spLocks noGrp="1"/>
          </p:cNvSpPr>
          <p:nvPr>
            <p:ph type="subTitle" idx="1"/>
          </p:nvPr>
        </p:nvSpPr>
        <p:spPr>
          <a:xfrm>
            <a:off x="1431925" y="1849438"/>
            <a:ext cx="7407275" cy="4459287"/>
          </a:xfrm>
        </p:spPr>
        <p:txBody>
          <a:bodyPr>
            <a:normAutofit/>
          </a:bodyPr>
          <a:lstStyle/>
          <a:p>
            <a:pPr marL="266700" indent="-239713" eaLnBrk="1" fontAlgn="auto" hangingPunct="1">
              <a:spcAft>
                <a:spcPts val="0"/>
              </a:spcAft>
              <a:buFont typeface="+mj-lt"/>
              <a:buAutoNum type="arabicPeriod" startAt="5"/>
              <a:defRPr/>
            </a:pPr>
            <a:r>
              <a:rPr lang="es-ES_tradnl" sz="2000" b="1" dirty="0">
                <a:ea typeface="+mn-ea"/>
                <a:cs typeface="+mn-cs"/>
              </a:rPr>
              <a:t>Descripción detallada de la solución adoptada.</a:t>
            </a:r>
          </a:p>
          <a:p>
            <a:pPr eaLnBrk="1" fontAlgn="auto" hangingPunct="1">
              <a:spcAft>
                <a:spcPts val="0"/>
              </a:spcAft>
              <a:buFont typeface="Wingdings 2"/>
              <a:buNone/>
              <a:defRPr/>
            </a:pPr>
            <a:r>
              <a:rPr lang="es-ES_tradnl" sz="2000" dirty="0">
                <a:ea typeface="+mn-ea"/>
                <a:cs typeface="+mn-cs"/>
              </a:rPr>
              <a:t>Según el organigrama técnico de la figura anterior, el apartado descripción detallada debería organizarse de la siguiente manera:</a:t>
            </a:r>
          </a:p>
          <a:p>
            <a:pPr marL="496800" eaLnBrk="1" fontAlgn="auto" hangingPunct="1">
              <a:spcAft>
                <a:spcPts val="0"/>
              </a:spcAft>
              <a:buFont typeface="Wingdings 2"/>
              <a:buNone/>
              <a:defRPr/>
            </a:pPr>
            <a:r>
              <a:rPr lang="es-ES_tradnl" sz="2000" dirty="0">
                <a:ea typeface="+mn-ea"/>
                <a:cs typeface="+mn-cs"/>
              </a:rPr>
              <a:t>1. Subsistema 1</a:t>
            </a:r>
          </a:p>
          <a:p>
            <a:pPr marL="496800" eaLnBrk="1" fontAlgn="auto" hangingPunct="1">
              <a:spcAft>
                <a:spcPts val="0"/>
              </a:spcAft>
              <a:buFont typeface="Wingdings 2"/>
              <a:buNone/>
              <a:defRPr/>
            </a:pPr>
            <a:r>
              <a:rPr lang="es-ES_tradnl" sz="2000" dirty="0">
                <a:ea typeface="+mn-ea"/>
                <a:cs typeface="+mn-cs"/>
              </a:rPr>
              <a:t>1.1 Conjunto 1</a:t>
            </a:r>
          </a:p>
          <a:p>
            <a:pPr marL="496800" eaLnBrk="1" fontAlgn="auto" hangingPunct="1">
              <a:spcAft>
                <a:spcPts val="0"/>
              </a:spcAft>
              <a:buFont typeface="Wingdings 2"/>
              <a:buNone/>
              <a:defRPr/>
            </a:pPr>
            <a:r>
              <a:rPr lang="es-ES_tradnl" sz="2000" dirty="0">
                <a:ea typeface="+mn-ea"/>
                <a:cs typeface="+mn-cs"/>
              </a:rPr>
              <a:t>1.2 Conjunto 2</a:t>
            </a:r>
          </a:p>
          <a:p>
            <a:pPr marL="496800" eaLnBrk="1" fontAlgn="auto" hangingPunct="1">
              <a:spcAft>
                <a:spcPts val="0"/>
              </a:spcAft>
              <a:buFont typeface="Wingdings 2"/>
              <a:buNone/>
              <a:defRPr/>
            </a:pPr>
            <a:r>
              <a:rPr lang="es-ES_tradnl" sz="2000" dirty="0">
                <a:ea typeface="+mn-ea"/>
                <a:cs typeface="+mn-cs"/>
              </a:rPr>
              <a:t>2. Subsistema 2</a:t>
            </a:r>
          </a:p>
          <a:p>
            <a:pPr marL="496800" eaLnBrk="1" fontAlgn="auto" hangingPunct="1">
              <a:spcAft>
                <a:spcPts val="0"/>
              </a:spcAft>
              <a:buFont typeface="Wingdings 2"/>
              <a:buNone/>
              <a:defRPr/>
            </a:pPr>
            <a:r>
              <a:rPr lang="es-ES_tradnl" sz="2000" dirty="0">
                <a:ea typeface="+mn-ea"/>
                <a:cs typeface="+mn-cs"/>
              </a:rPr>
              <a:t>3. Subsistema 3</a:t>
            </a:r>
          </a:p>
          <a:p>
            <a:pPr marL="496800" eaLnBrk="1" fontAlgn="auto" hangingPunct="1">
              <a:spcAft>
                <a:spcPts val="0"/>
              </a:spcAft>
              <a:buFont typeface="Wingdings 2"/>
              <a:buNone/>
              <a:defRPr/>
            </a:pPr>
            <a:r>
              <a:rPr lang="es-ES_tradnl" sz="2000" dirty="0">
                <a:ea typeface="+mn-ea"/>
                <a:cs typeface="+mn-cs"/>
              </a:rPr>
              <a:t>3.1 Conjunto 3</a:t>
            </a:r>
          </a:p>
          <a:p>
            <a:pPr marL="496800" eaLnBrk="1" fontAlgn="auto" hangingPunct="1">
              <a:spcAft>
                <a:spcPts val="0"/>
              </a:spcAft>
              <a:buFont typeface="Wingdings 2"/>
              <a:buNone/>
              <a:defRPr/>
            </a:pPr>
            <a:r>
              <a:rPr lang="es-ES_tradnl" sz="2000" dirty="0">
                <a:ea typeface="+mn-ea"/>
                <a:cs typeface="+mn-cs"/>
              </a:rPr>
              <a:t>3.2 Conjunto 4</a:t>
            </a:r>
          </a:p>
          <a:p>
            <a:pPr marL="496800" eaLnBrk="1" fontAlgn="auto" hangingPunct="1">
              <a:spcAft>
                <a:spcPts val="0"/>
              </a:spcAft>
              <a:buFont typeface="Wingdings 2"/>
              <a:buNone/>
              <a:defRPr/>
            </a:pPr>
            <a:r>
              <a:rPr lang="es-ES_tradnl" sz="2000" dirty="0">
                <a:ea typeface="+mn-ea"/>
                <a:cs typeface="+mn-cs"/>
              </a:rPr>
              <a:t>3.3 Conjunto 5</a:t>
            </a:r>
          </a:p>
        </p:txBody>
      </p:sp>
      <p:sp>
        <p:nvSpPr>
          <p:cNvPr id="6" name="1 Título">
            <a:extLst>
              <a:ext uri="{FF2B5EF4-FFF2-40B4-BE49-F238E27FC236}">
                <a16:creationId xmlns:a16="http://schemas.microsoft.com/office/drawing/2014/main" id="{2D7FF9EF-472B-7C43-9FC9-E487707E1FC3}"/>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2 Subtítulo">
            <a:extLst>
              <a:ext uri="{FF2B5EF4-FFF2-40B4-BE49-F238E27FC236}">
                <a16:creationId xmlns:a16="http://schemas.microsoft.com/office/drawing/2014/main" id="{DE59DB54-304A-1B44-A6E1-E4B051C727DD}"/>
              </a:ext>
            </a:extLst>
          </p:cNvPr>
          <p:cNvSpPr>
            <a:spLocks noGrp="1"/>
          </p:cNvSpPr>
          <p:nvPr>
            <p:ph type="subTitle" idx="1"/>
          </p:nvPr>
        </p:nvSpPr>
        <p:spPr>
          <a:xfrm>
            <a:off x="1431925" y="1849438"/>
            <a:ext cx="7407275" cy="4459287"/>
          </a:xfrm>
        </p:spPr>
        <p:txBody>
          <a:bodyPr/>
          <a:lstStyle/>
          <a:p>
            <a:pPr marL="355600" indent="-328613" eaLnBrk="1" hangingPunct="1">
              <a:buFont typeface="Gill Sans MT" panose="020B0502020104020203" pitchFamily="34" charset="77"/>
              <a:buAutoNum type="arabicPeriod" startAt="6"/>
            </a:pPr>
            <a:r>
              <a:rPr lang="es-ES_tradnl" altLang="es-ES" sz="2000" b="1" dirty="0">
                <a:solidFill>
                  <a:srgbClr val="320E04"/>
                </a:solidFill>
                <a:ea typeface="ＭＳ Ｐゴシック" panose="020B0600070205080204" pitchFamily="34" charset="-128"/>
              </a:rPr>
              <a:t>Justificación del dimensionamiento o selección de componentes.</a:t>
            </a:r>
          </a:p>
          <a:p>
            <a:pPr marL="541338" indent="-230188" eaLnBrk="1" hangingPunct="1">
              <a:buFont typeface="Arial" panose="020B0604020202020204" pitchFamily="34" charset="0"/>
              <a:buChar char="•"/>
            </a:pPr>
            <a:r>
              <a:rPr lang="es-ES_tradnl" altLang="es-ES" sz="2000" dirty="0">
                <a:solidFill>
                  <a:srgbClr val="320E04"/>
                </a:solidFill>
                <a:ea typeface="ＭＳ Ｐゴシック" panose="020B0600070205080204" pitchFamily="34" charset="-128"/>
              </a:rPr>
              <a:t>Esta sección corresponde a lo que en muchos proyectos se denominan "cálculos" o ”dimensionamiento".</a:t>
            </a:r>
          </a:p>
          <a:p>
            <a:pPr marL="541338" indent="-230188" eaLnBrk="1" hangingPunct="1">
              <a:buFont typeface="Arial" panose="020B0604020202020204" pitchFamily="34" charset="0"/>
              <a:buChar char="•"/>
            </a:pPr>
            <a:r>
              <a:rPr lang="es-ES_tradnl" altLang="es-ES" sz="2000" dirty="0">
                <a:solidFill>
                  <a:srgbClr val="320E04"/>
                </a:solidFill>
                <a:ea typeface="ＭＳ Ｐゴシック" panose="020B0600070205080204" pitchFamily="34" charset="-128"/>
              </a:rPr>
              <a:t>Se puede subdividir en sub-apartados como la sección número 5. Aunque, en general, solamente se debe justificar o calcular aquellos componentes porque así lo exige la normativa o la seguridad.</a:t>
            </a:r>
          </a:p>
          <a:p>
            <a:pPr marL="541338" indent="-230188" eaLnBrk="1" hangingPunct="1">
              <a:buFont typeface="Arial" panose="020B0604020202020204" pitchFamily="34" charset="0"/>
              <a:buChar char="•"/>
            </a:pPr>
            <a:r>
              <a:rPr lang="es-ES_tradnl" altLang="es-ES" sz="2000" dirty="0">
                <a:solidFill>
                  <a:srgbClr val="320E04"/>
                </a:solidFill>
                <a:ea typeface="ＭＳ Ｐゴシック" panose="020B0600070205080204" pitchFamily="34" charset="-128"/>
              </a:rPr>
              <a:t>Los cálculos se resumirán con la ayuda de tablas o diagramas. Se indicarán las hipótesis realizadas, el método o programa de cálculo utilizado y los resultados.</a:t>
            </a:r>
          </a:p>
          <a:p>
            <a:pPr marL="541338" indent="-230188" eaLnBrk="1" hangingPunct="1">
              <a:buFont typeface="Arial" panose="020B0604020202020204" pitchFamily="34" charset="0"/>
              <a:buChar char="•"/>
            </a:pPr>
            <a:r>
              <a:rPr lang="es-ES_tradnl" altLang="es-ES" sz="2000" dirty="0">
                <a:solidFill>
                  <a:srgbClr val="320E04"/>
                </a:solidFill>
                <a:ea typeface="ＭＳ Ｐゴシック" panose="020B0600070205080204" pitchFamily="34" charset="-128"/>
              </a:rPr>
              <a:t>Cuando los cálculos sean muy extensos, deberán adjuntarse a los anexos de memoria correspondientes.</a:t>
            </a:r>
          </a:p>
        </p:txBody>
      </p:sp>
      <p:sp>
        <p:nvSpPr>
          <p:cNvPr id="6" name="1 Título">
            <a:extLst>
              <a:ext uri="{FF2B5EF4-FFF2-40B4-BE49-F238E27FC236}">
                <a16:creationId xmlns:a16="http://schemas.microsoft.com/office/drawing/2014/main" id="{BA737C7D-F851-5148-895F-BC7DF5BB439C}"/>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F843DEFC-8129-D142-BF9D-1E132BC1FC19}"/>
              </a:ext>
            </a:extLst>
          </p:cNvPr>
          <p:cNvSpPr>
            <a:spLocks noGrp="1"/>
          </p:cNvSpPr>
          <p:nvPr>
            <p:ph type="subTitle" idx="1"/>
          </p:nvPr>
        </p:nvSpPr>
        <p:spPr>
          <a:xfrm>
            <a:off x="1431925" y="1849439"/>
            <a:ext cx="7407275" cy="2947714"/>
          </a:xfrm>
        </p:spPr>
        <p:txBody>
          <a:bodyPr>
            <a:normAutofit/>
          </a:bodyPr>
          <a:lstStyle/>
          <a:p>
            <a:pPr marL="311150" indent="-284163" eaLnBrk="1" fontAlgn="auto" hangingPunct="1">
              <a:spcAft>
                <a:spcPts val="0"/>
              </a:spcAft>
              <a:buFont typeface="+mj-lt"/>
              <a:buAutoNum type="arabicPeriod" startAt="6"/>
              <a:defRPr/>
            </a:pPr>
            <a:r>
              <a:rPr lang="es-ES_tradnl" sz="2000" b="1" dirty="0">
                <a:ea typeface="+mn-ea"/>
                <a:cs typeface="+mn-cs"/>
              </a:rPr>
              <a:t>Programa o plan de ejecución (opcional)</a:t>
            </a:r>
          </a:p>
          <a:p>
            <a:pPr marL="355600" indent="-44450" eaLnBrk="1" fontAlgn="auto" hangingPunct="1">
              <a:spcAft>
                <a:spcPts val="0"/>
              </a:spcAft>
              <a:buFont typeface="Wingdings 2"/>
              <a:buNone/>
              <a:defRPr/>
            </a:pPr>
            <a:r>
              <a:rPr lang="es-ES_tradnl" sz="2000" dirty="0">
                <a:ea typeface="+mn-ea"/>
                <a:cs typeface="+mn-cs"/>
              </a:rPr>
              <a:t>Suele contener:</a:t>
            </a:r>
          </a:p>
          <a:p>
            <a:pPr marL="369888" indent="-147638" eaLnBrk="1" fontAlgn="auto" hangingPunct="1">
              <a:spcAft>
                <a:spcPts val="0"/>
              </a:spcAft>
              <a:buFont typeface="Arial" panose="020B0604020202020204" pitchFamily="34" charset="0"/>
              <a:buChar char="•"/>
              <a:defRPr/>
            </a:pPr>
            <a:r>
              <a:rPr lang="es-ES_tradnl" sz="2000" dirty="0">
                <a:ea typeface="+mn-ea"/>
                <a:cs typeface="+mn-cs"/>
              </a:rPr>
              <a:t>Relación de actividades con fecha de inicio y fin.</a:t>
            </a:r>
          </a:p>
          <a:p>
            <a:pPr marL="369888" indent="-147638" eaLnBrk="1" fontAlgn="auto" hangingPunct="1">
              <a:spcAft>
                <a:spcPts val="0"/>
              </a:spcAft>
              <a:buFont typeface="Arial" panose="020B0604020202020204" pitchFamily="34" charset="0"/>
              <a:buChar char="•"/>
              <a:defRPr/>
            </a:pPr>
            <a:r>
              <a:rPr lang="es-ES_tradnl" sz="2000" dirty="0">
                <a:ea typeface="+mn-ea"/>
                <a:cs typeface="+mn-cs"/>
              </a:rPr>
              <a:t>Calendario de eventos (actas, certificaciones…)</a:t>
            </a:r>
          </a:p>
          <a:p>
            <a:pPr marL="369888" indent="-147638" eaLnBrk="1" fontAlgn="auto" hangingPunct="1">
              <a:spcAft>
                <a:spcPts val="0"/>
              </a:spcAft>
              <a:buFont typeface="Arial" panose="020B0604020202020204" pitchFamily="34" charset="0"/>
              <a:buChar char="•"/>
              <a:defRPr/>
            </a:pPr>
            <a:r>
              <a:rPr lang="es-ES_tradnl" sz="2000" dirty="0">
                <a:ea typeface="+mn-ea"/>
                <a:cs typeface="+mn-cs"/>
              </a:rPr>
              <a:t>Previsión de recursos técnicos y humanos necesarios.</a:t>
            </a:r>
          </a:p>
          <a:p>
            <a:pPr marL="369888" indent="-147638" eaLnBrk="1" fontAlgn="auto" hangingPunct="1">
              <a:spcAft>
                <a:spcPts val="0"/>
              </a:spcAft>
              <a:buFont typeface="Arial" panose="020B0604020202020204" pitchFamily="34" charset="0"/>
              <a:buChar char="•"/>
              <a:defRPr/>
            </a:pPr>
            <a:r>
              <a:rPr lang="es-ES_tradnl" sz="2000" dirty="0">
                <a:ea typeface="+mn-ea"/>
                <a:cs typeface="+mn-cs"/>
              </a:rPr>
              <a:t>Definición de puntos de control.</a:t>
            </a:r>
          </a:p>
          <a:p>
            <a:pPr marL="369888" indent="-147638" eaLnBrk="1" fontAlgn="auto" hangingPunct="1">
              <a:spcAft>
                <a:spcPts val="0"/>
              </a:spcAft>
              <a:buFont typeface="Arial" panose="020B0604020202020204" pitchFamily="34" charset="0"/>
              <a:buChar char="•"/>
              <a:defRPr/>
            </a:pPr>
            <a:r>
              <a:rPr lang="es-ES_tradnl" sz="2000" dirty="0">
                <a:ea typeface="+mn-ea"/>
                <a:cs typeface="+mn-cs"/>
              </a:rPr>
              <a:t>Descripción detallada del proceso de montaje o construcción.</a:t>
            </a:r>
          </a:p>
        </p:txBody>
      </p:sp>
      <p:sp>
        <p:nvSpPr>
          <p:cNvPr id="6" name="1 Título">
            <a:extLst>
              <a:ext uri="{FF2B5EF4-FFF2-40B4-BE49-F238E27FC236}">
                <a16:creationId xmlns:a16="http://schemas.microsoft.com/office/drawing/2014/main" id="{AD2BFE1F-194D-7D4C-B529-F31C9482D347}"/>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BBC448F7-BAB1-1245-AFEC-8E1B9527B4AE}"/>
              </a:ext>
            </a:extLst>
          </p:cNvPr>
          <p:cNvSpPr>
            <a:spLocks noGrp="1"/>
          </p:cNvSpPr>
          <p:nvPr>
            <p:ph type="subTitle" idx="1"/>
          </p:nvPr>
        </p:nvSpPr>
        <p:spPr>
          <a:xfrm>
            <a:off x="1431925" y="1849438"/>
            <a:ext cx="7407275" cy="4459287"/>
          </a:xfrm>
        </p:spPr>
        <p:txBody>
          <a:bodyPr>
            <a:normAutofit/>
          </a:bodyPr>
          <a:lstStyle/>
          <a:p>
            <a:pPr marL="355600" indent="-330200" eaLnBrk="1" fontAlgn="auto" hangingPunct="1">
              <a:spcAft>
                <a:spcPts val="0"/>
              </a:spcAft>
              <a:buFont typeface="+mj-lt"/>
              <a:buAutoNum type="arabicPeriod" startAt="7"/>
              <a:defRPr/>
            </a:pPr>
            <a:r>
              <a:rPr lang="es-ES_tradnl" sz="2000" b="1" dirty="0">
                <a:ea typeface="+mn-ea"/>
                <a:cs typeface="+mn-cs"/>
              </a:rPr>
              <a:t>Instrucciones de uso y mantenimiento. Manuales de usuario o de servicio (opcional)</a:t>
            </a:r>
          </a:p>
          <a:p>
            <a:pPr marL="355600" eaLnBrk="1" fontAlgn="auto" hangingPunct="1">
              <a:spcAft>
                <a:spcPts val="0"/>
              </a:spcAft>
              <a:buFont typeface="Wingdings 2"/>
              <a:buNone/>
              <a:defRPr/>
            </a:pPr>
            <a:r>
              <a:rPr lang="es-ES_tradnl" sz="2000" dirty="0">
                <a:ea typeface="+mn-ea"/>
                <a:cs typeface="+mn-cs"/>
              </a:rPr>
              <a:t>Esta sección puede contener:</a:t>
            </a:r>
          </a:p>
          <a:p>
            <a:pPr marL="622300" indent="-266700" eaLnBrk="1" fontAlgn="auto" hangingPunct="1">
              <a:spcAft>
                <a:spcPts val="0"/>
              </a:spcAft>
              <a:buFont typeface="Arial"/>
              <a:buChar char="•"/>
              <a:defRPr/>
            </a:pPr>
            <a:r>
              <a:rPr lang="es-ES_tradnl" sz="2000" dirty="0">
                <a:ea typeface="+mn-ea"/>
                <a:cs typeface="+mn-cs"/>
              </a:rPr>
              <a:t>Descripción de los recursos técnicos y humanos necesarios para la operación del sistema.</a:t>
            </a:r>
          </a:p>
          <a:p>
            <a:pPr marL="622300" indent="-266700" eaLnBrk="1" fontAlgn="auto" hangingPunct="1">
              <a:spcAft>
                <a:spcPts val="0"/>
              </a:spcAft>
              <a:buFont typeface="Arial"/>
              <a:buChar char="•"/>
              <a:defRPr/>
            </a:pPr>
            <a:r>
              <a:rPr lang="es-ES_tradnl" sz="2000" dirty="0">
                <a:ea typeface="+mn-ea"/>
                <a:cs typeface="+mn-cs"/>
              </a:rPr>
              <a:t>Descripción de los procesos de operación.</a:t>
            </a:r>
          </a:p>
          <a:p>
            <a:pPr marL="622300" indent="-266700" eaLnBrk="1" fontAlgn="auto" hangingPunct="1">
              <a:spcAft>
                <a:spcPts val="0"/>
              </a:spcAft>
              <a:buFont typeface="Arial"/>
              <a:buChar char="•"/>
              <a:defRPr/>
            </a:pPr>
            <a:r>
              <a:rPr lang="es-ES_tradnl" sz="2000" dirty="0">
                <a:ea typeface="+mn-ea"/>
                <a:cs typeface="+mn-cs"/>
              </a:rPr>
              <a:t>Descripción de los procesos de mantenimiento y reparación.</a:t>
            </a:r>
          </a:p>
          <a:p>
            <a:pPr marL="622300" indent="-266700" eaLnBrk="1" fontAlgn="auto" hangingPunct="1">
              <a:spcAft>
                <a:spcPts val="0"/>
              </a:spcAft>
              <a:buFont typeface="Arial"/>
              <a:buChar char="•"/>
              <a:defRPr/>
            </a:pPr>
            <a:r>
              <a:rPr lang="es-ES_tradnl" sz="2000" dirty="0">
                <a:ea typeface="+mn-ea"/>
                <a:cs typeface="+mn-cs"/>
              </a:rPr>
              <a:t>Indicaciones específicas para la puesta en marcha, operación, mantenimiento, reparación y parada.</a:t>
            </a:r>
          </a:p>
          <a:p>
            <a:pPr marL="622300" indent="-266700" eaLnBrk="1" fontAlgn="auto" hangingPunct="1">
              <a:spcAft>
                <a:spcPts val="0"/>
              </a:spcAft>
              <a:buFont typeface="Arial"/>
              <a:buChar char="•"/>
              <a:defRPr/>
            </a:pPr>
            <a:r>
              <a:rPr lang="es-ES_tradnl" sz="2000" dirty="0">
                <a:ea typeface="+mn-ea"/>
                <a:cs typeface="+mn-cs"/>
              </a:rPr>
              <a:t>Protocolos y programas de seguridad</a:t>
            </a:r>
          </a:p>
          <a:p>
            <a:pPr marL="622300" indent="-266700" eaLnBrk="1" fontAlgn="auto" hangingPunct="1">
              <a:spcAft>
                <a:spcPts val="0"/>
              </a:spcAft>
              <a:buFont typeface="Arial"/>
              <a:buChar char="•"/>
              <a:defRPr/>
            </a:pPr>
            <a:r>
              <a:rPr lang="es-ES_tradnl" sz="2000" dirty="0">
                <a:ea typeface="+mn-ea"/>
                <a:cs typeface="+mn-cs"/>
              </a:rPr>
              <a:t>Especificaciones sobre las características de los equipos.</a:t>
            </a:r>
          </a:p>
          <a:p>
            <a:pPr marL="622300" indent="-266700" eaLnBrk="1" fontAlgn="auto" hangingPunct="1">
              <a:spcAft>
                <a:spcPts val="0"/>
              </a:spcAft>
              <a:buFont typeface="Arial"/>
              <a:buChar char="•"/>
              <a:defRPr/>
            </a:pPr>
            <a:r>
              <a:rPr lang="es-ES_tradnl" sz="2000" dirty="0">
                <a:ea typeface="+mn-ea"/>
                <a:cs typeface="+mn-cs"/>
              </a:rPr>
              <a:t>Especificaciones sobre rendimientos y procesos.</a:t>
            </a:r>
          </a:p>
        </p:txBody>
      </p:sp>
      <p:sp>
        <p:nvSpPr>
          <p:cNvPr id="6" name="1 Título">
            <a:extLst>
              <a:ext uri="{FF2B5EF4-FFF2-40B4-BE49-F238E27FC236}">
                <a16:creationId xmlns:a16="http://schemas.microsoft.com/office/drawing/2014/main" id="{ACD8FD84-7435-E24B-B206-54513D3E704A}"/>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21BC6ED8-3636-224E-A881-B9F8E410A787}"/>
              </a:ext>
            </a:extLst>
          </p:cNvPr>
          <p:cNvSpPr>
            <a:spLocks noGrp="1"/>
          </p:cNvSpPr>
          <p:nvPr>
            <p:ph type="subTitle" idx="1"/>
          </p:nvPr>
        </p:nvSpPr>
        <p:spPr>
          <a:xfrm>
            <a:off x="1431925" y="1849439"/>
            <a:ext cx="7407275" cy="2371650"/>
          </a:xfrm>
        </p:spPr>
        <p:txBody>
          <a:bodyPr>
            <a:normAutofit/>
          </a:bodyPr>
          <a:lstStyle/>
          <a:p>
            <a:pPr marL="400050" indent="-373063" eaLnBrk="1" fontAlgn="auto" hangingPunct="1">
              <a:spcAft>
                <a:spcPts val="0"/>
              </a:spcAft>
              <a:buFont typeface="+mj-lt"/>
              <a:buAutoNum type="arabicPeriod" startAt="8"/>
              <a:defRPr/>
            </a:pPr>
            <a:r>
              <a:rPr lang="es-ES_tradnl" sz="2000" b="1" dirty="0">
                <a:ea typeface="+mn-ea"/>
                <a:cs typeface="+mn-cs"/>
              </a:rPr>
              <a:t>Estudio económico (opcional)</a:t>
            </a:r>
          </a:p>
          <a:p>
            <a:pPr marL="400050" eaLnBrk="1" fontAlgn="auto" hangingPunct="1">
              <a:spcAft>
                <a:spcPts val="0"/>
              </a:spcAft>
              <a:buFont typeface="Wingdings 2"/>
              <a:buNone/>
              <a:defRPr/>
            </a:pPr>
            <a:r>
              <a:rPr lang="es-ES_tradnl" sz="2000" dirty="0">
                <a:ea typeface="+mn-ea"/>
                <a:cs typeface="+mn-cs"/>
              </a:rPr>
              <a:t>Habitualmente contiene:</a:t>
            </a:r>
          </a:p>
          <a:p>
            <a:pPr eaLnBrk="1" fontAlgn="auto" hangingPunct="1">
              <a:spcAft>
                <a:spcPts val="0"/>
              </a:spcAft>
              <a:buFont typeface="Wingdings 2"/>
              <a:buNone/>
              <a:defRPr/>
            </a:pPr>
            <a:endParaRPr lang="es-ES_tradnl" sz="2000" dirty="0">
              <a:ea typeface="+mn-ea"/>
              <a:cs typeface="+mn-cs"/>
            </a:endParaRPr>
          </a:p>
          <a:p>
            <a:pPr marL="577850" indent="-177800" eaLnBrk="1" fontAlgn="auto" hangingPunct="1">
              <a:spcAft>
                <a:spcPts val="0"/>
              </a:spcAft>
              <a:buFont typeface="Arial" panose="020B0604020202020204" pitchFamily="34" charset="0"/>
              <a:buChar char="•"/>
              <a:defRPr/>
            </a:pPr>
            <a:r>
              <a:rPr lang="es-ES_tradnl" sz="2000" dirty="0">
                <a:ea typeface="+mn-ea"/>
                <a:cs typeface="+mn-cs"/>
              </a:rPr>
              <a:t>Costes de operación, mantenimiento o reparación.</a:t>
            </a:r>
          </a:p>
          <a:p>
            <a:pPr marL="577850" indent="-177800" eaLnBrk="1" fontAlgn="auto" hangingPunct="1">
              <a:spcAft>
                <a:spcPts val="0"/>
              </a:spcAft>
              <a:buFont typeface="Arial" panose="020B0604020202020204" pitchFamily="34" charset="0"/>
              <a:buChar char="•"/>
              <a:defRPr/>
            </a:pPr>
            <a:r>
              <a:rPr lang="es-ES_tradnl" sz="2000" dirty="0">
                <a:ea typeface="+mn-ea"/>
                <a:cs typeface="+mn-cs"/>
              </a:rPr>
              <a:t>Previsión de ventas de bienes o servicios.</a:t>
            </a:r>
          </a:p>
          <a:p>
            <a:pPr marL="577850" indent="-177800" eaLnBrk="1" fontAlgn="auto" hangingPunct="1">
              <a:spcAft>
                <a:spcPts val="0"/>
              </a:spcAft>
              <a:buFont typeface="Arial" panose="020B0604020202020204" pitchFamily="34" charset="0"/>
              <a:buChar char="•"/>
              <a:defRPr/>
            </a:pPr>
            <a:r>
              <a:rPr lang="es-ES_tradnl" sz="2000" dirty="0">
                <a:ea typeface="+mn-ea"/>
                <a:cs typeface="+mn-cs"/>
              </a:rPr>
              <a:t>Índices de rentabilidad.</a:t>
            </a:r>
          </a:p>
        </p:txBody>
      </p:sp>
      <p:sp>
        <p:nvSpPr>
          <p:cNvPr id="6" name="1 Título">
            <a:extLst>
              <a:ext uri="{FF2B5EF4-FFF2-40B4-BE49-F238E27FC236}">
                <a16:creationId xmlns:a16="http://schemas.microsoft.com/office/drawing/2014/main" id="{F94497CC-C289-DD4D-928C-EC6EB1C5FB7F}"/>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D80CFEC9-D074-BC49-B407-DCF49019468F}"/>
              </a:ext>
            </a:extLst>
          </p:cNvPr>
          <p:cNvSpPr>
            <a:spLocks noGrp="1"/>
          </p:cNvSpPr>
          <p:nvPr>
            <p:ph type="subTitle" idx="1"/>
          </p:nvPr>
        </p:nvSpPr>
        <p:spPr>
          <a:xfrm>
            <a:off x="1431925" y="1849439"/>
            <a:ext cx="7407275" cy="3883818"/>
          </a:xfrm>
        </p:spPr>
        <p:txBody>
          <a:bodyPr>
            <a:normAutofit/>
          </a:bodyPr>
          <a:lstStyle/>
          <a:p>
            <a:pPr eaLnBrk="1" fontAlgn="auto" hangingPunct="1">
              <a:spcAft>
                <a:spcPts val="0"/>
              </a:spcAft>
              <a:defRPr/>
            </a:pPr>
            <a:r>
              <a:rPr lang="es-ES_tradnl" sz="2000" b="1" dirty="0">
                <a:ea typeface="+mn-ea"/>
                <a:cs typeface="+mn-cs"/>
              </a:rPr>
              <a:t>Anexos:</a:t>
            </a:r>
            <a:endParaRPr lang="es-ES_tradnl" sz="2000" dirty="0">
              <a:ea typeface="+mn-ea"/>
              <a:cs typeface="+mn-cs"/>
            </a:endParaRPr>
          </a:p>
          <a:p>
            <a:pPr eaLnBrk="1" fontAlgn="auto" hangingPunct="1">
              <a:spcAft>
                <a:spcPts val="0"/>
              </a:spcAft>
              <a:defRPr/>
            </a:pPr>
            <a:r>
              <a:rPr lang="es-ES_tradnl" sz="2000" dirty="0">
                <a:ea typeface="+mn-ea"/>
                <a:cs typeface="+mn-cs"/>
              </a:rPr>
              <a:t>A-1 Especificaciones del cliente</a:t>
            </a:r>
          </a:p>
          <a:p>
            <a:pPr eaLnBrk="1" fontAlgn="auto" hangingPunct="1">
              <a:spcAft>
                <a:spcPts val="0"/>
              </a:spcAft>
              <a:defRPr/>
            </a:pPr>
            <a:r>
              <a:rPr lang="es-ES_tradnl" sz="2000" dirty="0">
                <a:ea typeface="+mn-ea"/>
                <a:cs typeface="+mn-cs"/>
              </a:rPr>
              <a:t>A-2 Estudio detallado de necesidades</a:t>
            </a:r>
          </a:p>
          <a:p>
            <a:pPr eaLnBrk="1" fontAlgn="auto" hangingPunct="1">
              <a:spcAft>
                <a:spcPts val="0"/>
              </a:spcAft>
              <a:defRPr/>
            </a:pPr>
            <a:r>
              <a:rPr lang="es-ES_tradnl" sz="2000" dirty="0">
                <a:ea typeface="+mn-ea"/>
                <a:cs typeface="+mn-cs"/>
              </a:rPr>
              <a:t>A-2 Justificación detallada de las soluciones</a:t>
            </a:r>
          </a:p>
          <a:p>
            <a:pPr eaLnBrk="1" fontAlgn="auto" hangingPunct="1">
              <a:spcAft>
                <a:spcPts val="0"/>
              </a:spcAft>
              <a:defRPr/>
            </a:pPr>
            <a:r>
              <a:rPr lang="es-ES_tradnl" sz="2000" dirty="0">
                <a:ea typeface="+mn-ea"/>
                <a:cs typeface="+mn-cs"/>
              </a:rPr>
              <a:t>A-3 Dimensionamiento detallado y cálculos</a:t>
            </a:r>
          </a:p>
          <a:p>
            <a:pPr eaLnBrk="1" fontAlgn="auto" hangingPunct="1">
              <a:spcAft>
                <a:spcPts val="0"/>
              </a:spcAft>
              <a:defRPr/>
            </a:pPr>
            <a:r>
              <a:rPr lang="es-ES_tradnl" sz="2000" dirty="0">
                <a:ea typeface="+mn-ea"/>
                <a:cs typeface="+mn-cs"/>
              </a:rPr>
              <a:t>A-4 Planificación de la ejecución del proyecto</a:t>
            </a:r>
          </a:p>
          <a:p>
            <a:pPr eaLnBrk="1" fontAlgn="auto" hangingPunct="1">
              <a:spcAft>
                <a:spcPts val="0"/>
              </a:spcAft>
              <a:defRPr/>
            </a:pPr>
            <a:r>
              <a:rPr lang="es-ES_tradnl" sz="2000" dirty="0">
                <a:ea typeface="+mn-ea"/>
                <a:cs typeface="+mn-cs"/>
              </a:rPr>
              <a:t>A-5 Programas de seguridad</a:t>
            </a:r>
          </a:p>
          <a:p>
            <a:pPr eaLnBrk="1" fontAlgn="auto" hangingPunct="1">
              <a:spcAft>
                <a:spcPts val="0"/>
              </a:spcAft>
              <a:defRPr/>
            </a:pPr>
            <a:r>
              <a:rPr lang="es-ES_tradnl" sz="2000" dirty="0">
                <a:ea typeface="+mn-ea"/>
                <a:cs typeface="+mn-cs"/>
              </a:rPr>
              <a:t>A-6 Manuales de usuario</a:t>
            </a:r>
          </a:p>
          <a:p>
            <a:pPr eaLnBrk="1" fontAlgn="auto" hangingPunct="1">
              <a:spcAft>
                <a:spcPts val="0"/>
              </a:spcAft>
              <a:defRPr/>
            </a:pPr>
            <a:r>
              <a:rPr lang="es-ES_tradnl" sz="2000" dirty="0">
                <a:ea typeface="+mn-ea"/>
                <a:cs typeface="+mn-cs"/>
              </a:rPr>
              <a:t>A-7 Manuales de servicio (mantenimiento y reparación)</a:t>
            </a:r>
          </a:p>
          <a:p>
            <a:pPr eaLnBrk="1" fontAlgn="auto" hangingPunct="1">
              <a:spcAft>
                <a:spcPts val="0"/>
              </a:spcAft>
              <a:defRPr/>
            </a:pPr>
            <a:r>
              <a:rPr lang="es-ES_tradnl" sz="2000" dirty="0">
                <a:ea typeface="+mn-ea"/>
                <a:cs typeface="+mn-cs"/>
              </a:rPr>
              <a:t>A-8 Estudio económico detallado</a:t>
            </a:r>
          </a:p>
        </p:txBody>
      </p:sp>
      <p:sp>
        <p:nvSpPr>
          <p:cNvPr id="6" name="1 Título">
            <a:extLst>
              <a:ext uri="{FF2B5EF4-FFF2-40B4-BE49-F238E27FC236}">
                <a16:creationId xmlns:a16="http://schemas.microsoft.com/office/drawing/2014/main" id="{F120311E-F9AD-E74C-A2A4-39310F473A44}"/>
              </a:ext>
            </a:extLst>
          </p:cNvPr>
          <p:cNvSpPr>
            <a:spLocks noGrp="1"/>
          </p:cNvSpPr>
          <p:nvPr>
            <p:ph type="ctrTitle"/>
          </p:nvPr>
        </p:nvSpPr>
        <p:spPr>
          <a:xfrm>
            <a:off x="1431925" y="260350"/>
            <a:ext cx="7407275" cy="1368450"/>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4. Documentos del proyecto. Redacción de la memoria</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8FD0FA-8289-CF4E-89D3-49FAE9BF52DC}"/>
              </a:ext>
            </a:extLst>
          </p:cNvPr>
          <p:cNvSpPr>
            <a:spLocks noGrp="1"/>
          </p:cNvSpPr>
          <p:nvPr>
            <p:ph type="title"/>
          </p:nvPr>
        </p:nvSpPr>
        <p:spPr>
          <a:xfrm>
            <a:off x="2483768" y="2780953"/>
            <a:ext cx="6400800" cy="720725"/>
          </a:xfrm>
        </p:spPr>
        <p:txBody>
          <a:bodyPr/>
          <a:lstStyle/>
          <a:p>
            <a:pPr>
              <a:defRPr/>
            </a:pPr>
            <a:r>
              <a:rPr lang="es-ES_tradnl" altLang="es-ES" cap="none">
                <a:effectLst>
                  <a:outerShdw blurRad="38100" dist="38100" dir="2700000" algn="tl">
                    <a:srgbClr val="C0C0C0"/>
                  </a:outerShdw>
                </a:effectLst>
                <a:ea typeface="ＭＳ Ｐゴシック" panose="020B0600070205080204" pitchFamily="34" charset="-128"/>
              </a:rPr>
              <a:t>Tema 5:  Planos</a:t>
            </a:r>
          </a:p>
        </p:txBody>
      </p:sp>
      <p:sp>
        <p:nvSpPr>
          <p:cNvPr id="5" name="1 Título">
            <a:extLst>
              <a:ext uri="{FF2B5EF4-FFF2-40B4-BE49-F238E27FC236}">
                <a16:creationId xmlns:a16="http://schemas.microsoft.com/office/drawing/2014/main" id="{BE4FE372-24B3-A944-AAF3-810C5CF44B60}"/>
              </a:ext>
            </a:extLst>
          </p:cNvPr>
          <p:cNvSpPr txBox="1">
            <a:spLocks/>
          </p:cNvSpPr>
          <p:nvPr/>
        </p:nvSpPr>
        <p:spPr>
          <a:xfrm>
            <a:off x="2627313" y="836613"/>
            <a:ext cx="3571875" cy="720725"/>
          </a:xfrm>
          <a:prstGeom prst="rect">
            <a:avLst/>
          </a:prstGeom>
        </p:spPr>
        <p:txBody>
          <a:bodyPr>
            <a:normAutofit/>
          </a:bodyPr>
          <a:lstStyle>
            <a:lvl1pPr eaLnBrk="0" hangingPunct="0">
              <a:defRPr sz="24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defRPr sz="24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defRPr sz="2400">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defRPr sz="24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9pPr>
          </a:lstStyle>
          <a:p>
            <a:pPr eaLnBrk="1" hangingPunct="1">
              <a:lnSpc>
                <a:spcPts val="4500"/>
              </a:lnSpc>
              <a:defRPr/>
            </a:pPr>
            <a:r>
              <a:rPr lang="es-ES_tradnl" altLang="es-ES" sz="2700" b="1">
                <a:solidFill>
                  <a:srgbClr val="572314"/>
                </a:solidFill>
                <a:effectLst>
                  <a:outerShdw blurRad="38100" dist="38100" dir="2700000" algn="tl">
                    <a:srgbClr val="C0C0C0"/>
                  </a:outerShdw>
                </a:effectLst>
              </a:rPr>
              <a:t>OFICINA TÉCNICA</a:t>
            </a:r>
            <a:endParaRPr lang="es-ES" altLang="es-ES" sz="2700" b="1">
              <a:solidFill>
                <a:srgbClr val="572314"/>
              </a:solidFill>
              <a:effectLst>
                <a:outerShdw blurRad="38100" dist="38100" dir="2700000" algn="tl">
                  <a:srgbClr val="C0C0C0"/>
                </a:outerShdw>
              </a:effectLst>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1304AEC8-C3F4-6B4F-A052-8C0DBF87FC5B}"/>
              </a:ext>
            </a:extLst>
          </p:cNvPr>
          <p:cNvSpPr>
            <a:spLocks noGrp="1"/>
          </p:cNvSpPr>
          <p:nvPr>
            <p:ph type="ctrTitle"/>
          </p:nvPr>
        </p:nvSpPr>
        <p:spPr>
          <a:xfrm>
            <a:off x="1431925" y="332656"/>
            <a:ext cx="7407275" cy="122396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5. Planos</a:t>
            </a:r>
          </a:p>
        </p:txBody>
      </p:sp>
      <p:sp>
        <p:nvSpPr>
          <p:cNvPr id="3" name="2 Subtítulo">
            <a:extLst>
              <a:ext uri="{FF2B5EF4-FFF2-40B4-BE49-F238E27FC236}">
                <a16:creationId xmlns:a16="http://schemas.microsoft.com/office/drawing/2014/main" id="{70EAD617-F7AD-1949-8B64-C3A07041C040}"/>
              </a:ext>
            </a:extLst>
          </p:cNvPr>
          <p:cNvSpPr>
            <a:spLocks noGrp="1"/>
          </p:cNvSpPr>
          <p:nvPr>
            <p:ph type="subTitle" idx="1"/>
          </p:nvPr>
        </p:nvSpPr>
        <p:spPr>
          <a:xfrm>
            <a:off x="1431925" y="1772816"/>
            <a:ext cx="7407275" cy="3384377"/>
          </a:xfrm>
        </p:spPr>
        <p:txBody>
          <a:bodyPr>
            <a:normAutofit/>
          </a:bodyPr>
          <a:lstStyle/>
          <a:p>
            <a:pPr marL="0" eaLnBrk="1" hangingPunct="1">
              <a:spcBef>
                <a:spcPct val="20000"/>
              </a:spcBef>
              <a:buClrTx/>
              <a:buSzTx/>
              <a:defRPr/>
            </a:pPr>
            <a:endParaRPr lang="es-ES_tradnl" altLang="en-US" sz="3200" kern="0" dirty="0">
              <a:solidFill>
                <a:srgbClr val="000000"/>
              </a:solidFill>
              <a:latin typeface="Arial"/>
              <a:ea typeface="+mn-ea"/>
              <a:cs typeface="+mn-cs"/>
            </a:endParaRPr>
          </a:p>
          <a:p>
            <a:pPr marL="609600" indent="-609600" eaLnBrk="1" hangingPunct="1">
              <a:spcBef>
                <a:spcPct val="20000"/>
              </a:spcBef>
              <a:buClrTx/>
              <a:buSzTx/>
              <a:buFont typeface="+mj-lt"/>
              <a:buAutoNum type="arabicPeriod"/>
              <a:defRPr/>
            </a:pPr>
            <a:r>
              <a:rPr lang="es-ES_tradnl" altLang="en-US" sz="3200" kern="0" dirty="0">
                <a:solidFill>
                  <a:srgbClr val="000000"/>
                </a:solidFill>
                <a:latin typeface="Arial"/>
                <a:ea typeface="+mn-ea"/>
                <a:cs typeface="+mn-cs"/>
              </a:rPr>
              <a:t>Introducción</a:t>
            </a:r>
          </a:p>
          <a:p>
            <a:pPr marL="609600" indent="-609600" eaLnBrk="1" hangingPunct="1">
              <a:spcBef>
                <a:spcPct val="20000"/>
              </a:spcBef>
              <a:buClrTx/>
              <a:buSzTx/>
              <a:buFont typeface="+mj-lt"/>
              <a:buAutoNum type="arabicPeriod"/>
              <a:defRPr/>
            </a:pPr>
            <a:r>
              <a:rPr lang="es-ES_tradnl" altLang="en-US" sz="3200" kern="0" dirty="0">
                <a:solidFill>
                  <a:srgbClr val="000000"/>
                </a:solidFill>
                <a:latin typeface="Arial"/>
                <a:ea typeface="+mn-ea"/>
                <a:cs typeface="+mn-cs"/>
              </a:rPr>
              <a:t>Índice de planos</a:t>
            </a:r>
          </a:p>
          <a:p>
            <a:pPr marL="609600" indent="-609600" eaLnBrk="1" hangingPunct="1">
              <a:spcBef>
                <a:spcPct val="20000"/>
              </a:spcBef>
              <a:buClrTx/>
              <a:buSzTx/>
              <a:buFont typeface="+mj-lt"/>
              <a:buAutoNum type="arabicPeriod"/>
              <a:defRPr/>
            </a:pPr>
            <a:r>
              <a:rPr lang="es-ES_tradnl" altLang="en-US" sz="3200" kern="0" dirty="0">
                <a:solidFill>
                  <a:srgbClr val="000000"/>
                </a:solidFill>
                <a:latin typeface="Arial"/>
                <a:ea typeface="+mn-ea"/>
                <a:cs typeface="+mn-cs"/>
              </a:rPr>
              <a:t>Recomendaciones  generales</a:t>
            </a:r>
          </a:p>
          <a:p>
            <a:pPr marL="609600" indent="-609600" eaLnBrk="1" hangingPunct="1">
              <a:spcBef>
                <a:spcPct val="20000"/>
              </a:spcBef>
              <a:buClrTx/>
              <a:buSzTx/>
              <a:buFont typeface="+mj-lt"/>
              <a:buAutoNum type="arabicPeriod"/>
              <a:defRPr/>
            </a:pPr>
            <a:r>
              <a:rPr lang="es-ES_tradnl" altLang="en-US" sz="3200" kern="0" dirty="0">
                <a:solidFill>
                  <a:srgbClr val="000000"/>
                </a:solidFill>
                <a:latin typeface="Arial"/>
                <a:ea typeface="+mn-ea"/>
                <a:cs typeface="+mn-cs"/>
              </a:rPr>
              <a:t>Recomendaciones específicas según el tipo de plano</a:t>
            </a:r>
            <a:r>
              <a:rPr lang="es-ES_tradnl" altLang="en-US" sz="2800" kern="0" dirty="0">
                <a:solidFill>
                  <a:srgbClr val="000000"/>
                </a:solidFill>
                <a:latin typeface="Arial"/>
                <a:ea typeface="+mn-ea"/>
                <a:cs typeface="+mn-cs"/>
              </a:rPr>
              <a:t>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1DD86D7E-B157-0D47-9A85-7943A0F419B7}"/>
              </a:ext>
            </a:extLst>
          </p:cNvPr>
          <p:cNvSpPr>
            <a:spLocks noGrp="1"/>
          </p:cNvSpPr>
          <p:nvPr>
            <p:ph type="subTitle" idx="1"/>
          </p:nvPr>
        </p:nvSpPr>
        <p:spPr>
          <a:xfrm>
            <a:off x="1431925" y="1773238"/>
            <a:ext cx="7407275" cy="4459287"/>
          </a:xfrm>
        </p:spPr>
        <p:txBody>
          <a:bodyPr>
            <a:normAutofit fontScale="92500" lnSpcReduction="20000"/>
          </a:bodyPr>
          <a:lstStyle/>
          <a:p>
            <a:pPr marL="0" eaLnBrk="1" hangingPunct="1">
              <a:spcBef>
                <a:spcPct val="20000"/>
              </a:spcBef>
              <a:buClrTx/>
              <a:buSzTx/>
              <a:defRPr/>
            </a:pPr>
            <a:r>
              <a:rPr lang="es-ES_tradnl" altLang="en-US" sz="2000" b="1" u="sng" kern="0" dirty="0">
                <a:solidFill>
                  <a:srgbClr val="000000"/>
                </a:solidFill>
                <a:latin typeface="Arial"/>
                <a:ea typeface="+mn-ea"/>
                <a:cs typeface="+mn-cs"/>
              </a:rPr>
              <a:t>Introducción</a:t>
            </a:r>
          </a:p>
          <a:p>
            <a:pPr marL="0" eaLnBrk="1" hangingPunct="1">
              <a:spcBef>
                <a:spcPct val="20000"/>
              </a:spcBef>
              <a:buClrTx/>
              <a:buSzTx/>
              <a:defRPr/>
            </a:pPr>
            <a:endParaRPr lang="es-ES_tradnl" altLang="en-US" sz="2000" b="1" u="sng" kern="0" dirty="0">
              <a:solidFill>
                <a:srgbClr val="000000"/>
              </a:solidFill>
              <a:latin typeface="Arial"/>
              <a:ea typeface="+mn-ea"/>
              <a:cs typeface="+mn-cs"/>
            </a:endParaRPr>
          </a:p>
          <a:p>
            <a:pPr marL="342900" indent="-342900" eaLnBrk="1" hangingPunct="1">
              <a:spcBef>
                <a:spcPct val="20000"/>
              </a:spcBef>
              <a:buClrTx/>
              <a:buSzTx/>
              <a:buFont typeface="Arial" panose="020B0604020202020204" pitchFamily="34" charset="0"/>
              <a:buChar char="•"/>
              <a:defRPr/>
            </a:pPr>
            <a:r>
              <a:rPr lang="es-ES_tradnl" altLang="en-US" sz="2000" kern="0" dirty="0">
                <a:solidFill>
                  <a:srgbClr val="000000"/>
                </a:solidFill>
                <a:latin typeface="Arial"/>
                <a:ea typeface="+mn-ea"/>
                <a:cs typeface="+mn-cs"/>
              </a:rPr>
              <a:t>El documento planos corresponde con la especificación gráfica de un proyecto.</a:t>
            </a:r>
          </a:p>
          <a:p>
            <a:pPr marL="342900" indent="-342900" eaLnBrk="1" hangingPunct="1">
              <a:spcBef>
                <a:spcPct val="20000"/>
              </a:spcBef>
              <a:buClrTx/>
              <a:buSzTx/>
              <a:buFont typeface="Arial" panose="020B0604020202020204" pitchFamily="34" charset="0"/>
              <a:buChar char="•"/>
              <a:defRPr/>
            </a:pPr>
            <a:r>
              <a:rPr lang="es-ES_tradnl" altLang="en-US" sz="2000" kern="0" dirty="0">
                <a:solidFill>
                  <a:srgbClr val="000000"/>
                </a:solidFill>
                <a:latin typeface="Arial"/>
                <a:ea typeface="+mn-ea"/>
                <a:cs typeface="+mn-cs"/>
              </a:rPr>
              <a:t>Los planos y especificaciones escritas deben contener toda la información necesaria para la ejecución de un proyecto.</a:t>
            </a:r>
          </a:p>
          <a:p>
            <a:pPr marL="342900" indent="-342900" eaLnBrk="1" hangingPunct="1">
              <a:spcBef>
                <a:spcPct val="20000"/>
              </a:spcBef>
              <a:buClrTx/>
              <a:buSzTx/>
              <a:buFont typeface="Arial" panose="020B0604020202020204" pitchFamily="34" charset="0"/>
              <a:buChar char="•"/>
              <a:defRPr/>
            </a:pPr>
            <a:r>
              <a:rPr lang="es-ES_tradnl" altLang="en-US" sz="2000" kern="0" dirty="0">
                <a:solidFill>
                  <a:srgbClr val="000000"/>
                </a:solidFill>
                <a:latin typeface="Arial"/>
                <a:ea typeface="+mn-ea"/>
                <a:cs typeface="+mn-cs"/>
              </a:rPr>
              <a:t>Los planos deben contener todas las especificaciones que mejor se describan con imágenes.</a:t>
            </a:r>
          </a:p>
          <a:p>
            <a:pPr marL="342900" indent="-342900" eaLnBrk="1" hangingPunct="1">
              <a:spcBef>
                <a:spcPct val="20000"/>
              </a:spcBef>
              <a:buClrTx/>
              <a:buSzTx/>
              <a:buFont typeface="Arial" panose="020B0604020202020204" pitchFamily="34" charset="0"/>
              <a:buChar char="•"/>
              <a:defRPr/>
            </a:pPr>
            <a:r>
              <a:rPr lang="es-ES_tradnl" altLang="en-US" sz="2000" kern="0" dirty="0">
                <a:solidFill>
                  <a:srgbClr val="000000"/>
                </a:solidFill>
                <a:latin typeface="Arial"/>
                <a:ea typeface="+mn-ea"/>
                <a:cs typeface="+mn-cs"/>
              </a:rPr>
              <a:t>Los planos de un proyecto deben describir detalles relacionadas con la forma y dimensiones de las piezas y con el montaje.</a:t>
            </a:r>
          </a:p>
          <a:p>
            <a:pPr marL="342900" indent="-342900" eaLnBrk="1" hangingPunct="1">
              <a:spcBef>
                <a:spcPct val="20000"/>
              </a:spcBef>
              <a:buClrTx/>
              <a:buSzTx/>
              <a:buFont typeface="Arial" panose="020B0604020202020204" pitchFamily="34" charset="0"/>
              <a:buChar char="•"/>
              <a:defRPr/>
            </a:pPr>
            <a:r>
              <a:rPr lang="es-ES_tradnl" altLang="en-US" sz="2000" kern="0" dirty="0">
                <a:solidFill>
                  <a:srgbClr val="000000"/>
                </a:solidFill>
                <a:latin typeface="Arial"/>
                <a:ea typeface="+mn-ea"/>
                <a:cs typeface="+mn-cs"/>
              </a:rPr>
              <a:t>Los planos también pueden incluir especificaciones relacionadas con los materiales y los medios y procedimientos de fabricación y control.</a:t>
            </a:r>
          </a:p>
          <a:p>
            <a:pPr marL="342900" indent="-342900" eaLnBrk="1" hangingPunct="1">
              <a:spcBef>
                <a:spcPct val="20000"/>
              </a:spcBef>
              <a:buClrTx/>
              <a:buSzTx/>
              <a:buFont typeface="Arial" panose="020B0604020202020204" pitchFamily="34" charset="0"/>
              <a:buChar char="•"/>
              <a:defRPr/>
            </a:pPr>
            <a:r>
              <a:rPr lang="es-ES_tradnl" altLang="en-US" sz="2000" kern="0" dirty="0">
                <a:solidFill>
                  <a:srgbClr val="000000"/>
                </a:solidFill>
                <a:latin typeface="Arial"/>
                <a:ea typeface="+mn-ea"/>
                <a:cs typeface="+mn-cs"/>
              </a:rPr>
              <a:t>Los planos son el documento más importante de un proyecto debido al poder de las imágenes para reunir información.</a:t>
            </a:r>
          </a:p>
        </p:txBody>
      </p:sp>
      <p:sp>
        <p:nvSpPr>
          <p:cNvPr id="6" name="1 Título">
            <a:extLst>
              <a:ext uri="{FF2B5EF4-FFF2-40B4-BE49-F238E27FC236}">
                <a16:creationId xmlns:a16="http://schemas.microsoft.com/office/drawing/2014/main" id="{97067B6F-F8DA-0243-A393-64A96A758029}"/>
              </a:ext>
            </a:extLst>
          </p:cNvPr>
          <p:cNvSpPr>
            <a:spLocks noGrp="1"/>
          </p:cNvSpPr>
          <p:nvPr>
            <p:ph type="ctrTitle"/>
          </p:nvPr>
        </p:nvSpPr>
        <p:spPr>
          <a:xfrm>
            <a:off x="1431925" y="332656"/>
            <a:ext cx="7407275" cy="122396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2 Subtítulo">
            <a:extLst>
              <a:ext uri="{FF2B5EF4-FFF2-40B4-BE49-F238E27FC236}">
                <a16:creationId xmlns:a16="http://schemas.microsoft.com/office/drawing/2014/main" id="{45216AEA-BF0E-2F40-8095-5B793E72E642}"/>
              </a:ext>
            </a:extLst>
          </p:cNvPr>
          <p:cNvSpPr>
            <a:spLocks noGrp="1"/>
          </p:cNvSpPr>
          <p:nvPr>
            <p:ph type="subTitle" idx="1"/>
          </p:nvPr>
        </p:nvSpPr>
        <p:spPr>
          <a:xfrm>
            <a:off x="1431924" y="1556619"/>
            <a:ext cx="7407275" cy="4968725"/>
          </a:xfrm>
        </p:spPr>
        <p:txBody>
          <a:bodyPr/>
          <a:lstStyle/>
          <a:p>
            <a:pPr marL="0" eaLnBrk="1" hangingPunct="1">
              <a:lnSpc>
                <a:spcPct val="90000"/>
              </a:lnSpc>
              <a:spcBef>
                <a:spcPct val="20000"/>
              </a:spcBef>
              <a:buClrTx/>
              <a:buSzTx/>
            </a:pPr>
            <a:r>
              <a:rPr lang="es-ES_tradnl" altLang="en-US" sz="1700" b="1" u="sng" dirty="0">
                <a:solidFill>
                  <a:srgbClr val="000000"/>
                </a:solidFill>
                <a:latin typeface="Arial" panose="020B0604020202020204" pitchFamily="34" charset="0"/>
                <a:ea typeface="ＭＳ Ｐゴシック" panose="020B0600070205080204" pitchFamily="34" charset="-128"/>
              </a:rPr>
              <a:t>Introducción</a:t>
            </a:r>
          </a:p>
          <a:p>
            <a:pPr marL="0" eaLnBrk="1" hangingPunct="1">
              <a:lnSpc>
                <a:spcPct val="90000"/>
              </a:lnSpc>
              <a:spcBef>
                <a:spcPct val="20000"/>
              </a:spcBef>
              <a:buClrTx/>
              <a:buSzTx/>
            </a:pPr>
            <a:endParaRPr lang="es-ES_tradnl" altLang="en-US" sz="1700" b="1" u="sng" dirty="0">
              <a:solidFill>
                <a:srgbClr val="000000"/>
              </a:solidFill>
              <a:latin typeface="Arial" panose="020B0604020202020204" pitchFamily="34" charset="0"/>
              <a:ea typeface="ＭＳ Ｐゴシック" panose="020B0600070205080204" pitchFamily="34" charset="-128"/>
            </a:endParaRPr>
          </a:p>
          <a:p>
            <a:pPr marL="0" eaLnBrk="1" hangingPunct="1">
              <a:lnSpc>
                <a:spcPct val="90000"/>
              </a:lnSpc>
              <a:buFont typeface="Arial" panose="020B0604020202020204" pitchFamily="34" charset="0"/>
              <a:buChar char="•"/>
            </a:pPr>
            <a:r>
              <a:rPr lang="es-ES_tradnl" altLang="es-ES" sz="1700" dirty="0">
                <a:solidFill>
                  <a:srgbClr val="320E04"/>
                </a:solidFill>
                <a:ea typeface="ＭＳ Ｐゴシック" panose="020B0600070205080204" pitchFamily="34" charset="-128"/>
              </a:rPr>
              <a:t>Debemos diferenciar entre plano, esquema y diagrama.</a:t>
            </a:r>
          </a:p>
          <a:p>
            <a:pPr marL="0" eaLnBrk="1" hangingPunct="1">
              <a:lnSpc>
                <a:spcPct val="90000"/>
              </a:lnSpc>
              <a:buFont typeface="Arial" panose="020B0604020202020204" pitchFamily="34" charset="0"/>
              <a:buChar char="•"/>
            </a:pPr>
            <a:r>
              <a:rPr lang="es-ES_tradnl" altLang="es-ES" sz="1700" dirty="0">
                <a:solidFill>
                  <a:srgbClr val="320E04"/>
                </a:solidFill>
                <a:ea typeface="ＭＳ Ｐゴシック" panose="020B0600070205080204" pitchFamily="34" charset="-128"/>
              </a:rPr>
              <a:t>Un plano corresponde a una representación idealizada y a escala de un objeto o sistema real.  Por lo tanto, al confeccionar un plano hay que tener en cuenta la escala y la proporción.</a:t>
            </a:r>
          </a:p>
          <a:p>
            <a:pPr marL="0" eaLnBrk="1" hangingPunct="1">
              <a:lnSpc>
                <a:spcPct val="90000"/>
              </a:lnSpc>
              <a:buFont typeface="Arial" panose="020B0604020202020204" pitchFamily="34" charset="0"/>
              <a:buChar char="•"/>
            </a:pPr>
            <a:r>
              <a:rPr lang="es-ES_tradnl" altLang="es-ES" sz="1700" dirty="0">
                <a:solidFill>
                  <a:srgbClr val="320E04"/>
                </a:solidFill>
                <a:ea typeface="ＭＳ Ｐゴシック" panose="020B0600070205080204" pitchFamily="34" charset="-128"/>
              </a:rPr>
              <a:t>Un esquema es una representación gráfica de un objeto o sistema físico mediante símbolos o representaciones simbólicas. Por lo tanto, en un esquema no es necesario respetar la proporción ni se debe especificar escala. El objetivo principal de un esquema consiste en mostrar la conexión o las interfaces entre componentes.</a:t>
            </a:r>
          </a:p>
          <a:p>
            <a:pPr marL="0" eaLnBrk="1" hangingPunct="1">
              <a:lnSpc>
                <a:spcPct val="90000"/>
              </a:lnSpc>
              <a:buFont typeface="Arial" panose="020B0604020202020204" pitchFamily="34" charset="0"/>
              <a:buChar char="•"/>
            </a:pPr>
            <a:r>
              <a:rPr lang="es-ES_tradnl" altLang="es-ES" sz="1700" dirty="0">
                <a:solidFill>
                  <a:srgbClr val="320E04"/>
                </a:solidFill>
                <a:ea typeface="ＭＳ Ｐゴシック" panose="020B0600070205080204" pitchFamily="34" charset="-128"/>
              </a:rPr>
              <a:t>Un diagrama es un gráfico, compuesto por elementos o símbolos conectados mediante líneas, con objeto de representar conceptos, ideas, funciones, construcciones, procesos, procedimientos o datos estadísticos que pueden ayudar o aclarar un tema. En cierto modo, un esquema es un diagrama cuyos nodos se refieren principalmente a dispositivos físicos y cuyo objetivo es mostrar la conexión entre ellos. La escala tampoco debe especificarse en un diagrama.</a:t>
            </a:r>
          </a:p>
          <a:p>
            <a:pPr marL="0" eaLnBrk="1" hangingPunct="1">
              <a:lnSpc>
                <a:spcPct val="90000"/>
              </a:lnSpc>
              <a:buFont typeface="Arial" panose="020B0604020202020204" pitchFamily="34" charset="0"/>
              <a:buChar char="•"/>
            </a:pPr>
            <a:r>
              <a:rPr lang="es-ES_tradnl" altLang="es-ES" sz="1700" dirty="0">
                <a:solidFill>
                  <a:srgbClr val="320E04"/>
                </a:solidFill>
                <a:ea typeface="ＭＳ Ｐゴシック" panose="020B0600070205080204" pitchFamily="34" charset="-128"/>
              </a:rPr>
              <a:t>Tanto planos, esquemas como diagramas pueden formar parte del documento planos.</a:t>
            </a:r>
            <a:endParaRPr lang="es-ES_tradnl" altLang="en-US" sz="1700" b="1" u="sng" dirty="0">
              <a:solidFill>
                <a:srgbClr val="000000"/>
              </a:solidFill>
              <a:latin typeface="Arial" panose="020B0604020202020204" pitchFamily="34" charset="0"/>
              <a:ea typeface="ＭＳ Ｐゴシック" panose="020B0600070205080204" pitchFamily="34" charset="-128"/>
            </a:endParaRPr>
          </a:p>
        </p:txBody>
      </p:sp>
      <p:sp>
        <p:nvSpPr>
          <p:cNvPr id="6" name="1 Título">
            <a:extLst>
              <a:ext uri="{FF2B5EF4-FFF2-40B4-BE49-F238E27FC236}">
                <a16:creationId xmlns:a16="http://schemas.microsoft.com/office/drawing/2014/main" id="{680C8CAF-D2CE-0542-9618-E62CC31DF7FA}"/>
              </a:ext>
            </a:extLst>
          </p:cNvPr>
          <p:cNvSpPr>
            <a:spLocks noGrp="1"/>
          </p:cNvSpPr>
          <p:nvPr>
            <p:ph type="ctrTitle"/>
          </p:nvPr>
        </p:nvSpPr>
        <p:spPr>
          <a:xfrm>
            <a:off x="1431925" y="332656"/>
            <a:ext cx="7407275" cy="122396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2 Subtítulo">
            <a:extLst>
              <a:ext uri="{FF2B5EF4-FFF2-40B4-BE49-F238E27FC236}">
                <a16:creationId xmlns:a16="http://schemas.microsoft.com/office/drawing/2014/main" id="{DD0DC3E7-B2D6-6B40-8030-B3422630C1B5}"/>
              </a:ext>
            </a:extLst>
          </p:cNvPr>
          <p:cNvSpPr>
            <a:spLocks noGrp="1"/>
          </p:cNvSpPr>
          <p:nvPr>
            <p:ph type="subTitle" idx="1"/>
          </p:nvPr>
        </p:nvSpPr>
        <p:spPr>
          <a:xfrm>
            <a:off x="1431925" y="1773238"/>
            <a:ext cx="7407275" cy="4752106"/>
          </a:xfrm>
        </p:spPr>
        <p:txBody>
          <a:bodyPr/>
          <a:lstStyle/>
          <a:p>
            <a:pPr marL="0" eaLnBrk="1" hangingPunct="1">
              <a:spcBef>
                <a:spcPct val="20000"/>
              </a:spcBef>
              <a:buClrTx/>
              <a:buSzTx/>
            </a:pPr>
            <a:r>
              <a:rPr lang="es-ES_tradnl" altLang="en-US" sz="2000" b="1" u="sng" dirty="0">
                <a:solidFill>
                  <a:srgbClr val="000000"/>
                </a:solidFill>
                <a:latin typeface="Arial" panose="020B0604020202020204" pitchFamily="34" charset="0"/>
                <a:ea typeface="ＭＳ Ｐゴシック" panose="020B0600070205080204" pitchFamily="34" charset="-128"/>
              </a:rPr>
              <a:t>Índice general de planos en un proyecto</a:t>
            </a:r>
          </a:p>
          <a:p>
            <a:pPr marL="0" eaLnBrk="1" hangingPunct="1"/>
            <a:r>
              <a:rPr lang="es-ES_tradnl" altLang="es-ES" sz="1800" dirty="0">
                <a:solidFill>
                  <a:srgbClr val="320E04"/>
                </a:solidFill>
                <a:ea typeface="ＭＳ Ｐゴシック" panose="020B0600070205080204" pitchFamily="34" charset="-128"/>
              </a:rPr>
              <a:t>Los planos deben organizarse de lo general a lo particular, desde los planos de conjunto a los planos de pieza. El índice de los planos debe organizarse teniendo en cuenta el organigrama técnico del proyecto (WBS). En principio, los planos se confeccionan para facilitar la fabricación y el montaje, no la utilización.  Por tanto, un sistema mecánico solamente requiere dos tipos de planos: de montaje o de pieza. El plano de pieza debe proporcionar todos los detalles necesarios para fabricar la pieza y el de montaje para efectuar el ensamblaje con las distintas piezas o partes.</a:t>
            </a:r>
          </a:p>
          <a:p>
            <a:pPr marL="0" eaLnBrk="1" hangingPunct="1"/>
            <a:r>
              <a:rPr lang="es-ES_tradnl" altLang="es-ES" sz="1800" dirty="0">
                <a:solidFill>
                  <a:srgbClr val="320E04"/>
                </a:solidFill>
                <a:ea typeface="ＭＳ Ｐゴシック" panose="020B0600070205080204" pitchFamily="34" charset="-128"/>
              </a:rPr>
              <a:t>La lista de planos necesarios en un proyecto viene determinada por el organigrama técnico del proyecto.</a:t>
            </a:r>
          </a:p>
          <a:p>
            <a:pPr marL="0" eaLnBrk="1" hangingPunct="1"/>
            <a:r>
              <a:rPr lang="es-ES_tradnl" altLang="es-ES" sz="1800" dirty="0">
                <a:solidFill>
                  <a:srgbClr val="320E04"/>
                </a:solidFill>
                <a:ea typeface="ＭＳ Ｐゴシック" panose="020B0600070205080204" pitchFamily="34" charset="-128"/>
              </a:rPr>
              <a:t>Se necesitaran tantos planos de conjunto como nodos no terminales aparezcan en WBS y tantos planos de pieza como nodos terminales aparezcan en el WBS siempre y cuando la pieza haya sido diseñada por los autores del proyecto. Es decir, no haya sido diseñada por otros o se trate de un elemento normalizado.</a:t>
            </a:r>
          </a:p>
          <a:p>
            <a:pPr marL="0" eaLnBrk="1" hangingPunct="1"/>
            <a:br>
              <a:rPr lang="es-ES_tradnl" altLang="es-ES" sz="1800" dirty="0">
                <a:solidFill>
                  <a:srgbClr val="320E04"/>
                </a:solidFill>
                <a:ea typeface="ＭＳ Ｐゴシック" panose="020B0600070205080204" pitchFamily="34" charset="-128"/>
              </a:rPr>
            </a:br>
            <a:endParaRPr lang="es-ES_tradnl" altLang="es-ES" sz="18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E048F518-7C2A-1540-B0F4-468323F5B0D3}"/>
              </a:ext>
            </a:extLst>
          </p:cNvPr>
          <p:cNvSpPr>
            <a:spLocks noGrp="1"/>
          </p:cNvSpPr>
          <p:nvPr>
            <p:ph type="ctrTitle"/>
          </p:nvPr>
        </p:nvSpPr>
        <p:spPr>
          <a:xfrm>
            <a:off x="1431925" y="332656"/>
            <a:ext cx="7407275" cy="122396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3313EB0A-D228-224D-869F-E1FEE48AA83E}"/>
              </a:ext>
            </a:extLst>
          </p:cNvPr>
          <p:cNvSpPr>
            <a:spLocks noGrp="1"/>
          </p:cNvSpPr>
          <p:nvPr>
            <p:ph type="ctrTitle"/>
          </p:nvPr>
        </p:nvSpPr>
        <p:spPr>
          <a:xfrm>
            <a:off x="1187450" y="188913"/>
            <a:ext cx="7407275" cy="863600"/>
          </a:xfrm>
        </p:spPr>
        <p:txBody>
          <a:bodyPr/>
          <a:lstStyle/>
          <a:p>
            <a:pPr eaLnBrk="1" hangingPunct="1">
              <a:defRPr/>
            </a:pPr>
            <a:r>
              <a:rPr lang="es-ES_tradnl" altLang="es-ES" sz="2500" dirty="0">
                <a:effectLst>
                  <a:outerShdw blurRad="38100" dist="38100" dir="2700000" algn="tl">
                    <a:srgbClr val="C0C0C0"/>
                  </a:outerShdw>
                </a:effectLst>
                <a:ea typeface="ＭＳ Ｐゴシック" panose="020B0600070205080204" pitchFamily="34" charset="-128"/>
              </a:rPr>
              <a:t>OFICINA TÉCNICA</a:t>
            </a:r>
            <a:br>
              <a:rPr lang="es-ES_tradnl" altLang="es-ES" sz="2500" dirty="0">
                <a:effectLst>
                  <a:outerShdw blurRad="38100" dist="38100" dir="2700000" algn="tl">
                    <a:srgbClr val="C0C0C0"/>
                  </a:outerShdw>
                </a:effectLst>
                <a:ea typeface="ＭＳ Ｐゴシック" panose="020B0600070205080204" pitchFamily="34" charset="-128"/>
              </a:rPr>
            </a:br>
            <a:r>
              <a:rPr lang="es-ES_tradnl" altLang="es-ES" sz="2500" dirty="0">
                <a:effectLst>
                  <a:outerShdw blurRad="38100" dist="38100" dir="2700000" algn="tl">
                    <a:srgbClr val="C0C0C0"/>
                  </a:outerShdw>
                </a:effectLst>
                <a:ea typeface="ＭＳ Ｐゴシック" panose="020B0600070205080204" pitchFamily="34" charset="-128"/>
              </a:rPr>
              <a:t>Tema 5. Planos</a:t>
            </a:r>
            <a:endParaRPr lang="es-ES" altLang="es-ES" sz="2500" dirty="0">
              <a:effectLst>
                <a:outerShdw blurRad="38100" dist="38100" dir="2700000" algn="tl">
                  <a:srgbClr val="C0C0C0"/>
                </a:outerShdw>
              </a:effectLst>
              <a:ea typeface="ＭＳ Ｐゴシック" panose="020B0600070205080204" pitchFamily="34" charset="-128"/>
            </a:endParaRPr>
          </a:p>
        </p:txBody>
      </p:sp>
      <p:sp>
        <p:nvSpPr>
          <p:cNvPr id="3" name="2 Subtítulo">
            <a:extLst>
              <a:ext uri="{FF2B5EF4-FFF2-40B4-BE49-F238E27FC236}">
                <a16:creationId xmlns:a16="http://schemas.microsoft.com/office/drawing/2014/main" id="{0B1CBE99-A8F6-274C-8EA0-EEDCD2121473}"/>
              </a:ext>
            </a:extLst>
          </p:cNvPr>
          <p:cNvSpPr>
            <a:spLocks noGrp="1"/>
          </p:cNvSpPr>
          <p:nvPr>
            <p:ph type="subTitle" idx="1"/>
          </p:nvPr>
        </p:nvSpPr>
        <p:spPr>
          <a:xfrm>
            <a:off x="1114022" y="4797153"/>
            <a:ext cx="7406640" cy="1584176"/>
          </a:xfrm>
          <a:extLst>
            <a:ext uri="{909E8E84-426E-40dd-AFC4-6F175D3DCCD1}"/>
            <a:ext uri="{91240B29-F687-4f45-9708-019B960494DF}"/>
            <a:ext uri="{FAA26D3D-D897-4be2-8F04-BA451C77F1D7}"/>
          </a:extLst>
        </p:spPr>
        <p:txBody>
          <a:bodyPr numCol="2">
            <a:normAutofit/>
          </a:bodyPr>
          <a:lstStyle/>
          <a:p>
            <a:pPr marL="342900" indent="-342900" eaLnBrk="1" hangingPunct="1">
              <a:spcBef>
                <a:spcPct val="20000"/>
              </a:spcBef>
              <a:buClrTx/>
              <a:buSzTx/>
              <a:buFont typeface="+mj-lt"/>
              <a:buAutoNum type="arabicPeriod"/>
              <a:defRPr/>
            </a:pPr>
            <a:r>
              <a:rPr lang="es-ES_tradnl" altLang="en-US" sz="1400" kern="0" dirty="0">
                <a:solidFill>
                  <a:srgbClr val="000000"/>
                </a:solidFill>
                <a:latin typeface="Arial"/>
                <a:ea typeface="+mn-ea"/>
                <a:cs typeface="+mn-cs"/>
              </a:rPr>
              <a:t>Conjunto general</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S1</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C1</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Piezas 1 a 6 (si fuera necesario)</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C2 (si fuera necesario)</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S2 </a:t>
            </a:r>
            <a:r>
              <a:rPr lang="es-ES_tradnl" altLang="en-US" sz="1400" kern="0" dirty="0">
                <a:solidFill>
                  <a:srgbClr val="000000"/>
                </a:solidFill>
                <a:latin typeface="Arial"/>
              </a:rPr>
              <a:t>(si fuera necesario)</a:t>
            </a:r>
            <a:endParaRPr lang="es-ES_tradnl" altLang="en-US" sz="1400" kern="0" dirty="0">
              <a:solidFill>
                <a:srgbClr val="000000"/>
              </a:solidFill>
              <a:latin typeface="Arial"/>
              <a:ea typeface="+mn-ea"/>
              <a:cs typeface="+mn-cs"/>
            </a:endParaRP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S3</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C3</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Piezas 7 a 10 </a:t>
            </a:r>
            <a:r>
              <a:rPr lang="es-ES_tradnl" altLang="en-US" sz="1400" kern="0" dirty="0">
                <a:solidFill>
                  <a:srgbClr val="000000"/>
                </a:solidFill>
                <a:latin typeface="Arial"/>
              </a:rPr>
              <a:t>(si fuera necesario)</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C4 </a:t>
            </a:r>
            <a:r>
              <a:rPr lang="es-ES_tradnl" altLang="en-US" sz="1400" kern="0" dirty="0">
                <a:solidFill>
                  <a:srgbClr val="000000"/>
                </a:solidFill>
                <a:latin typeface="Arial"/>
              </a:rPr>
              <a:t>(si fuera necesario)</a:t>
            </a:r>
            <a:endParaRPr lang="es-ES_tradnl" altLang="en-US" sz="1400" kern="0" dirty="0">
              <a:solidFill>
                <a:srgbClr val="000000"/>
              </a:solidFill>
              <a:latin typeface="Arial"/>
              <a:ea typeface="+mn-ea"/>
              <a:cs typeface="+mn-cs"/>
            </a:endParaRP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C5 (si fuera necesario)</a:t>
            </a:r>
          </a:p>
          <a:p>
            <a:pPr marL="0" eaLnBrk="1" hangingPunct="1">
              <a:spcBef>
                <a:spcPct val="20000"/>
              </a:spcBef>
              <a:buClrTx/>
              <a:buSzTx/>
              <a:defRPr/>
            </a:pPr>
            <a:endParaRPr lang="es-ES_tradnl" altLang="en-US" sz="1400" kern="0" dirty="0">
              <a:solidFill>
                <a:srgbClr val="000000"/>
              </a:solidFill>
              <a:latin typeface="Arial"/>
              <a:ea typeface="+mn-ea"/>
              <a:cs typeface="+mn-cs"/>
            </a:endParaRPr>
          </a:p>
        </p:txBody>
      </p:sp>
      <p:pic>
        <p:nvPicPr>
          <p:cNvPr id="116739" name="Picture 2">
            <a:extLst>
              <a:ext uri="{FF2B5EF4-FFF2-40B4-BE49-F238E27FC236}">
                <a16:creationId xmlns:a16="http://schemas.microsoft.com/office/drawing/2014/main" id="{2BCBF1B1-82D3-994C-86C5-DDDC8FD84D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052513"/>
            <a:ext cx="7848600"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0" name="4 CuadroTexto">
            <a:extLst>
              <a:ext uri="{FF2B5EF4-FFF2-40B4-BE49-F238E27FC236}">
                <a16:creationId xmlns:a16="http://schemas.microsoft.com/office/drawing/2014/main" id="{0CE8F858-A22C-4E47-89F4-DD9E8F79F224}"/>
              </a:ext>
            </a:extLst>
          </p:cNvPr>
          <p:cNvSpPr txBox="1">
            <a:spLocks noChangeArrowheads="1"/>
          </p:cNvSpPr>
          <p:nvPr/>
        </p:nvSpPr>
        <p:spPr bwMode="auto">
          <a:xfrm>
            <a:off x="1187450" y="4292600"/>
            <a:ext cx="77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n-US" altLang="es-ES" sz="1800" b="1" u="sng" dirty="0" err="1"/>
              <a:t>Índice</a:t>
            </a:r>
            <a:r>
              <a:rPr lang="en-US" altLang="es-ES" sz="1800" b="1" u="sng" dirty="0"/>
              <a:t> de </a:t>
            </a:r>
            <a:r>
              <a:rPr lang="en-US" altLang="es-ES" sz="1800" b="1" u="sng" dirty="0" err="1"/>
              <a:t>planos</a:t>
            </a:r>
            <a:r>
              <a:rPr lang="en-US" altLang="es-ES" sz="1800" b="1" u="sng" dirty="0"/>
              <a:t> </a:t>
            </a:r>
            <a:r>
              <a:rPr lang="en-US" altLang="es-ES" sz="1800" b="1" u="sng" dirty="0" err="1"/>
              <a:t>correspondientes</a:t>
            </a:r>
            <a:r>
              <a:rPr lang="en-US" altLang="es-ES" sz="1800" b="1" u="sng" dirty="0"/>
              <a:t> al </a:t>
            </a:r>
            <a:r>
              <a:rPr lang="en-US" altLang="es-ES" sz="1800" b="1" u="sng" dirty="0" err="1"/>
              <a:t>organigrama</a:t>
            </a:r>
            <a:r>
              <a:rPr lang="en-US" altLang="es-ES" sz="1800" b="1" u="sng" dirty="0"/>
              <a:t> de la </a:t>
            </a:r>
            <a:r>
              <a:rPr lang="en-US" altLang="es-ES" sz="1800" b="1" u="sng" dirty="0" err="1"/>
              <a:t>figura</a:t>
            </a:r>
            <a:endParaRPr lang="en-US" altLang="es-ES" sz="1800" b="1" u="sng"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2 Subtítulo">
            <a:extLst>
              <a:ext uri="{FF2B5EF4-FFF2-40B4-BE49-F238E27FC236}">
                <a16:creationId xmlns:a16="http://schemas.microsoft.com/office/drawing/2014/main" id="{CCF97143-1751-CD49-B88A-68A7B0626029}"/>
              </a:ext>
            </a:extLst>
          </p:cNvPr>
          <p:cNvSpPr>
            <a:spLocks noGrp="1"/>
          </p:cNvSpPr>
          <p:nvPr>
            <p:ph type="subTitle" idx="1"/>
          </p:nvPr>
        </p:nvSpPr>
        <p:spPr>
          <a:xfrm>
            <a:off x="1431925" y="1773238"/>
            <a:ext cx="7407275" cy="3455961"/>
          </a:xfrm>
        </p:spPr>
        <p:txBody>
          <a:bodyPr/>
          <a:lstStyle/>
          <a:p>
            <a:pPr marL="0" eaLnBrk="1" hangingPunct="1">
              <a:spcBef>
                <a:spcPct val="20000"/>
              </a:spcBef>
              <a:buClrTx/>
              <a:buSzTx/>
            </a:pPr>
            <a:r>
              <a:rPr lang="es-ES_tradnl" altLang="en-US" sz="2000" b="1" u="sng" dirty="0">
                <a:solidFill>
                  <a:srgbClr val="000000"/>
                </a:solidFill>
                <a:latin typeface="Arial" panose="020B0604020202020204" pitchFamily="34" charset="0"/>
                <a:ea typeface="ＭＳ Ｐゴシック" panose="020B0600070205080204" pitchFamily="34" charset="-128"/>
              </a:rPr>
              <a:t>Índice general de planos</a:t>
            </a:r>
          </a:p>
          <a:p>
            <a:pPr marL="0" eaLnBrk="1" hangingPunct="1">
              <a:spcBef>
                <a:spcPct val="20000"/>
              </a:spcBef>
              <a:buClrTx/>
              <a:buSzTx/>
            </a:pPr>
            <a:endParaRPr lang="es-ES_tradnl" altLang="en-US" sz="2000" b="1" u="sng" dirty="0">
              <a:solidFill>
                <a:srgbClr val="000000"/>
              </a:solidFill>
              <a:latin typeface="Arial" panose="020B0604020202020204" pitchFamily="34" charset="0"/>
              <a:ea typeface="ＭＳ Ｐゴシック" panose="020B0600070205080204" pitchFamily="34" charset="-128"/>
            </a:endParaRPr>
          </a:p>
          <a:p>
            <a:pPr marL="0" eaLnBrk="1" hangingPunct="1"/>
            <a:r>
              <a:rPr lang="es-ES_tradnl" altLang="es-ES" sz="1800" dirty="0">
                <a:solidFill>
                  <a:srgbClr val="320E04"/>
                </a:solidFill>
                <a:ea typeface="ＭＳ Ｐゴシック" panose="020B0600070205080204" pitchFamily="34" charset="-128"/>
              </a:rPr>
              <a:t>Si el proyecto se refiere a sistemas eléctricos, electrónicos de conducción de fluidos, entonces:</a:t>
            </a:r>
          </a:p>
          <a:p>
            <a:pPr marL="0" eaLnBrk="1" hangingPunct="1"/>
            <a:r>
              <a:rPr lang="es-ES_tradnl" altLang="es-ES" sz="1800" dirty="0">
                <a:solidFill>
                  <a:srgbClr val="320E04"/>
                </a:solidFill>
                <a:ea typeface="ＭＳ Ｐゴシック" panose="020B0600070205080204" pitchFamily="34" charset="-128"/>
              </a:rPr>
              <a:t>Por cada nodo no terminal del WBS se necesitará un plano de conjunto para facilitar el montaje de la interfaz mecánica y un esquema o diagrama de conexiones para especificar las conexiones de la interfaz eléctrica, electrónica o conducción de fluidos.</a:t>
            </a:r>
          </a:p>
          <a:p>
            <a:pPr marL="0" eaLnBrk="1" hangingPunct="1"/>
            <a:r>
              <a:rPr lang="es-ES_tradnl" altLang="es-ES" sz="1800" dirty="0">
                <a:solidFill>
                  <a:srgbClr val="320E04"/>
                </a:solidFill>
                <a:ea typeface="ＭＳ Ｐゴシック" panose="020B0600070205080204" pitchFamily="34" charset="-128"/>
              </a:rPr>
              <a:t>Por cada nodo terminal del WBS se necesitará un plano de pieza siempre que el componente no esté estandarizado o haya sido diseñado o fabricado por otros.</a:t>
            </a:r>
          </a:p>
          <a:p>
            <a:pPr marL="0" eaLnBrk="1" hangingPunct="1"/>
            <a:br>
              <a:rPr lang="es-ES_tradnl" altLang="es-ES" sz="1800" dirty="0">
                <a:solidFill>
                  <a:srgbClr val="320E04"/>
                </a:solidFill>
                <a:ea typeface="ＭＳ Ｐゴシック" panose="020B0600070205080204" pitchFamily="34" charset="-128"/>
              </a:rPr>
            </a:br>
            <a:endParaRPr lang="es-ES_tradnl" altLang="es-ES" sz="18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E6685323-6B91-F34E-9365-9B5E541E6D82}"/>
              </a:ext>
            </a:extLst>
          </p:cNvPr>
          <p:cNvSpPr>
            <a:spLocks noGrp="1"/>
          </p:cNvSpPr>
          <p:nvPr>
            <p:ph type="ctrTitle"/>
          </p:nvPr>
        </p:nvSpPr>
        <p:spPr>
          <a:xfrm>
            <a:off x="1431925" y="332656"/>
            <a:ext cx="7407275" cy="122396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8A6DB268-F8EA-8447-919C-48C7C6B9E687}"/>
              </a:ext>
            </a:extLst>
          </p:cNvPr>
          <p:cNvSpPr>
            <a:spLocks noGrp="1"/>
          </p:cNvSpPr>
          <p:nvPr>
            <p:ph type="ctrTitle"/>
          </p:nvPr>
        </p:nvSpPr>
        <p:spPr>
          <a:xfrm>
            <a:off x="1187450" y="115888"/>
            <a:ext cx="7407275" cy="792162"/>
          </a:xfrm>
        </p:spPr>
        <p:txBody>
          <a:bodyPr>
            <a:normAutofit fontScale="90000"/>
          </a:bodyPr>
          <a:lstStyle/>
          <a:p>
            <a:pPr eaLnBrk="1" hangingPunct="1">
              <a:defRPr/>
            </a:pPr>
            <a:r>
              <a:rPr lang="es-ES_tradnl" altLang="es-ES" sz="2500" dirty="0">
                <a:effectLst>
                  <a:outerShdw blurRad="38100" dist="38100" dir="2700000" algn="tl">
                    <a:srgbClr val="C0C0C0"/>
                  </a:outerShdw>
                </a:effectLst>
                <a:ea typeface="ＭＳ Ｐゴシック" panose="020B0600070205080204" pitchFamily="34" charset="-128"/>
              </a:rPr>
              <a:t>OFICINA TÉCNICA</a:t>
            </a:r>
            <a:br>
              <a:rPr lang="es-ES_tradnl" altLang="es-ES" sz="2500" dirty="0">
                <a:effectLst>
                  <a:outerShdw blurRad="38100" dist="38100" dir="2700000" algn="tl">
                    <a:srgbClr val="C0C0C0"/>
                  </a:outerShdw>
                </a:effectLst>
                <a:ea typeface="ＭＳ Ｐゴシック" panose="020B0600070205080204" pitchFamily="34" charset="-128"/>
              </a:rPr>
            </a:br>
            <a:r>
              <a:rPr lang="es-ES_tradnl" altLang="es-ES" sz="2500" dirty="0">
                <a:effectLst>
                  <a:outerShdw blurRad="38100" dist="38100" dir="2700000" algn="tl">
                    <a:srgbClr val="C0C0C0"/>
                  </a:outerShdw>
                </a:effectLst>
                <a:ea typeface="ＭＳ Ｐゴシック" panose="020B0600070205080204" pitchFamily="34" charset="-128"/>
              </a:rPr>
              <a:t>Tema 5. Planos</a:t>
            </a:r>
            <a:endParaRPr lang="es-ES" altLang="es-ES" sz="2500" dirty="0">
              <a:effectLst>
                <a:outerShdw blurRad="38100" dist="38100" dir="2700000" algn="tl">
                  <a:srgbClr val="C0C0C0"/>
                </a:outerShdw>
              </a:effectLst>
              <a:ea typeface="ＭＳ Ｐゴシック" panose="020B0600070205080204" pitchFamily="34" charset="-128"/>
            </a:endParaRPr>
          </a:p>
        </p:txBody>
      </p:sp>
      <p:sp>
        <p:nvSpPr>
          <p:cNvPr id="3" name="2 Subtítulo">
            <a:extLst>
              <a:ext uri="{FF2B5EF4-FFF2-40B4-BE49-F238E27FC236}">
                <a16:creationId xmlns:a16="http://schemas.microsoft.com/office/drawing/2014/main" id="{9B4DDBB5-ADE8-3648-A560-657BE0350FEB}"/>
              </a:ext>
            </a:extLst>
          </p:cNvPr>
          <p:cNvSpPr>
            <a:spLocks noGrp="1"/>
          </p:cNvSpPr>
          <p:nvPr>
            <p:ph type="subTitle" idx="1"/>
          </p:nvPr>
        </p:nvSpPr>
        <p:spPr>
          <a:xfrm>
            <a:off x="1240976" y="4625752"/>
            <a:ext cx="7406640" cy="2116360"/>
          </a:xfrm>
          <a:extLst>
            <a:ext uri="{909E8E84-426E-40dd-AFC4-6F175D3DCCD1}"/>
            <a:ext uri="{91240B29-F687-4f45-9708-019B960494DF}"/>
            <a:ext uri="{FAA26D3D-D897-4be2-8F04-BA451C77F1D7}"/>
          </a:extLst>
        </p:spPr>
        <p:txBody>
          <a:bodyPr numCol="2">
            <a:normAutofit fontScale="92500" lnSpcReduction="10000"/>
          </a:bodyPr>
          <a:lstStyle/>
          <a:p>
            <a:pPr marL="342900" indent="-342900" eaLnBrk="1" hangingPunct="1">
              <a:spcBef>
                <a:spcPct val="20000"/>
              </a:spcBef>
              <a:buClrTx/>
              <a:buSzTx/>
              <a:buFont typeface="+mj-lt"/>
              <a:buAutoNum type="arabicPeriod"/>
              <a:defRPr/>
            </a:pPr>
            <a:r>
              <a:rPr lang="es-ES_tradnl" altLang="en-US" sz="1400" kern="0" dirty="0">
                <a:solidFill>
                  <a:srgbClr val="000000"/>
                </a:solidFill>
                <a:latin typeface="Arial"/>
                <a:ea typeface="+mn-ea"/>
                <a:cs typeface="+mn-cs"/>
              </a:rPr>
              <a:t>Conjunto general</a:t>
            </a:r>
          </a:p>
          <a:p>
            <a:pPr marL="342900" indent="-342900" eaLnBrk="1" hangingPunct="1">
              <a:spcBef>
                <a:spcPct val="20000"/>
              </a:spcBef>
              <a:buClrTx/>
              <a:buSzTx/>
              <a:buFont typeface="+mj-lt"/>
              <a:buAutoNum type="arabicPeriod"/>
              <a:defRPr/>
            </a:pPr>
            <a:r>
              <a:rPr lang="es-ES_tradnl" altLang="en-US" sz="1400" kern="0" dirty="0">
                <a:solidFill>
                  <a:srgbClr val="000000"/>
                </a:solidFill>
                <a:latin typeface="Arial"/>
                <a:ea typeface="+mn-ea"/>
                <a:cs typeface="+mn-cs"/>
              </a:rPr>
              <a:t>Diagrama de conexiones</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S1</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Diagrama de conexiones de S1</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C1</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rPr>
              <a:t>Diagrama de conexiones de </a:t>
            </a:r>
            <a:r>
              <a:rPr lang="es-ES_tradnl" altLang="en-US" sz="1400" kern="0" dirty="0">
                <a:solidFill>
                  <a:srgbClr val="000000"/>
                </a:solidFill>
                <a:latin typeface="Arial"/>
                <a:ea typeface="+mn-ea"/>
                <a:cs typeface="+mn-cs"/>
              </a:rPr>
              <a:t>C1</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Piezas 1 to 6 (si fuera necesario)</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C2 (si fuera necesario)</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S2 (si fuera necesario)</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S3</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Diagrama de conexiones S3</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C3</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Diagrama de conexiones de C3</a:t>
            </a: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Piezas 7 a 10 </a:t>
            </a:r>
            <a:r>
              <a:rPr lang="es-ES_tradnl" altLang="en-US" sz="1400" kern="0" dirty="0">
                <a:solidFill>
                  <a:srgbClr val="000000"/>
                </a:solidFill>
                <a:latin typeface="Arial"/>
              </a:rPr>
              <a:t>(si fuera necesario)</a:t>
            </a:r>
            <a:endParaRPr lang="es-ES_tradnl" altLang="en-US" sz="1400" kern="0" dirty="0">
              <a:solidFill>
                <a:srgbClr val="000000"/>
              </a:solidFill>
              <a:latin typeface="Arial"/>
              <a:ea typeface="+mn-ea"/>
              <a:cs typeface="+mn-cs"/>
            </a:endParaRP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C4 </a:t>
            </a:r>
            <a:r>
              <a:rPr lang="es-ES_tradnl" altLang="en-US" sz="1400" kern="0" dirty="0">
                <a:solidFill>
                  <a:srgbClr val="000000"/>
                </a:solidFill>
                <a:latin typeface="Arial"/>
              </a:rPr>
              <a:t>(si fuera necesario)</a:t>
            </a:r>
            <a:endParaRPr lang="es-ES_tradnl" altLang="en-US" sz="1400" kern="0" dirty="0">
              <a:solidFill>
                <a:srgbClr val="000000"/>
              </a:solidFill>
              <a:latin typeface="Arial"/>
              <a:ea typeface="+mn-ea"/>
              <a:cs typeface="+mn-cs"/>
            </a:endParaRPr>
          </a:p>
          <a:p>
            <a:pPr marL="342900" indent="-342900" eaLnBrk="1" hangingPunct="1">
              <a:spcBef>
                <a:spcPct val="20000"/>
              </a:spcBef>
              <a:buClrTx/>
              <a:buSzTx/>
              <a:buFont typeface="Wingdings 2"/>
              <a:buAutoNum type="arabicPeriod"/>
              <a:defRPr/>
            </a:pPr>
            <a:r>
              <a:rPr lang="es-ES_tradnl" altLang="en-US" sz="1400" kern="0" dirty="0">
                <a:solidFill>
                  <a:srgbClr val="000000"/>
                </a:solidFill>
                <a:latin typeface="Arial"/>
                <a:ea typeface="+mn-ea"/>
                <a:cs typeface="+mn-cs"/>
              </a:rPr>
              <a:t>Conjunto C5 (si fuera necesario)</a:t>
            </a:r>
          </a:p>
          <a:p>
            <a:pPr marL="342900" indent="-342900" eaLnBrk="1" hangingPunct="1">
              <a:spcBef>
                <a:spcPct val="20000"/>
              </a:spcBef>
              <a:buClrTx/>
              <a:buSzTx/>
              <a:buFont typeface="Wingdings 2"/>
              <a:buAutoNum type="arabicPeriod"/>
              <a:defRPr/>
            </a:pPr>
            <a:endParaRPr lang="es-ES_tradnl" altLang="en-US" sz="1400" kern="0" dirty="0">
              <a:solidFill>
                <a:srgbClr val="000000"/>
              </a:solidFill>
              <a:latin typeface="Arial"/>
              <a:ea typeface="+mn-ea"/>
              <a:cs typeface="+mn-cs"/>
            </a:endParaRPr>
          </a:p>
          <a:p>
            <a:pPr marL="342900" indent="-342900" eaLnBrk="1" hangingPunct="1">
              <a:spcBef>
                <a:spcPct val="20000"/>
              </a:spcBef>
              <a:buClrTx/>
              <a:buSzTx/>
              <a:buFont typeface="Wingdings 2"/>
              <a:buAutoNum type="arabicPeriod"/>
              <a:defRPr/>
            </a:pPr>
            <a:endParaRPr lang="es-ES_tradnl" altLang="en-US" sz="1400" kern="0" dirty="0">
              <a:solidFill>
                <a:srgbClr val="000000"/>
              </a:solidFill>
              <a:latin typeface="Arial"/>
              <a:ea typeface="+mn-ea"/>
              <a:cs typeface="+mn-cs"/>
            </a:endParaRPr>
          </a:p>
        </p:txBody>
      </p:sp>
      <p:pic>
        <p:nvPicPr>
          <p:cNvPr id="118787" name="Picture 2">
            <a:extLst>
              <a:ext uri="{FF2B5EF4-FFF2-40B4-BE49-F238E27FC236}">
                <a16:creationId xmlns:a16="http://schemas.microsoft.com/office/drawing/2014/main" id="{35E17272-AEEF-F344-A0FE-94DF31C66A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908050"/>
            <a:ext cx="7848600"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8" name="4 CuadroTexto">
            <a:extLst>
              <a:ext uri="{FF2B5EF4-FFF2-40B4-BE49-F238E27FC236}">
                <a16:creationId xmlns:a16="http://schemas.microsoft.com/office/drawing/2014/main" id="{60CD1CA6-B528-C94D-BA72-7EE21CED3925}"/>
              </a:ext>
            </a:extLst>
          </p:cNvPr>
          <p:cNvSpPr txBox="1">
            <a:spLocks noChangeArrowheads="1"/>
          </p:cNvSpPr>
          <p:nvPr/>
        </p:nvSpPr>
        <p:spPr bwMode="auto">
          <a:xfrm>
            <a:off x="1182102" y="3997852"/>
            <a:ext cx="77057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n-US" altLang="es-ES" sz="1600" b="1" u="sng" dirty="0" err="1"/>
              <a:t>Índice</a:t>
            </a:r>
            <a:r>
              <a:rPr lang="en-US" altLang="es-ES" sz="1600" b="1" u="sng" dirty="0"/>
              <a:t> de </a:t>
            </a:r>
            <a:r>
              <a:rPr lang="en-US" altLang="es-ES" sz="1600" b="1" u="sng" dirty="0" err="1"/>
              <a:t>planos</a:t>
            </a:r>
            <a:r>
              <a:rPr lang="en-US" altLang="es-ES" sz="1600" b="1" u="sng" dirty="0"/>
              <a:t> </a:t>
            </a:r>
            <a:r>
              <a:rPr lang="en-US" altLang="es-ES" sz="1600" b="1" u="sng" dirty="0" err="1"/>
              <a:t>correspondientes</a:t>
            </a:r>
            <a:r>
              <a:rPr lang="en-US" altLang="es-ES" sz="1600" b="1" u="sng" dirty="0"/>
              <a:t> al </a:t>
            </a:r>
            <a:r>
              <a:rPr lang="en-US" altLang="es-ES" sz="1600" b="1" u="sng" dirty="0" err="1"/>
              <a:t>diagrama</a:t>
            </a:r>
            <a:r>
              <a:rPr lang="en-US" altLang="es-ES" sz="1600" b="1" u="sng" dirty="0"/>
              <a:t> de la </a:t>
            </a:r>
            <a:r>
              <a:rPr lang="en-US" altLang="es-ES" sz="1600" b="1" u="sng" dirty="0" err="1"/>
              <a:t>figura</a:t>
            </a:r>
            <a:r>
              <a:rPr lang="en-US" altLang="es-ES" sz="1600" b="1" u="sng" dirty="0"/>
              <a:t> </a:t>
            </a:r>
            <a:r>
              <a:rPr lang="en-US" altLang="es-ES" sz="1600" b="1" u="sng" dirty="0" err="1"/>
              <a:t>en</a:t>
            </a:r>
            <a:r>
              <a:rPr lang="en-US" altLang="es-ES" sz="1600" b="1" u="sng" dirty="0"/>
              <a:t> el </a:t>
            </a:r>
            <a:r>
              <a:rPr lang="en-US" altLang="es-ES" sz="1600" b="1" u="sng" dirty="0" err="1"/>
              <a:t>casos</a:t>
            </a:r>
            <a:r>
              <a:rPr lang="en-US" altLang="es-ES" sz="1600" b="1" u="sng" dirty="0"/>
              <a:t> de </a:t>
            </a:r>
            <a:r>
              <a:rPr lang="en-US" altLang="es-ES" sz="1600" b="1" u="sng" dirty="0" err="1"/>
              <a:t>dispositivos</a:t>
            </a:r>
            <a:r>
              <a:rPr lang="en-US" altLang="es-ES" sz="1600" b="1" u="sng" dirty="0"/>
              <a:t> </a:t>
            </a:r>
            <a:r>
              <a:rPr lang="en-US" altLang="es-ES" sz="1600" b="1" u="sng" dirty="0" err="1"/>
              <a:t>electricos</a:t>
            </a:r>
            <a:r>
              <a:rPr lang="en-US" altLang="es-ES" sz="1600" b="1" u="sng" dirty="0"/>
              <a:t>, </a:t>
            </a:r>
            <a:r>
              <a:rPr lang="en-US" altLang="es-ES" sz="1600" b="1" u="sng" dirty="0" err="1"/>
              <a:t>electrónicos</a:t>
            </a:r>
            <a:r>
              <a:rPr lang="en-US" altLang="es-ES" sz="1600" b="1" u="sng" dirty="0"/>
              <a:t> o de </a:t>
            </a:r>
            <a:r>
              <a:rPr lang="en-US" altLang="es-ES" sz="1600" b="1" u="sng" dirty="0" err="1"/>
              <a:t>conducción</a:t>
            </a:r>
            <a:r>
              <a:rPr lang="en-US" altLang="es-ES" sz="1600" b="1" u="sng" dirty="0"/>
              <a:t> de </a:t>
            </a:r>
            <a:r>
              <a:rPr lang="en-US" altLang="es-ES" sz="1600" b="1" u="sng" dirty="0" err="1"/>
              <a:t>fluidos</a:t>
            </a:r>
            <a:endParaRPr lang="en-US" altLang="es-ES" sz="1600" b="1" u="sng"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79C6C99E-478B-F24D-B60D-7F0D83AA2AA5}"/>
              </a:ext>
            </a:extLst>
          </p:cNvPr>
          <p:cNvSpPr>
            <a:spLocks noGrp="1"/>
          </p:cNvSpPr>
          <p:nvPr>
            <p:ph type="subTitle" idx="1"/>
          </p:nvPr>
        </p:nvSpPr>
        <p:spPr>
          <a:xfrm>
            <a:off x="1431925" y="1773238"/>
            <a:ext cx="7407275" cy="3960018"/>
          </a:xfrm>
        </p:spPr>
        <p:txBody>
          <a:bodyPr>
            <a:normAutofit fontScale="92500" lnSpcReduction="10000"/>
          </a:bodyPr>
          <a:lstStyle/>
          <a:p>
            <a:pPr marL="0" eaLnBrk="1" hangingPunct="1">
              <a:spcBef>
                <a:spcPct val="20000"/>
              </a:spcBef>
              <a:buClrTx/>
              <a:buSzTx/>
              <a:buFont typeface="Wingdings 2"/>
              <a:buNone/>
              <a:defRPr/>
            </a:pPr>
            <a:r>
              <a:rPr lang="es-ES_tradnl" altLang="en-US" sz="2000" b="1" u="sng" kern="0" dirty="0">
                <a:solidFill>
                  <a:srgbClr val="000000"/>
                </a:solidFill>
                <a:latin typeface="Arial"/>
                <a:ea typeface="+mn-ea"/>
                <a:cs typeface="+mn-cs"/>
              </a:rPr>
              <a:t>Recomendaciones generales</a:t>
            </a:r>
          </a:p>
          <a:p>
            <a:pPr eaLnBrk="1" fontAlgn="auto" hangingPunct="1">
              <a:spcAft>
                <a:spcPts val="0"/>
              </a:spcAft>
              <a:defRPr/>
            </a:pPr>
            <a:r>
              <a:rPr lang="es-ES_tradnl" sz="2000" dirty="0">
                <a:ea typeface="+mn-ea"/>
                <a:cs typeface="+mn-cs"/>
              </a:rPr>
              <a:t>Siempre hay que usar formatos estandarizados según se especifica en la norma ISO 5457.</a:t>
            </a:r>
          </a:p>
          <a:p>
            <a:pPr eaLnBrk="1" fontAlgn="auto" hangingPunct="1">
              <a:spcAft>
                <a:spcPts val="0"/>
              </a:spcAft>
              <a:defRPr/>
            </a:pPr>
            <a:r>
              <a:rPr lang="es-ES_tradnl" sz="2000" dirty="0">
                <a:ea typeface="+mn-ea"/>
                <a:cs typeface="+mn-cs"/>
              </a:rPr>
              <a:t>El ancho del cajetín (w) y los márgenes derecho (r) e izquierdo (l) del recuadro deben seleccionarse de modo que se cumpla la siguiente relación:</a:t>
            </a:r>
          </a:p>
          <a:p>
            <a:pPr eaLnBrk="1" fontAlgn="auto" hangingPunct="1">
              <a:spcAft>
                <a:spcPts val="0"/>
              </a:spcAft>
              <a:defRPr/>
            </a:pPr>
            <a:r>
              <a:rPr lang="es-ES_tradnl" sz="2000" dirty="0">
                <a:ea typeface="+mn-ea"/>
                <a:cs typeface="+mn-cs"/>
              </a:rPr>
              <a:t>		w + l + r = 210 </a:t>
            </a:r>
            <a:r>
              <a:rPr lang="es-ES_tradnl" sz="2000" dirty="0" err="1">
                <a:ea typeface="+mn-ea"/>
                <a:cs typeface="+mn-cs"/>
              </a:rPr>
              <a:t>mm.</a:t>
            </a:r>
            <a:endParaRPr lang="es-ES_tradnl" sz="2000" dirty="0">
              <a:ea typeface="+mn-ea"/>
              <a:cs typeface="+mn-cs"/>
            </a:endParaRPr>
          </a:p>
          <a:p>
            <a:pPr eaLnBrk="1" fontAlgn="auto" hangingPunct="1">
              <a:spcAft>
                <a:spcPts val="0"/>
              </a:spcAft>
              <a:defRPr/>
            </a:pPr>
            <a:r>
              <a:rPr lang="es-ES_tradnl" sz="2000" dirty="0">
                <a:ea typeface="+mn-ea"/>
                <a:cs typeface="+mn-cs"/>
              </a:rPr>
              <a:t>Con la relación anterior es pretende utilizar la línea vertical izquierda del cajetín como referencia para plegar el plano.</a:t>
            </a:r>
          </a:p>
          <a:p>
            <a:pPr eaLnBrk="1" fontAlgn="auto" hangingPunct="1">
              <a:spcAft>
                <a:spcPts val="0"/>
              </a:spcAft>
              <a:defRPr/>
            </a:pPr>
            <a:r>
              <a:rPr lang="es-ES_tradnl" sz="2000" dirty="0">
                <a:ea typeface="+mn-ea"/>
                <a:cs typeface="+mn-cs"/>
              </a:rPr>
              <a:t>Todos los planos, cualquiera que sea su tamaño, deben ser plegados a A4  antes de proceder a la encuadernación.</a:t>
            </a:r>
          </a:p>
          <a:p>
            <a:pPr eaLnBrk="1" fontAlgn="auto" hangingPunct="1">
              <a:spcAft>
                <a:spcPts val="0"/>
              </a:spcAft>
              <a:defRPr/>
            </a:pPr>
            <a:r>
              <a:rPr lang="es-ES_tradnl" sz="2000" dirty="0">
                <a:ea typeface="+mn-ea"/>
                <a:cs typeface="+mn-cs"/>
              </a:rPr>
              <a:t>Siempre se deben rellenar todos los campos indicados en el cajetín y en la lista de componentes. Es preferible, eliminar los campos no utilizados.</a:t>
            </a:r>
          </a:p>
        </p:txBody>
      </p:sp>
      <p:sp>
        <p:nvSpPr>
          <p:cNvPr id="6" name="1 Título">
            <a:extLst>
              <a:ext uri="{FF2B5EF4-FFF2-40B4-BE49-F238E27FC236}">
                <a16:creationId xmlns:a16="http://schemas.microsoft.com/office/drawing/2014/main" id="{12A9CA52-DA13-3849-BA41-CA43267E8439}"/>
              </a:ext>
            </a:extLst>
          </p:cNvPr>
          <p:cNvSpPr>
            <a:spLocks noGrp="1"/>
          </p:cNvSpPr>
          <p:nvPr>
            <p:ph type="ctrTitle"/>
          </p:nvPr>
        </p:nvSpPr>
        <p:spPr>
          <a:xfrm>
            <a:off x="1431925" y="332656"/>
            <a:ext cx="7407275" cy="122396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FD305828-E45C-1F47-B782-A38030963FCC}"/>
              </a:ext>
            </a:extLst>
          </p:cNvPr>
          <p:cNvSpPr>
            <a:spLocks noGrp="1"/>
          </p:cNvSpPr>
          <p:nvPr>
            <p:ph type="subTitle" idx="1"/>
          </p:nvPr>
        </p:nvSpPr>
        <p:spPr>
          <a:xfrm>
            <a:off x="1431925" y="1773238"/>
            <a:ext cx="7407275" cy="4176712"/>
          </a:xfrm>
        </p:spPr>
        <p:txBody>
          <a:bodyPr>
            <a:normAutofit/>
          </a:bodyPr>
          <a:lstStyle/>
          <a:p>
            <a:pPr marL="0" eaLnBrk="1" hangingPunct="1">
              <a:spcBef>
                <a:spcPct val="20000"/>
              </a:spcBef>
              <a:buClrTx/>
              <a:buSzTx/>
              <a:defRPr/>
            </a:pPr>
            <a:r>
              <a:rPr lang="es-ES_tradnl" altLang="en-US" sz="2000" b="1" u="sng" kern="0" dirty="0">
                <a:solidFill>
                  <a:srgbClr val="000000"/>
                </a:solidFill>
                <a:latin typeface="Arial"/>
              </a:rPr>
              <a:t>Recomendaciones generales</a:t>
            </a:r>
          </a:p>
          <a:p>
            <a:pPr eaLnBrk="1" fontAlgn="auto" hangingPunct="1">
              <a:spcAft>
                <a:spcPts val="0"/>
              </a:spcAft>
              <a:buFont typeface="Wingdings 2"/>
              <a:buNone/>
              <a:defRPr/>
            </a:pPr>
            <a:r>
              <a:rPr lang="es-ES_tradnl" sz="2000" dirty="0">
                <a:ea typeface="+mn-ea"/>
                <a:cs typeface="+mn-cs"/>
              </a:rPr>
              <a:t>Un cajetín debe contener al menos los siguientes campos:</a:t>
            </a:r>
          </a:p>
          <a:p>
            <a:pPr marL="370332" indent="-342900" eaLnBrk="1" fontAlgn="auto" hangingPunct="1">
              <a:spcAft>
                <a:spcPts val="0"/>
              </a:spcAft>
              <a:buFont typeface="Arial"/>
              <a:buChar char="•"/>
              <a:defRPr/>
            </a:pPr>
            <a:r>
              <a:rPr lang="es-ES_tradnl" sz="2000" dirty="0">
                <a:ea typeface="+mn-ea"/>
                <a:cs typeface="+mn-cs"/>
              </a:rPr>
              <a:t>Título del proyecto</a:t>
            </a:r>
          </a:p>
          <a:p>
            <a:pPr marL="370332" indent="-342900" eaLnBrk="1" fontAlgn="auto" hangingPunct="1">
              <a:spcAft>
                <a:spcPts val="0"/>
              </a:spcAft>
              <a:buFont typeface="Arial"/>
              <a:buChar char="•"/>
              <a:defRPr/>
            </a:pPr>
            <a:r>
              <a:rPr lang="es-ES_tradnl" sz="2000" dirty="0">
                <a:ea typeface="+mn-ea"/>
                <a:cs typeface="+mn-cs"/>
              </a:rPr>
              <a:t>Datos del cliente </a:t>
            </a:r>
          </a:p>
          <a:p>
            <a:pPr marL="370332" indent="-342900" eaLnBrk="1" fontAlgn="auto" hangingPunct="1">
              <a:spcAft>
                <a:spcPts val="0"/>
              </a:spcAft>
              <a:buFont typeface="Arial"/>
              <a:buChar char="•"/>
              <a:defRPr/>
            </a:pPr>
            <a:r>
              <a:rPr lang="es-ES_tradnl" sz="2000" dirty="0">
                <a:ea typeface="+mn-ea"/>
                <a:cs typeface="+mn-cs"/>
              </a:rPr>
              <a:t>Datos del ingeniero o de la ingeniería</a:t>
            </a:r>
          </a:p>
          <a:p>
            <a:pPr marL="370332" indent="-342900" eaLnBrk="1" fontAlgn="auto" hangingPunct="1">
              <a:spcAft>
                <a:spcPts val="0"/>
              </a:spcAft>
              <a:buFont typeface="Arial"/>
              <a:buChar char="•"/>
              <a:defRPr/>
            </a:pPr>
            <a:r>
              <a:rPr lang="es-ES_tradnl" sz="2000" dirty="0">
                <a:ea typeface="+mn-ea"/>
                <a:cs typeface="+mn-cs"/>
              </a:rPr>
              <a:t>Denominación del plano</a:t>
            </a:r>
          </a:p>
          <a:p>
            <a:pPr marL="370332" indent="-342900" eaLnBrk="1" fontAlgn="auto" hangingPunct="1">
              <a:spcAft>
                <a:spcPts val="0"/>
              </a:spcAft>
              <a:buFont typeface="Arial"/>
              <a:buChar char="•"/>
              <a:defRPr/>
            </a:pPr>
            <a:r>
              <a:rPr lang="es-ES_tradnl" sz="2000" dirty="0">
                <a:ea typeface="+mn-ea"/>
                <a:cs typeface="+mn-cs"/>
              </a:rPr>
              <a:t>Número de plano</a:t>
            </a:r>
          </a:p>
          <a:p>
            <a:pPr marL="370332" indent="-342900" eaLnBrk="1" fontAlgn="auto" hangingPunct="1">
              <a:spcAft>
                <a:spcPts val="0"/>
              </a:spcAft>
              <a:buFont typeface="Arial"/>
              <a:buChar char="•"/>
              <a:defRPr/>
            </a:pPr>
            <a:r>
              <a:rPr lang="es-ES_tradnl" sz="2000" dirty="0">
                <a:ea typeface="+mn-ea"/>
                <a:cs typeface="+mn-cs"/>
              </a:rPr>
              <a:t>Escala (si procede)</a:t>
            </a:r>
          </a:p>
          <a:p>
            <a:pPr marL="370332" indent="-342900" eaLnBrk="1" fontAlgn="auto" hangingPunct="1">
              <a:spcAft>
                <a:spcPts val="0"/>
              </a:spcAft>
              <a:buFont typeface="Arial"/>
              <a:buChar char="•"/>
              <a:defRPr/>
            </a:pPr>
            <a:r>
              <a:rPr lang="es-ES_tradnl" sz="2000" dirty="0">
                <a:ea typeface="+mn-ea"/>
                <a:cs typeface="+mn-cs"/>
              </a:rPr>
              <a:t>Nombre, fecha y firma del delineante</a:t>
            </a:r>
          </a:p>
          <a:p>
            <a:pPr marL="370332" indent="-342900" eaLnBrk="1" fontAlgn="auto" hangingPunct="1">
              <a:spcAft>
                <a:spcPts val="0"/>
              </a:spcAft>
              <a:buFont typeface="Arial"/>
              <a:buChar char="•"/>
              <a:defRPr/>
            </a:pPr>
            <a:r>
              <a:rPr lang="es-ES_tradnl" sz="2000" dirty="0">
                <a:ea typeface="+mn-ea"/>
                <a:cs typeface="+mn-cs"/>
              </a:rPr>
              <a:t>Nombre, fecha y firma del proyectista</a:t>
            </a:r>
          </a:p>
          <a:p>
            <a:pPr marL="370332" indent="-342900" eaLnBrk="1" fontAlgn="auto" hangingPunct="1">
              <a:spcAft>
                <a:spcPts val="0"/>
              </a:spcAft>
              <a:buFont typeface="Arial"/>
              <a:buChar char="•"/>
              <a:defRPr/>
            </a:pPr>
            <a:r>
              <a:rPr lang="es-ES_tradnl" sz="2000" dirty="0">
                <a:ea typeface="+mn-ea"/>
                <a:cs typeface="+mn-cs"/>
              </a:rPr>
              <a:t>Nombre, fecha y firma del supervisor</a:t>
            </a:r>
          </a:p>
        </p:txBody>
      </p:sp>
      <p:sp>
        <p:nvSpPr>
          <p:cNvPr id="6" name="1 Título">
            <a:extLst>
              <a:ext uri="{FF2B5EF4-FFF2-40B4-BE49-F238E27FC236}">
                <a16:creationId xmlns:a16="http://schemas.microsoft.com/office/drawing/2014/main" id="{88EF5C1C-1204-AF45-8447-873C4DBDB287}"/>
              </a:ext>
            </a:extLst>
          </p:cNvPr>
          <p:cNvSpPr>
            <a:spLocks noGrp="1"/>
          </p:cNvSpPr>
          <p:nvPr>
            <p:ph type="ctrTitle"/>
          </p:nvPr>
        </p:nvSpPr>
        <p:spPr>
          <a:xfrm>
            <a:off x="1431925" y="332656"/>
            <a:ext cx="7407275" cy="122396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Imagen 4" descr="cajetin.pdf">
            <a:extLst>
              <a:ext uri="{FF2B5EF4-FFF2-40B4-BE49-F238E27FC236}">
                <a16:creationId xmlns:a16="http://schemas.microsoft.com/office/drawing/2014/main" id="{ED73AB39-2DBD-1B4F-888B-FEAFC27299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7263" y="2205038"/>
            <a:ext cx="820420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59" name="CuadroTexto 5">
            <a:extLst>
              <a:ext uri="{FF2B5EF4-FFF2-40B4-BE49-F238E27FC236}">
                <a16:creationId xmlns:a16="http://schemas.microsoft.com/office/drawing/2014/main" id="{99FAB304-D2C8-1C4B-A6D0-A102B4293294}"/>
              </a:ext>
            </a:extLst>
          </p:cNvPr>
          <p:cNvSpPr txBox="1">
            <a:spLocks noChangeArrowheads="1"/>
          </p:cNvSpPr>
          <p:nvPr/>
        </p:nvSpPr>
        <p:spPr bwMode="auto">
          <a:xfrm>
            <a:off x="1476375" y="1700213"/>
            <a:ext cx="6840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80000"/>
              <a:buFont typeface="Wingdings 2" pitchFamily="2" charset="2"/>
              <a:buChar char=""/>
              <a:defRPr sz="3200">
                <a:solidFill>
                  <a:schemeClr val="tx1"/>
                </a:solidFill>
                <a:latin typeface="Gill Sans MT" panose="020B0502020104020203" pitchFamily="34" charset="77"/>
                <a:ea typeface="ＭＳ Ｐゴシック" panose="020B0600070205080204" pitchFamily="34" charset="-128"/>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77"/>
                <a:ea typeface="ＭＳ Ｐゴシック" panose="020B0600070205080204" pitchFamily="34" charset="-128"/>
              </a:defRPr>
            </a:lvl2pPr>
            <a:lvl3pPr marL="1143000" indent="-228600">
              <a:spcBef>
                <a:spcPct val="20000"/>
              </a:spcBef>
              <a:buClr>
                <a:schemeClr val="accent2"/>
              </a:buClr>
              <a:buFont typeface="Wingdings 2" pitchFamily="2" charset="2"/>
              <a:buChar char=""/>
              <a:defRPr sz="2400">
                <a:solidFill>
                  <a:schemeClr val="tx1"/>
                </a:solidFill>
                <a:latin typeface="Gill Sans MT" panose="020B0502020104020203" pitchFamily="34" charset="77"/>
                <a:ea typeface="ＭＳ Ｐゴシック" panose="020B0600070205080204" pitchFamily="34" charset="-128"/>
              </a:defRPr>
            </a:lvl3pPr>
            <a:lvl4pPr marL="1600200" indent="-228600">
              <a:spcBef>
                <a:spcPct val="20000"/>
              </a:spcBef>
              <a:buClr>
                <a:srgbClr val="C32D2E"/>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4pPr>
            <a:lvl5pPr marL="2057400" indent="-228600">
              <a:spcBef>
                <a:spcPct val="20000"/>
              </a:spcBef>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20000"/>
              </a:spcBef>
              <a:spcAft>
                <a:spcPct val="0"/>
              </a:spcAft>
              <a:buClr>
                <a:srgbClr val="84AA33"/>
              </a:buClr>
              <a:buFont typeface="Wingdings 2" pitchFamily="2" charset="2"/>
              <a:buChar char=""/>
              <a:defRPr sz="20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s-ES_tradnl" altLang="es-ES" sz="1800" dirty="0"/>
              <a:t>Ejemplo de cajetín:</a:t>
            </a:r>
          </a:p>
        </p:txBody>
      </p:sp>
      <p:sp>
        <p:nvSpPr>
          <p:cNvPr id="7" name="1 Título">
            <a:extLst>
              <a:ext uri="{FF2B5EF4-FFF2-40B4-BE49-F238E27FC236}">
                <a16:creationId xmlns:a16="http://schemas.microsoft.com/office/drawing/2014/main" id="{F23D5116-1083-6846-BA5E-1A8B7AFE76D3}"/>
              </a:ext>
            </a:extLst>
          </p:cNvPr>
          <p:cNvSpPr>
            <a:spLocks noGrp="1"/>
          </p:cNvSpPr>
          <p:nvPr>
            <p:ph type="ctrTitle"/>
          </p:nvPr>
        </p:nvSpPr>
        <p:spPr>
          <a:xfrm>
            <a:off x="1431925" y="332656"/>
            <a:ext cx="7407275" cy="1223963"/>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AD636449-237E-B245-8029-9A8CD440F27D}"/>
              </a:ext>
            </a:extLst>
          </p:cNvPr>
          <p:cNvSpPr>
            <a:spLocks noGrp="1"/>
          </p:cNvSpPr>
          <p:nvPr>
            <p:ph type="subTitle" idx="1"/>
          </p:nvPr>
        </p:nvSpPr>
        <p:spPr>
          <a:xfrm>
            <a:off x="1431925" y="1484313"/>
            <a:ext cx="7407275" cy="5040312"/>
          </a:xfrm>
        </p:spPr>
        <p:txBody>
          <a:bodyPr>
            <a:normAutofit fontScale="77500" lnSpcReduction="20000"/>
          </a:bodyPr>
          <a:lstStyle/>
          <a:p>
            <a:pPr marL="0" eaLnBrk="1" hangingPunct="1">
              <a:spcBef>
                <a:spcPct val="20000"/>
              </a:spcBef>
              <a:buClrTx/>
              <a:buSzTx/>
              <a:defRPr/>
            </a:pPr>
            <a:r>
              <a:rPr lang="es-ES_tradnl" altLang="en-US" sz="2000" b="1" u="sng" kern="0" dirty="0">
                <a:solidFill>
                  <a:srgbClr val="000000"/>
                </a:solidFill>
                <a:latin typeface="Arial"/>
              </a:rPr>
              <a:t>Recomendaciones generales</a:t>
            </a:r>
          </a:p>
          <a:p>
            <a:pPr eaLnBrk="1" fontAlgn="auto" hangingPunct="1">
              <a:spcAft>
                <a:spcPts val="0"/>
              </a:spcAft>
              <a:buFont typeface="Wingdings 2"/>
              <a:buNone/>
              <a:defRPr/>
            </a:pPr>
            <a:r>
              <a:rPr lang="es-ES_tradnl" sz="2000" dirty="0">
                <a:ea typeface="+mn-ea"/>
                <a:cs typeface="+mn-cs"/>
              </a:rPr>
              <a:t>La lista de componentes en un plano de conjunto debe contener:</a:t>
            </a:r>
          </a:p>
          <a:p>
            <a:pPr marL="370332" indent="-342900" eaLnBrk="1" fontAlgn="auto" hangingPunct="1">
              <a:spcAft>
                <a:spcPts val="0"/>
              </a:spcAft>
              <a:buFont typeface="Arial"/>
              <a:buChar char="•"/>
              <a:defRPr/>
            </a:pPr>
            <a:r>
              <a:rPr lang="es-ES_tradnl" sz="2000" b="1" dirty="0">
                <a:ea typeface="+mn-ea"/>
                <a:cs typeface="+mn-cs"/>
              </a:rPr>
              <a:t>Marca</a:t>
            </a:r>
          </a:p>
          <a:p>
            <a:pPr marL="370332" indent="-342900" eaLnBrk="1" fontAlgn="auto" hangingPunct="1">
              <a:spcAft>
                <a:spcPts val="0"/>
              </a:spcAft>
              <a:buFont typeface="Arial"/>
              <a:buChar char="•"/>
              <a:defRPr/>
            </a:pPr>
            <a:r>
              <a:rPr lang="es-ES_tradnl" sz="2000" b="1" dirty="0">
                <a:ea typeface="+mn-ea"/>
                <a:cs typeface="+mn-cs"/>
              </a:rPr>
              <a:t>Número</a:t>
            </a:r>
            <a:r>
              <a:rPr lang="es-ES_tradnl" sz="2000" dirty="0">
                <a:ea typeface="+mn-ea"/>
                <a:cs typeface="+mn-cs"/>
              </a:rPr>
              <a:t> de elementos iguales</a:t>
            </a:r>
          </a:p>
          <a:p>
            <a:pPr marL="370332" indent="-342900" eaLnBrk="1" fontAlgn="auto" hangingPunct="1">
              <a:spcAft>
                <a:spcPts val="0"/>
              </a:spcAft>
              <a:buFont typeface="Arial"/>
              <a:buChar char="•"/>
              <a:defRPr/>
            </a:pPr>
            <a:r>
              <a:rPr lang="es-ES_tradnl" sz="2000" b="1" dirty="0">
                <a:ea typeface="+mn-ea"/>
                <a:cs typeface="+mn-cs"/>
              </a:rPr>
              <a:t>Denominación</a:t>
            </a:r>
            <a:r>
              <a:rPr lang="es-ES_tradnl" sz="2000" dirty="0">
                <a:ea typeface="+mn-ea"/>
                <a:cs typeface="+mn-cs"/>
              </a:rPr>
              <a:t> constructiva del componente con indicación de los valores nominales de los parámetros característicos (diámetro, caudal, potencia, superficie, volumen...)</a:t>
            </a:r>
          </a:p>
          <a:p>
            <a:pPr marL="370332" indent="-342900" eaLnBrk="1" fontAlgn="auto" hangingPunct="1">
              <a:spcAft>
                <a:spcPts val="0"/>
              </a:spcAft>
              <a:buFont typeface="Arial"/>
              <a:buChar char="•"/>
              <a:defRPr/>
            </a:pPr>
            <a:r>
              <a:rPr lang="es-ES_tradnl" sz="2000" b="1" dirty="0">
                <a:ea typeface="+mn-ea"/>
                <a:cs typeface="+mn-cs"/>
              </a:rPr>
              <a:t>Referencia</a:t>
            </a:r>
            <a:r>
              <a:rPr lang="es-ES_tradnl" sz="2000" dirty="0">
                <a:ea typeface="+mn-ea"/>
                <a:cs typeface="+mn-cs"/>
              </a:rPr>
              <a:t> a un número de plano, a una norma o a una referencia de un fabricante o proveedor. </a:t>
            </a:r>
          </a:p>
          <a:p>
            <a:pPr eaLnBrk="1" fontAlgn="auto" hangingPunct="1">
              <a:spcAft>
                <a:spcPts val="0"/>
              </a:spcAft>
              <a:buFont typeface="Wingdings 2"/>
              <a:buNone/>
              <a:defRPr/>
            </a:pPr>
            <a:r>
              <a:rPr lang="es-ES_tradnl" sz="2000" dirty="0">
                <a:ea typeface="+mn-ea"/>
                <a:cs typeface="+mn-cs"/>
              </a:rPr>
              <a:t>La lista de componentes debe tener tantas filas como elementos distintos se encuentren conectados directamente al nodo al que corresponde el dibujo de conjunto en el WBS.</a:t>
            </a:r>
          </a:p>
          <a:p>
            <a:pPr eaLnBrk="1" fontAlgn="auto" hangingPunct="1">
              <a:spcAft>
                <a:spcPts val="0"/>
              </a:spcAft>
              <a:buFont typeface="Wingdings 2"/>
              <a:buNone/>
              <a:defRPr/>
            </a:pPr>
            <a:r>
              <a:rPr lang="es-ES_tradnl" sz="2000" dirty="0">
                <a:ea typeface="+mn-ea"/>
                <a:cs typeface="+mn-cs"/>
              </a:rPr>
              <a:t>La columna referencia debe contener:</a:t>
            </a:r>
          </a:p>
          <a:p>
            <a:pPr marL="370332" indent="-342900" eaLnBrk="1" fontAlgn="auto" hangingPunct="1">
              <a:spcAft>
                <a:spcPts val="0"/>
              </a:spcAft>
              <a:buFont typeface="Arial"/>
              <a:buChar char="•"/>
              <a:defRPr/>
            </a:pPr>
            <a:r>
              <a:rPr lang="es-ES_tradnl" sz="2000" dirty="0">
                <a:ea typeface="+mn-ea"/>
                <a:cs typeface="+mn-cs"/>
              </a:rPr>
              <a:t>Número de norma si el elemento es normalizado.</a:t>
            </a:r>
          </a:p>
          <a:p>
            <a:pPr marL="370332" indent="-342900" eaLnBrk="1" fontAlgn="auto" hangingPunct="1">
              <a:spcAft>
                <a:spcPts val="0"/>
              </a:spcAft>
              <a:buFont typeface="Arial"/>
              <a:buChar char="•"/>
              <a:defRPr/>
            </a:pPr>
            <a:r>
              <a:rPr lang="es-ES_tradnl" sz="2000" dirty="0">
                <a:ea typeface="+mn-ea"/>
                <a:cs typeface="+mn-cs"/>
              </a:rPr>
              <a:t>La referencia de catálogo del elemento si este es diseñado o fabricado por otros.</a:t>
            </a:r>
          </a:p>
          <a:p>
            <a:pPr marL="370332" indent="-342900" eaLnBrk="1" fontAlgn="auto" hangingPunct="1">
              <a:spcAft>
                <a:spcPts val="0"/>
              </a:spcAft>
              <a:buFont typeface="Arial"/>
              <a:buChar char="•"/>
              <a:defRPr/>
            </a:pPr>
            <a:r>
              <a:rPr lang="es-ES_tradnl" sz="2000" dirty="0">
                <a:ea typeface="+mn-ea"/>
                <a:cs typeface="+mn-cs"/>
              </a:rPr>
              <a:t>Un número de plano o una referencia al pliego de condiciones si el elemento es especificado o detallado en otra parte del proyecto.</a:t>
            </a:r>
          </a:p>
          <a:p>
            <a:pPr eaLnBrk="1" fontAlgn="auto" hangingPunct="1">
              <a:spcAft>
                <a:spcPts val="0"/>
              </a:spcAft>
              <a:defRPr/>
            </a:pPr>
            <a:endParaRPr lang="es-ES_tradnl" sz="2000" dirty="0">
              <a:ea typeface="+mn-ea"/>
              <a:cs typeface="+mn-cs"/>
            </a:endParaRPr>
          </a:p>
          <a:p>
            <a:pPr eaLnBrk="1" fontAlgn="auto" hangingPunct="1">
              <a:spcAft>
                <a:spcPts val="0"/>
              </a:spcAft>
              <a:buFont typeface="Wingdings 2"/>
              <a:buNone/>
              <a:defRPr/>
            </a:pPr>
            <a:r>
              <a:rPr lang="es-ES_tradnl" sz="2000" dirty="0">
                <a:ea typeface="+mn-ea"/>
                <a:cs typeface="+mn-cs"/>
              </a:rPr>
              <a:t>Las escalas utilizadas se ajustarán a lo indicado en la norma ISO 5455</a:t>
            </a:r>
          </a:p>
          <a:p>
            <a:pPr eaLnBrk="1" fontAlgn="auto" hangingPunct="1">
              <a:spcAft>
                <a:spcPts val="0"/>
              </a:spcAft>
              <a:buFont typeface="Wingdings 2"/>
              <a:buNone/>
              <a:defRPr/>
            </a:pPr>
            <a:r>
              <a:rPr lang="es-ES_tradnl" sz="2000" dirty="0">
                <a:ea typeface="+mn-ea"/>
                <a:cs typeface="+mn-cs"/>
              </a:rPr>
              <a:t>Los formatos utilizados se ajustarán a la norma ISO 5457</a:t>
            </a:r>
          </a:p>
        </p:txBody>
      </p:sp>
      <p:sp>
        <p:nvSpPr>
          <p:cNvPr id="9" name="1 Título">
            <a:extLst>
              <a:ext uri="{FF2B5EF4-FFF2-40B4-BE49-F238E27FC236}">
                <a16:creationId xmlns:a16="http://schemas.microsoft.com/office/drawing/2014/main" id="{A8B8A154-6B7E-7C43-9AE4-700081C479ED}"/>
              </a:ext>
            </a:extLst>
          </p:cNvPr>
          <p:cNvSpPr>
            <a:spLocks noGrp="1"/>
          </p:cNvSpPr>
          <p:nvPr>
            <p:ph type="ctrTitle"/>
          </p:nvPr>
        </p:nvSpPr>
        <p:spPr>
          <a:xfrm>
            <a:off x="1431925" y="260648"/>
            <a:ext cx="7407275" cy="1079947"/>
          </a:xfrm>
        </p:spPr>
        <p:txBody>
          <a:bodyPr>
            <a:normAutofit/>
          </a:bodyPr>
          <a:lstStyle/>
          <a:p>
            <a:pPr eaLnBrk="1" hangingPunct="1">
              <a:defRPr/>
            </a:pPr>
            <a:r>
              <a:rPr lang="es-ES_tradnl" altLang="es-ES" sz="3200" dirty="0">
                <a:effectLst>
                  <a:outerShdw blurRad="38100" dist="38100" dir="2700000" algn="tl">
                    <a:srgbClr val="C0C0C0"/>
                  </a:outerShdw>
                </a:effectLst>
                <a:ea typeface="ＭＳ Ｐゴシック" panose="020B0600070205080204" pitchFamily="34" charset="-128"/>
              </a:rPr>
              <a:t>OFICINA TÉCNICA</a:t>
            </a:r>
            <a:br>
              <a:rPr lang="es-ES_tradnl" altLang="es-ES" sz="3200" dirty="0">
                <a:effectLst>
                  <a:outerShdw blurRad="38100" dist="38100" dir="2700000" algn="tl">
                    <a:srgbClr val="C0C0C0"/>
                  </a:outerShdw>
                </a:effectLst>
                <a:ea typeface="ＭＳ Ｐゴシック" panose="020B0600070205080204" pitchFamily="34" charset="-128"/>
              </a:rPr>
            </a:br>
            <a:r>
              <a:rPr lang="es-ES_tradnl" altLang="es-ES" sz="32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Imagen 4">
            <a:extLst>
              <a:ext uri="{FF2B5EF4-FFF2-40B4-BE49-F238E27FC236}">
                <a16:creationId xmlns:a16="http://schemas.microsoft.com/office/drawing/2014/main" id="{ED73AB39-2DBD-1B4F-888B-FEAFC27299A5}"/>
              </a:ext>
            </a:extLst>
          </p:cNvPr>
          <p:cNvPicPr>
            <a:picLocks noChangeAspect="1"/>
          </p:cNvPicPr>
          <p:nvPr/>
        </p:nvPicPr>
        <p:blipFill>
          <a:blip r:embed="rId2">
            <a:extLst>
              <a:ext uri="{28A0092B-C50C-407E-A947-70E740481C1C}">
                <a14:useLocalDpi xmlns:a14="http://schemas.microsoft.com/office/drawing/2010/main" val="0"/>
              </a:ext>
            </a:extLst>
          </a:blip>
          <a:srcRect t="1046" b="1046"/>
          <a:stretch/>
        </p:blipFill>
        <p:spPr bwMode="auto">
          <a:xfrm>
            <a:off x="2411760" y="116632"/>
            <a:ext cx="4865561" cy="674136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657716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627AB380-764F-A743-8B8F-136B61AAA9FF}"/>
              </a:ext>
            </a:extLst>
          </p:cNvPr>
          <p:cNvSpPr>
            <a:spLocks noGrp="1"/>
          </p:cNvSpPr>
          <p:nvPr>
            <p:ph type="subTitle" idx="1"/>
          </p:nvPr>
        </p:nvSpPr>
        <p:spPr>
          <a:xfrm>
            <a:off x="1431925" y="1484313"/>
            <a:ext cx="7407275" cy="5040312"/>
          </a:xfrm>
        </p:spPr>
        <p:txBody>
          <a:bodyPr>
            <a:normAutofit fontScale="92500" lnSpcReduction="10000"/>
          </a:bodyPr>
          <a:lstStyle/>
          <a:p>
            <a:pPr marL="0" eaLnBrk="1" hangingPunct="1">
              <a:spcBef>
                <a:spcPct val="20000"/>
              </a:spcBef>
              <a:buClrTx/>
              <a:buSzTx/>
              <a:defRPr/>
            </a:pPr>
            <a:r>
              <a:rPr lang="es-ES_tradnl" altLang="en-US" sz="2000" b="1" u="sng" kern="0" dirty="0">
                <a:solidFill>
                  <a:srgbClr val="000000"/>
                </a:solidFill>
                <a:latin typeface="Arial"/>
              </a:rPr>
              <a:t>Recomendaciones generales</a:t>
            </a:r>
          </a:p>
          <a:p>
            <a:pPr eaLnBrk="1" fontAlgn="auto" hangingPunct="1">
              <a:spcAft>
                <a:spcPts val="0"/>
              </a:spcAft>
              <a:buFont typeface="Wingdings 2"/>
              <a:buNone/>
              <a:defRPr/>
            </a:pPr>
            <a:r>
              <a:rPr lang="es-ES_tradnl" sz="2000" dirty="0">
                <a:ea typeface="+mn-ea"/>
                <a:cs typeface="+mn-cs"/>
              </a:rPr>
              <a:t>Referentes a la acotación:</a:t>
            </a:r>
          </a:p>
          <a:p>
            <a:pPr marL="484632" indent="-457200" eaLnBrk="1" fontAlgn="auto" hangingPunct="1">
              <a:spcAft>
                <a:spcPts val="0"/>
              </a:spcAft>
              <a:buFont typeface="+mj-lt"/>
              <a:buAutoNum type="arabicPeriod"/>
              <a:defRPr/>
            </a:pPr>
            <a:r>
              <a:rPr lang="es-ES_tradnl" sz="2000" dirty="0">
                <a:ea typeface="+mn-ea"/>
                <a:cs typeface="+mn-cs"/>
              </a:rPr>
              <a:t>Un dibujo técnico puede acotarse atendiendo a los siguientes criterios:</a:t>
            </a:r>
          </a:p>
          <a:p>
            <a:pPr marL="800100" lvl="1" indent="-342900" algn="l" eaLnBrk="1" fontAlgn="auto" hangingPunct="1">
              <a:spcAft>
                <a:spcPts val="0"/>
              </a:spcAft>
              <a:buFont typeface="Arial"/>
              <a:buChar char="•"/>
              <a:defRPr/>
            </a:pPr>
            <a:r>
              <a:rPr lang="es-ES_tradnl" sz="2000" dirty="0">
                <a:ea typeface="+mn-ea"/>
              </a:rPr>
              <a:t>Función</a:t>
            </a:r>
          </a:p>
          <a:p>
            <a:pPr marL="800100" lvl="1" indent="-342900" algn="l" eaLnBrk="1" fontAlgn="auto" hangingPunct="1">
              <a:spcAft>
                <a:spcPts val="0"/>
              </a:spcAft>
              <a:buFont typeface="Arial"/>
              <a:buChar char="•"/>
              <a:defRPr/>
            </a:pPr>
            <a:r>
              <a:rPr lang="es-ES_tradnl" sz="2000" dirty="0">
                <a:ea typeface="+mn-ea"/>
              </a:rPr>
              <a:t>Fabricación</a:t>
            </a:r>
          </a:p>
          <a:p>
            <a:pPr marL="800100" lvl="1" indent="-342900" algn="l" eaLnBrk="1" fontAlgn="auto" hangingPunct="1">
              <a:spcAft>
                <a:spcPts val="0"/>
              </a:spcAft>
              <a:buFont typeface="Arial"/>
              <a:buChar char="•"/>
              <a:defRPr/>
            </a:pPr>
            <a:r>
              <a:rPr lang="es-ES_tradnl" sz="2000" dirty="0">
                <a:ea typeface="+mn-ea"/>
              </a:rPr>
              <a:t>Control</a:t>
            </a:r>
          </a:p>
          <a:p>
            <a:pPr marL="484632" indent="-457200" eaLnBrk="1" fontAlgn="auto" hangingPunct="1">
              <a:spcAft>
                <a:spcPts val="0"/>
              </a:spcAft>
              <a:buFont typeface="+mj-lt"/>
              <a:buAutoNum type="arabicPeriod"/>
              <a:defRPr/>
            </a:pPr>
            <a:r>
              <a:rPr lang="es-ES_tradnl" sz="2000" dirty="0">
                <a:ea typeface="+mn-ea"/>
                <a:cs typeface="+mn-cs"/>
              </a:rPr>
              <a:t>En proyecto la acotación debe ser funcional.</a:t>
            </a:r>
          </a:p>
          <a:p>
            <a:pPr marL="484632" indent="-457200" eaLnBrk="1" fontAlgn="auto" hangingPunct="1">
              <a:spcAft>
                <a:spcPts val="0"/>
              </a:spcAft>
              <a:buFont typeface="+mj-lt"/>
              <a:buAutoNum type="arabicPeriod"/>
              <a:defRPr/>
            </a:pPr>
            <a:r>
              <a:rPr lang="es-ES_tradnl" sz="2000" dirty="0">
                <a:ea typeface="+mn-ea"/>
                <a:cs typeface="+mn-cs"/>
              </a:rPr>
              <a:t>Las cotas funcionales siempre especificarse de manera explícita en un proyecto, nunca de manera indirecta .</a:t>
            </a:r>
          </a:p>
          <a:p>
            <a:pPr marL="484632" indent="-457200" eaLnBrk="1" fontAlgn="auto" hangingPunct="1">
              <a:spcAft>
                <a:spcPts val="0"/>
              </a:spcAft>
              <a:buFont typeface="+mj-lt"/>
              <a:buAutoNum type="arabicPeriod"/>
              <a:defRPr/>
            </a:pPr>
            <a:r>
              <a:rPr lang="es-ES_tradnl" sz="2000" dirty="0">
                <a:ea typeface="+mn-ea"/>
                <a:cs typeface="+mn-cs"/>
              </a:rPr>
              <a:t>Solamente las cotas funcionales deben estar afectadas de tolerancia. Una cota funcional afectada de tolerancia especificada de manera indirecta incrementará los costes de fabricación.</a:t>
            </a:r>
          </a:p>
          <a:p>
            <a:pPr marL="484632" indent="-457200" eaLnBrk="1" fontAlgn="auto" hangingPunct="1">
              <a:spcAft>
                <a:spcPts val="0"/>
              </a:spcAft>
              <a:buFont typeface="+mj-lt"/>
              <a:buAutoNum type="arabicPeriod"/>
              <a:defRPr/>
            </a:pPr>
            <a:r>
              <a:rPr lang="es-ES_tradnl" sz="2000" dirty="0">
                <a:ea typeface="+mn-ea"/>
                <a:cs typeface="+mn-cs"/>
              </a:rPr>
              <a:t>Se puede acotar un plano de conjunto.  Se deberán indicar solamente aquellas cotas que resulten necesarias durante el proceso de montaje.</a:t>
            </a:r>
          </a:p>
          <a:p>
            <a:pPr marL="484632" indent="-457200" eaLnBrk="1" fontAlgn="auto" hangingPunct="1">
              <a:spcAft>
                <a:spcPts val="0"/>
              </a:spcAft>
              <a:buFont typeface="+mj-lt"/>
              <a:buAutoNum type="arabicPeriod"/>
              <a:defRPr/>
            </a:pPr>
            <a:endParaRPr lang="es-ES_tradnl" sz="2000" dirty="0">
              <a:ea typeface="+mn-ea"/>
              <a:cs typeface="+mn-cs"/>
            </a:endParaRPr>
          </a:p>
          <a:p>
            <a:pPr marL="484632" indent="-457200" eaLnBrk="1" fontAlgn="auto" hangingPunct="1">
              <a:spcAft>
                <a:spcPts val="0"/>
              </a:spcAft>
              <a:buFont typeface="+mj-lt"/>
              <a:buAutoNum type="arabicPeriod"/>
              <a:defRPr/>
            </a:pPr>
            <a:endParaRPr lang="es-ES_tradnl" sz="2000" dirty="0">
              <a:ea typeface="+mn-ea"/>
              <a:cs typeface="+mn-cs"/>
            </a:endParaRPr>
          </a:p>
        </p:txBody>
      </p:sp>
      <p:sp>
        <p:nvSpPr>
          <p:cNvPr id="9" name="1 Título">
            <a:extLst>
              <a:ext uri="{FF2B5EF4-FFF2-40B4-BE49-F238E27FC236}">
                <a16:creationId xmlns:a16="http://schemas.microsoft.com/office/drawing/2014/main" id="{D6AB7964-4546-D24D-B903-B6730A9B2E69}"/>
              </a:ext>
            </a:extLst>
          </p:cNvPr>
          <p:cNvSpPr>
            <a:spLocks noGrp="1"/>
          </p:cNvSpPr>
          <p:nvPr>
            <p:ph type="ctrTitle"/>
          </p:nvPr>
        </p:nvSpPr>
        <p:spPr>
          <a:xfrm>
            <a:off x="1431925" y="332656"/>
            <a:ext cx="7407275" cy="1079947"/>
          </a:xfrm>
        </p:spPr>
        <p:txBody>
          <a:bodyPr>
            <a:normAutofit/>
          </a:bodyPr>
          <a:lstStyle/>
          <a:p>
            <a:pPr eaLnBrk="1" hangingPunct="1">
              <a:defRPr/>
            </a:pPr>
            <a:r>
              <a:rPr lang="es-ES_tradnl" altLang="es-ES" sz="3200" dirty="0">
                <a:effectLst>
                  <a:outerShdw blurRad="38100" dist="38100" dir="2700000" algn="tl">
                    <a:srgbClr val="C0C0C0"/>
                  </a:outerShdw>
                </a:effectLst>
                <a:ea typeface="ＭＳ Ｐゴシック" panose="020B0600070205080204" pitchFamily="34" charset="-128"/>
              </a:rPr>
              <a:t>OFICINA TÉCNICA</a:t>
            </a:r>
            <a:br>
              <a:rPr lang="es-ES_tradnl" altLang="es-ES" sz="3200" dirty="0">
                <a:effectLst>
                  <a:outerShdw blurRad="38100" dist="38100" dir="2700000" algn="tl">
                    <a:srgbClr val="C0C0C0"/>
                  </a:outerShdw>
                </a:effectLst>
                <a:ea typeface="ＭＳ Ｐゴシック" panose="020B0600070205080204" pitchFamily="34" charset="-128"/>
              </a:rPr>
            </a:br>
            <a:r>
              <a:rPr lang="es-ES_tradnl" altLang="es-ES" sz="32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Imagen 4">
            <a:extLst>
              <a:ext uri="{FF2B5EF4-FFF2-40B4-BE49-F238E27FC236}">
                <a16:creationId xmlns:a16="http://schemas.microsoft.com/office/drawing/2014/main" id="{ED73AB39-2DBD-1B4F-888B-FEAFC27299A5}"/>
              </a:ext>
            </a:extLst>
          </p:cNvPr>
          <p:cNvPicPr>
            <a:picLocks noChangeAspect="1"/>
          </p:cNvPicPr>
          <p:nvPr/>
        </p:nvPicPr>
        <p:blipFill>
          <a:blip r:embed="rId2">
            <a:extLst>
              <a:ext uri="{28A0092B-C50C-407E-A947-70E740481C1C}">
                <a14:useLocalDpi xmlns:a14="http://schemas.microsoft.com/office/drawing/2010/main" val="0"/>
              </a:ext>
            </a:extLst>
          </a:blip>
          <a:srcRect t="1046" b="1046"/>
          <a:stretch/>
        </p:blipFill>
        <p:spPr bwMode="auto">
          <a:xfrm>
            <a:off x="2411760" y="116632"/>
            <a:ext cx="4865561" cy="674136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783517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FC85656-2A65-E641-B11B-FD7296886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292100"/>
            <a:ext cx="2743200" cy="6273800"/>
          </a:xfrm>
          <a:prstGeom prst="rect">
            <a:avLst/>
          </a:prstGeom>
        </p:spPr>
      </p:pic>
    </p:spTree>
    <p:extLst>
      <p:ext uri="{BB962C8B-B14F-4D97-AF65-F5344CB8AC3E}">
        <p14:creationId xmlns:p14="http://schemas.microsoft.com/office/powerpoint/2010/main" val="26241811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21A4E01-213C-6B41-8821-5CFF923EE3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11760" y="188640"/>
            <a:ext cx="5956300" cy="6616699"/>
          </a:xfrm>
          <a:prstGeom prst="rect">
            <a:avLst/>
          </a:prstGeom>
        </p:spPr>
      </p:pic>
      <p:sp>
        <p:nvSpPr>
          <p:cNvPr id="5" name="CuadroTexto 4">
            <a:extLst>
              <a:ext uri="{FF2B5EF4-FFF2-40B4-BE49-F238E27FC236}">
                <a16:creationId xmlns:a16="http://schemas.microsoft.com/office/drawing/2014/main" id="{ED59B916-E81A-724F-B2F7-59CA671B1D2A}"/>
              </a:ext>
            </a:extLst>
          </p:cNvPr>
          <p:cNvSpPr txBox="1"/>
          <p:nvPr/>
        </p:nvSpPr>
        <p:spPr>
          <a:xfrm>
            <a:off x="1115616" y="4293096"/>
            <a:ext cx="2016224" cy="923330"/>
          </a:xfrm>
          <a:prstGeom prst="rect">
            <a:avLst/>
          </a:prstGeom>
          <a:noFill/>
        </p:spPr>
        <p:txBody>
          <a:bodyPr wrap="square" rtlCol="0">
            <a:spAutoFit/>
          </a:bodyPr>
          <a:lstStyle/>
          <a:p>
            <a:r>
              <a:rPr lang="es-ES" dirty="0"/>
              <a:t>¡La acotación en un proyecto debe ser funcional!</a:t>
            </a:r>
          </a:p>
        </p:txBody>
      </p:sp>
    </p:spTree>
    <p:extLst>
      <p:ext uri="{BB962C8B-B14F-4D97-AF65-F5344CB8AC3E}">
        <p14:creationId xmlns:p14="http://schemas.microsoft.com/office/powerpoint/2010/main" val="32642334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21A4E01-213C-6B41-8821-5CFF923EE3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83998" y="188640"/>
            <a:ext cx="5811824" cy="6616699"/>
          </a:xfrm>
          <a:prstGeom prst="rect">
            <a:avLst/>
          </a:prstGeom>
        </p:spPr>
      </p:pic>
    </p:spTree>
    <p:extLst>
      <p:ext uri="{BB962C8B-B14F-4D97-AF65-F5344CB8AC3E}">
        <p14:creationId xmlns:p14="http://schemas.microsoft.com/office/powerpoint/2010/main" val="232675383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627AB380-764F-A743-8B8F-136B61AAA9FF}"/>
              </a:ext>
            </a:extLst>
          </p:cNvPr>
          <p:cNvSpPr>
            <a:spLocks noGrp="1"/>
          </p:cNvSpPr>
          <p:nvPr>
            <p:ph type="subTitle" idx="1"/>
          </p:nvPr>
        </p:nvSpPr>
        <p:spPr>
          <a:xfrm>
            <a:off x="1431925" y="1484313"/>
            <a:ext cx="7407275" cy="5040312"/>
          </a:xfrm>
        </p:spPr>
        <p:txBody>
          <a:bodyPr>
            <a:normAutofit/>
          </a:bodyPr>
          <a:lstStyle/>
          <a:p>
            <a:pPr marL="0" eaLnBrk="1" hangingPunct="1">
              <a:spcBef>
                <a:spcPct val="20000"/>
              </a:spcBef>
              <a:buClrTx/>
              <a:buSzTx/>
              <a:defRPr/>
            </a:pPr>
            <a:r>
              <a:rPr lang="es-ES_tradnl" altLang="en-US" sz="2000" b="1" u="sng" kern="0" dirty="0">
                <a:solidFill>
                  <a:srgbClr val="000000"/>
                </a:solidFill>
                <a:latin typeface="Arial"/>
              </a:rPr>
              <a:t>Recomendaciones generales</a:t>
            </a:r>
          </a:p>
          <a:p>
            <a:pPr marL="0" eaLnBrk="1" hangingPunct="1">
              <a:spcBef>
                <a:spcPct val="20000"/>
              </a:spcBef>
              <a:buClrTx/>
              <a:buSzTx/>
              <a:defRPr/>
            </a:pPr>
            <a:endParaRPr lang="es-ES_tradnl" sz="2000" b="1" u="sng" kern="0" dirty="0">
              <a:solidFill>
                <a:srgbClr val="000000"/>
              </a:solidFill>
              <a:latin typeface="Arial"/>
              <a:ea typeface="+mn-ea"/>
              <a:cs typeface="+mn-cs"/>
            </a:endParaRPr>
          </a:p>
          <a:p>
            <a:pPr marL="0" eaLnBrk="1" hangingPunct="1">
              <a:spcBef>
                <a:spcPct val="20000"/>
              </a:spcBef>
              <a:buClrTx/>
              <a:buSzTx/>
              <a:defRPr/>
            </a:pPr>
            <a:r>
              <a:rPr lang="es-ES_tradnl" sz="2000" dirty="0">
                <a:ea typeface="+mn-ea"/>
                <a:cs typeface="+mn-cs"/>
              </a:rPr>
              <a:t>Nota:</a:t>
            </a:r>
          </a:p>
          <a:p>
            <a:pPr eaLnBrk="1" fontAlgn="auto" hangingPunct="1">
              <a:spcAft>
                <a:spcPts val="0"/>
              </a:spcAft>
              <a:defRPr/>
            </a:pPr>
            <a:r>
              <a:rPr lang="es-ES_tradnl" sz="2000" dirty="0">
                <a:ea typeface="+mn-ea"/>
                <a:cs typeface="+mn-cs"/>
              </a:rPr>
              <a:t>t(A±B) = t(A) + t(B); la tolerancia de la suma o diferencia de cotas siempre es la suma de las tolerancias.</a:t>
            </a:r>
          </a:p>
          <a:p>
            <a:pPr eaLnBrk="1" fontAlgn="auto" hangingPunct="1">
              <a:spcAft>
                <a:spcPts val="0"/>
              </a:spcAft>
              <a:defRPr/>
            </a:pPr>
            <a:r>
              <a:rPr lang="es-ES_tradnl" sz="2000" dirty="0">
                <a:ea typeface="+mn-ea"/>
                <a:cs typeface="+mn-cs"/>
              </a:rPr>
              <a:t>Demostración:</a:t>
            </a:r>
          </a:p>
          <a:p>
            <a:pPr eaLnBrk="1" fontAlgn="auto" hangingPunct="1">
              <a:spcAft>
                <a:spcPts val="0"/>
              </a:spcAft>
              <a:defRPr/>
            </a:pPr>
            <a:r>
              <a:rPr lang="es-ES_tradnl" sz="2000" dirty="0">
                <a:ea typeface="+mn-ea"/>
                <a:cs typeface="+mn-cs"/>
              </a:rPr>
              <a:t>	t(A+B) = </a:t>
            </a:r>
            <a:r>
              <a:rPr lang="es-ES_tradnl" sz="2000" dirty="0" err="1">
                <a:ea typeface="+mn-ea"/>
                <a:cs typeface="+mn-cs"/>
              </a:rPr>
              <a:t>max</a:t>
            </a:r>
            <a:r>
              <a:rPr lang="es-ES_tradnl" sz="2000" dirty="0">
                <a:ea typeface="+mn-ea"/>
                <a:cs typeface="+mn-cs"/>
              </a:rPr>
              <a:t>(A+B) – min(A+B) = (</a:t>
            </a:r>
            <a:r>
              <a:rPr lang="es-ES_tradnl" sz="2000" dirty="0" err="1">
                <a:ea typeface="+mn-ea"/>
                <a:cs typeface="+mn-cs"/>
              </a:rPr>
              <a:t>max</a:t>
            </a:r>
            <a:r>
              <a:rPr lang="es-ES_tradnl" sz="2000" dirty="0">
                <a:ea typeface="+mn-ea"/>
                <a:cs typeface="+mn-cs"/>
              </a:rPr>
              <a:t>(A)+</a:t>
            </a:r>
            <a:r>
              <a:rPr lang="es-ES_tradnl" sz="2000" dirty="0" err="1">
                <a:ea typeface="+mn-ea"/>
                <a:cs typeface="+mn-cs"/>
              </a:rPr>
              <a:t>max</a:t>
            </a:r>
            <a:r>
              <a:rPr lang="es-ES_tradnl" sz="2000" dirty="0">
                <a:ea typeface="+mn-ea"/>
                <a:cs typeface="+mn-cs"/>
              </a:rPr>
              <a:t>(B)) -</a:t>
            </a:r>
          </a:p>
          <a:p>
            <a:pPr eaLnBrk="1" fontAlgn="auto" hangingPunct="1">
              <a:spcAft>
                <a:spcPts val="0"/>
              </a:spcAft>
              <a:defRPr/>
            </a:pPr>
            <a:r>
              <a:rPr lang="es-ES_tradnl" sz="2000" dirty="0">
                <a:ea typeface="+mn-ea"/>
                <a:cs typeface="+mn-cs"/>
              </a:rPr>
              <a:t>	(min(A)+min(B)) = (</a:t>
            </a:r>
            <a:r>
              <a:rPr lang="es-ES_tradnl" sz="2000" dirty="0" err="1">
                <a:ea typeface="+mn-ea"/>
                <a:cs typeface="+mn-cs"/>
              </a:rPr>
              <a:t>max</a:t>
            </a:r>
            <a:r>
              <a:rPr lang="es-ES_tradnl" sz="2000" dirty="0">
                <a:ea typeface="+mn-ea"/>
                <a:cs typeface="+mn-cs"/>
              </a:rPr>
              <a:t>(A) – min(A)) + (</a:t>
            </a:r>
            <a:r>
              <a:rPr lang="es-ES_tradnl" sz="2000" dirty="0" err="1">
                <a:ea typeface="+mn-ea"/>
                <a:cs typeface="+mn-cs"/>
              </a:rPr>
              <a:t>max</a:t>
            </a:r>
            <a:r>
              <a:rPr lang="es-ES_tradnl" sz="2000" dirty="0">
                <a:ea typeface="+mn-ea"/>
                <a:cs typeface="+mn-cs"/>
              </a:rPr>
              <a:t>(B) – min(B) =</a:t>
            </a:r>
          </a:p>
          <a:p>
            <a:pPr eaLnBrk="1" fontAlgn="auto" hangingPunct="1">
              <a:spcAft>
                <a:spcPts val="0"/>
              </a:spcAft>
              <a:defRPr/>
            </a:pPr>
            <a:r>
              <a:rPr lang="es-ES_tradnl" sz="2000" dirty="0">
                <a:ea typeface="+mn-ea"/>
                <a:cs typeface="+mn-cs"/>
              </a:rPr>
              <a:t>	t(A) + t(B)</a:t>
            </a:r>
          </a:p>
          <a:p>
            <a:pPr eaLnBrk="1" fontAlgn="auto" hangingPunct="1">
              <a:spcAft>
                <a:spcPts val="0"/>
              </a:spcAft>
              <a:defRPr/>
            </a:pPr>
            <a:r>
              <a:rPr lang="es-ES_tradnl" sz="2000" dirty="0">
                <a:ea typeface="+mn-ea"/>
                <a:cs typeface="+mn-cs"/>
              </a:rPr>
              <a:t>	</a:t>
            </a:r>
            <a:r>
              <a:rPr lang="es-ES_tradnl" sz="2000" dirty="0"/>
              <a:t>t(A-B) = </a:t>
            </a:r>
            <a:r>
              <a:rPr lang="es-ES_tradnl" sz="2000" dirty="0" err="1"/>
              <a:t>max</a:t>
            </a:r>
            <a:r>
              <a:rPr lang="es-ES_tradnl" sz="2000" dirty="0"/>
              <a:t>(A-B) – min(A-B) = (</a:t>
            </a:r>
            <a:r>
              <a:rPr lang="es-ES_tradnl" sz="2000" dirty="0" err="1"/>
              <a:t>max</a:t>
            </a:r>
            <a:r>
              <a:rPr lang="es-ES_tradnl" sz="2000" dirty="0"/>
              <a:t>(A)- min(B)) -</a:t>
            </a:r>
          </a:p>
          <a:p>
            <a:pPr eaLnBrk="1" fontAlgn="auto" hangingPunct="1">
              <a:spcAft>
                <a:spcPts val="0"/>
              </a:spcAft>
              <a:defRPr/>
            </a:pPr>
            <a:r>
              <a:rPr lang="es-ES_tradnl" sz="2000" dirty="0"/>
              <a:t>	(min(A)-</a:t>
            </a:r>
            <a:r>
              <a:rPr lang="es-ES_tradnl" sz="2000" dirty="0" err="1"/>
              <a:t>max</a:t>
            </a:r>
            <a:r>
              <a:rPr lang="es-ES_tradnl" sz="2000" dirty="0"/>
              <a:t>(B)) = (</a:t>
            </a:r>
            <a:r>
              <a:rPr lang="es-ES_tradnl" sz="2000" dirty="0" err="1"/>
              <a:t>max</a:t>
            </a:r>
            <a:r>
              <a:rPr lang="es-ES_tradnl" sz="2000" dirty="0"/>
              <a:t>(A) – min(A)) + (</a:t>
            </a:r>
            <a:r>
              <a:rPr lang="es-ES_tradnl" sz="2000" dirty="0" err="1"/>
              <a:t>max</a:t>
            </a:r>
            <a:r>
              <a:rPr lang="es-ES_tradnl" sz="2000" dirty="0"/>
              <a:t>(B) – min(B) =</a:t>
            </a:r>
          </a:p>
          <a:p>
            <a:pPr eaLnBrk="1" fontAlgn="auto" hangingPunct="1">
              <a:spcAft>
                <a:spcPts val="0"/>
              </a:spcAft>
              <a:defRPr/>
            </a:pPr>
            <a:r>
              <a:rPr lang="es-ES_tradnl" sz="2000" dirty="0"/>
              <a:t>	t(A</a:t>
            </a:r>
            <a:r>
              <a:rPr lang="es-ES_tradnl" sz="2000"/>
              <a:t>) + </a:t>
            </a:r>
            <a:r>
              <a:rPr lang="es-ES_tradnl" sz="2000" dirty="0"/>
              <a:t>t(B)</a:t>
            </a:r>
            <a:endParaRPr lang="es-ES_tradnl" sz="2000" dirty="0">
              <a:ea typeface="+mn-ea"/>
              <a:cs typeface="+mn-cs"/>
            </a:endParaRPr>
          </a:p>
        </p:txBody>
      </p:sp>
      <p:sp>
        <p:nvSpPr>
          <p:cNvPr id="9" name="1 Título">
            <a:extLst>
              <a:ext uri="{FF2B5EF4-FFF2-40B4-BE49-F238E27FC236}">
                <a16:creationId xmlns:a16="http://schemas.microsoft.com/office/drawing/2014/main" id="{D6AB7964-4546-D24D-B903-B6730A9B2E69}"/>
              </a:ext>
            </a:extLst>
          </p:cNvPr>
          <p:cNvSpPr>
            <a:spLocks noGrp="1"/>
          </p:cNvSpPr>
          <p:nvPr>
            <p:ph type="ctrTitle"/>
          </p:nvPr>
        </p:nvSpPr>
        <p:spPr>
          <a:xfrm>
            <a:off x="1431925" y="332656"/>
            <a:ext cx="7407275" cy="1079947"/>
          </a:xfrm>
        </p:spPr>
        <p:txBody>
          <a:bodyPr>
            <a:normAutofit/>
          </a:bodyPr>
          <a:lstStyle/>
          <a:p>
            <a:pPr eaLnBrk="1" hangingPunct="1">
              <a:defRPr/>
            </a:pPr>
            <a:r>
              <a:rPr lang="es-ES_tradnl" altLang="es-ES" sz="3200" dirty="0">
                <a:effectLst>
                  <a:outerShdw blurRad="38100" dist="38100" dir="2700000" algn="tl">
                    <a:srgbClr val="C0C0C0"/>
                  </a:outerShdw>
                </a:effectLst>
                <a:ea typeface="ＭＳ Ｐゴシック" panose="020B0600070205080204" pitchFamily="34" charset="-128"/>
              </a:rPr>
              <a:t>OFICINA TÉCNICA</a:t>
            </a:r>
            <a:br>
              <a:rPr lang="es-ES_tradnl" altLang="es-ES" sz="3200" dirty="0">
                <a:effectLst>
                  <a:outerShdw blurRad="38100" dist="38100" dir="2700000" algn="tl">
                    <a:srgbClr val="C0C0C0"/>
                  </a:outerShdw>
                </a:effectLst>
                <a:ea typeface="ＭＳ Ｐゴシック" panose="020B0600070205080204" pitchFamily="34" charset="-128"/>
              </a:rPr>
            </a:br>
            <a:r>
              <a:rPr lang="es-ES_tradnl" altLang="es-ES" sz="3200" dirty="0">
                <a:effectLst>
                  <a:outerShdw blurRad="38100" dist="38100" dir="2700000" algn="tl">
                    <a:srgbClr val="C0C0C0"/>
                  </a:outerShdw>
                </a:effectLst>
                <a:ea typeface="ＭＳ Ｐゴシック" panose="020B0600070205080204" pitchFamily="34" charset="-128"/>
              </a:rPr>
              <a:t>Tema 5. Planos</a:t>
            </a:r>
          </a:p>
        </p:txBody>
      </p:sp>
    </p:spTree>
    <p:extLst>
      <p:ext uri="{BB962C8B-B14F-4D97-AF65-F5344CB8AC3E}">
        <p14:creationId xmlns:p14="http://schemas.microsoft.com/office/powerpoint/2010/main" val="25596231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2FDD173-3664-5149-B769-5B6B06B2E10F}"/>
              </a:ext>
            </a:extLst>
          </p:cNvPr>
          <p:cNvSpPr txBox="1"/>
          <p:nvPr/>
        </p:nvSpPr>
        <p:spPr>
          <a:xfrm>
            <a:off x="1532562" y="827420"/>
            <a:ext cx="6927870" cy="369332"/>
          </a:xfrm>
          <a:prstGeom prst="rect">
            <a:avLst/>
          </a:prstGeom>
          <a:noFill/>
        </p:spPr>
        <p:txBody>
          <a:bodyPr wrap="square" rtlCol="0">
            <a:spAutoFit/>
          </a:bodyPr>
          <a:lstStyle/>
          <a:p>
            <a:r>
              <a:rPr lang="es-ES" b="1" dirty="0">
                <a:latin typeface="Arial" panose="020B0604020202020204" pitchFamily="34" charset="0"/>
                <a:cs typeface="Arial" panose="020B0604020202020204" pitchFamily="34" charset="0"/>
              </a:rPr>
              <a:t>Tolerancias lineales generales (ISO 2768-1, UNE-EN-22768-1)</a:t>
            </a:r>
          </a:p>
        </p:txBody>
      </p:sp>
      <p:sp>
        <p:nvSpPr>
          <p:cNvPr id="10" name="1 Título">
            <a:extLst>
              <a:ext uri="{FF2B5EF4-FFF2-40B4-BE49-F238E27FC236}">
                <a16:creationId xmlns:a16="http://schemas.microsoft.com/office/drawing/2014/main" id="{15EDBA0B-FC23-9D4B-9F8D-E6D2B297A96A}"/>
              </a:ext>
            </a:extLst>
          </p:cNvPr>
          <p:cNvSpPr>
            <a:spLocks noGrp="1"/>
          </p:cNvSpPr>
          <p:nvPr>
            <p:ph type="ctrTitle"/>
          </p:nvPr>
        </p:nvSpPr>
        <p:spPr>
          <a:xfrm>
            <a:off x="1431925" y="188640"/>
            <a:ext cx="7407275" cy="576362"/>
          </a:xfrm>
        </p:spPr>
        <p:txBody>
          <a:bodyPr>
            <a:normAutofit fontScale="90000"/>
          </a:bodyPr>
          <a:lstStyle/>
          <a:p>
            <a:pPr eaLnBrk="1" hangingPunct="1">
              <a:defRPr/>
            </a:pPr>
            <a:r>
              <a:rPr lang="es-ES_tradnl" altLang="es-ES" sz="2800"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rPr>
              <a:t>Planos.  Consignación de tolerancias generales</a:t>
            </a:r>
            <a:endParaRPr lang="es-ES" altLang="es-ES"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7" name="Tabla 6">
            <a:extLst>
              <a:ext uri="{FF2B5EF4-FFF2-40B4-BE49-F238E27FC236}">
                <a16:creationId xmlns:a16="http://schemas.microsoft.com/office/drawing/2014/main" id="{B1948E15-546E-8749-8FAF-6A92078D0A55}"/>
              </a:ext>
            </a:extLst>
          </p:cNvPr>
          <p:cNvGraphicFramePr>
            <a:graphicFrameLocks noGrp="1"/>
          </p:cNvGraphicFramePr>
          <p:nvPr>
            <p:extLst>
              <p:ext uri="{D42A27DB-BD31-4B8C-83A1-F6EECF244321}">
                <p14:modId xmlns:p14="http://schemas.microsoft.com/office/powerpoint/2010/main" val="2898614078"/>
              </p:ext>
            </p:extLst>
          </p:nvPr>
        </p:nvGraphicFramePr>
        <p:xfrm>
          <a:off x="1523999" y="1363465"/>
          <a:ext cx="6936433" cy="2641600"/>
        </p:xfrm>
        <a:graphic>
          <a:graphicData uri="http://schemas.openxmlformats.org/drawingml/2006/table">
            <a:tbl>
              <a:tblPr firstRow="1" bandRow="1">
                <a:tableStyleId>{5C22544A-7EE6-4342-B048-85BDC9FD1C3A}</a:tableStyleId>
              </a:tblPr>
              <a:tblGrid>
                <a:gridCol w="723830">
                  <a:extLst>
                    <a:ext uri="{9D8B030D-6E8A-4147-A177-3AD203B41FA5}">
                      <a16:colId xmlns:a16="http://schemas.microsoft.com/office/drawing/2014/main" val="201350883"/>
                    </a:ext>
                  </a:extLst>
                </a:gridCol>
                <a:gridCol w="667986">
                  <a:extLst>
                    <a:ext uri="{9D8B030D-6E8A-4147-A177-3AD203B41FA5}">
                      <a16:colId xmlns:a16="http://schemas.microsoft.com/office/drawing/2014/main" val="389162770"/>
                    </a:ext>
                  </a:extLst>
                </a:gridCol>
                <a:gridCol w="648072">
                  <a:extLst>
                    <a:ext uri="{9D8B030D-6E8A-4147-A177-3AD203B41FA5}">
                      <a16:colId xmlns:a16="http://schemas.microsoft.com/office/drawing/2014/main" val="3048071092"/>
                    </a:ext>
                  </a:extLst>
                </a:gridCol>
                <a:gridCol w="648072">
                  <a:extLst>
                    <a:ext uri="{9D8B030D-6E8A-4147-A177-3AD203B41FA5}">
                      <a16:colId xmlns:a16="http://schemas.microsoft.com/office/drawing/2014/main" val="4126381136"/>
                    </a:ext>
                  </a:extLst>
                </a:gridCol>
                <a:gridCol w="720080">
                  <a:extLst>
                    <a:ext uri="{9D8B030D-6E8A-4147-A177-3AD203B41FA5}">
                      <a16:colId xmlns:a16="http://schemas.microsoft.com/office/drawing/2014/main" val="3832038609"/>
                    </a:ext>
                  </a:extLst>
                </a:gridCol>
                <a:gridCol w="792088">
                  <a:extLst>
                    <a:ext uri="{9D8B030D-6E8A-4147-A177-3AD203B41FA5}">
                      <a16:colId xmlns:a16="http://schemas.microsoft.com/office/drawing/2014/main" val="2442492710"/>
                    </a:ext>
                  </a:extLst>
                </a:gridCol>
                <a:gridCol w="936104">
                  <a:extLst>
                    <a:ext uri="{9D8B030D-6E8A-4147-A177-3AD203B41FA5}">
                      <a16:colId xmlns:a16="http://schemas.microsoft.com/office/drawing/2014/main" val="832001268"/>
                    </a:ext>
                  </a:extLst>
                </a:gridCol>
                <a:gridCol w="864096">
                  <a:extLst>
                    <a:ext uri="{9D8B030D-6E8A-4147-A177-3AD203B41FA5}">
                      <a16:colId xmlns:a16="http://schemas.microsoft.com/office/drawing/2014/main" val="3937282204"/>
                    </a:ext>
                  </a:extLst>
                </a:gridCol>
                <a:gridCol w="936105">
                  <a:extLst>
                    <a:ext uri="{9D8B030D-6E8A-4147-A177-3AD203B41FA5}">
                      <a16:colId xmlns:a16="http://schemas.microsoft.com/office/drawing/2014/main" val="3708879665"/>
                    </a:ext>
                  </a:extLst>
                </a:gridCol>
              </a:tblGrid>
              <a:tr h="370840">
                <a:tc rowSpan="2">
                  <a:txBody>
                    <a:bodyPr/>
                    <a:lstStyle/>
                    <a:p>
                      <a:pPr algn="ctr"/>
                      <a:r>
                        <a:rPr lang="es-ES" sz="1400" dirty="0">
                          <a:latin typeface="Arial" panose="020B0604020202020204" pitchFamily="34" charset="0"/>
                          <a:cs typeface="Arial" panose="020B0604020202020204" pitchFamily="34" charset="0"/>
                        </a:rPr>
                        <a:t>Clase</a:t>
                      </a:r>
                    </a:p>
                  </a:txBody>
                  <a:tcPr anchor="ctr"/>
                </a:tc>
                <a:tc gridSpan="8">
                  <a:txBody>
                    <a:bodyPr/>
                    <a:lstStyle/>
                    <a:p>
                      <a:pPr algn="ctr"/>
                      <a:r>
                        <a:rPr lang="es-ES" sz="1400" dirty="0">
                          <a:latin typeface="Arial" panose="020B0604020202020204" pitchFamily="34" charset="0"/>
                          <a:cs typeface="Arial" panose="020B0604020202020204" pitchFamily="34" charset="0"/>
                        </a:rPr>
                        <a:t>Tolerancias para dimensiones lineales con respecto al valor nominal, excepto chaflanes y radios de redondeo (medidas en mm)</a:t>
                      </a:r>
                    </a:p>
                  </a:txBody>
                  <a:tcPr anchor="ct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33043865"/>
                  </a:ext>
                </a:extLst>
              </a:tr>
              <a:tr h="370840">
                <a:tc vMerge="1">
                  <a:txBody>
                    <a:bodyPr/>
                    <a:lstStyle/>
                    <a:p>
                      <a:endParaRPr lang="es-ES" sz="1200" dirty="0">
                        <a:latin typeface="Arial" panose="020B0604020202020204" pitchFamily="34" charset="0"/>
                        <a:cs typeface="Arial" panose="020B0604020202020204" pitchFamily="34" charset="0"/>
                      </a:endParaRPr>
                    </a:p>
                  </a:txBody>
                  <a:tcPr/>
                </a:tc>
                <a:tc>
                  <a:txBody>
                    <a:bodyPr/>
                    <a:lstStyle/>
                    <a:p>
                      <a:pPr algn="ctr"/>
                      <a:r>
                        <a:rPr lang="es-ES" sz="1200" dirty="0">
                          <a:latin typeface="Arial" panose="020B0604020202020204" pitchFamily="34" charset="0"/>
                          <a:cs typeface="Arial" panose="020B0604020202020204" pitchFamily="34" charset="0"/>
                        </a:rPr>
                        <a:t>De 0,5</a:t>
                      </a:r>
                    </a:p>
                    <a:p>
                      <a:pPr algn="ctr"/>
                      <a:r>
                        <a:rPr lang="es-ES" sz="1200" dirty="0">
                          <a:latin typeface="Arial" panose="020B0604020202020204" pitchFamily="34" charset="0"/>
                          <a:cs typeface="Arial" panose="020B0604020202020204" pitchFamily="34" charset="0"/>
                        </a:rPr>
                        <a:t>Hasta</a:t>
                      </a:r>
                    </a:p>
                    <a:p>
                      <a:pPr algn="ctr"/>
                      <a:r>
                        <a:rPr lang="es-ES" sz="1200" dirty="0">
                          <a:latin typeface="Arial" panose="020B0604020202020204" pitchFamily="34" charset="0"/>
                          <a:cs typeface="Arial" panose="020B0604020202020204" pitchFamily="34" charset="0"/>
                        </a:rPr>
                        <a:t> 3</a:t>
                      </a:r>
                    </a:p>
                  </a:txBody>
                  <a:tcPr anchor="ctr"/>
                </a:tc>
                <a:tc>
                  <a:txBody>
                    <a:bodyPr/>
                    <a:lstStyle/>
                    <a:p>
                      <a:pPr algn="ctr"/>
                      <a:r>
                        <a:rPr lang="es-ES" sz="1200" dirty="0">
                          <a:latin typeface="Arial" panose="020B0604020202020204" pitchFamily="34" charset="0"/>
                          <a:cs typeface="Arial" panose="020B0604020202020204" pitchFamily="34" charset="0"/>
                        </a:rPr>
                        <a:t>De 3</a:t>
                      </a:r>
                    </a:p>
                    <a:p>
                      <a:pPr algn="ctr"/>
                      <a:r>
                        <a:rPr lang="es-ES" sz="1200" dirty="0">
                          <a:latin typeface="Arial" panose="020B0604020202020204" pitchFamily="34" charset="0"/>
                          <a:cs typeface="Arial" panose="020B0604020202020204" pitchFamily="34" charset="0"/>
                        </a:rPr>
                        <a:t>Hasta</a:t>
                      </a:r>
                    </a:p>
                    <a:p>
                      <a:pPr algn="ctr"/>
                      <a:r>
                        <a:rPr lang="es-ES" sz="1200" dirty="0">
                          <a:latin typeface="Arial" panose="020B0604020202020204" pitchFamily="34" charset="0"/>
                          <a:cs typeface="Arial" panose="020B0604020202020204" pitchFamily="34" charset="0"/>
                        </a:rPr>
                        <a:t> 6</a:t>
                      </a:r>
                    </a:p>
                  </a:txBody>
                  <a:tcPr anchor="ctr"/>
                </a:tc>
                <a:tc>
                  <a:txBody>
                    <a:bodyPr/>
                    <a:lstStyle/>
                    <a:p>
                      <a:pPr algn="ctr"/>
                      <a:r>
                        <a:rPr lang="es-ES" sz="1200" dirty="0">
                          <a:latin typeface="Arial" panose="020B0604020202020204" pitchFamily="34" charset="0"/>
                          <a:cs typeface="Arial" panose="020B0604020202020204" pitchFamily="34" charset="0"/>
                        </a:rPr>
                        <a:t>De 6</a:t>
                      </a:r>
                    </a:p>
                    <a:p>
                      <a:pPr algn="ctr"/>
                      <a:r>
                        <a:rPr lang="es-ES" sz="1200" dirty="0">
                          <a:latin typeface="Arial" panose="020B0604020202020204" pitchFamily="34" charset="0"/>
                          <a:cs typeface="Arial" panose="020B0604020202020204" pitchFamily="34" charset="0"/>
                        </a:rPr>
                        <a:t>Hasta 30</a:t>
                      </a:r>
                    </a:p>
                  </a:txBody>
                  <a:tcPr anchor="ctr"/>
                </a:tc>
                <a:tc>
                  <a:txBody>
                    <a:bodyPr/>
                    <a:lstStyle/>
                    <a:p>
                      <a:pPr algn="ctr"/>
                      <a:r>
                        <a:rPr lang="es-ES" sz="1200" dirty="0">
                          <a:latin typeface="Arial" panose="020B0604020202020204" pitchFamily="34" charset="0"/>
                          <a:cs typeface="Arial" panose="020B0604020202020204" pitchFamily="34" charset="0"/>
                        </a:rPr>
                        <a:t>De 30</a:t>
                      </a:r>
                    </a:p>
                    <a:p>
                      <a:pPr algn="ctr"/>
                      <a:r>
                        <a:rPr lang="es-ES" sz="1200" dirty="0">
                          <a:latin typeface="Arial" panose="020B0604020202020204" pitchFamily="34" charset="0"/>
                          <a:cs typeface="Arial" panose="020B0604020202020204" pitchFamily="34" charset="0"/>
                        </a:rPr>
                        <a:t>Hasta 120</a:t>
                      </a:r>
                    </a:p>
                  </a:txBody>
                  <a:tcPr anchor="ctr"/>
                </a:tc>
                <a:tc>
                  <a:txBody>
                    <a:bodyPr/>
                    <a:lstStyle/>
                    <a:p>
                      <a:pPr algn="ctr"/>
                      <a:r>
                        <a:rPr lang="es-ES" sz="1200" dirty="0">
                          <a:latin typeface="Arial" panose="020B0604020202020204" pitchFamily="34" charset="0"/>
                          <a:cs typeface="Arial" panose="020B0604020202020204" pitchFamily="34" charset="0"/>
                        </a:rPr>
                        <a:t>De 120</a:t>
                      </a:r>
                    </a:p>
                    <a:p>
                      <a:pPr algn="ctr"/>
                      <a:r>
                        <a:rPr lang="es-ES" sz="1200" dirty="0">
                          <a:latin typeface="Arial" panose="020B0604020202020204" pitchFamily="34" charset="0"/>
                          <a:cs typeface="Arial" panose="020B0604020202020204" pitchFamily="34" charset="0"/>
                        </a:rPr>
                        <a:t>Hasta 400</a:t>
                      </a:r>
                    </a:p>
                  </a:txBody>
                  <a:tcPr anchor="ctr"/>
                </a:tc>
                <a:tc>
                  <a:txBody>
                    <a:bodyPr/>
                    <a:lstStyle/>
                    <a:p>
                      <a:pPr algn="ctr"/>
                      <a:r>
                        <a:rPr lang="es-ES" sz="1200" dirty="0">
                          <a:latin typeface="Arial" panose="020B0604020202020204" pitchFamily="34" charset="0"/>
                          <a:cs typeface="Arial" panose="020B0604020202020204" pitchFamily="34" charset="0"/>
                        </a:rPr>
                        <a:t>De 400</a:t>
                      </a:r>
                    </a:p>
                    <a:p>
                      <a:pPr algn="ctr"/>
                      <a:r>
                        <a:rPr lang="es-ES" sz="1200" dirty="0">
                          <a:latin typeface="Arial" panose="020B0604020202020204" pitchFamily="34" charset="0"/>
                          <a:cs typeface="Arial" panose="020B0604020202020204" pitchFamily="34" charset="0"/>
                        </a:rPr>
                        <a:t>Hasta</a:t>
                      </a:r>
                    </a:p>
                    <a:p>
                      <a:pPr algn="ctr"/>
                      <a:r>
                        <a:rPr lang="es-ES" sz="1200" dirty="0">
                          <a:latin typeface="Arial" panose="020B0604020202020204" pitchFamily="34" charset="0"/>
                          <a:cs typeface="Arial" panose="020B0604020202020204" pitchFamily="34" charset="0"/>
                        </a:rPr>
                        <a:t>1000</a:t>
                      </a:r>
                    </a:p>
                  </a:txBody>
                  <a:tcPr anchor="ctr"/>
                </a:tc>
                <a:tc>
                  <a:txBody>
                    <a:bodyPr/>
                    <a:lstStyle/>
                    <a:p>
                      <a:pPr algn="ctr"/>
                      <a:r>
                        <a:rPr lang="es-ES" sz="1200" dirty="0">
                          <a:latin typeface="Arial" panose="020B0604020202020204" pitchFamily="34" charset="0"/>
                          <a:cs typeface="Arial" panose="020B0604020202020204" pitchFamily="34" charset="0"/>
                        </a:rPr>
                        <a:t>De 1000</a:t>
                      </a:r>
                    </a:p>
                    <a:p>
                      <a:pPr algn="ctr"/>
                      <a:r>
                        <a:rPr lang="es-ES" sz="1200" dirty="0">
                          <a:latin typeface="Arial" panose="020B0604020202020204" pitchFamily="34" charset="0"/>
                          <a:cs typeface="Arial" panose="020B0604020202020204" pitchFamily="34" charset="0"/>
                        </a:rPr>
                        <a:t>Hasta</a:t>
                      </a:r>
                    </a:p>
                    <a:p>
                      <a:pPr algn="ctr"/>
                      <a:r>
                        <a:rPr lang="es-ES" sz="1200" dirty="0">
                          <a:latin typeface="Arial" panose="020B0604020202020204" pitchFamily="34" charset="0"/>
                          <a:cs typeface="Arial" panose="020B0604020202020204" pitchFamily="34" charset="0"/>
                        </a:rPr>
                        <a:t>2000</a:t>
                      </a:r>
                    </a:p>
                  </a:txBody>
                  <a:tcPr anchor="ctr"/>
                </a:tc>
                <a:tc>
                  <a:txBody>
                    <a:bodyPr/>
                    <a:lstStyle/>
                    <a:p>
                      <a:pPr algn="ctr"/>
                      <a:r>
                        <a:rPr lang="es-ES" sz="1200" dirty="0">
                          <a:latin typeface="Arial" panose="020B0604020202020204" pitchFamily="34" charset="0"/>
                          <a:cs typeface="Arial" panose="020B0604020202020204" pitchFamily="34" charset="0"/>
                        </a:rPr>
                        <a:t>De 2000</a:t>
                      </a:r>
                    </a:p>
                    <a:p>
                      <a:pPr algn="ctr"/>
                      <a:r>
                        <a:rPr lang="es-ES" sz="1200" dirty="0">
                          <a:latin typeface="Arial" panose="020B0604020202020204" pitchFamily="34" charset="0"/>
                          <a:cs typeface="Arial" panose="020B0604020202020204" pitchFamily="34" charset="0"/>
                        </a:rPr>
                        <a:t>Hasta</a:t>
                      </a:r>
                    </a:p>
                    <a:p>
                      <a:pPr algn="ctr"/>
                      <a:r>
                        <a:rPr lang="es-ES" sz="1200" dirty="0">
                          <a:latin typeface="Arial" panose="020B0604020202020204" pitchFamily="34" charset="0"/>
                          <a:cs typeface="Arial" panose="020B0604020202020204" pitchFamily="34" charset="0"/>
                        </a:rPr>
                        <a:t>4000</a:t>
                      </a:r>
                    </a:p>
                  </a:txBody>
                  <a:tcPr anchor="ctr"/>
                </a:tc>
                <a:extLst>
                  <a:ext uri="{0D108BD9-81ED-4DB2-BD59-A6C34878D82A}">
                    <a16:rowId xmlns:a16="http://schemas.microsoft.com/office/drawing/2014/main" val="895227274"/>
                  </a:ext>
                </a:extLst>
              </a:tr>
              <a:tr h="370840">
                <a:tc>
                  <a:txBody>
                    <a:bodyPr/>
                    <a:lstStyle/>
                    <a:p>
                      <a:pPr algn="ctr"/>
                      <a:r>
                        <a:rPr lang="es-ES" sz="1200" dirty="0">
                          <a:latin typeface="Arial" panose="020B0604020202020204" pitchFamily="34" charset="0"/>
                          <a:cs typeface="Arial" panose="020B0604020202020204" pitchFamily="34" charset="0"/>
                        </a:rPr>
                        <a:t>f</a:t>
                      </a:r>
                    </a:p>
                  </a:txBody>
                  <a:tcPr anchor="ctr"/>
                </a:tc>
                <a:tc>
                  <a:txBody>
                    <a:bodyPr/>
                    <a:lstStyle/>
                    <a:p>
                      <a:pPr algn="ctr"/>
                      <a:r>
                        <a:rPr lang="es-ES" sz="1200" dirty="0">
                          <a:latin typeface="Arial" panose="020B0604020202020204" pitchFamily="34" charset="0"/>
                          <a:cs typeface="Arial" panose="020B0604020202020204" pitchFamily="34" charset="0"/>
                        </a:rPr>
                        <a:t>±0,05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±0,05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±0,5</a:t>
                      </a:r>
                    </a:p>
                  </a:txBody>
                  <a:tcPr anchor="ctr"/>
                </a:tc>
                <a:tc>
                  <a:txBody>
                    <a:bodyPr/>
                    <a:lstStyle/>
                    <a:p>
                      <a:pPr algn="ctr"/>
                      <a:r>
                        <a:rPr lang="es-ES" sz="1200" dirty="0">
                          <a:latin typeface="Arial" panose="020B0604020202020204" pitchFamily="34" charset="0"/>
                          <a:cs typeface="Arial" panose="020B0604020202020204" pitchFamily="34" charset="0"/>
                        </a:rPr>
                        <a:t>-</a:t>
                      </a:r>
                    </a:p>
                  </a:txBody>
                  <a:tcPr anchor="ctr"/>
                </a:tc>
                <a:extLst>
                  <a:ext uri="{0D108BD9-81ED-4DB2-BD59-A6C34878D82A}">
                    <a16:rowId xmlns:a16="http://schemas.microsoft.com/office/drawing/2014/main" val="1925547524"/>
                  </a:ext>
                </a:extLst>
              </a:tr>
              <a:tr h="370840">
                <a:tc>
                  <a:txBody>
                    <a:bodyPr/>
                    <a:lstStyle/>
                    <a:p>
                      <a:pPr algn="ctr"/>
                      <a:r>
                        <a:rPr lang="es-ES" sz="1200" dirty="0">
                          <a:latin typeface="Arial" panose="020B0604020202020204" pitchFamily="34" charset="0"/>
                          <a:cs typeface="Arial" panose="020B0604020202020204" pitchFamily="34" charset="0"/>
                        </a:rPr>
                        <a:t>m</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±1,2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±2</a:t>
                      </a:r>
                    </a:p>
                  </a:txBody>
                  <a:tcPr anchor="ctr"/>
                </a:tc>
                <a:extLst>
                  <a:ext uri="{0D108BD9-81ED-4DB2-BD59-A6C34878D82A}">
                    <a16:rowId xmlns:a16="http://schemas.microsoft.com/office/drawing/2014/main" val="3513672950"/>
                  </a:ext>
                </a:extLst>
              </a:tr>
              <a:tr h="370840">
                <a:tc>
                  <a:txBody>
                    <a:bodyPr/>
                    <a:lstStyle/>
                    <a:p>
                      <a:pPr algn="ctr"/>
                      <a:r>
                        <a:rPr lang="es-ES" sz="1200" dirty="0">
                          <a:latin typeface="Arial" panose="020B0604020202020204" pitchFamily="34" charset="0"/>
                          <a:cs typeface="Arial" panose="020B0604020202020204" pitchFamily="34" charset="0"/>
                        </a:rPr>
                        <a:t>c</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±1,2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533192692"/>
                  </a:ext>
                </a:extLst>
              </a:tr>
              <a:tr h="370840">
                <a:tc>
                  <a:txBody>
                    <a:bodyPr/>
                    <a:lstStyle/>
                    <a:p>
                      <a:pPr algn="ctr"/>
                      <a:r>
                        <a:rPr lang="es-ES" sz="1200" dirty="0">
                          <a:latin typeface="Arial" panose="020B0604020202020204" pitchFamily="34" charset="0"/>
                          <a:cs typeface="Arial" panose="020B0604020202020204" pitchFamily="34" charset="0"/>
                        </a:rPr>
                        <a:t>v</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±2,5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±8</a:t>
                      </a:r>
                    </a:p>
                  </a:txBody>
                  <a:tcPr anchor="ctr"/>
                </a:tc>
                <a:extLst>
                  <a:ext uri="{0D108BD9-81ED-4DB2-BD59-A6C34878D82A}">
                    <a16:rowId xmlns:a16="http://schemas.microsoft.com/office/drawing/2014/main" val="1060709599"/>
                  </a:ext>
                </a:extLst>
              </a:tr>
            </a:tbl>
          </a:graphicData>
        </a:graphic>
      </p:graphicFrame>
      <p:graphicFrame>
        <p:nvGraphicFramePr>
          <p:cNvPr id="11" name="Tabla 10">
            <a:extLst>
              <a:ext uri="{FF2B5EF4-FFF2-40B4-BE49-F238E27FC236}">
                <a16:creationId xmlns:a16="http://schemas.microsoft.com/office/drawing/2014/main" id="{9A58F470-5A41-5E4D-9084-9319244CFB95}"/>
              </a:ext>
            </a:extLst>
          </p:cNvPr>
          <p:cNvGraphicFramePr>
            <a:graphicFrameLocks noGrp="1"/>
          </p:cNvGraphicFramePr>
          <p:nvPr>
            <p:extLst>
              <p:ext uri="{D42A27DB-BD31-4B8C-83A1-F6EECF244321}">
                <p14:modId xmlns:p14="http://schemas.microsoft.com/office/powerpoint/2010/main" val="1406849551"/>
              </p:ext>
            </p:extLst>
          </p:nvPr>
        </p:nvGraphicFramePr>
        <p:xfrm>
          <a:off x="1523997" y="4228329"/>
          <a:ext cx="6936432" cy="2152999"/>
        </p:xfrm>
        <a:graphic>
          <a:graphicData uri="http://schemas.openxmlformats.org/drawingml/2006/table">
            <a:tbl>
              <a:tblPr firstRow="1" bandRow="1">
                <a:tableStyleId>{5C22544A-7EE6-4342-B048-85BDC9FD1C3A}</a:tableStyleId>
              </a:tblPr>
              <a:tblGrid>
                <a:gridCol w="1031779">
                  <a:extLst>
                    <a:ext uri="{9D8B030D-6E8A-4147-A177-3AD203B41FA5}">
                      <a16:colId xmlns:a16="http://schemas.microsoft.com/office/drawing/2014/main" val="201350883"/>
                    </a:ext>
                  </a:extLst>
                </a:gridCol>
                <a:gridCol w="2559881">
                  <a:extLst>
                    <a:ext uri="{9D8B030D-6E8A-4147-A177-3AD203B41FA5}">
                      <a16:colId xmlns:a16="http://schemas.microsoft.com/office/drawing/2014/main" val="389162770"/>
                    </a:ext>
                  </a:extLst>
                </a:gridCol>
                <a:gridCol w="1672386">
                  <a:extLst>
                    <a:ext uri="{9D8B030D-6E8A-4147-A177-3AD203B41FA5}">
                      <a16:colId xmlns:a16="http://schemas.microsoft.com/office/drawing/2014/main" val="3048071092"/>
                    </a:ext>
                  </a:extLst>
                </a:gridCol>
                <a:gridCol w="1672386">
                  <a:extLst>
                    <a:ext uri="{9D8B030D-6E8A-4147-A177-3AD203B41FA5}">
                      <a16:colId xmlns:a16="http://schemas.microsoft.com/office/drawing/2014/main" val="4126381136"/>
                    </a:ext>
                  </a:extLst>
                </a:gridCol>
              </a:tblGrid>
              <a:tr h="551658">
                <a:tc rowSpan="2">
                  <a:txBody>
                    <a:bodyPr/>
                    <a:lstStyle/>
                    <a:p>
                      <a:pPr algn="ctr"/>
                      <a:r>
                        <a:rPr lang="es-ES" sz="1400" dirty="0">
                          <a:latin typeface="Arial" panose="020B0604020202020204" pitchFamily="34" charset="0"/>
                          <a:cs typeface="Arial" panose="020B0604020202020204" pitchFamily="34" charset="0"/>
                        </a:rPr>
                        <a:t>Clase</a:t>
                      </a:r>
                    </a:p>
                  </a:txBody>
                  <a:tcPr anchor="ctr"/>
                </a:tc>
                <a:tc gridSpan="3">
                  <a:txBody>
                    <a:bodyPr/>
                    <a:lstStyle/>
                    <a:p>
                      <a:pPr algn="ctr"/>
                      <a:r>
                        <a:rPr lang="es-ES" sz="1400" dirty="0">
                          <a:latin typeface="Arial" panose="020B0604020202020204" pitchFamily="34" charset="0"/>
                          <a:cs typeface="Arial" panose="020B0604020202020204" pitchFamily="34" charset="0"/>
                        </a:rPr>
                        <a:t>Tolerancias para dimensiones lineales en chaflanes y redondeos con respecto al valor nominal (medidas en mm)</a:t>
                      </a:r>
                    </a:p>
                  </a:txBody>
                  <a:tcPr anchor="ct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33043865"/>
                  </a:ext>
                </a:extLst>
              </a:tr>
              <a:tr h="482701">
                <a:tc vMerge="1">
                  <a:txBody>
                    <a:bodyPr/>
                    <a:lstStyle/>
                    <a:p>
                      <a:endParaRPr lang="es-ES" sz="1200" dirty="0">
                        <a:latin typeface="Arial" panose="020B0604020202020204" pitchFamily="34" charset="0"/>
                        <a:cs typeface="Arial" panose="020B0604020202020204" pitchFamily="34" charset="0"/>
                      </a:endParaRPr>
                    </a:p>
                  </a:txBody>
                  <a:tcPr/>
                </a:tc>
                <a:tc>
                  <a:txBody>
                    <a:bodyPr/>
                    <a:lstStyle/>
                    <a:p>
                      <a:pPr algn="ctr"/>
                      <a:r>
                        <a:rPr lang="es-ES" sz="1200" dirty="0">
                          <a:latin typeface="Arial" panose="020B0604020202020204" pitchFamily="34" charset="0"/>
                          <a:cs typeface="Arial" panose="020B0604020202020204" pitchFamily="34" charset="0"/>
                        </a:rPr>
                        <a:t>De 0,5</a:t>
                      </a:r>
                    </a:p>
                    <a:p>
                      <a:pPr algn="ctr"/>
                      <a:r>
                        <a:rPr lang="es-ES" sz="1200" dirty="0">
                          <a:latin typeface="Arial" panose="020B0604020202020204" pitchFamily="34" charset="0"/>
                          <a:cs typeface="Arial" panose="020B0604020202020204" pitchFamily="34" charset="0"/>
                        </a:rPr>
                        <a:t>Hasta 3</a:t>
                      </a:r>
                    </a:p>
                  </a:txBody>
                  <a:tcPr anchor="ctr"/>
                </a:tc>
                <a:tc>
                  <a:txBody>
                    <a:bodyPr/>
                    <a:lstStyle/>
                    <a:p>
                      <a:pPr algn="ctr"/>
                      <a:r>
                        <a:rPr lang="es-ES" sz="1200" dirty="0">
                          <a:latin typeface="Arial" panose="020B0604020202020204" pitchFamily="34" charset="0"/>
                          <a:cs typeface="Arial" panose="020B0604020202020204" pitchFamily="34" charset="0"/>
                        </a:rPr>
                        <a:t>De 3</a:t>
                      </a:r>
                    </a:p>
                    <a:p>
                      <a:pPr algn="ctr"/>
                      <a:r>
                        <a:rPr lang="es-ES" sz="1200" dirty="0">
                          <a:latin typeface="Arial" panose="020B0604020202020204" pitchFamily="34" charset="0"/>
                          <a:cs typeface="Arial" panose="020B0604020202020204" pitchFamily="34" charset="0"/>
                        </a:rPr>
                        <a:t>Hasta 6</a:t>
                      </a:r>
                    </a:p>
                  </a:txBody>
                  <a:tcPr anchor="ctr"/>
                </a:tc>
                <a:tc>
                  <a:txBody>
                    <a:bodyPr/>
                    <a:lstStyle/>
                    <a:p>
                      <a:pPr algn="ctr"/>
                      <a:r>
                        <a:rPr lang="es-ES" sz="1200" dirty="0">
                          <a:latin typeface="Arial" panose="020B0604020202020204" pitchFamily="34" charset="0"/>
                          <a:cs typeface="Arial" panose="020B0604020202020204" pitchFamily="34" charset="0"/>
                        </a:rPr>
                        <a:t>Más de 6</a:t>
                      </a:r>
                    </a:p>
                  </a:txBody>
                  <a:tcPr anchor="ctr"/>
                </a:tc>
                <a:extLst>
                  <a:ext uri="{0D108BD9-81ED-4DB2-BD59-A6C34878D82A}">
                    <a16:rowId xmlns:a16="http://schemas.microsoft.com/office/drawing/2014/main" val="895227274"/>
                  </a:ext>
                </a:extLst>
              </a:tr>
              <a:tr h="279660">
                <a:tc>
                  <a:txBody>
                    <a:bodyPr/>
                    <a:lstStyle/>
                    <a:p>
                      <a:pPr algn="ctr"/>
                      <a:r>
                        <a:rPr lang="es-ES" sz="1200" dirty="0">
                          <a:latin typeface="Arial" panose="020B0604020202020204" pitchFamily="34" charset="0"/>
                          <a:cs typeface="Arial" panose="020B0604020202020204" pitchFamily="34" charset="0"/>
                        </a:rPr>
                        <a:t>f</a:t>
                      </a:r>
                    </a:p>
                  </a:txBody>
                  <a:tcPr anchor="ctr"/>
                </a:tc>
                <a:tc rowSpan="2">
                  <a:txBody>
                    <a:bodyPr/>
                    <a:lstStyle/>
                    <a:p>
                      <a:pPr algn="ctr"/>
                      <a:r>
                        <a:rPr lang="es-ES" sz="1200" dirty="0">
                          <a:latin typeface="Arial" panose="020B0604020202020204" pitchFamily="34" charset="0"/>
                          <a:cs typeface="Arial" panose="020B0604020202020204" pitchFamily="34" charset="0"/>
                        </a:rPr>
                        <a:t>±0,2</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±0,5</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±1</a:t>
                      </a:r>
                    </a:p>
                  </a:txBody>
                  <a:tcPr anchor="ctr"/>
                </a:tc>
                <a:extLst>
                  <a:ext uri="{0D108BD9-81ED-4DB2-BD59-A6C34878D82A}">
                    <a16:rowId xmlns:a16="http://schemas.microsoft.com/office/drawing/2014/main" val="1925547524"/>
                  </a:ext>
                </a:extLst>
              </a:tr>
              <a:tr h="279660">
                <a:tc>
                  <a:txBody>
                    <a:bodyPr/>
                    <a:lstStyle/>
                    <a:p>
                      <a:pPr algn="ctr"/>
                      <a:r>
                        <a:rPr lang="es-ES" sz="1200" dirty="0">
                          <a:latin typeface="Arial" panose="020B0604020202020204" pitchFamily="34" charset="0"/>
                          <a:cs typeface="Arial" panose="020B0604020202020204" pitchFamily="34" charset="0"/>
                        </a:rPr>
                        <a:t>m</a:t>
                      </a: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13672950"/>
                  </a:ext>
                </a:extLst>
              </a:tr>
              <a:tr h="279660">
                <a:tc>
                  <a:txBody>
                    <a:bodyPr/>
                    <a:lstStyle/>
                    <a:p>
                      <a:pPr algn="ctr"/>
                      <a:r>
                        <a:rPr lang="es-ES" sz="1200" dirty="0">
                          <a:latin typeface="Arial" panose="020B0604020202020204" pitchFamily="34" charset="0"/>
                          <a:cs typeface="Arial" panose="020B0604020202020204" pitchFamily="34" charset="0"/>
                        </a:rPr>
                        <a:t>c</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±0,4</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±1</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±2</a:t>
                      </a:r>
                    </a:p>
                  </a:txBody>
                  <a:tcPr anchor="ctr"/>
                </a:tc>
                <a:extLst>
                  <a:ext uri="{0D108BD9-81ED-4DB2-BD59-A6C34878D82A}">
                    <a16:rowId xmlns:a16="http://schemas.microsoft.com/office/drawing/2014/main" val="1533192692"/>
                  </a:ext>
                </a:extLst>
              </a:tr>
              <a:tr h="279660">
                <a:tc>
                  <a:txBody>
                    <a:bodyPr/>
                    <a:lstStyle/>
                    <a:p>
                      <a:pPr algn="ctr"/>
                      <a:r>
                        <a:rPr lang="es-ES" sz="1200" dirty="0">
                          <a:latin typeface="Arial" panose="020B0604020202020204" pitchFamily="34" charset="0"/>
                          <a:cs typeface="Arial" panose="020B0604020202020204" pitchFamily="34" charset="0"/>
                        </a:rPr>
                        <a:t>v</a:t>
                      </a: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60709599"/>
                  </a:ext>
                </a:extLst>
              </a:tr>
            </a:tbl>
          </a:graphicData>
        </a:graphic>
      </p:graphicFrame>
    </p:spTree>
    <p:extLst>
      <p:ext uri="{BB962C8B-B14F-4D97-AF65-F5344CB8AC3E}">
        <p14:creationId xmlns:p14="http://schemas.microsoft.com/office/powerpoint/2010/main" val="233389267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2FDD173-3664-5149-B769-5B6B06B2E10F}"/>
              </a:ext>
            </a:extLst>
          </p:cNvPr>
          <p:cNvSpPr txBox="1"/>
          <p:nvPr/>
        </p:nvSpPr>
        <p:spPr>
          <a:xfrm>
            <a:off x="1523998" y="1268760"/>
            <a:ext cx="6927870" cy="338554"/>
          </a:xfrm>
          <a:prstGeom prst="rect">
            <a:avLst/>
          </a:prstGeom>
          <a:noFill/>
        </p:spPr>
        <p:txBody>
          <a:bodyPr wrap="square" rtlCol="0">
            <a:spAutoFit/>
          </a:bodyPr>
          <a:lstStyle/>
          <a:p>
            <a:r>
              <a:rPr lang="es-ES" sz="1600" b="1" dirty="0">
                <a:latin typeface="Arial" panose="020B0604020202020204" pitchFamily="34" charset="0"/>
                <a:cs typeface="Arial" panose="020B0604020202020204" pitchFamily="34" charset="0"/>
              </a:rPr>
              <a:t>Tolerancias angulares generales (ISO 2768-1, UNE-EN-22768-1)</a:t>
            </a:r>
          </a:p>
        </p:txBody>
      </p:sp>
      <p:graphicFrame>
        <p:nvGraphicFramePr>
          <p:cNvPr id="7" name="Tabla 6">
            <a:extLst>
              <a:ext uri="{FF2B5EF4-FFF2-40B4-BE49-F238E27FC236}">
                <a16:creationId xmlns:a16="http://schemas.microsoft.com/office/drawing/2014/main" id="{B1948E15-546E-8749-8FAF-6A92078D0A55}"/>
              </a:ext>
            </a:extLst>
          </p:cNvPr>
          <p:cNvGraphicFramePr>
            <a:graphicFrameLocks noGrp="1"/>
          </p:cNvGraphicFramePr>
          <p:nvPr>
            <p:extLst>
              <p:ext uri="{D42A27DB-BD31-4B8C-83A1-F6EECF244321}">
                <p14:modId xmlns:p14="http://schemas.microsoft.com/office/powerpoint/2010/main" val="2734558331"/>
              </p:ext>
            </p:extLst>
          </p:nvPr>
        </p:nvGraphicFramePr>
        <p:xfrm>
          <a:off x="1523998" y="2050400"/>
          <a:ext cx="6720411" cy="2458720"/>
        </p:xfrm>
        <a:graphic>
          <a:graphicData uri="http://schemas.openxmlformats.org/drawingml/2006/table">
            <a:tbl>
              <a:tblPr firstRow="1" bandRow="1">
                <a:tableStyleId>{5C22544A-7EE6-4342-B048-85BDC9FD1C3A}</a:tableStyleId>
              </a:tblPr>
              <a:tblGrid>
                <a:gridCol w="1108367">
                  <a:extLst>
                    <a:ext uri="{9D8B030D-6E8A-4147-A177-3AD203B41FA5}">
                      <a16:colId xmlns:a16="http://schemas.microsoft.com/office/drawing/2014/main" val="201350883"/>
                    </a:ext>
                  </a:extLst>
                </a:gridCol>
                <a:gridCol w="1022855">
                  <a:extLst>
                    <a:ext uri="{9D8B030D-6E8A-4147-A177-3AD203B41FA5}">
                      <a16:colId xmlns:a16="http://schemas.microsoft.com/office/drawing/2014/main" val="389162770"/>
                    </a:ext>
                  </a:extLst>
                </a:gridCol>
                <a:gridCol w="1165530">
                  <a:extLst>
                    <a:ext uri="{9D8B030D-6E8A-4147-A177-3AD203B41FA5}">
                      <a16:colId xmlns:a16="http://schemas.microsoft.com/office/drawing/2014/main" val="3048071092"/>
                    </a:ext>
                  </a:extLst>
                </a:gridCol>
                <a:gridCol w="980966">
                  <a:extLst>
                    <a:ext uri="{9D8B030D-6E8A-4147-A177-3AD203B41FA5}">
                      <a16:colId xmlns:a16="http://schemas.microsoft.com/office/drawing/2014/main" val="4126381136"/>
                    </a:ext>
                  </a:extLst>
                </a:gridCol>
                <a:gridCol w="1226207">
                  <a:extLst>
                    <a:ext uri="{9D8B030D-6E8A-4147-A177-3AD203B41FA5}">
                      <a16:colId xmlns:a16="http://schemas.microsoft.com/office/drawing/2014/main" val="2442492710"/>
                    </a:ext>
                  </a:extLst>
                </a:gridCol>
                <a:gridCol w="1216486">
                  <a:extLst>
                    <a:ext uri="{9D8B030D-6E8A-4147-A177-3AD203B41FA5}">
                      <a16:colId xmlns:a16="http://schemas.microsoft.com/office/drawing/2014/main" val="832001268"/>
                    </a:ext>
                  </a:extLst>
                </a:gridCol>
              </a:tblGrid>
              <a:tr h="370840">
                <a:tc rowSpan="2">
                  <a:txBody>
                    <a:bodyPr/>
                    <a:lstStyle/>
                    <a:p>
                      <a:pPr algn="ctr"/>
                      <a:r>
                        <a:rPr lang="es-ES" sz="1400" dirty="0">
                          <a:latin typeface="Arial" panose="020B0604020202020204" pitchFamily="34" charset="0"/>
                          <a:cs typeface="Arial" panose="020B0604020202020204" pitchFamily="34" charset="0"/>
                        </a:rPr>
                        <a:t>Clase</a:t>
                      </a:r>
                    </a:p>
                  </a:txBody>
                  <a:tcPr anchor="ctr"/>
                </a:tc>
                <a:tc gridSpan="5">
                  <a:txBody>
                    <a:bodyPr/>
                    <a:lstStyle/>
                    <a:p>
                      <a:pPr algn="ctr"/>
                      <a:r>
                        <a:rPr lang="es-ES" sz="1400" dirty="0">
                          <a:latin typeface="Arial" panose="020B0604020202020204" pitchFamily="34" charset="0"/>
                          <a:cs typeface="Arial" panose="020B0604020202020204" pitchFamily="34" charset="0"/>
                        </a:rPr>
                        <a:t>Tolerancias angulares en función de la longitud del lado menor del ángulo considerado en mm</a:t>
                      </a:r>
                    </a:p>
                  </a:txBody>
                  <a:tcPr anchor="ct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tc hMerge="1">
                  <a:txBody>
                    <a:bodyPr/>
                    <a:lstStyle/>
                    <a:p>
                      <a:endParaRPr lang="es-E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33043865"/>
                  </a:ext>
                </a:extLst>
              </a:tr>
              <a:tr h="370840">
                <a:tc vMerge="1">
                  <a:txBody>
                    <a:bodyPr/>
                    <a:lstStyle/>
                    <a:p>
                      <a:endParaRPr lang="es-ES" sz="1200" dirty="0">
                        <a:latin typeface="Arial" panose="020B0604020202020204" pitchFamily="34" charset="0"/>
                        <a:cs typeface="Arial" panose="020B0604020202020204" pitchFamily="34" charset="0"/>
                      </a:endParaRPr>
                    </a:p>
                  </a:txBody>
                  <a:tcPr/>
                </a:tc>
                <a:tc>
                  <a:txBody>
                    <a:bodyPr/>
                    <a:lstStyle/>
                    <a:p>
                      <a:pPr algn="ctr"/>
                      <a:r>
                        <a:rPr lang="es-ES" sz="1200" dirty="0">
                          <a:latin typeface="Arial" panose="020B0604020202020204" pitchFamily="34" charset="0"/>
                          <a:cs typeface="Arial" panose="020B0604020202020204" pitchFamily="34" charset="0"/>
                        </a:rPr>
                        <a:t>De 0</a:t>
                      </a:r>
                    </a:p>
                    <a:p>
                      <a:pPr algn="ctr"/>
                      <a:r>
                        <a:rPr lang="es-ES" sz="1200" dirty="0">
                          <a:latin typeface="Arial" panose="020B0604020202020204" pitchFamily="34" charset="0"/>
                          <a:cs typeface="Arial" panose="020B0604020202020204" pitchFamily="34" charset="0"/>
                        </a:rPr>
                        <a:t>Hasta10</a:t>
                      </a:r>
                    </a:p>
                  </a:txBody>
                  <a:tcPr anchor="ctr"/>
                </a:tc>
                <a:tc>
                  <a:txBody>
                    <a:bodyPr/>
                    <a:lstStyle/>
                    <a:p>
                      <a:pPr algn="ctr"/>
                      <a:r>
                        <a:rPr lang="es-ES" sz="1200" dirty="0">
                          <a:latin typeface="Arial" panose="020B0604020202020204" pitchFamily="34" charset="0"/>
                          <a:cs typeface="Arial" panose="020B0604020202020204" pitchFamily="34" charset="0"/>
                        </a:rPr>
                        <a:t>De 10</a:t>
                      </a:r>
                    </a:p>
                    <a:p>
                      <a:pPr algn="ctr"/>
                      <a:r>
                        <a:rPr lang="es-ES" sz="1200" dirty="0">
                          <a:latin typeface="Arial" panose="020B0604020202020204" pitchFamily="34" charset="0"/>
                          <a:cs typeface="Arial" panose="020B0604020202020204" pitchFamily="34" charset="0"/>
                        </a:rPr>
                        <a:t>Hasta 50</a:t>
                      </a:r>
                    </a:p>
                  </a:txBody>
                  <a:tcPr anchor="ctr"/>
                </a:tc>
                <a:tc>
                  <a:txBody>
                    <a:bodyPr/>
                    <a:lstStyle/>
                    <a:p>
                      <a:pPr algn="ctr"/>
                      <a:r>
                        <a:rPr lang="es-ES" sz="1200" dirty="0">
                          <a:latin typeface="Arial" panose="020B0604020202020204" pitchFamily="34" charset="0"/>
                          <a:cs typeface="Arial" panose="020B0604020202020204" pitchFamily="34" charset="0"/>
                        </a:rPr>
                        <a:t>De 50</a:t>
                      </a:r>
                    </a:p>
                    <a:p>
                      <a:pPr algn="ctr"/>
                      <a:r>
                        <a:rPr lang="es-ES" sz="1200" dirty="0">
                          <a:latin typeface="Arial" panose="020B0604020202020204" pitchFamily="34" charset="0"/>
                          <a:cs typeface="Arial" panose="020B0604020202020204" pitchFamily="34" charset="0"/>
                        </a:rPr>
                        <a:t>Hasta 120</a:t>
                      </a:r>
                    </a:p>
                  </a:txBody>
                  <a:tcPr anchor="ctr"/>
                </a:tc>
                <a:tc>
                  <a:txBody>
                    <a:bodyPr/>
                    <a:lstStyle/>
                    <a:p>
                      <a:pPr algn="ctr"/>
                      <a:r>
                        <a:rPr lang="es-ES" sz="1200" dirty="0">
                          <a:latin typeface="Arial" panose="020B0604020202020204" pitchFamily="34" charset="0"/>
                          <a:cs typeface="Arial" panose="020B0604020202020204" pitchFamily="34" charset="0"/>
                        </a:rPr>
                        <a:t>De 120</a:t>
                      </a:r>
                    </a:p>
                    <a:p>
                      <a:pPr algn="ctr"/>
                      <a:r>
                        <a:rPr lang="es-ES" sz="1200" dirty="0">
                          <a:latin typeface="Arial" panose="020B0604020202020204" pitchFamily="34" charset="0"/>
                          <a:cs typeface="Arial" panose="020B0604020202020204" pitchFamily="34" charset="0"/>
                        </a:rPr>
                        <a:t>Hasta 400</a:t>
                      </a:r>
                    </a:p>
                  </a:txBody>
                  <a:tcPr anchor="ctr"/>
                </a:tc>
                <a:tc>
                  <a:txBody>
                    <a:bodyPr/>
                    <a:lstStyle/>
                    <a:p>
                      <a:pPr algn="ctr"/>
                      <a:r>
                        <a:rPr lang="es-ES" sz="1200" dirty="0">
                          <a:latin typeface="Arial" panose="020B0604020202020204" pitchFamily="34" charset="0"/>
                          <a:cs typeface="Arial" panose="020B0604020202020204" pitchFamily="34" charset="0"/>
                        </a:rPr>
                        <a:t>Más de 400</a:t>
                      </a:r>
                    </a:p>
                  </a:txBody>
                  <a:tcPr anchor="ctr"/>
                </a:tc>
                <a:extLst>
                  <a:ext uri="{0D108BD9-81ED-4DB2-BD59-A6C34878D82A}">
                    <a16:rowId xmlns:a16="http://schemas.microsoft.com/office/drawing/2014/main" val="895227274"/>
                  </a:ext>
                </a:extLst>
              </a:tr>
              <a:tr h="370840">
                <a:tc>
                  <a:txBody>
                    <a:bodyPr/>
                    <a:lstStyle/>
                    <a:p>
                      <a:pPr algn="ctr"/>
                      <a:r>
                        <a:rPr lang="es-ES" sz="1200" dirty="0">
                          <a:latin typeface="Arial" panose="020B0604020202020204" pitchFamily="34" charset="0"/>
                          <a:cs typeface="Arial" panose="020B0604020202020204" pitchFamily="34" charset="0"/>
                        </a:rPr>
                        <a:t>f</a:t>
                      </a:r>
                    </a:p>
                  </a:txBody>
                  <a:tcPr anchor="ctr"/>
                </a:tc>
                <a:tc rowSpan="2">
                  <a:txBody>
                    <a:bodyPr/>
                    <a:lstStyle/>
                    <a:p>
                      <a:pPr algn="ctr"/>
                      <a:r>
                        <a:rPr lang="es-ES" sz="1200" dirty="0">
                          <a:latin typeface="Arial" panose="020B0604020202020204" pitchFamily="34" charset="0"/>
                          <a:cs typeface="Arial" panose="020B0604020202020204" pitchFamily="34" charset="0"/>
                        </a:rPr>
                        <a:t>±1°</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±0°30’</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±0°20’</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±0°10’</a:t>
                      </a: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±0°5’</a:t>
                      </a:r>
                    </a:p>
                  </a:txBody>
                  <a:tcPr anchor="ctr"/>
                </a:tc>
                <a:extLst>
                  <a:ext uri="{0D108BD9-81ED-4DB2-BD59-A6C34878D82A}">
                    <a16:rowId xmlns:a16="http://schemas.microsoft.com/office/drawing/2014/main" val="1925547524"/>
                  </a:ext>
                </a:extLst>
              </a:tr>
              <a:tr h="370840">
                <a:tc>
                  <a:txBody>
                    <a:bodyPr/>
                    <a:lstStyle/>
                    <a:p>
                      <a:pPr algn="ctr"/>
                      <a:r>
                        <a:rPr lang="es-ES" sz="1200" dirty="0">
                          <a:latin typeface="Arial" panose="020B0604020202020204" pitchFamily="34" charset="0"/>
                          <a:cs typeface="Arial" panose="020B0604020202020204" pitchFamily="34" charset="0"/>
                        </a:rPr>
                        <a:t>m</a:t>
                      </a: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13672950"/>
                  </a:ext>
                </a:extLst>
              </a:tr>
              <a:tr h="370840">
                <a:tc>
                  <a:txBody>
                    <a:bodyPr/>
                    <a:lstStyle/>
                    <a:p>
                      <a:pPr algn="ctr"/>
                      <a:r>
                        <a:rPr lang="es-ES" sz="1200" dirty="0">
                          <a:latin typeface="Arial" panose="020B0604020202020204" pitchFamily="34" charset="0"/>
                          <a:cs typeface="Arial" panose="020B0604020202020204" pitchFamily="34" charset="0"/>
                        </a:rPr>
                        <a:t>c</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±1°30’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±0°30’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±0°10’</a:t>
                      </a:r>
                    </a:p>
                  </a:txBody>
                  <a:tcPr anchor="ctr"/>
                </a:tc>
                <a:extLst>
                  <a:ext uri="{0D108BD9-81ED-4DB2-BD59-A6C34878D82A}">
                    <a16:rowId xmlns:a16="http://schemas.microsoft.com/office/drawing/2014/main" val="1533192692"/>
                  </a:ext>
                </a:extLst>
              </a:tr>
              <a:tr h="370840">
                <a:tc>
                  <a:txBody>
                    <a:bodyPr/>
                    <a:lstStyle/>
                    <a:p>
                      <a:pPr algn="ctr"/>
                      <a:r>
                        <a:rPr lang="es-ES" sz="1200" dirty="0">
                          <a:latin typeface="Arial" panose="020B0604020202020204" pitchFamily="34" charset="0"/>
                          <a:cs typeface="Arial" panose="020B0604020202020204" pitchFamily="34" charset="0"/>
                        </a:rPr>
                        <a:t>v</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±0°30’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dirty="0">
                          <a:latin typeface="Arial" panose="020B0604020202020204" pitchFamily="34" charset="0"/>
                          <a:cs typeface="Arial" panose="020B0604020202020204" pitchFamily="34" charset="0"/>
                        </a:rPr>
                        <a:t>±0°20’</a:t>
                      </a:r>
                    </a:p>
                  </a:txBody>
                  <a:tcPr anchor="ctr"/>
                </a:tc>
                <a:extLst>
                  <a:ext uri="{0D108BD9-81ED-4DB2-BD59-A6C34878D82A}">
                    <a16:rowId xmlns:a16="http://schemas.microsoft.com/office/drawing/2014/main" val="1060709599"/>
                  </a:ext>
                </a:extLst>
              </a:tr>
            </a:tbl>
          </a:graphicData>
        </a:graphic>
      </p:graphicFrame>
      <p:sp>
        <p:nvSpPr>
          <p:cNvPr id="6" name="1 Título">
            <a:extLst>
              <a:ext uri="{FF2B5EF4-FFF2-40B4-BE49-F238E27FC236}">
                <a16:creationId xmlns:a16="http://schemas.microsoft.com/office/drawing/2014/main" id="{97A7AE5C-66F8-9C6E-8423-13B9497382D8}"/>
              </a:ext>
            </a:extLst>
          </p:cNvPr>
          <p:cNvSpPr>
            <a:spLocks noGrp="1"/>
          </p:cNvSpPr>
          <p:nvPr>
            <p:ph type="ctrTitle"/>
          </p:nvPr>
        </p:nvSpPr>
        <p:spPr>
          <a:xfrm>
            <a:off x="1431925" y="188640"/>
            <a:ext cx="7407275" cy="576362"/>
          </a:xfrm>
        </p:spPr>
        <p:txBody>
          <a:bodyPr>
            <a:normAutofit fontScale="90000"/>
          </a:bodyPr>
          <a:lstStyle/>
          <a:p>
            <a:pPr eaLnBrk="1" hangingPunct="1">
              <a:defRPr/>
            </a:pPr>
            <a:r>
              <a:rPr lang="es-ES_tradnl" altLang="es-ES" sz="2800"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rPr>
              <a:t>Planos.  Consignación de tolerancias generales</a:t>
            </a:r>
            <a:endParaRPr lang="es-ES" altLang="es-ES"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05402999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2FDD173-3664-5149-B769-5B6B06B2E10F}"/>
              </a:ext>
            </a:extLst>
          </p:cNvPr>
          <p:cNvSpPr txBox="1"/>
          <p:nvPr/>
        </p:nvSpPr>
        <p:spPr>
          <a:xfrm>
            <a:off x="1394666" y="701106"/>
            <a:ext cx="6927870" cy="338554"/>
          </a:xfrm>
          <a:prstGeom prst="rect">
            <a:avLst/>
          </a:prstGeom>
          <a:noFill/>
        </p:spPr>
        <p:txBody>
          <a:bodyPr wrap="square" rtlCol="0">
            <a:spAutoFit/>
          </a:bodyPr>
          <a:lstStyle/>
          <a:p>
            <a:r>
              <a:rPr lang="es-ES" sz="1600" b="1" dirty="0"/>
              <a:t>Tolerancias geométricas generales (ISO 2768-2, UNE-EN-22768-2)</a:t>
            </a:r>
          </a:p>
        </p:txBody>
      </p:sp>
      <p:sp>
        <p:nvSpPr>
          <p:cNvPr id="8" name="CuadroTexto 7">
            <a:extLst>
              <a:ext uri="{FF2B5EF4-FFF2-40B4-BE49-F238E27FC236}">
                <a16:creationId xmlns:a16="http://schemas.microsoft.com/office/drawing/2014/main" id="{B03C8A29-201A-9A4D-9F4A-9D7A33256E78}"/>
              </a:ext>
            </a:extLst>
          </p:cNvPr>
          <p:cNvSpPr txBox="1"/>
          <p:nvPr/>
        </p:nvSpPr>
        <p:spPr>
          <a:xfrm>
            <a:off x="1187624" y="5517232"/>
            <a:ext cx="7488832" cy="1323439"/>
          </a:xfrm>
          <a:prstGeom prst="rect">
            <a:avLst/>
          </a:prstGeom>
          <a:noFill/>
        </p:spPr>
        <p:txBody>
          <a:bodyPr wrap="square" rtlCol="0">
            <a:spAutoFit/>
          </a:bodyPr>
          <a:lstStyle/>
          <a:p>
            <a:r>
              <a:rPr lang="es-ES" sz="1600" dirty="0"/>
              <a:t>Para la tolerancia de </a:t>
            </a:r>
            <a:r>
              <a:rPr lang="es-ES" sz="1600" b="1" dirty="0" err="1"/>
              <a:t>planitud</a:t>
            </a:r>
            <a:r>
              <a:rPr lang="es-ES" sz="1600" dirty="0"/>
              <a:t> debe tomarse la mayor dimensión de la superficie</a:t>
            </a:r>
          </a:p>
          <a:p>
            <a:r>
              <a:rPr lang="es-ES" sz="1600" dirty="0"/>
              <a:t>Las </a:t>
            </a:r>
            <a:r>
              <a:rPr lang="es-ES" sz="1600" b="1" dirty="0"/>
              <a:t>tolerancias generales de redondez </a:t>
            </a:r>
            <a:r>
              <a:rPr lang="es-ES" sz="1600" dirty="0"/>
              <a:t>son las mismas que las de rectitud aplicadas al diámetro del elemento geométrico siempre que no superen las generales de alabeo</a:t>
            </a:r>
          </a:p>
          <a:p>
            <a:r>
              <a:rPr lang="es-ES" sz="1600" dirty="0"/>
              <a:t>La </a:t>
            </a:r>
            <a:r>
              <a:rPr lang="es-ES" sz="1600" b="1" dirty="0"/>
              <a:t>tolerancia de paralelismo</a:t>
            </a:r>
            <a:r>
              <a:rPr lang="es-ES" sz="1600" dirty="0"/>
              <a:t> se toma también de la tabla anterior considerando la mayor dimensión del elemento posicionado y la referencia.</a:t>
            </a:r>
          </a:p>
        </p:txBody>
      </p:sp>
      <p:sp>
        <p:nvSpPr>
          <p:cNvPr id="9" name="CuadroTexto 8">
            <a:extLst>
              <a:ext uri="{FF2B5EF4-FFF2-40B4-BE49-F238E27FC236}">
                <a16:creationId xmlns:a16="http://schemas.microsoft.com/office/drawing/2014/main" id="{8CC5E7B6-C42A-644A-82AC-D4CD9133C345}"/>
              </a:ext>
            </a:extLst>
          </p:cNvPr>
          <p:cNvSpPr txBox="1"/>
          <p:nvPr/>
        </p:nvSpPr>
        <p:spPr>
          <a:xfrm>
            <a:off x="1403350" y="1070438"/>
            <a:ext cx="6999878" cy="2062103"/>
          </a:xfrm>
          <a:prstGeom prst="rect">
            <a:avLst/>
          </a:prstGeom>
          <a:noFill/>
        </p:spPr>
        <p:txBody>
          <a:bodyPr wrap="square" rtlCol="0">
            <a:spAutoFit/>
          </a:bodyPr>
          <a:lstStyle/>
          <a:p>
            <a:r>
              <a:rPr lang="es-ES" sz="1600" dirty="0"/>
              <a:t>No se especifican tolerancias generales de:</a:t>
            </a:r>
          </a:p>
          <a:p>
            <a:pPr marL="285750" indent="-285750">
              <a:buFont typeface="Arial" panose="020B0604020202020204" pitchFamily="34" charset="0"/>
              <a:buChar char="•"/>
            </a:pPr>
            <a:r>
              <a:rPr lang="es-ES" sz="1600" dirty="0" err="1"/>
              <a:t>Cilindricidad</a:t>
            </a:r>
            <a:endParaRPr lang="es-ES" sz="1600" dirty="0"/>
          </a:p>
          <a:p>
            <a:pPr marL="285750" indent="-285750">
              <a:buFont typeface="Arial" panose="020B0604020202020204" pitchFamily="34" charset="0"/>
              <a:buChar char="•"/>
            </a:pPr>
            <a:r>
              <a:rPr lang="es-ES" sz="1600" dirty="0"/>
              <a:t>Perfil de línea y superficie</a:t>
            </a:r>
          </a:p>
          <a:p>
            <a:pPr marL="285750" indent="-285750">
              <a:buFont typeface="Arial" panose="020B0604020202020204" pitchFamily="34" charset="0"/>
              <a:buChar char="•"/>
            </a:pPr>
            <a:r>
              <a:rPr lang="es-ES" sz="1600" dirty="0" err="1"/>
              <a:t>Angularidad</a:t>
            </a:r>
            <a:endParaRPr lang="es-ES" sz="1600" dirty="0"/>
          </a:p>
          <a:p>
            <a:pPr marL="285750" indent="-285750">
              <a:buFont typeface="Arial" panose="020B0604020202020204" pitchFamily="34" charset="0"/>
              <a:buChar char="•"/>
            </a:pPr>
            <a:r>
              <a:rPr lang="es-ES" sz="1600" dirty="0"/>
              <a:t>Alabeo axial</a:t>
            </a:r>
          </a:p>
          <a:p>
            <a:pPr marL="285750" indent="-285750">
              <a:buFont typeface="Arial" panose="020B0604020202020204" pitchFamily="34" charset="0"/>
              <a:buChar char="•"/>
            </a:pPr>
            <a:r>
              <a:rPr lang="es-ES" sz="1600" dirty="0"/>
              <a:t>Posición</a:t>
            </a:r>
          </a:p>
          <a:p>
            <a:pPr marL="285750" indent="-285750">
              <a:buFont typeface="Arial" panose="020B0604020202020204" pitchFamily="34" charset="0"/>
              <a:buChar char="•"/>
            </a:pPr>
            <a:r>
              <a:rPr lang="es-ES" sz="1600" dirty="0" err="1"/>
              <a:t>Concentricidad</a:t>
            </a:r>
            <a:endParaRPr lang="es-ES" sz="1600" dirty="0"/>
          </a:p>
          <a:p>
            <a:pPr marL="285750" indent="-285750">
              <a:buFont typeface="Arial" panose="020B0604020202020204" pitchFamily="34" charset="0"/>
              <a:buChar char="•"/>
            </a:pPr>
            <a:r>
              <a:rPr lang="es-ES" sz="1600" dirty="0"/>
              <a:t>Simetría </a:t>
            </a:r>
          </a:p>
        </p:txBody>
      </p:sp>
      <p:graphicFrame>
        <p:nvGraphicFramePr>
          <p:cNvPr id="3" name="Tabla 2">
            <a:extLst>
              <a:ext uri="{FF2B5EF4-FFF2-40B4-BE49-F238E27FC236}">
                <a16:creationId xmlns:a16="http://schemas.microsoft.com/office/drawing/2014/main" id="{69B26251-2413-B141-AB5F-54285C76E8ED}"/>
              </a:ext>
            </a:extLst>
          </p:cNvPr>
          <p:cNvGraphicFramePr>
            <a:graphicFrameLocks noGrp="1"/>
          </p:cNvGraphicFramePr>
          <p:nvPr/>
        </p:nvGraphicFramePr>
        <p:xfrm>
          <a:off x="1252081" y="3237820"/>
          <a:ext cx="7488831" cy="1910080"/>
        </p:xfrm>
        <a:graphic>
          <a:graphicData uri="http://schemas.openxmlformats.org/drawingml/2006/table">
            <a:tbl>
              <a:tblPr firstRow="1" bandRow="1">
                <a:tableStyleId>{5C22544A-7EE6-4342-B048-85BDC9FD1C3A}</a:tableStyleId>
              </a:tblPr>
              <a:tblGrid>
                <a:gridCol w="1069833">
                  <a:extLst>
                    <a:ext uri="{9D8B030D-6E8A-4147-A177-3AD203B41FA5}">
                      <a16:colId xmlns:a16="http://schemas.microsoft.com/office/drawing/2014/main" val="4135645674"/>
                    </a:ext>
                  </a:extLst>
                </a:gridCol>
                <a:gridCol w="1069833">
                  <a:extLst>
                    <a:ext uri="{9D8B030D-6E8A-4147-A177-3AD203B41FA5}">
                      <a16:colId xmlns:a16="http://schemas.microsoft.com/office/drawing/2014/main" val="2726362305"/>
                    </a:ext>
                  </a:extLst>
                </a:gridCol>
                <a:gridCol w="1069833">
                  <a:extLst>
                    <a:ext uri="{9D8B030D-6E8A-4147-A177-3AD203B41FA5}">
                      <a16:colId xmlns:a16="http://schemas.microsoft.com/office/drawing/2014/main" val="1695370852"/>
                    </a:ext>
                  </a:extLst>
                </a:gridCol>
                <a:gridCol w="1069833">
                  <a:extLst>
                    <a:ext uri="{9D8B030D-6E8A-4147-A177-3AD203B41FA5}">
                      <a16:colId xmlns:a16="http://schemas.microsoft.com/office/drawing/2014/main" val="768883466"/>
                    </a:ext>
                  </a:extLst>
                </a:gridCol>
                <a:gridCol w="1069833">
                  <a:extLst>
                    <a:ext uri="{9D8B030D-6E8A-4147-A177-3AD203B41FA5}">
                      <a16:colId xmlns:a16="http://schemas.microsoft.com/office/drawing/2014/main" val="1576563674"/>
                    </a:ext>
                  </a:extLst>
                </a:gridCol>
                <a:gridCol w="1069833">
                  <a:extLst>
                    <a:ext uri="{9D8B030D-6E8A-4147-A177-3AD203B41FA5}">
                      <a16:colId xmlns:a16="http://schemas.microsoft.com/office/drawing/2014/main" val="1334189895"/>
                    </a:ext>
                  </a:extLst>
                </a:gridCol>
                <a:gridCol w="1069833">
                  <a:extLst>
                    <a:ext uri="{9D8B030D-6E8A-4147-A177-3AD203B41FA5}">
                      <a16:colId xmlns:a16="http://schemas.microsoft.com/office/drawing/2014/main" val="2074326688"/>
                    </a:ext>
                  </a:extLst>
                </a:gridCol>
              </a:tblGrid>
              <a:tr h="370840">
                <a:tc>
                  <a:txBody>
                    <a:bodyPr/>
                    <a:lstStyle/>
                    <a:p>
                      <a:r>
                        <a:rPr lang="es-ES" sz="1600" dirty="0">
                          <a:latin typeface="Arial" panose="020B0604020202020204" pitchFamily="34" charset="0"/>
                          <a:cs typeface="Arial" panose="020B0604020202020204" pitchFamily="34" charset="0"/>
                        </a:rPr>
                        <a:t>Clase</a:t>
                      </a:r>
                    </a:p>
                  </a:txBody>
                  <a:tcPr/>
                </a:tc>
                <a:tc gridSpan="6">
                  <a:txBody>
                    <a:bodyPr/>
                    <a:lstStyle/>
                    <a:p>
                      <a:r>
                        <a:rPr lang="es-ES" sz="1600" dirty="0">
                          <a:latin typeface="Arial" panose="020B0604020202020204" pitchFamily="34" charset="0"/>
                          <a:cs typeface="Arial" panose="020B0604020202020204" pitchFamily="34" charset="0"/>
                        </a:rPr>
                        <a:t>Tolerancias de rectitud y </a:t>
                      </a:r>
                      <a:r>
                        <a:rPr lang="es-ES" sz="1600" dirty="0" err="1">
                          <a:latin typeface="Arial" panose="020B0604020202020204" pitchFamily="34" charset="0"/>
                          <a:cs typeface="Arial" panose="020B0604020202020204" pitchFamily="34" charset="0"/>
                        </a:rPr>
                        <a:t>planitud</a:t>
                      </a:r>
                      <a:r>
                        <a:rPr lang="es-ES" sz="1600" dirty="0">
                          <a:latin typeface="Arial" panose="020B0604020202020204" pitchFamily="34" charset="0"/>
                          <a:cs typeface="Arial" panose="020B0604020202020204" pitchFamily="34" charset="0"/>
                        </a:rPr>
                        <a:t> (medias mm)</a:t>
                      </a:r>
                    </a:p>
                  </a:txBody>
                  <a:tcPr/>
                </a:tc>
                <a:tc hMerge="1">
                  <a:txBody>
                    <a:bodyPr/>
                    <a:lstStyle/>
                    <a:p>
                      <a:endParaRPr lang="es-ES" dirty="0"/>
                    </a:p>
                  </a:txBody>
                  <a:tcPr/>
                </a:tc>
                <a:tc hMerge="1">
                  <a:txBody>
                    <a:bodyPr/>
                    <a:lstStyle/>
                    <a:p>
                      <a:endParaRPr lang="es-ES" dirty="0"/>
                    </a:p>
                  </a:txBody>
                  <a:tcPr/>
                </a:tc>
                <a:tc hMerge="1">
                  <a:txBody>
                    <a:bodyPr/>
                    <a:lstStyle/>
                    <a:p>
                      <a:endParaRPr lang="es-ES" dirty="0"/>
                    </a:p>
                  </a:txBody>
                  <a:tcPr/>
                </a:tc>
                <a:tc hMerge="1">
                  <a:txBody>
                    <a:bodyPr/>
                    <a:lstStyle/>
                    <a:p>
                      <a:endParaRPr lang="es-ES" dirty="0"/>
                    </a:p>
                  </a:txBody>
                  <a:tcPr/>
                </a:tc>
                <a:tc hMerge="1">
                  <a:txBody>
                    <a:bodyPr/>
                    <a:lstStyle/>
                    <a:p>
                      <a:endParaRPr lang="es-ES" dirty="0"/>
                    </a:p>
                  </a:txBody>
                  <a:tcPr/>
                </a:tc>
                <a:extLst>
                  <a:ext uri="{0D108BD9-81ED-4DB2-BD59-A6C34878D82A}">
                    <a16:rowId xmlns:a16="http://schemas.microsoft.com/office/drawing/2014/main" val="1100554769"/>
                  </a:ext>
                </a:extLst>
              </a:tr>
              <a:tr h="370840">
                <a:tc>
                  <a:txBody>
                    <a:bodyPr/>
                    <a:lstStyle/>
                    <a:p>
                      <a:pPr algn="ctr"/>
                      <a:r>
                        <a:rPr lang="es-ES" sz="1100" b="1" dirty="0">
                          <a:latin typeface="Arial" panose="020B0604020202020204" pitchFamily="34" charset="0"/>
                          <a:cs typeface="Arial" panose="020B0604020202020204" pitchFamily="34" charset="0"/>
                        </a:rPr>
                        <a:t>Designación</a:t>
                      </a:r>
                    </a:p>
                  </a:txBody>
                  <a:tcPr anchor="ctr"/>
                </a:tc>
                <a:tc>
                  <a:txBody>
                    <a:bodyPr/>
                    <a:lstStyle/>
                    <a:p>
                      <a:pPr algn="ctr"/>
                      <a:r>
                        <a:rPr lang="es-ES" sz="1100" b="1" dirty="0">
                          <a:latin typeface="Arial" panose="020B0604020202020204" pitchFamily="34" charset="0"/>
                          <a:cs typeface="Arial" panose="020B0604020202020204" pitchFamily="34" charset="0"/>
                        </a:rPr>
                        <a:t>Hasta 10</a:t>
                      </a:r>
                    </a:p>
                  </a:txBody>
                  <a:tcPr anchor="ctr"/>
                </a:tc>
                <a:tc>
                  <a:txBody>
                    <a:bodyPr/>
                    <a:lstStyle/>
                    <a:p>
                      <a:pPr algn="ctr"/>
                      <a:r>
                        <a:rPr lang="es-ES" sz="1100" b="1" dirty="0">
                          <a:latin typeface="Arial" panose="020B0604020202020204" pitchFamily="34" charset="0"/>
                          <a:cs typeface="Arial" panose="020B0604020202020204" pitchFamily="34" charset="0"/>
                        </a:rPr>
                        <a:t>Más de 10</a:t>
                      </a:r>
                    </a:p>
                    <a:p>
                      <a:pPr algn="ctr"/>
                      <a:r>
                        <a:rPr lang="es-ES" sz="1100" b="1" dirty="0">
                          <a:latin typeface="Arial" panose="020B0604020202020204" pitchFamily="34" charset="0"/>
                          <a:cs typeface="Arial" panose="020B0604020202020204" pitchFamily="34" charset="0"/>
                        </a:rPr>
                        <a:t>Hasta 30</a:t>
                      </a:r>
                    </a:p>
                  </a:txBody>
                  <a:tcPr anchor="ctr"/>
                </a:tc>
                <a:tc>
                  <a:txBody>
                    <a:bodyPr/>
                    <a:lstStyle/>
                    <a:p>
                      <a:pPr algn="ctr"/>
                      <a:r>
                        <a:rPr lang="es-ES" sz="1100" b="1" dirty="0">
                          <a:latin typeface="Arial" panose="020B0604020202020204" pitchFamily="34" charset="0"/>
                          <a:cs typeface="Arial" panose="020B0604020202020204" pitchFamily="34" charset="0"/>
                        </a:rPr>
                        <a:t>Más de 30</a:t>
                      </a:r>
                    </a:p>
                    <a:p>
                      <a:pPr algn="ctr"/>
                      <a:r>
                        <a:rPr lang="es-ES" sz="1100" b="1" dirty="0">
                          <a:latin typeface="Arial" panose="020B0604020202020204" pitchFamily="34" charset="0"/>
                          <a:cs typeface="Arial" panose="020B0604020202020204" pitchFamily="34" charset="0"/>
                        </a:rPr>
                        <a:t>Hasta 100</a:t>
                      </a:r>
                    </a:p>
                  </a:txBody>
                  <a:tcPr anchor="ctr"/>
                </a:tc>
                <a:tc>
                  <a:txBody>
                    <a:bodyPr/>
                    <a:lstStyle/>
                    <a:p>
                      <a:pPr algn="ctr"/>
                      <a:r>
                        <a:rPr lang="es-ES" sz="1100" b="1" dirty="0">
                          <a:latin typeface="Arial" panose="020B0604020202020204" pitchFamily="34" charset="0"/>
                          <a:cs typeface="Arial" panose="020B0604020202020204" pitchFamily="34" charset="0"/>
                        </a:rPr>
                        <a:t>Más de 100</a:t>
                      </a:r>
                    </a:p>
                    <a:p>
                      <a:pPr algn="ctr"/>
                      <a:r>
                        <a:rPr lang="es-ES" sz="1100" b="1" dirty="0">
                          <a:latin typeface="Arial" panose="020B0604020202020204" pitchFamily="34" charset="0"/>
                          <a:cs typeface="Arial" panose="020B0604020202020204" pitchFamily="34" charset="0"/>
                        </a:rPr>
                        <a:t>Hasta 300</a:t>
                      </a:r>
                    </a:p>
                  </a:txBody>
                  <a:tcPr anchor="ctr"/>
                </a:tc>
                <a:tc>
                  <a:txBody>
                    <a:bodyPr/>
                    <a:lstStyle/>
                    <a:p>
                      <a:pPr algn="ctr"/>
                      <a:r>
                        <a:rPr lang="es-ES" sz="1100" b="1" dirty="0">
                          <a:latin typeface="Arial" panose="020B0604020202020204" pitchFamily="34" charset="0"/>
                          <a:cs typeface="Arial" panose="020B0604020202020204" pitchFamily="34" charset="0"/>
                        </a:rPr>
                        <a:t>Más de 300</a:t>
                      </a:r>
                    </a:p>
                    <a:p>
                      <a:pPr algn="ctr"/>
                      <a:r>
                        <a:rPr lang="es-ES" sz="1100" b="1" dirty="0">
                          <a:latin typeface="Arial" panose="020B0604020202020204" pitchFamily="34" charset="0"/>
                          <a:cs typeface="Arial" panose="020B0604020202020204" pitchFamily="34" charset="0"/>
                        </a:rPr>
                        <a:t>Hasta 1000</a:t>
                      </a:r>
                    </a:p>
                  </a:txBody>
                  <a:tcPr anchor="ctr"/>
                </a:tc>
                <a:tc>
                  <a:txBody>
                    <a:bodyPr/>
                    <a:lstStyle/>
                    <a:p>
                      <a:pPr algn="ctr"/>
                      <a:r>
                        <a:rPr lang="es-ES" sz="1100" b="1" dirty="0">
                          <a:latin typeface="Arial" panose="020B0604020202020204" pitchFamily="34" charset="0"/>
                          <a:cs typeface="Arial" panose="020B0604020202020204" pitchFamily="34" charset="0"/>
                        </a:rPr>
                        <a:t>Más de 1000</a:t>
                      </a:r>
                    </a:p>
                    <a:p>
                      <a:pPr algn="ctr"/>
                      <a:r>
                        <a:rPr lang="es-ES" sz="1100" b="1" dirty="0">
                          <a:latin typeface="Arial" panose="020B0604020202020204" pitchFamily="34" charset="0"/>
                          <a:cs typeface="Arial" panose="020B0604020202020204" pitchFamily="34" charset="0"/>
                        </a:rPr>
                        <a:t>Hasta 3000</a:t>
                      </a:r>
                    </a:p>
                  </a:txBody>
                  <a:tcPr anchor="ctr"/>
                </a:tc>
                <a:extLst>
                  <a:ext uri="{0D108BD9-81ED-4DB2-BD59-A6C34878D82A}">
                    <a16:rowId xmlns:a16="http://schemas.microsoft.com/office/drawing/2014/main" val="4067338532"/>
                  </a:ext>
                </a:extLst>
              </a:tr>
              <a:tr h="370840">
                <a:tc>
                  <a:txBody>
                    <a:bodyPr/>
                    <a:lstStyle/>
                    <a:p>
                      <a:pPr algn="ctr"/>
                      <a:r>
                        <a:rPr lang="es-ES" sz="1200" dirty="0">
                          <a:latin typeface="Arial" panose="020B0604020202020204" pitchFamily="34" charset="0"/>
                          <a:cs typeface="Arial" panose="020B0604020202020204" pitchFamily="34" charset="0"/>
                        </a:rPr>
                        <a:t>H</a:t>
                      </a:r>
                    </a:p>
                  </a:txBody>
                  <a:tcPr anchor="ctr"/>
                </a:tc>
                <a:tc>
                  <a:txBody>
                    <a:bodyPr/>
                    <a:lstStyle/>
                    <a:p>
                      <a:pPr algn="ctr"/>
                      <a:r>
                        <a:rPr lang="es-ES" sz="1200" dirty="0">
                          <a:latin typeface="Arial" panose="020B0604020202020204" pitchFamily="34" charset="0"/>
                          <a:cs typeface="Arial" panose="020B0604020202020204" pitchFamily="34" charset="0"/>
                        </a:rPr>
                        <a:t>0,02</a:t>
                      </a:r>
                    </a:p>
                  </a:txBody>
                  <a:tcPr anchor="ctr"/>
                </a:tc>
                <a:tc>
                  <a:txBody>
                    <a:bodyPr/>
                    <a:lstStyle/>
                    <a:p>
                      <a:pPr algn="ctr"/>
                      <a:r>
                        <a:rPr lang="es-ES" sz="1200" dirty="0">
                          <a:latin typeface="Arial" panose="020B0604020202020204" pitchFamily="34" charset="0"/>
                          <a:cs typeface="Arial" panose="020B0604020202020204" pitchFamily="34" charset="0"/>
                        </a:rPr>
                        <a:t>0,05</a:t>
                      </a:r>
                    </a:p>
                  </a:txBody>
                  <a:tcPr anchor="ctr"/>
                </a:tc>
                <a:tc>
                  <a:txBody>
                    <a:bodyPr/>
                    <a:lstStyle/>
                    <a:p>
                      <a:pPr algn="ctr"/>
                      <a:r>
                        <a:rPr lang="es-ES" sz="1200" dirty="0">
                          <a:latin typeface="Arial" panose="020B0604020202020204" pitchFamily="34" charset="0"/>
                          <a:cs typeface="Arial" panose="020B0604020202020204" pitchFamily="34" charset="0"/>
                        </a:rPr>
                        <a:t>0,1</a:t>
                      </a:r>
                    </a:p>
                  </a:txBody>
                  <a:tcPr anchor="ctr"/>
                </a:tc>
                <a:tc>
                  <a:txBody>
                    <a:bodyPr/>
                    <a:lstStyle/>
                    <a:p>
                      <a:pPr algn="ctr"/>
                      <a:r>
                        <a:rPr lang="es-ES" sz="1200" dirty="0">
                          <a:latin typeface="Arial" panose="020B0604020202020204" pitchFamily="34" charset="0"/>
                          <a:cs typeface="Arial" panose="020B0604020202020204" pitchFamily="34" charset="0"/>
                        </a:rPr>
                        <a:t>0,2</a:t>
                      </a:r>
                    </a:p>
                  </a:txBody>
                  <a:tcPr anchor="ctr"/>
                </a:tc>
                <a:tc>
                  <a:txBody>
                    <a:bodyPr/>
                    <a:lstStyle/>
                    <a:p>
                      <a:pPr algn="ctr"/>
                      <a:r>
                        <a:rPr lang="es-ES" sz="1200" dirty="0">
                          <a:latin typeface="Arial" panose="020B0604020202020204" pitchFamily="34" charset="0"/>
                          <a:cs typeface="Arial" panose="020B0604020202020204" pitchFamily="34" charset="0"/>
                        </a:rPr>
                        <a:t>0,3</a:t>
                      </a:r>
                    </a:p>
                  </a:txBody>
                  <a:tcPr anchor="ctr"/>
                </a:tc>
                <a:tc>
                  <a:txBody>
                    <a:bodyPr/>
                    <a:lstStyle/>
                    <a:p>
                      <a:pPr algn="ctr"/>
                      <a:r>
                        <a:rPr lang="es-ES" sz="1200" dirty="0">
                          <a:latin typeface="Arial" panose="020B0604020202020204" pitchFamily="34" charset="0"/>
                          <a:cs typeface="Arial" panose="020B0604020202020204" pitchFamily="34" charset="0"/>
                        </a:rPr>
                        <a:t>0,4</a:t>
                      </a:r>
                    </a:p>
                  </a:txBody>
                  <a:tcPr anchor="ctr"/>
                </a:tc>
                <a:extLst>
                  <a:ext uri="{0D108BD9-81ED-4DB2-BD59-A6C34878D82A}">
                    <a16:rowId xmlns:a16="http://schemas.microsoft.com/office/drawing/2014/main" val="1564603147"/>
                  </a:ext>
                </a:extLst>
              </a:tr>
              <a:tr h="370840">
                <a:tc>
                  <a:txBody>
                    <a:bodyPr/>
                    <a:lstStyle/>
                    <a:p>
                      <a:pPr algn="ctr"/>
                      <a:r>
                        <a:rPr lang="es-ES" sz="1200" dirty="0">
                          <a:latin typeface="Arial" panose="020B0604020202020204" pitchFamily="34" charset="0"/>
                          <a:cs typeface="Arial" panose="020B0604020202020204" pitchFamily="34" charset="0"/>
                        </a:rPr>
                        <a:t>K</a:t>
                      </a:r>
                    </a:p>
                  </a:txBody>
                  <a:tcPr anchor="ctr"/>
                </a:tc>
                <a:tc>
                  <a:txBody>
                    <a:bodyPr/>
                    <a:lstStyle/>
                    <a:p>
                      <a:pPr algn="ctr"/>
                      <a:r>
                        <a:rPr lang="es-ES" sz="1200" dirty="0">
                          <a:latin typeface="Arial" panose="020B0604020202020204" pitchFamily="34" charset="0"/>
                          <a:cs typeface="Arial" panose="020B0604020202020204" pitchFamily="34" charset="0"/>
                        </a:rPr>
                        <a:t>0,05</a:t>
                      </a:r>
                    </a:p>
                  </a:txBody>
                  <a:tcPr anchor="ctr"/>
                </a:tc>
                <a:tc>
                  <a:txBody>
                    <a:bodyPr/>
                    <a:lstStyle/>
                    <a:p>
                      <a:pPr algn="ctr"/>
                      <a:r>
                        <a:rPr lang="es-ES" sz="1200" dirty="0">
                          <a:latin typeface="Arial" panose="020B0604020202020204" pitchFamily="34" charset="0"/>
                          <a:cs typeface="Arial" panose="020B0604020202020204" pitchFamily="34" charset="0"/>
                        </a:rPr>
                        <a:t>0,1</a:t>
                      </a:r>
                    </a:p>
                  </a:txBody>
                  <a:tcPr anchor="ctr"/>
                </a:tc>
                <a:tc>
                  <a:txBody>
                    <a:bodyPr/>
                    <a:lstStyle/>
                    <a:p>
                      <a:pPr algn="ctr"/>
                      <a:r>
                        <a:rPr lang="es-ES" sz="1200" dirty="0">
                          <a:latin typeface="Arial" panose="020B0604020202020204" pitchFamily="34" charset="0"/>
                          <a:cs typeface="Arial" panose="020B0604020202020204" pitchFamily="34" charset="0"/>
                        </a:rPr>
                        <a:t>0,2</a:t>
                      </a:r>
                    </a:p>
                  </a:txBody>
                  <a:tcPr anchor="ctr"/>
                </a:tc>
                <a:tc>
                  <a:txBody>
                    <a:bodyPr/>
                    <a:lstStyle/>
                    <a:p>
                      <a:pPr algn="ctr"/>
                      <a:r>
                        <a:rPr lang="es-ES" sz="1200" dirty="0">
                          <a:latin typeface="Arial" panose="020B0604020202020204" pitchFamily="34" charset="0"/>
                          <a:cs typeface="Arial" panose="020B0604020202020204" pitchFamily="34" charset="0"/>
                        </a:rPr>
                        <a:t>0,4</a:t>
                      </a:r>
                    </a:p>
                  </a:txBody>
                  <a:tcPr anchor="ctr"/>
                </a:tc>
                <a:tc>
                  <a:txBody>
                    <a:bodyPr/>
                    <a:lstStyle/>
                    <a:p>
                      <a:pPr algn="ctr"/>
                      <a:r>
                        <a:rPr lang="es-ES" sz="1200" dirty="0">
                          <a:latin typeface="Arial" panose="020B0604020202020204" pitchFamily="34" charset="0"/>
                          <a:cs typeface="Arial" panose="020B0604020202020204" pitchFamily="34" charset="0"/>
                        </a:rPr>
                        <a:t>0,6</a:t>
                      </a:r>
                    </a:p>
                  </a:txBody>
                  <a:tcPr anchor="ctr"/>
                </a:tc>
                <a:tc>
                  <a:txBody>
                    <a:bodyPr/>
                    <a:lstStyle/>
                    <a:p>
                      <a:pPr algn="ctr"/>
                      <a:r>
                        <a:rPr lang="es-ES" sz="1200" dirty="0">
                          <a:latin typeface="Arial" panose="020B0604020202020204" pitchFamily="34" charset="0"/>
                          <a:cs typeface="Arial" panose="020B0604020202020204" pitchFamily="34" charset="0"/>
                        </a:rPr>
                        <a:t>0,8</a:t>
                      </a:r>
                    </a:p>
                  </a:txBody>
                  <a:tcPr anchor="ctr"/>
                </a:tc>
                <a:extLst>
                  <a:ext uri="{0D108BD9-81ED-4DB2-BD59-A6C34878D82A}">
                    <a16:rowId xmlns:a16="http://schemas.microsoft.com/office/drawing/2014/main" val="3875988736"/>
                  </a:ext>
                </a:extLst>
              </a:tr>
              <a:tr h="370840">
                <a:tc>
                  <a:txBody>
                    <a:bodyPr/>
                    <a:lstStyle/>
                    <a:p>
                      <a:pPr algn="ctr"/>
                      <a:r>
                        <a:rPr lang="es-ES" sz="1200" dirty="0">
                          <a:latin typeface="Arial" panose="020B0604020202020204" pitchFamily="34" charset="0"/>
                          <a:cs typeface="Arial" panose="020B0604020202020204" pitchFamily="34" charset="0"/>
                        </a:rPr>
                        <a:t>L</a:t>
                      </a:r>
                    </a:p>
                  </a:txBody>
                  <a:tcPr anchor="ctr"/>
                </a:tc>
                <a:tc>
                  <a:txBody>
                    <a:bodyPr/>
                    <a:lstStyle/>
                    <a:p>
                      <a:pPr algn="ctr"/>
                      <a:r>
                        <a:rPr lang="es-ES" sz="1200" dirty="0">
                          <a:latin typeface="Arial" panose="020B0604020202020204" pitchFamily="34" charset="0"/>
                          <a:cs typeface="Arial" panose="020B0604020202020204" pitchFamily="34" charset="0"/>
                        </a:rPr>
                        <a:t>0,1</a:t>
                      </a:r>
                    </a:p>
                  </a:txBody>
                  <a:tcPr anchor="ctr"/>
                </a:tc>
                <a:tc>
                  <a:txBody>
                    <a:bodyPr/>
                    <a:lstStyle/>
                    <a:p>
                      <a:pPr algn="ctr"/>
                      <a:r>
                        <a:rPr lang="es-ES" sz="1200" dirty="0">
                          <a:latin typeface="Arial" panose="020B0604020202020204" pitchFamily="34" charset="0"/>
                          <a:cs typeface="Arial" panose="020B0604020202020204" pitchFamily="34" charset="0"/>
                        </a:rPr>
                        <a:t>0,2</a:t>
                      </a:r>
                    </a:p>
                  </a:txBody>
                  <a:tcPr anchor="ctr"/>
                </a:tc>
                <a:tc>
                  <a:txBody>
                    <a:bodyPr/>
                    <a:lstStyle/>
                    <a:p>
                      <a:pPr algn="ctr"/>
                      <a:r>
                        <a:rPr lang="es-ES" sz="1200" dirty="0">
                          <a:latin typeface="Arial" panose="020B0604020202020204" pitchFamily="34" charset="0"/>
                          <a:cs typeface="Arial" panose="020B0604020202020204" pitchFamily="34" charset="0"/>
                        </a:rPr>
                        <a:t>0,4</a:t>
                      </a:r>
                    </a:p>
                  </a:txBody>
                  <a:tcPr anchor="ctr"/>
                </a:tc>
                <a:tc>
                  <a:txBody>
                    <a:bodyPr/>
                    <a:lstStyle/>
                    <a:p>
                      <a:pPr algn="ctr"/>
                      <a:r>
                        <a:rPr lang="es-ES" sz="1200" dirty="0">
                          <a:latin typeface="Arial" panose="020B0604020202020204" pitchFamily="34" charset="0"/>
                          <a:cs typeface="Arial" panose="020B0604020202020204" pitchFamily="34" charset="0"/>
                        </a:rPr>
                        <a:t>0,8</a:t>
                      </a:r>
                    </a:p>
                  </a:txBody>
                  <a:tcPr anchor="ctr"/>
                </a:tc>
                <a:tc>
                  <a:txBody>
                    <a:bodyPr/>
                    <a:lstStyle/>
                    <a:p>
                      <a:pPr algn="ctr"/>
                      <a:r>
                        <a:rPr lang="es-ES" sz="1200" dirty="0">
                          <a:latin typeface="Arial" panose="020B0604020202020204" pitchFamily="34" charset="0"/>
                          <a:cs typeface="Arial" panose="020B0604020202020204" pitchFamily="34" charset="0"/>
                        </a:rPr>
                        <a:t>1,2</a:t>
                      </a:r>
                    </a:p>
                  </a:txBody>
                  <a:tcPr anchor="ctr"/>
                </a:tc>
                <a:tc>
                  <a:txBody>
                    <a:bodyPr/>
                    <a:lstStyle/>
                    <a:p>
                      <a:pPr algn="ctr"/>
                      <a:r>
                        <a:rPr lang="es-ES" sz="1200" dirty="0">
                          <a:latin typeface="Arial" panose="020B0604020202020204" pitchFamily="34" charset="0"/>
                          <a:cs typeface="Arial" panose="020B0604020202020204" pitchFamily="34" charset="0"/>
                        </a:rPr>
                        <a:t>1,6</a:t>
                      </a:r>
                    </a:p>
                  </a:txBody>
                  <a:tcPr anchor="ctr"/>
                </a:tc>
                <a:extLst>
                  <a:ext uri="{0D108BD9-81ED-4DB2-BD59-A6C34878D82A}">
                    <a16:rowId xmlns:a16="http://schemas.microsoft.com/office/drawing/2014/main" val="1841784945"/>
                  </a:ext>
                </a:extLst>
              </a:tr>
            </a:tbl>
          </a:graphicData>
        </a:graphic>
      </p:graphicFrame>
      <p:sp>
        <p:nvSpPr>
          <p:cNvPr id="7" name="1 Título">
            <a:extLst>
              <a:ext uri="{FF2B5EF4-FFF2-40B4-BE49-F238E27FC236}">
                <a16:creationId xmlns:a16="http://schemas.microsoft.com/office/drawing/2014/main" id="{ADC0F18D-DD61-2782-8C89-B373374BAF4B}"/>
              </a:ext>
            </a:extLst>
          </p:cNvPr>
          <p:cNvSpPr>
            <a:spLocks noGrp="1"/>
          </p:cNvSpPr>
          <p:nvPr>
            <p:ph type="ctrTitle"/>
          </p:nvPr>
        </p:nvSpPr>
        <p:spPr>
          <a:xfrm>
            <a:off x="1403350" y="153256"/>
            <a:ext cx="7407275" cy="442571"/>
          </a:xfrm>
        </p:spPr>
        <p:txBody>
          <a:bodyPr>
            <a:normAutofit fontScale="90000"/>
          </a:bodyPr>
          <a:lstStyle/>
          <a:p>
            <a:pPr eaLnBrk="1" hangingPunct="1">
              <a:defRPr/>
            </a:pPr>
            <a:r>
              <a:rPr lang="es-ES_tradnl" altLang="es-ES" sz="2800"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rPr>
              <a:t>Planos.  Consignación de tolerancias generales</a:t>
            </a:r>
            <a:endParaRPr lang="es-ES" altLang="es-ES"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92681615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2FDD173-3664-5149-B769-5B6B06B2E10F}"/>
              </a:ext>
            </a:extLst>
          </p:cNvPr>
          <p:cNvSpPr txBox="1"/>
          <p:nvPr/>
        </p:nvSpPr>
        <p:spPr>
          <a:xfrm>
            <a:off x="1259632" y="698177"/>
            <a:ext cx="6927870" cy="338554"/>
          </a:xfrm>
          <a:prstGeom prst="rect">
            <a:avLst/>
          </a:prstGeom>
          <a:noFill/>
        </p:spPr>
        <p:txBody>
          <a:bodyPr wrap="square" rtlCol="0">
            <a:spAutoFit/>
          </a:bodyPr>
          <a:lstStyle/>
          <a:p>
            <a:r>
              <a:rPr lang="es-ES" sz="1600" b="1" dirty="0"/>
              <a:t>Tolerancias geométricas generales (ISO 2768-2, UNE-EN-27768-2)</a:t>
            </a:r>
          </a:p>
        </p:txBody>
      </p:sp>
      <p:sp>
        <p:nvSpPr>
          <p:cNvPr id="8" name="CuadroTexto 7">
            <a:extLst>
              <a:ext uri="{FF2B5EF4-FFF2-40B4-BE49-F238E27FC236}">
                <a16:creationId xmlns:a16="http://schemas.microsoft.com/office/drawing/2014/main" id="{B03C8A29-201A-9A4D-9F4A-9D7A33256E78}"/>
              </a:ext>
            </a:extLst>
          </p:cNvPr>
          <p:cNvSpPr txBox="1"/>
          <p:nvPr/>
        </p:nvSpPr>
        <p:spPr>
          <a:xfrm>
            <a:off x="1048489" y="3284984"/>
            <a:ext cx="7762135" cy="584775"/>
          </a:xfrm>
          <a:prstGeom prst="rect">
            <a:avLst/>
          </a:prstGeom>
          <a:noFill/>
        </p:spPr>
        <p:txBody>
          <a:bodyPr wrap="square" rtlCol="0">
            <a:spAutoFit/>
          </a:bodyPr>
          <a:lstStyle/>
          <a:p>
            <a:r>
              <a:rPr lang="es-ES" sz="1600" dirty="0"/>
              <a:t>Para la determinación de la </a:t>
            </a:r>
            <a:r>
              <a:rPr lang="es-ES" sz="1600" b="1" dirty="0"/>
              <a:t>tolerancia geométrica general de perpendicularidad </a:t>
            </a:r>
            <a:r>
              <a:rPr lang="es-ES" sz="1600" dirty="0"/>
              <a:t>se debe tomar la mayor longitud entre el elemento geométrico posicionado y la referencia</a:t>
            </a:r>
          </a:p>
        </p:txBody>
      </p:sp>
      <p:sp>
        <p:nvSpPr>
          <p:cNvPr id="10" name="CuadroTexto 9">
            <a:extLst>
              <a:ext uri="{FF2B5EF4-FFF2-40B4-BE49-F238E27FC236}">
                <a16:creationId xmlns:a16="http://schemas.microsoft.com/office/drawing/2014/main" id="{FBD3F6E4-721B-6142-95BE-C22566D0A2FB}"/>
              </a:ext>
            </a:extLst>
          </p:cNvPr>
          <p:cNvSpPr txBox="1"/>
          <p:nvPr/>
        </p:nvSpPr>
        <p:spPr>
          <a:xfrm>
            <a:off x="1006719" y="6273225"/>
            <a:ext cx="7762135" cy="584775"/>
          </a:xfrm>
          <a:prstGeom prst="rect">
            <a:avLst/>
          </a:prstGeom>
          <a:noFill/>
        </p:spPr>
        <p:txBody>
          <a:bodyPr wrap="square" rtlCol="0">
            <a:spAutoFit/>
          </a:bodyPr>
          <a:lstStyle/>
          <a:p>
            <a:r>
              <a:rPr lang="es-ES" sz="1600" dirty="0"/>
              <a:t>Para la determinación de la </a:t>
            </a:r>
            <a:r>
              <a:rPr lang="es-ES" sz="1600" b="1" dirty="0"/>
              <a:t>tolerancia geométrica general de simetría </a:t>
            </a:r>
            <a:r>
              <a:rPr lang="es-ES" sz="1600" dirty="0"/>
              <a:t>se debe tomar la mayor dimensión entre el elemento geométrico posicionado y las referencias</a:t>
            </a:r>
          </a:p>
        </p:txBody>
      </p:sp>
      <p:graphicFrame>
        <p:nvGraphicFramePr>
          <p:cNvPr id="9" name="Tabla 8">
            <a:extLst>
              <a:ext uri="{FF2B5EF4-FFF2-40B4-BE49-F238E27FC236}">
                <a16:creationId xmlns:a16="http://schemas.microsoft.com/office/drawing/2014/main" id="{3EC41ACC-D60B-824E-8715-C3C3B7EFB89C}"/>
              </a:ext>
            </a:extLst>
          </p:cNvPr>
          <p:cNvGraphicFramePr>
            <a:graphicFrameLocks noGrp="1"/>
          </p:cNvGraphicFramePr>
          <p:nvPr/>
        </p:nvGraphicFramePr>
        <p:xfrm>
          <a:off x="1115616" y="1197049"/>
          <a:ext cx="7762135" cy="1910080"/>
        </p:xfrm>
        <a:graphic>
          <a:graphicData uri="http://schemas.openxmlformats.org/drawingml/2006/table">
            <a:tbl>
              <a:tblPr firstRow="1" bandRow="1">
                <a:tableStyleId>{5C22544A-7EE6-4342-B048-85BDC9FD1C3A}</a:tableStyleId>
              </a:tblPr>
              <a:tblGrid>
                <a:gridCol w="1552427">
                  <a:extLst>
                    <a:ext uri="{9D8B030D-6E8A-4147-A177-3AD203B41FA5}">
                      <a16:colId xmlns:a16="http://schemas.microsoft.com/office/drawing/2014/main" val="4135645674"/>
                    </a:ext>
                  </a:extLst>
                </a:gridCol>
                <a:gridCol w="1552427">
                  <a:extLst>
                    <a:ext uri="{9D8B030D-6E8A-4147-A177-3AD203B41FA5}">
                      <a16:colId xmlns:a16="http://schemas.microsoft.com/office/drawing/2014/main" val="2726362305"/>
                    </a:ext>
                  </a:extLst>
                </a:gridCol>
                <a:gridCol w="1552427">
                  <a:extLst>
                    <a:ext uri="{9D8B030D-6E8A-4147-A177-3AD203B41FA5}">
                      <a16:colId xmlns:a16="http://schemas.microsoft.com/office/drawing/2014/main" val="1695370852"/>
                    </a:ext>
                  </a:extLst>
                </a:gridCol>
                <a:gridCol w="1552427">
                  <a:extLst>
                    <a:ext uri="{9D8B030D-6E8A-4147-A177-3AD203B41FA5}">
                      <a16:colId xmlns:a16="http://schemas.microsoft.com/office/drawing/2014/main" val="768883466"/>
                    </a:ext>
                  </a:extLst>
                </a:gridCol>
                <a:gridCol w="1552427">
                  <a:extLst>
                    <a:ext uri="{9D8B030D-6E8A-4147-A177-3AD203B41FA5}">
                      <a16:colId xmlns:a16="http://schemas.microsoft.com/office/drawing/2014/main" val="1576563674"/>
                    </a:ext>
                  </a:extLst>
                </a:gridCol>
              </a:tblGrid>
              <a:tr h="370840">
                <a:tc>
                  <a:txBody>
                    <a:bodyPr/>
                    <a:lstStyle/>
                    <a:p>
                      <a:pPr algn="ctr"/>
                      <a:r>
                        <a:rPr lang="es-ES" sz="1600" dirty="0">
                          <a:latin typeface="Arial" panose="020B0604020202020204" pitchFamily="34" charset="0"/>
                          <a:cs typeface="Arial" panose="020B0604020202020204" pitchFamily="34" charset="0"/>
                        </a:rPr>
                        <a:t>Clase</a:t>
                      </a:r>
                    </a:p>
                  </a:txBody>
                  <a:tcPr/>
                </a:tc>
                <a:tc gridSpan="4">
                  <a:txBody>
                    <a:bodyPr/>
                    <a:lstStyle/>
                    <a:p>
                      <a:r>
                        <a:rPr lang="es-ES" sz="1600" dirty="0">
                          <a:latin typeface="Arial" panose="020B0604020202020204" pitchFamily="34" charset="0"/>
                          <a:cs typeface="Arial" panose="020B0604020202020204" pitchFamily="34" charset="0"/>
                        </a:rPr>
                        <a:t>Tolerancias de perpendicularidad (medias en mm)</a:t>
                      </a:r>
                    </a:p>
                  </a:txBody>
                  <a:tcPr/>
                </a:tc>
                <a:tc hMerge="1">
                  <a:txBody>
                    <a:bodyPr/>
                    <a:lstStyle/>
                    <a:p>
                      <a:endParaRPr lang="es-ES" dirty="0"/>
                    </a:p>
                  </a:txBody>
                  <a:tcPr/>
                </a:tc>
                <a:tc hMerge="1">
                  <a:txBody>
                    <a:bodyPr/>
                    <a:lstStyle/>
                    <a:p>
                      <a:endParaRPr lang="es-ES" dirty="0"/>
                    </a:p>
                  </a:txBody>
                  <a:tcPr/>
                </a:tc>
                <a:tc hMerge="1">
                  <a:txBody>
                    <a:bodyPr/>
                    <a:lstStyle/>
                    <a:p>
                      <a:endParaRPr lang="es-ES" dirty="0"/>
                    </a:p>
                  </a:txBody>
                  <a:tcPr/>
                </a:tc>
                <a:extLst>
                  <a:ext uri="{0D108BD9-81ED-4DB2-BD59-A6C34878D82A}">
                    <a16:rowId xmlns:a16="http://schemas.microsoft.com/office/drawing/2014/main" val="1100554769"/>
                  </a:ext>
                </a:extLst>
              </a:tr>
              <a:tr h="370840">
                <a:tc>
                  <a:txBody>
                    <a:bodyPr/>
                    <a:lstStyle/>
                    <a:p>
                      <a:pPr algn="ctr"/>
                      <a:r>
                        <a:rPr lang="es-ES" sz="1100" b="1" dirty="0">
                          <a:latin typeface="Arial" panose="020B0604020202020204" pitchFamily="34" charset="0"/>
                          <a:cs typeface="Arial" panose="020B0604020202020204" pitchFamily="34" charset="0"/>
                        </a:rPr>
                        <a:t>Designación</a:t>
                      </a:r>
                    </a:p>
                  </a:txBody>
                  <a:tcPr anchor="ctr"/>
                </a:tc>
                <a:tc>
                  <a:txBody>
                    <a:bodyPr/>
                    <a:lstStyle/>
                    <a:p>
                      <a:pPr algn="ctr"/>
                      <a:r>
                        <a:rPr lang="es-ES" sz="1100" b="1" dirty="0">
                          <a:latin typeface="Arial" panose="020B0604020202020204" pitchFamily="34" charset="0"/>
                          <a:cs typeface="Arial" panose="020B0604020202020204" pitchFamily="34" charset="0"/>
                        </a:rPr>
                        <a:t>Hasta 100</a:t>
                      </a:r>
                    </a:p>
                  </a:txBody>
                  <a:tcPr anchor="ctr"/>
                </a:tc>
                <a:tc>
                  <a:txBody>
                    <a:bodyPr/>
                    <a:lstStyle/>
                    <a:p>
                      <a:pPr algn="ctr"/>
                      <a:r>
                        <a:rPr lang="es-ES" sz="1100" b="1" dirty="0">
                          <a:latin typeface="Arial" panose="020B0604020202020204" pitchFamily="34" charset="0"/>
                          <a:cs typeface="Arial" panose="020B0604020202020204" pitchFamily="34" charset="0"/>
                        </a:rPr>
                        <a:t>Más de 100</a:t>
                      </a:r>
                    </a:p>
                    <a:p>
                      <a:pPr algn="ctr"/>
                      <a:r>
                        <a:rPr lang="es-ES" sz="1100" b="1" dirty="0">
                          <a:latin typeface="Arial" panose="020B0604020202020204" pitchFamily="34" charset="0"/>
                          <a:cs typeface="Arial" panose="020B0604020202020204" pitchFamily="34" charset="0"/>
                        </a:rPr>
                        <a:t>Hasta 300</a:t>
                      </a:r>
                    </a:p>
                  </a:txBody>
                  <a:tcPr anchor="ctr"/>
                </a:tc>
                <a:tc>
                  <a:txBody>
                    <a:bodyPr/>
                    <a:lstStyle/>
                    <a:p>
                      <a:pPr algn="ctr"/>
                      <a:r>
                        <a:rPr lang="es-ES" sz="1100" b="1" dirty="0">
                          <a:latin typeface="Arial" panose="020B0604020202020204" pitchFamily="34" charset="0"/>
                          <a:cs typeface="Arial" panose="020B0604020202020204" pitchFamily="34" charset="0"/>
                        </a:rPr>
                        <a:t>Más de 300</a:t>
                      </a:r>
                    </a:p>
                    <a:p>
                      <a:pPr algn="ctr"/>
                      <a:r>
                        <a:rPr lang="es-ES" sz="1100" b="1" dirty="0">
                          <a:latin typeface="Arial" panose="020B0604020202020204" pitchFamily="34" charset="0"/>
                          <a:cs typeface="Arial" panose="020B0604020202020204" pitchFamily="34" charset="0"/>
                        </a:rPr>
                        <a:t>Hasta 1000</a:t>
                      </a:r>
                    </a:p>
                  </a:txBody>
                  <a:tcPr anchor="ctr"/>
                </a:tc>
                <a:tc>
                  <a:txBody>
                    <a:bodyPr/>
                    <a:lstStyle/>
                    <a:p>
                      <a:pPr algn="ctr"/>
                      <a:r>
                        <a:rPr lang="es-ES" sz="1100" b="1" dirty="0">
                          <a:latin typeface="Arial" panose="020B0604020202020204" pitchFamily="34" charset="0"/>
                          <a:cs typeface="Arial" panose="020B0604020202020204" pitchFamily="34" charset="0"/>
                        </a:rPr>
                        <a:t>Más de 1000</a:t>
                      </a:r>
                    </a:p>
                    <a:p>
                      <a:pPr algn="ctr"/>
                      <a:r>
                        <a:rPr lang="es-ES" sz="1100" b="1" dirty="0">
                          <a:latin typeface="Arial" panose="020B0604020202020204" pitchFamily="34" charset="0"/>
                          <a:cs typeface="Arial" panose="020B0604020202020204" pitchFamily="34" charset="0"/>
                        </a:rPr>
                        <a:t>Hasta 3000</a:t>
                      </a:r>
                    </a:p>
                  </a:txBody>
                  <a:tcPr anchor="ctr"/>
                </a:tc>
                <a:extLst>
                  <a:ext uri="{0D108BD9-81ED-4DB2-BD59-A6C34878D82A}">
                    <a16:rowId xmlns:a16="http://schemas.microsoft.com/office/drawing/2014/main" val="4067338532"/>
                  </a:ext>
                </a:extLst>
              </a:tr>
              <a:tr h="370840">
                <a:tc>
                  <a:txBody>
                    <a:bodyPr/>
                    <a:lstStyle/>
                    <a:p>
                      <a:pPr algn="ctr"/>
                      <a:r>
                        <a:rPr lang="es-ES" sz="1200" dirty="0">
                          <a:latin typeface="Arial" panose="020B0604020202020204" pitchFamily="34" charset="0"/>
                          <a:cs typeface="Arial" panose="020B0604020202020204" pitchFamily="34" charset="0"/>
                        </a:rPr>
                        <a:t>H</a:t>
                      </a:r>
                    </a:p>
                  </a:txBody>
                  <a:tcPr anchor="ctr"/>
                </a:tc>
                <a:tc>
                  <a:txBody>
                    <a:bodyPr/>
                    <a:lstStyle/>
                    <a:p>
                      <a:pPr algn="ctr"/>
                      <a:r>
                        <a:rPr lang="es-ES" sz="1200" dirty="0">
                          <a:latin typeface="Arial" panose="020B0604020202020204" pitchFamily="34" charset="0"/>
                          <a:cs typeface="Arial" panose="020B0604020202020204" pitchFamily="34" charset="0"/>
                        </a:rPr>
                        <a:t>0,2</a:t>
                      </a:r>
                    </a:p>
                  </a:txBody>
                  <a:tcPr anchor="ctr"/>
                </a:tc>
                <a:tc>
                  <a:txBody>
                    <a:bodyPr/>
                    <a:lstStyle/>
                    <a:p>
                      <a:pPr algn="ctr"/>
                      <a:r>
                        <a:rPr lang="es-ES" sz="1200" dirty="0">
                          <a:latin typeface="Arial" panose="020B0604020202020204" pitchFamily="34" charset="0"/>
                          <a:cs typeface="Arial" panose="020B0604020202020204" pitchFamily="34" charset="0"/>
                        </a:rPr>
                        <a:t>0,3</a:t>
                      </a:r>
                    </a:p>
                  </a:txBody>
                  <a:tcPr anchor="ctr"/>
                </a:tc>
                <a:tc>
                  <a:txBody>
                    <a:bodyPr/>
                    <a:lstStyle/>
                    <a:p>
                      <a:pPr algn="ctr"/>
                      <a:r>
                        <a:rPr lang="es-ES" sz="1200" dirty="0">
                          <a:latin typeface="Arial" panose="020B0604020202020204" pitchFamily="34" charset="0"/>
                          <a:cs typeface="Arial" panose="020B0604020202020204" pitchFamily="34" charset="0"/>
                        </a:rPr>
                        <a:t>0,4</a:t>
                      </a:r>
                    </a:p>
                  </a:txBody>
                  <a:tcPr anchor="ctr"/>
                </a:tc>
                <a:tc>
                  <a:txBody>
                    <a:bodyPr/>
                    <a:lstStyle/>
                    <a:p>
                      <a:pPr algn="ctr"/>
                      <a:r>
                        <a:rPr lang="es-ES" sz="1200" dirty="0">
                          <a:latin typeface="Arial" panose="020B0604020202020204" pitchFamily="34" charset="0"/>
                          <a:cs typeface="Arial" panose="020B0604020202020204" pitchFamily="34" charset="0"/>
                        </a:rPr>
                        <a:t>0,5</a:t>
                      </a:r>
                    </a:p>
                  </a:txBody>
                  <a:tcPr anchor="ctr"/>
                </a:tc>
                <a:extLst>
                  <a:ext uri="{0D108BD9-81ED-4DB2-BD59-A6C34878D82A}">
                    <a16:rowId xmlns:a16="http://schemas.microsoft.com/office/drawing/2014/main" val="1564603147"/>
                  </a:ext>
                </a:extLst>
              </a:tr>
              <a:tr h="370840">
                <a:tc>
                  <a:txBody>
                    <a:bodyPr/>
                    <a:lstStyle/>
                    <a:p>
                      <a:pPr algn="ctr"/>
                      <a:r>
                        <a:rPr lang="es-ES" sz="1200" dirty="0">
                          <a:latin typeface="Arial" panose="020B0604020202020204" pitchFamily="34" charset="0"/>
                          <a:cs typeface="Arial" panose="020B0604020202020204" pitchFamily="34" charset="0"/>
                        </a:rPr>
                        <a:t>K</a:t>
                      </a:r>
                    </a:p>
                  </a:txBody>
                  <a:tcPr anchor="ctr"/>
                </a:tc>
                <a:tc>
                  <a:txBody>
                    <a:bodyPr/>
                    <a:lstStyle/>
                    <a:p>
                      <a:pPr algn="ctr"/>
                      <a:r>
                        <a:rPr lang="es-ES" sz="1200" dirty="0">
                          <a:latin typeface="Arial" panose="020B0604020202020204" pitchFamily="34" charset="0"/>
                          <a:cs typeface="Arial" panose="020B0604020202020204" pitchFamily="34" charset="0"/>
                        </a:rPr>
                        <a:t>0,4</a:t>
                      </a:r>
                    </a:p>
                  </a:txBody>
                  <a:tcPr anchor="ctr"/>
                </a:tc>
                <a:tc>
                  <a:txBody>
                    <a:bodyPr/>
                    <a:lstStyle/>
                    <a:p>
                      <a:pPr algn="ctr"/>
                      <a:r>
                        <a:rPr lang="es-ES" sz="1200" dirty="0">
                          <a:latin typeface="Arial" panose="020B0604020202020204" pitchFamily="34" charset="0"/>
                          <a:cs typeface="Arial" panose="020B0604020202020204" pitchFamily="34" charset="0"/>
                        </a:rPr>
                        <a:t>0,6</a:t>
                      </a:r>
                    </a:p>
                  </a:txBody>
                  <a:tcPr anchor="ctr"/>
                </a:tc>
                <a:tc>
                  <a:txBody>
                    <a:bodyPr/>
                    <a:lstStyle/>
                    <a:p>
                      <a:pPr algn="ctr"/>
                      <a:r>
                        <a:rPr lang="es-ES" sz="1200" dirty="0">
                          <a:latin typeface="Arial" panose="020B0604020202020204" pitchFamily="34" charset="0"/>
                          <a:cs typeface="Arial" panose="020B0604020202020204" pitchFamily="34" charset="0"/>
                        </a:rPr>
                        <a:t>0,8</a:t>
                      </a:r>
                    </a:p>
                  </a:txBody>
                  <a:tcPr anchor="ctr"/>
                </a:tc>
                <a:tc>
                  <a:txBody>
                    <a:bodyPr/>
                    <a:lstStyle/>
                    <a:p>
                      <a:pPr algn="ctr"/>
                      <a:r>
                        <a:rPr lang="es-ES" sz="1200" dirty="0">
                          <a:latin typeface="Arial" panose="020B0604020202020204" pitchFamily="34" charset="0"/>
                          <a:cs typeface="Arial" panose="020B0604020202020204" pitchFamily="34" charset="0"/>
                        </a:rPr>
                        <a:t>1</a:t>
                      </a:r>
                    </a:p>
                  </a:txBody>
                  <a:tcPr anchor="ctr"/>
                </a:tc>
                <a:extLst>
                  <a:ext uri="{0D108BD9-81ED-4DB2-BD59-A6C34878D82A}">
                    <a16:rowId xmlns:a16="http://schemas.microsoft.com/office/drawing/2014/main" val="3875988736"/>
                  </a:ext>
                </a:extLst>
              </a:tr>
              <a:tr h="370840">
                <a:tc>
                  <a:txBody>
                    <a:bodyPr/>
                    <a:lstStyle/>
                    <a:p>
                      <a:pPr algn="ctr"/>
                      <a:r>
                        <a:rPr lang="es-ES" sz="1200" dirty="0">
                          <a:latin typeface="Arial" panose="020B0604020202020204" pitchFamily="34" charset="0"/>
                          <a:cs typeface="Arial" panose="020B0604020202020204" pitchFamily="34" charset="0"/>
                        </a:rPr>
                        <a:t>L</a:t>
                      </a:r>
                    </a:p>
                  </a:txBody>
                  <a:tcPr anchor="ctr"/>
                </a:tc>
                <a:tc>
                  <a:txBody>
                    <a:bodyPr/>
                    <a:lstStyle/>
                    <a:p>
                      <a:pPr algn="ctr"/>
                      <a:r>
                        <a:rPr lang="es-ES" sz="1200" dirty="0">
                          <a:latin typeface="Arial" panose="020B0604020202020204" pitchFamily="34" charset="0"/>
                          <a:cs typeface="Arial" panose="020B0604020202020204" pitchFamily="34" charset="0"/>
                        </a:rPr>
                        <a:t>0,6</a:t>
                      </a:r>
                    </a:p>
                  </a:txBody>
                  <a:tcPr anchor="ctr"/>
                </a:tc>
                <a:tc>
                  <a:txBody>
                    <a:bodyPr/>
                    <a:lstStyle/>
                    <a:p>
                      <a:pPr algn="ctr"/>
                      <a:r>
                        <a:rPr lang="es-ES" sz="1200" dirty="0">
                          <a:latin typeface="Arial" panose="020B0604020202020204" pitchFamily="34" charset="0"/>
                          <a:cs typeface="Arial" panose="020B0604020202020204" pitchFamily="34" charset="0"/>
                        </a:rPr>
                        <a:t>1</a:t>
                      </a:r>
                    </a:p>
                  </a:txBody>
                  <a:tcPr anchor="ctr"/>
                </a:tc>
                <a:tc>
                  <a:txBody>
                    <a:bodyPr/>
                    <a:lstStyle/>
                    <a:p>
                      <a:pPr algn="ctr"/>
                      <a:r>
                        <a:rPr lang="es-ES" sz="1200" dirty="0">
                          <a:latin typeface="Arial" panose="020B0604020202020204" pitchFamily="34" charset="0"/>
                          <a:cs typeface="Arial" panose="020B0604020202020204" pitchFamily="34" charset="0"/>
                        </a:rPr>
                        <a:t>1,5</a:t>
                      </a:r>
                    </a:p>
                  </a:txBody>
                  <a:tcPr anchor="ctr"/>
                </a:tc>
                <a:tc>
                  <a:txBody>
                    <a:bodyPr/>
                    <a:lstStyle/>
                    <a:p>
                      <a:pPr algn="ctr"/>
                      <a:r>
                        <a:rPr lang="es-ES" sz="1200" dirty="0">
                          <a:latin typeface="Arial" panose="020B0604020202020204" pitchFamily="34" charset="0"/>
                          <a:cs typeface="Arial" panose="020B0604020202020204" pitchFamily="34" charset="0"/>
                        </a:rPr>
                        <a:t>2</a:t>
                      </a:r>
                    </a:p>
                  </a:txBody>
                  <a:tcPr anchor="ctr"/>
                </a:tc>
                <a:extLst>
                  <a:ext uri="{0D108BD9-81ED-4DB2-BD59-A6C34878D82A}">
                    <a16:rowId xmlns:a16="http://schemas.microsoft.com/office/drawing/2014/main" val="1841784945"/>
                  </a:ext>
                </a:extLst>
              </a:tr>
            </a:tbl>
          </a:graphicData>
        </a:graphic>
      </p:graphicFrame>
      <p:graphicFrame>
        <p:nvGraphicFramePr>
          <p:cNvPr id="11" name="Tabla 10">
            <a:extLst>
              <a:ext uri="{FF2B5EF4-FFF2-40B4-BE49-F238E27FC236}">
                <a16:creationId xmlns:a16="http://schemas.microsoft.com/office/drawing/2014/main" id="{9D1DC226-F8E2-384C-AF29-F55398F5E270}"/>
              </a:ext>
            </a:extLst>
          </p:cNvPr>
          <p:cNvGraphicFramePr>
            <a:graphicFrameLocks noGrp="1"/>
          </p:cNvGraphicFramePr>
          <p:nvPr/>
        </p:nvGraphicFramePr>
        <p:xfrm>
          <a:off x="1048488" y="4097116"/>
          <a:ext cx="7762135" cy="1910080"/>
        </p:xfrm>
        <a:graphic>
          <a:graphicData uri="http://schemas.openxmlformats.org/drawingml/2006/table">
            <a:tbl>
              <a:tblPr firstRow="1" bandRow="1">
                <a:tableStyleId>{5C22544A-7EE6-4342-B048-85BDC9FD1C3A}</a:tableStyleId>
              </a:tblPr>
              <a:tblGrid>
                <a:gridCol w="1552427">
                  <a:extLst>
                    <a:ext uri="{9D8B030D-6E8A-4147-A177-3AD203B41FA5}">
                      <a16:colId xmlns:a16="http://schemas.microsoft.com/office/drawing/2014/main" val="4135645674"/>
                    </a:ext>
                  </a:extLst>
                </a:gridCol>
                <a:gridCol w="1552427">
                  <a:extLst>
                    <a:ext uri="{9D8B030D-6E8A-4147-A177-3AD203B41FA5}">
                      <a16:colId xmlns:a16="http://schemas.microsoft.com/office/drawing/2014/main" val="2726362305"/>
                    </a:ext>
                  </a:extLst>
                </a:gridCol>
                <a:gridCol w="1552427">
                  <a:extLst>
                    <a:ext uri="{9D8B030D-6E8A-4147-A177-3AD203B41FA5}">
                      <a16:colId xmlns:a16="http://schemas.microsoft.com/office/drawing/2014/main" val="1695370852"/>
                    </a:ext>
                  </a:extLst>
                </a:gridCol>
                <a:gridCol w="1552427">
                  <a:extLst>
                    <a:ext uri="{9D8B030D-6E8A-4147-A177-3AD203B41FA5}">
                      <a16:colId xmlns:a16="http://schemas.microsoft.com/office/drawing/2014/main" val="768883466"/>
                    </a:ext>
                  </a:extLst>
                </a:gridCol>
                <a:gridCol w="1552427">
                  <a:extLst>
                    <a:ext uri="{9D8B030D-6E8A-4147-A177-3AD203B41FA5}">
                      <a16:colId xmlns:a16="http://schemas.microsoft.com/office/drawing/2014/main" val="1576563674"/>
                    </a:ext>
                  </a:extLst>
                </a:gridCol>
              </a:tblGrid>
              <a:tr h="370840">
                <a:tc>
                  <a:txBody>
                    <a:bodyPr/>
                    <a:lstStyle/>
                    <a:p>
                      <a:pPr algn="ctr"/>
                      <a:r>
                        <a:rPr lang="es-ES" sz="1600" dirty="0">
                          <a:latin typeface="Arial" panose="020B0604020202020204" pitchFamily="34" charset="0"/>
                          <a:cs typeface="Arial" panose="020B0604020202020204" pitchFamily="34" charset="0"/>
                        </a:rPr>
                        <a:t>Clase</a:t>
                      </a:r>
                    </a:p>
                  </a:txBody>
                  <a:tcPr/>
                </a:tc>
                <a:tc gridSpan="4">
                  <a:txBody>
                    <a:bodyPr/>
                    <a:lstStyle/>
                    <a:p>
                      <a:r>
                        <a:rPr lang="es-ES" sz="1600" dirty="0">
                          <a:latin typeface="Arial" panose="020B0604020202020204" pitchFamily="34" charset="0"/>
                          <a:cs typeface="Arial" panose="020B0604020202020204" pitchFamily="34" charset="0"/>
                        </a:rPr>
                        <a:t>Tolerancias de simetría (medias en mm)</a:t>
                      </a:r>
                    </a:p>
                  </a:txBody>
                  <a:tcPr/>
                </a:tc>
                <a:tc hMerge="1">
                  <a:txBody>
                    <a:bodyPr/>
                    <a:lstStyle/>
                    <a:p>
                      <a:endParaRPr lang="es-ES" dirty="0"/>
                    </a:p>
                  </a:txBody>
                  <a:tcPr/>
                </a:tc>
                <a:tc hMerge="1">
                  <a:txBody>
                    <a:bodyPr/>
                    <a:lstStyle/>
                    <a:p>
                      <a:endParaRPr lang="es-ES" dirty="0"/>
                    </a:p>
                  </a:txBody>
                  <a:tcPr/>
                </a:tc>
                <a:tc hMerge="1">
                  <a:txBody>
                    <a:bodyPr/>
                    <a:lstStyle/>
                    <a:p>
                      <a:endParaRPr lang="es-ES" dirty="0"/>
                    </a:p>
                  </a:txBody>
                  <a:tcPr/>
                </a:tc>
                <a:extLst>
                  <a:ext uri="{0D108BD9-81ED-4DB2-BD59-A6C34878D82A}">
                    <a16:rowId xmlns:a16="http://schemas.microsoft.com/office/drawing/2014/main" val="1100554769"/>
                  </a:ext>
                </a:extLst>
              </a:tr>
              <a:tr h="370840">
                <a:tc>
                  <a:txBody>
                    <a:bodyPr/>
                    <a:lstStyle/>
                    <a:p>
                      <a:pPr algn="ctr"/>
                      <a:r>
                        <a:rPr lang="es-ES" sz="1100" b="1" dirty="0">
                          <a:latin typeface="Arial" panose="020B0604020202020204" pitchFamily="34" charset="0"/>
                          <a:cs typeface="Arial" panose="020B0604020202020204" pitchFamily="34" charset="0"/>
                        </a:rPr>
                        <a:t>Designación</a:t>
                      </a:r>
                    </a:p>
                  </a:txBody>
                  <a:tcPr anchor="ctr"/>
                </a:tc>
                <a:tc>
                  <a:txBody>
                    <a:bodyPr/>
                    <a:lstStyle/>
                    <a:p>
                      <a:pPr algn="ctr"/>
                      <a:r>
                        <a:rPr lang="es-ES" sz="1100" b="1" dirty="0">
                          <a:latin typeface="Arial" panose="020B0604020202020204" pitchFamily="34" charset="0"/>
                          <a:cs typeface="Arial" panose="020B0604020202020204" pitchFamily="34" charset="0"/>
                        </a:rPr>
                        <a:t>Hasta 100</a:t>
                      </a:r>
                    </a:p>
                  </a:txBody>
                  <a:tcPr anchor="ctr"/>
                </a:tc>
                <a:tc>
                  <a:txBody>
                    <a:bodyPr/>
                    <a:lstStyle/>
                    <a:p>
                      <a:pPr algn="ctr"/>
                      <a:r>
                        <a:rPr lang="es-ES" sz="1100" b="1" dirty="0">
                          <a:latin typeface="Arial" panose="020B0604020202020204" pitchFamily="34" charset="0"/>
                          <a:cs typeface="Arial" panose="020B0604020202020204" pitchFamily="34" charset="0"/>
                        </a:rPr>
                        <a:t>Más de 100</a:t>
                      </a:r>
                    </a:p>
                    <a:p>
                      <a:pPr algn="ctr"/>
                      <a:r>
                        <a:rPr lang="es-ES" sz="1100" b="1" dirty="0">
                          <a:latin typeface="Arial" panose="020B0604020202020204" pitchFamily="34" charset="0"/>
                          <a:cs typeface="Arial" panose="020B0604020202020204" pitchFamily="34" charset="0"/>
                        </a:rPr>
                        <a:t>Hasta 300</a:t>
                      </a:r>
                    </a:p>
                  </a:txBody>
                  <a:tcPr anchor="ctr"/>
                </a:tc>
                <a:tc>
                  <a:txBody>
                    <a:bodyPr/>
                    <a:lstStyle/>
                    <a:p>
                      <a:pPr algn="ctr"/>
                      <a:r>
                        <a:rPr lang="es-ES" sz="1100" b="1" dirty="0">
                          <a:latin typeface="Arial" panose="020B0604020202020204" pitchFamily="34" charset="0"/>
                          <a:cs typeface="Arial" panose="020B0604020202020204" pitchFamily="34" charset="0"/>
                        </a:rPr>
                        <a:t>Más de 300</a:t>
                      </a:r>
                    </a:p>
                    <a:p>
                      <a:pPr algn="ctr"/>
                      <a:r>
                        <a:rPr lang="es-ES" sz="1100" b="1" dirty="0">
                          <a:latin typeface="Arial" panose="020B0604020202020204" pitchFamily="34" charset="0"/>
                          <a:cs typeface="Arial" panose="020B0604020202020204" pitchFamily="34" charset="0"/>
                        </a:rPr>
                        <a:t>Hasta 1000</a:t>
                      </a:r>
                    </a:p>
                  </a:txBody>
                  <a:tcPr anchor="ctr"/>
                </a:tc>
                <a:tc>
                  <a:txBody>
                    <a:bodyPr/>
                    <a:lstStyle/>
                    <a:p>
                      <a:pPr algn="ctr"/>
                      <a:r>
                        <a:rPr lang="es-ES" sz="1100" b="1" dirty="0">
                          <a:latin typeface="Arial" panose="020B0604020202020204" pitchFamily="34" charset="0"/>
                          <a:cs typeface="Arial" panose="020B0604020202020204" pitchFamily="34" charset="0"/>
                        </a:rPr>
                        <a:t>Más de 1000</a:t>
                      </a:r>
                    </a:p>
                    <a:p>
                      <a:pPr algn="ctr"/>
                      <a:r>
                        <a:rPr lang="es-ES" sz="1100" b="1" dirty="0">
                          <a:latin typeface="Arial" panose="020B0604020202020204" pitchFamily="34" charset="0"/>
                          <a:cs typeface="Arial" panose="020B0604020202020204" pitchFamily="34" charset="0"/>
                        </a:rPr>
                        <a:t>Hasta 3000</a:t>
                      </a:r>
                    </a:p>
                  </a:txBody>
                  <a:tcPr anchor="ctr"/>
                </a:tc>
                <a:extLst>
                  <a:ext uri="{0D108BD9-81ED-4DB2-BD59-A6C34878D82A}">
                    <a16:rowId xmlns:a16="http://schemas.microsoft.com/office/drawing/2014/main" val="4067338532"/>
                  </a:ext>
                </a:extLst>
              </a:tr>
              <a:tr h="370840">
                <a:tc>
                  <a:txBody>
                    <a:bodyPr/>
                    <a:lstStyle/>
                    <a:p>
                      <a:pPr algn="ctr"/>
                      <a:r>
                        <a:rPr lang="es-ES" sz="1200" dirty="0">
                          <a:latin typeface="Arial" panose="020B0604020202020204" pitchFamily="34" charset="0"/>
                          <a:cs typeface="Arial" panose="020B0604020202020204" pitchFamily="34" charset="0"/>
                        </a:rPr>
                        <a:t>H</a:t>
                      </a:r>
                    </a:p>
                  </a:txBody>
                  <a:tcPr anchor="ctr"/>
                </a:tc>
                <a:tc>
                  <a:txBody>
                    <a:bodyPr/>
                    <a:lstStyle/>
                    <a:p>
                      <a:pPr algn="ctr"/>
                      <a:r>
                        <a:rPr lang="es-ES" sz="1200" dirty="0">
                          <a:latin typeface="Arial" panose="020B0604020202020204" pitchFamily="34" charset="0"/>
                          <a:cs typeface="Arial" panose="020B0604020202020204" pitchFamily="34" charset="0"/>
                        </a:rPr>
                        <a:t>0,5</a:t>
                      </a:r>
                    </a:p>
                  </a:txBody>
                  <a:tcPr anchor="ctr"/>
                </a:tc>
                <a:tc>
                  <a:txBody>
                    <a:bodyPr/>
                    <a:lstStyle/>
                    <a:p>
                      <a:pPr algn="ctr"/>
                      <a:r>
                        <a:rPr lang="es-ES" sz="1200" dirty="0">
                          <a:latin typeface="Arial" panose="020B0604020202020204" pitchFamily="34" charset="0"/>
                          <a:cs typeface="Arial" panose="020B0604020202020204" pitchFamily="34" charset="0"/>
                        </a:rPr>
                        <a:t>0,5</a:t>
                      </a:r>
                    </a:p>
                  </a:txBody>
                  <a:tcPr anchor="ctr"/>
                </a:tc>
                <a:tc>
                  <a:txBody>
                    <a:bodyPr/>
                    <a:lstStyle/>
                    <a:p>
                      <a:pPr algn="ctr"/>
                      <a:r>
                        <a:rPr lang="es-ES" sz="1200" dirty="0">
                          <a:latin typeface="Arial" panose="020B0604020202020204" pitchFamily="34" charset="0"/>
                          <a:cs typeface="Arial" panose="020B0604020202020204" pitchFamily="34" charset="0"/>
                        </a:rPr>
                        <a:t>0,5</a:t>
                      </a:r>
                    </a:p>
                  </a:txBody>
                  <a:tcPr anchor="ctr"/>
                </a:tc>
                <a:tc>
                  <a:txBody>
                    <a:bodyPr/>
                    <a:lstStyle/>
                    <a:p>
                      <a:pPr algn="ctr"/>
                      <a:r>
                        <a:rPr lang="es-ES" sz="1200" dirty="0">
                          <a:latin typeface="Arial" panose="020B0604020202020204" pitchFamily="34" charset="0"/>
                          <a:cs typeface="Arial" panose="020B0604020202020204" pitchFamily="34" charset="0"/>
                        </a:rPr>
                        <a:t>0,5</a:t>
                      </a:r>
                    </a:p>
                  </a:txBody>
                  <a:tcPr anchor="ctr"/>
                </a:tc>
                <a:extLst>
                  <a:ext uri="{0D108BD9-81ED-4DB2-BD59-A6C34878D82A}">
                    <a16:rowId xmlns:a16="http://schemas.microsoft.com/office/drawing/2014/main" val="1564603147"/>
                  </a:ext>
                </a:extLst>
              </a:tr>
              <a:tr h="370840">
                <a:tc>
                  <a:txBody>
                    <a:bodyPr/>
                    <a:lstStyle/>
                    <a:p>
                      <a:pPr algn="ctr"/>
                      <a:r>
                        <a:rPr lang="es-ES" sz="1200" dirty="0">
                          <a:latin typeface="Arial" panose="020B0604020202020204" pitchFamily="34" charset="0"/>
                          <a:cs typeface="Arial" panose="020B0604020202020204" pitchFamily="34" charset="0"/>
                        </a:rPr>
                        <a:t>K</a:t>
                      </a:r>
                    </a:p>
                  </a:txBody>
                  <a:tcPr anchor="ctr"/>
                </a:tc>
                <a:tc>
                  <a:txBody>
                    <a:bodyPr/>
                    <a:lstStyle/>
                    <a:p>
                      <a:pPr algn="ctr"/>
                      <a:r>
                        <a:rPr lang="es-ES" sz="1200" dirty="0">
                          <a:latin typeface="Arial" panose="020B0604020202020204" pitchFamily="34" charset="0"/>
                          <a:cs typeface="Arial" panose="020B0604020202020204" pitchFamily="34" charset="0"/>
                        </a:rPr>
                        <a:t>0,6</a:t>
                      </a:r>
                    </a:p>
                  </a:txBody>
                  <a:tcPr anchor="ctr"/>
                </a:tc>
                <a:tc>
                  <a:txBody>
                    <a:bodyPr/>
                    <a:lstStyle/>
                    <a:p>
                      <a:pPr algn="ctr"/>
                      <a:r>
                        <a:rPr lang="es-ES" sz="1200" dirty="0">
                          <a:latin typeface="Arial" panose="020B0604020202020204" pitchFamily="34" charset="0"/>
                          <a:cs typeface="Arial" panose="020B0604020202020204" pitchFamily="34" charset="0"/>
                        </a:rPr>
                        <a:t>0,6</a:t>
                      </a:r>
                    </a:p>
                  </a:txBody>
                  <a:tcPr anchor="ctr"/>
                </a:tc>
                <a:tc>
                  <a:txBody>
                    <a:bodyPr/>
                    <a:lstStyle/>
                    <a:p>
                      <a:pPr algn="ctr"/>
                      <a:r>
                        <a:rPr lang="es-ES" sz="1200" dirty="0">
                          <a:latin typeface="Arial" panose="020B0604020202020204" pitchFamily="34" charset="0"/>
                          <a:cs typeface="Arial" panose="020B0604020202020204" pitchFamily="34" charset="0"/>
                        </a:rPr>
                        <a:t>0,8</a:t>
                      </a:r>
                    </a:p>
                  </a:txBody>
                  <a:tcPr anchor="ctr"/>
                </a:tc>
                <a:tc>
                  <a:txBody>
                    <a:bodyPr/>
                    <a:lstStyle/>
                    <a:p>
                      <a:pPr algn="ctr"/>
                      <a:r>
                        <a:rPr lang="es-ES" sz="1200" dirty="0">
                          <a:latin typeface="Arial" panose="020B0604020202020204" pitchFamily="34" charset="0"/>
                          <a:cs typeface="Arial" panose="020B0604020202020204" pitchFamily="34" charset="0"/>
                        </a:rPr>
                        <a:t>1</a:t>
                      </a:r>
                    </a:p>
                  </a:txBody>
                  <a:tcPr anchor="ctr"/>
                </a:tc>
                <a:extLst>
                  <a:ext uri="{0D108BD9-81ED-4DB2-BD59-A6C34878D82A}">
                    <a16:rowId xmlns:a16="http://schemas.microsoft.com/office/drawing/2014/main" val="3875988736"/>
                  </a:ext>
                </a:extLst>
              </a:tr>
              <a:tr h="370840">
                <a:tc>
                  <a:txBody>
                    <a:bodyPr/>
                    <a:lstStyle/>
                    <a:p>
                      <a:pPr algn="ctr"/>
                      <a:r>
                        <a:rPr lang="es-ES" sz="1200" dirty="0">
                          <a:latin typeface="Arial" panose="020B0604020202020204" pitchFamily="34" charset="0"/>
                          <a:cs typeface="Arial" panose="020B0604020202020204" pitchFamily="34" charset="0"/>
                        </a:rPr>
                        <a:t>L</a:t>
                      </a:r>
                    </a:p>
                  </a:txBody>
                  <a:tcPr anchor="ctr"/>
                </a:tc>
                <a:tc>
                  <a:txBody>
                    <a:bodyPr/>
                    <a:lstStyle/>
                    <a:p>
                      <a:pPr algn="ctr"/>
                      <a:r>
                        <a:rPr lang="es-ES" sz="1200" dirty="0">
                          <a:latin typeface="Arial" panose="020B0604020202020204" pitchFamily="34" charset="0"/>
                          <a:cs typeface="Arial" panose="020B0604020202020204" pitchFamily="34" charset="0"/>
                        </a:rPr>
                        <a:t>0,6</a:t>
                      </a:r>
                    </a:p>
                  </a:txBody>
                  <a:tcPr anchor="ctr"/>
                </a:tc>
                <a:tc>
                  <a:txBody>
                    <a:bodyPr/>
                    <a:lstStyle/>
                    <a:p>
                      <a:pPr algn="ctr"/>
                      <a:r>
                        <a:rPr lang="es-ES" sz="1200" dirty="0">
                          <a:latin typeface="Arial" panose="020B0604020202020204" pitchFamily="34" charset="0"/>
                          <a:cs typeface="Arial" panose="020B0604020202020204" pitchFamily="34" charset="0"/>
                        </a:rPr>
                        <a:t>1</a:t>
                      </a:r>
                    </a:p>
                  </a:txBody>
                  <a:tcPr anchor="ctr"/>
                </a:tc>
                <a:tc>
                  <a:txBody>
                    <a:bodyPr/>
                    <a:lstStyle/>
                    <a:p>
                      <a:pPr algn="ctr"/>
                      <a:r>
                        <a:rPr lang="es-ES" sz="1200" dirty="0">
                          <a:latin typeface="Arial" panose="020B0604020202020204" pitchFamily="34" charset="0"/>
                          <a:cs typeface="Arial" panose="020B0604020202020204" pitchFamily="34" charset="0"/>
                        </a:rPr>
                        <a:t>1,5</a:t>
                      </a:r>
                    </a:p>
                  </a:txBody>
                  <a:tcPr anchor="ctr"/>
                </a:tc>
                <a:tc>
                  <a:txBody>
                    <a:bodyPr/>
                    <a:lstStyle/>
                    <a:p>
                      <a:pPr algn="ctr"/>
                      <a:r>
                        <a:rPr lang="es-ES" sz="1200" dirty="0">
                          <a:latin typeface="Arial" panose="020B0604020202020204" pitchFamily="34" charset="0"/>
                          <a:cs typeface="Arial" panose="020B0604020202020204" pitchFamily="34" charset="0"/>
                        </a:rPr>
                        <a:t>2</a:t>
                      </a:r>
                    </a:p>
                  </a:txBody>
                  <a:tcPr anchor="ctr"/>
                </a:tc>
                <a:extLst>
                  <a:ext uri="{0D108BD9-81ED-4DB2-BD59-A6C34878D82A}">
                    <a16:rowId xmlns:a16="http://schemas.microsoft.com/office/drawing/2014/main" val="1841784945"/>
                  </a:ext>
                </a:extLst>
              </a:tr>
            </a:tbl>
          </a:graphicData>
        </a:graphic>
      </p:graphicFrame>
      <p:sp>
        <p:nvSpPr>
          <p:cNvPr id="6" name="1 Título">
            <a:extLst>
              <a:ext uri="{FF2B5EF4-FFF2-40B4-BE49-F238E27FC236}">
                <a16:creationId xmlns:a16="http://schemas.microsoft.com/office/drawing/2014/main" id="{D4A58482-00EB-A241-DD06-B030F2E3BF6F}"/>
              </a:ext>
            </a:extLst>
          </p:cNvPr>
          <p:cNvSpPr>
            <a:spLocks noGrp="1"/>
          </p:cNvSpPr>
          <p:nvPr>
            <p:ph type="ctrTitle"/>
          </p:nvPr>
        </p:nvSpPr>
        <p:spPr>
          <a:xfrm>
            <a:off x="1403350" y="153256"/>
            <a:ext cx="7407275" cy="442571"/>
          </a:xfrm>
        </p:spPr>
        <p:txBody>
          <a:bodyPr>
            <a:normAutofit fontScale="90000"/>
          </a:bodyPr>
          <a:lstStyle/>
          <a:p>
            <a:pPr eaLnBrk="1" hangingPunct="1">
              <a:defRPr/>
            </a:pPr>
            <a:r>
              <a:rPr lang="es-ES_tradnl" altLang="es-ES" sz="2800"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rPr>
              <a:t>Planos.  Consignación de tolerancias generales</a:t>
            </a:r>
            <a:endParaRPr lang="es-ES" altLang="es-ES"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37764553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2FDD173-3664-5149-B769-5B6B06B2E10F}"/>
              </a:ext>
            </a:extLst>
          </p:cNvPr>
          <p:cNvSpPr txBox="1"/>
          <p:nvPr/>
        </p:nvSpPr>
        <p:spPr>
          <a:xfrm>
            <a:off x="1425495" y="1145445"/>
            <a:ext cx="6927870" cy="338554"/>
          </a:xfrm>
          <a:prstGeom prst="rect">
            <a:avLst/>
          </a:prstGeom>
          <a:noFill/>
        </p:spPr>
        <p:txBody>
          <a:bodyPr wrap="square" rtlCol="0">
            <a:spAutoFit/>
          </a:bodyPr>
          <a:lstStyle/>
          <a:p>
            <a:r>
              <a:rPr lang="es-ES" sz="1600" b="1" dirty="0"/>
              <a:t>Tolerancias geométricas generales (ISO 2768-2, UNE-EN-27768-2)</a:t>
            </a:r>
          </a:p>
        </p:txBody>
      </p:sp>
      <p:sp>
        <p:nvSpPr>
          <p:cNvPr id="8" name="CuadroTexto 7">
            <a:extLst>
              <a:ext uri="{FF2B5EF4-FFF2-40B4-BE49-F238E27FC236}">
                <a16:creationId xmlns:a16="http://schemas.microsoft.com/office/drawing/2014/main" id="{B03C8A29-201A-9A4D-9F4A-9D7A33256E78}"/>
              </a:ext>
            </a:extLst>
          </p:cNvPr>
          <p:cNvSpPr txBox="1"/>
          <p:nvPr/>
        </p:nvSpPr>
        <p:spPr>
          <a:xfrm>
            <a:off x="1048490" y="4314582"/>
            <a:ext cx="7762135" cy="338554"/>
          </a:xfrm>
          <a:prstGeom prst="rect">
            <a:avLst/>
          </a:prstGeom>
          <a:noFill/>
        </p:spPr>
        <p:txBody>
          <a:bodyPr wrap="square" rtlCol="0">
            <a:spAutoFit/>
          </a:bodyPr>
          <a:lstStyle/>
          <a:p>
            <a:pPr algn="ctr"/>
            <a:r>
              <a:rPr lang="es-ES" sz="1600" dirty="0"/>
              <a:t>Nota.- La tolerancia de alabeo solamente es aplicable a piezas de revolución.</a:t>
            </a:r>
          </a:p>
        </p:txBody>
      </p:sp>
      <p:graphicFrame>
        <p:nvGraphicFramePr>
          <p:cNvPr id="3" name="Tabla 2">
            <a:extLst>
              <a:ext uri="{FF2B5EF4-FFF2-40B4-BE49-F238E27FC236}">
                <a16:creationId xmlns:a16="http://schemas.microsoft.com/office/drawing/2014/main" id="{5D6985D1-129D-C043-8746-21A14B2CB907}"/>
              </a:ext>
            </a:extLst>
          </p:cNvPr>
          <p:cNvGraphicFramePr>
            <a:graphicFrameLocks noGrp="1"/>
          </p:cNvGraphicFramePr>
          <p:nvPr>
            <p:extLst>
              <p:ext uri="{D42A27DB-BD31-4B8C-83A1-F6EECF244321}">
                <p14:modId xmlns:p14="http://schemas.microsoft.com/office/powerpoint/2010/main" val="2273605303"/>
              </p:ext>
            </p:extLst>
          </p:nvPr>
        </p:nvGraphicFramePr>
        <p:xfrm>
          <a:off x="2339752" y="2433727"/>
          <a:ext cx="4680520" cy="1483360"/>
        </p:xfrm>
        <a:graphic>
          <a:graphicData uri="http://schemas.openxmlformats.org/drawingml/2006/table">
            <a:tbl>
              <a:tblPr firstRow="1" bandRow="1">
                <a:tableStyleId>{5C22544A-7EE6-4342-B048-85BDC9FD1C3A}</a:tableStyleId>
              </a:tblPr>
              <a:tblGrid>
                <a:gridCol w="1371681">
                  <a:extLst>
                    <a:ext uri="{9D8B030D-6E8A-4147-A177-3AD203B41FA5}">
                      <a16:colId xmlns:a16="http://schemas.microsoft.com/office/drawing/2014/main" val="1504837671"/>
                    </a:ext>
                  </a:extLst>
                </a:gridCol>
                <a:gridCol w="3308839">
                  <a:extLst>
                    <a:ext uri="{9D8B030D-6E8A-4147-A177-3AD203B41FA5}">
                      <a16:colId xmlns:a16="http://schemas.microsoft.com/office/drawing/2014/main" val="433257574"/>
                    </a:ext>
                  </a:extLst>
                </a:gridCol>
              </a:tblGrid>
              <a:tr h="370840">
                <a:tc>
                  <a:txBody>
                    <a:bodyPr/>
                    <a:lstStyle/>
                    <a:p>
                      <a:pPr algn="ctr"/>
                      <a:r>
                        <a:rPr lang="es-ES" dirty="0">
                          <a:latin typeface="Arial" panose="020B0604020202020204" pitchFamily="34" charset="0"/>
                          <a:cs typeface="Arial" panose="020B0604020202020204" pitchFamily="34" charset="0"/>
                        </a:rPr>
                        <a:t>Clase</a:t>
                      </a:r>
                    </a:p>
                  </a:txBody>
                  <a:tcPr/>
                </a:tc>
                <a:tc>
                  <a:txBody>
                    <a:bodyPr/>
                    <a:lstStyle/>
                    <a:p>
                      <a:pPr algn="ctr"/>
                      <a:r>
                        <a:rPr lang="es-ES" dirty="0">
                          <a:latin typeface="Arial" panose="020B0604020202020204" pitchFamily="34" charset="0"/>
                          <a:cs typeface="Arial" panose="020B0604020202020204" pitchFamily="34" charset="0"/>
                        </a:rPr>
                        <a:t>Tolerancia de alabeo</a:t>
                      </a:r>
                    </a:p>
                  </a:txBody>
                  <a:tcPr/>
                </a:tc>
                <a:extLst>
                  <a:ext uri="{0D108BD9-81ED-4DB2-BD59-A6C34878D82A}">
                    <a16:rowId xmlns:a16="http://schemas.microsoft.com/office/drawing/2014/main" val="2168198385"/>
                  </a:ext>
                </a:extLst>
              </a:tr>
              <a:tr h="370840">
                <a:tc>
                  <a:txBody>
                    <a:bodyPr/>
                    <a:lstStyle/>
                    <a:p>
                      <a:pPr algn="ctr"/>
                      <a:r>
                        <a:rPr lang="es-ES" dirty="0">
                          <a:latin typeface="Arial" panose="020B0604020202020204" pitchFamily="34" charset="0"/>
                          <a:cs typeface="Arial" panose="020B0604020202020204" pitchFamily="34" charset="0"/>
                        </a:rPr>
                        <a:t>H</a:t>
                      </a:r>
                    </a:p>
                  </a:txBody>
                  <a:tcPr/>
                </a:tc>
                <a:tc>
                  <a:txBody>
                    <a:bodyPr/>
                    <a:lstStyle/>
                    <a:p>
                      <a:pPr algn="ctr"/>
                      <a:r>
                        <a:rPr lang="es-ES" dirty="0">
                          <a:latin typeface="Arial" panose="020B0604020202020204" pitchFamily="34" charset="0"/>
                          <a:cs typeface="Arial" panose="020B0604020202020204" pitchFamily="34" charset="0"/>
                        </a:rPr>
                        <a:t>0,1</a:t>
                      </a:r>
                    </a:p>
                  </a:txBody>
                  <a:tcPr/>
                </a:tc>
                <a:extLst>
                  <a:ext uri="{0D108BD9-81ED-4DB2-BD59-A6C34878D82A}">
                    <a16:rowId xmlns:a16="http://schemas.microsoft.com/office/drawing/2014/main" val="2607518817"/>
                  </a:ext>
                </a:extLst>
              </a:tr>
              <a:tr h="370840">
                <a:tc>
                  <a:txBody>
                    <a:bodyPr/>
                    <a:lstStyle/>
                    <a:p>
                      <a:pPr algn="ctr"/>
                      <a:r>
                        <a:rPr lang="es-ES" dirty="0">
                          <a:latin typeface="Arial" panose="020B0604020202020204" pitchFamily="34" charset="0"/>
                          <a:cs typeface="Arial" panose="020B0604020202020204" pitchFamily="34" charset="0"/>
                        </a:rPr>
                        <a:t>K</a:t>
                      </a:r>
                    </a:p>
                  </a:txBody>
                  <a:tcPr/>
                </a:tc>
                <a:tc>
                  <a:txBody>
                    <a:bodyPr/>
                    <a:lstStyle/>
                    <a:p>
                      <a:pPr algn="ctr"/>
                      <a:r>
                        <a:rPr lang="es-ES" dirty="0">
                          <a:latin typeface="Arial" panose="020B0604020202020204" pitchFamily="34" charset="0"/>
                          <a:cs typeface="Arial" panose="020B0604020202020204" pitchFamily="34" charset="0"/>
                        </a:rPr>
                        <a:t>0,2</a:t>
                      </a:r>
                    </a:p>
                  </a:txBody>
                  <a:tcPr/>
                </a:tc>
                <a:extLst>
                  <a:ext uri="{0D108BD9-81ED-4DB2-BD59-A6C34878D82A}">
                    <a16:rowId xmlns:a16="http://schemas.microsoft.com/office/drawing/2014/main" val="3213012295"/>
                  </a:ext>
                </a:extLst>
              </a:tr>
              <a:tr h="370840">
                <a:tc>
                  <a:txBody>
                    <a:bodyPr/>
                    <a:lstStyle/>
                    <a:p>
                      <a:pPr algn="ctr"/>
                      <a:r>
                        <a:rPr lang="es-ES" dirty="0">
                          <a:latin typeface="Arial" panose="020B0604020202020204" pitchFamily="34" charset="0"/>
                          <a:cs typeface="Arial" panose="020B0604020202020204" pitchFamily="34" charset="0"/>
                        </a:rPr>
                        <a:t>L</a:t>
                      </a:r>
                    </a:p>
                  </a:txBody>
                  <a:tcPr/>
                </a:tc>
                <a:tc>
                  <a:txBody>
                    <a:bodyPr/>
                    <a:lstStyle/>
                    <a:p>
                      <a:pPr algn="ctr"/>
                      <a:r>
                        <a:rPr lang="es-ES" dirty="0">
                          <a:latin typeface="Arial" panose="020B0604020202020204" pitchFamily="34" charset="0"/>
                          <a:cs typeface="Arial" panose="020B0604020202020204" pitchFamily="34" charset="0"/>
                        </a:rPr>
                        <a:t>0,5</a:t>
                      </a:r>
                    </a:p>
                  </a:txBody>
                  <a:tcPr/>
                </a:tc>
                <a:extLst>
                  <a:ext uri="{0D108BD9-81ED-4DB2-BD59-A6C34878D82A}">
                    <a16:rowId xmlns:a16="http://schemas.microsoft.com/office/drawing/2014/main" val="3948769924"/>
                  </a:ext>
                </a:extLst>
              </a:tr>
            </a:tbl>
          </a:graphicData>
        </a:graphic>
      </p:graphicFrame>
      <p:sp>
        <p:nvSpPr>
          <p:cNvPr id="7" name="1 Título">
            <a:extLst>
              <a:ext uri="{FF2B5EF4-FFF2-40B4-BE49-F238E27FC236}">
                <a16:creationId xmlns:a16="http://schemas.microsoft.com/office/drawing/2014/main" id="{66272AF1-F6CE-FD45-6B74-97C935BEF91C}"/>
              </a:ext>
            </a:extLst>
          </p:cNvPr>
          <p:cNvSpPr>
            <a:spLocks noGrp="1"/>
          </p:cNvSpPr>
          <p:nvPr>
            <p:ph type="ctrTitle"/>
          </p:nvPr>
        </p:nvSpPr>
        <p:spPr>
          <a:xfrm>
            <a:off x="1403350" y="153256"/>
            <a:ext cx="7407275" cy="442571"/>
          </a:xfrm>
        </p:spPr>
        <p:txBody>
          <a:bodyPr>
            <a:normAutofit fontScale="90000"/>
          </a:bodyPr>
          <a:lstStyle/>
          <a:p>
            <a:pPr eaLnBrk="1" hangingPunct="1">
              <a:defRPr/>
            </a:pPr>
            <a:r>
              <a:rPr lang="es-ES_tradnl" altLang="es-ES" sz="2800"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rPr>
              <a:t>Planos.  Consignación de tolerancias generales</a:t>
            </a:r>
            <a:endParaRPr lang="es-ES" altLang="es-ES" dirty="0">
              <a:effectLst>
                <a:outerShdw blurRad="38100" dist="38100" dir="2700000" algn="tl">
                  <a:srgbClr val="C0C0C0"/>
                </a:outerShdw>
              </a:effectLst>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77273623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Imagen 4">
            <a:extLst>
              <a:ext uri="{FF2B5EF4-FFF2-40B4-BE49-F238E27FC236}">
                <a16:creationId xmlns:a16="http://schemas.microsoft.com/office/drawing/2014/main" id="{ED73AB39-2DBD-1B4F-888B-FEAFC27299A5}"/>
              </a:ext>
            </a:extLst>
          </p:cNvPr>
          <p:cNvPicPr>
            <a:picLocks noChangeAspect="1"/>
          </p:cNvPicPr>
          <p:nvPr/>
        </p:nvPicPr>
        <p:blipFill>
          <a:blip r:embed="rId2">
            <a:extLst>
              <a:ext uri="{28A0092B-C50C-407E-A947-70E740481C1C}">
                <a14:useLocalDpi xmlns:a14="http://schemas.microsoft.com/office/drawing/2010/main" val="0"/>
              </a:ext>
            </a:extLst>
          </a:blip>
          <a:srcRect t="1046" b="1046"/>
          <a:stretch/>
        </p:blipFill>
        <p:spPr bwMode="auto">
          <a:xfrm>
            <a:off x="2411760" y="116632"/>
            <a:ext cx="4865561" cy="674136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3662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0D2E8EB5-06F9-E341-9310-B506A32C9BF7}"/>
              </a:ext>
            </a:extLst>
          </p:cNvPr>
          <p:cNvSpPr>
            <a:spLocks noGrp="1"/>
          </p:cNvSpPr>
          <p:nvPr>
            <p:ph type="subTitle" idx="1"/>
          </p:nvPr>
        </p:nvSpPr>
        <p:spPr>
          <a:xfrm>
            <a:off x="1431925" y="1484313"/>
            <a:ext cx="7407275" cy="4752999"/>
          </a:xfrm>
        </p:spPr>
        <p:txBody>
          <a:bodyPr>
            <a:normAutofit fontScale="92500" lnSpcReduction="10000"/>
          </a:bodyPr>
          <a:lstStyle/>
          <a:p>
            <a:pPr marL="0" eaLnBrk="1" hangingPunct="1">
              <a:spcBef>
                <a:spcPct val="20000"/>
              </a:spcBef>
              <a:buClrTx/>
              <a:buSzTx/>
              <a:buFont typeface="Wingdings 2"/>
              <a:buNone/>
              <a:defRPr/>
            </a:pPr>
            <a:r>
              <a:rPr lang="es-ES_tradnl" altLang="en-US" sz="2000" b="1" u="sng" kern="0" dirty="0">
                <a:solidFill>
                  <a:srgbClr val="000000"/>
                </a:solidFill>
                <a:latin typeface="Arial"/>
                <a:ea typeface="+mn-ea"/>
                <a:cs typeface="+mn-cs"/>
              </a:rPr>
              <a:t>Consideraciones generales</a:t>
            </a:r>
          </a:p>
          <a:p>
            <a:pPr eaLnBrk="1" fontAlgn="auto" hangingPunct="1">
              <a:spcAft>
                <a:spcPts val="0"/>
              </a:spcAft>
              <a:buFont typeface="Wingdings 2"/>
              <a:buNone/>
              <a:defRPr/>
            </a:pPr>
            <a:r>
              <a:rPr lang="es-ES_tradnl" sz="2000" dirty="0">
                <a:ea typeface="+mn-ea"/>
                <a:cs typeface="+mn-cs"/>
              </a:rPr>
              <a:t>Con respecto al trazado o la impresión:</a:t>
            </a:r>
          </a:p>
          <a:p>
            <a:pPr marL="484632" indent="-457200" eaLnBrk="1" fontAlgn="auto" hangingPunct="1">
              <a:spcAft>
                <a:spcPts val="0"/>
              </a:spcAft>
              <a:buFont typeface="+mj-lt"/>
              <a:buAutoNum type="arabicPeriod"/>
              <a:defRPr/>
            </a:pPr>
            <a:r>
              <a:rPr lang="es-ES_tradnl" sz="2000" dirty="0">
                <a:ea typeface="+mn-ea"/>
                <a:cs typeface="+mn-cs"/>
              </a:rPr>
              <a:t>El tamaño de textos y cotas será uniforme independientemente del tamaño del plano (se recomienda no utilizar más de cuatro tamaños distintos) y se escogerán de manera que resulten legibles una vez impresos. La altura de los textos nunca deberá ser inferior a 2.5 </a:t>
            </a:r>
            <a:r>
              <a:rPr lang="es-ES_tradnl" sz="2000" dirty="0" err="1">
                <a:ea typeface="+mn-ea"/>
                <a:cs typeface="+mn-cs"/>
              </a:rPr>
              <a:t>mm.</a:t>
            </a:r>
            <a:endParaRPr lang="es-ES_tradnl" sz="2000" dirty="0">
              <a:ea typeface="+mn-ea"/>
              <a:cs typeface="+mn-cs"/>
            </a:endParaRPr>
          </a:p>
          <a:p>
            <a:pPr marL="484632" indent="-457200" eaLnBrk="1" fontAlgn="auto" hangingPunct="1">
              <a:spcAft>
                <a:spcPts val="0"/>
              </a:spcAft>
              <a:buFont typeface="+mj-lt"/>
              <a:buAutoNum type="arabicPeriod"/>
              <a:defRPr/>
            </a:pPr>
            <a:r>
              <a:rPr lang="es-ES_tradnl" sz="2000" dirty="0">
                <a:ea typeface="+mn-ea"/>
                <a:cs typeface="+mn-cs"/>
              </a:rPr>
              <a:t>El espesor de las líneas se ajustarán a lo indicado en la norma ISO 128. El espesor mínimo será 0.18 </a:t>
            </a:r>
            <a:r>
              <a:rPr lang="es-ES_tradnl" sz="2000" dirty="0" err="1">
                <a:ea typeface="+mn-ea"/>
                <a:cs typeface="+mn-cs"/>
              </a:rPr>
              <a:t>mm.</a:t>
            </a:r>
            <a:r>
              <a:rPr lang="es-ES_tradnl" sz="2000" dirty="0">
                <a:ea typeface="+mn-ea"/>
                <a:cs typeface="+mn-cs"/>
              </a:rPr>
              <a:t>  La relación entre el espesor de la línea fina y de la línea gruesa será de 2.</a:t>
            </a:r>
          </a:p>
          <a:p>
            <a:pPr marL="484632" indent="-457200" eaLnBrk="1" fontAlgn="auto" hangingPunct="1">
              <a:spcAft>
                <a:spcPts val="0"/>
              </a:spcAft>
              <a:buFont typeface="+mj-lt"/>
              <a:buAutoNum type="arabicPeriod"/>
              <a:defRPr/>
            </a:pPr>
            <a:r>
              <a:rPr lang="es-ES_tradnl" sz="2000" dirty="0">
                <a:ea typeface="+mn-ea"/>
                <a:cs typeface="+mn-cs"/>
              </a:rPr>
              <a:t>Los ajustes de impresión permitirán conseguir cumplir la escala consignada en el cajetín en el plano impreso.</a:t>
            </a:r>
          </a:p>
          <a:p>
            <a:pPr marL="484632" indent="-457200" eaLnBrk="1" fontAlgn="auto" hangingPunct="1">
              <a:spcAft>
                <a:spcPts val="0"/>
              </a:spcAft>
              <a:buFont typeface="+mj-lt"/>
              <a:buAutoNum type="arabicPeriod"/>
              <a:defRPr/>
            </a:pPr>
            <a:r>
              <a:rPr lang="es-ES_tradnl" sz="2000" dirty="0">
                <a:ea typeface="+mn-ea"/>
                <a:cs typeface="+mn-cs"/>
              </a:rPr>
              <a:t>Loa planos pueden ser impresos en blanco y negro con los diferentes tipos de líneas especificados en la norma ISO 128.</a:t>
            </a:r>
          </a:p>
          <a:p>
            <a:pPr marL="484632" indent="-457200" eaLnBrk="1" fontAlgn="auto" hangingPunct="1">
              <a:spcAft>
                <a:spcPts val="0"/>
              </a:spcAft>
              <a:buFont typeface="+mj-lt"/>
              <a:buAutoNum type="arabicPeriod"/>
              <a:defRPr/>
            </a:pPr>
            <a:r>
              <a:rPr lang="es-ES_tradnl" sz="2000" dirty="0">
                <a:ea typeface="+mn-ea"/>
                <a:cs typeface="+mn-cs"/>
              </a:rPr>
              <a:t>Si se imprime en color, se deberán evitar colores que no aseguren un buen contraste entre el dibujo y el color de fondo del soporte seleccionado.</a:t>
            </a:r>
          </a:p>
        </p:txBody>
      </p:sp>
      <p:sp>
        <p:nvSpPr>
          <p:cNvPr id="9" name="1 Título">
            <a:extLst>
              <a:ext uri="{FF2B5EF4-FFF2-40B4-BE49-F238E27FC236}">
                <a16:creationId xmlns:a16="http://schemas.microsoft.com/office/drawing/2014/main" id="{0976BD1A-C6B8-4D4F-B70A-7CC2A0AA85BB}"/>
              </a:ext>
            </a:extLst>
          </p:cNvPr>
          <p:cNvSpPr txBox="1">
            <a:spLocks/>
          </p:cNvSpPr>
          <p:nvPr/>
        </p:nvSpPr>
        <p:spPr>
          <a:xfrm>
            <a:off x="1431925" y="332656"/>
            <a:ext cx="7407275" cy="1079947"/>
          </a:xfrm>
          <a:prstGeom prst="rect">
            <a:avLst/>
          </a:prstGeom>
        </p:spPr>
        <p:txBody>
          <a:bodyPr vert="horz" wrap="square" lIns="91440" tIns="45720" rIns="91440" bIns="45720" numCol="1" anchor="b" anchorCtr="0" compatLnSpc="1">
            <a:prstTxWarp prst="textNoShape">
              <a:avLst/>
            </a:prstTxWarp>
            <a:normAutofit/>
          </a:bodyP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ＭＳ Ｐゴシック" charset="0"/>
                <a:cs typeface="ＭＳ Ｐゴシック" charset="0"/>
              </a:defRPr>
            </a:lvl1pPr>
            <a:lvl2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2pPr>
            <a:lvl3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3pPr>
            <a:lvl4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4pPr>
            <a:lvl5pPr algn="l" rtl="0" eaLnBrk="0" fontAlgn="base" hangingPunct="0">
              <a:spcBef>
                <a:spcPct val="0"/>
              </a:spcBef>
              <a:spcAft>
                <a:spcPct val="0"/>
              </a:spcAft>
              <a:defRPr sz="4300">
                <a:solidFill>
                  <a:srgbClr val="572314"/>
                </a:solidFill>
                <a:latin typeface="Gill Sans MT" charset="0"/>
                <a:ea typeface="ＭＳ Ｐゴシック" charset="0"/>
                <a:cs typeface="ＭＳ Ｐゴシック" charset="0"/>
              </a:defRPr>
            </a:lvl5pPr>
            <a:lvl6pPr marL="457200" algn="l" rtl="0" fontAlgn="base">
              <a:spcBef>
                <a:spcPct val="0"/>
              </a:spcBef>
              <a:spcAft>
                <a:spcPct val="0"/>
              </a:spcAft>
              <a:defRPr sz="4300">
                <a:solidFill>
                  <a:srgbClr val="572314"/>
                </a:solidFill>
                <a:latin typeface="Gill Sans MT" charset="0"/>
                <a:ea typeface="ＭＳ Ｐゴシック" charset="0"/>
                <a:cs typeface="ＭＳ Ｐゴシック" charset="0"/>
              </a:defRPr>
            </a:lvl6pPr>
            <a:lvl7pPr marL="914400" algn="l" rtl="0" fontAlgn="base">
              <a:spcBef>
                <a:spcPct val="0"/>
              </a:spcBef>
              <a:spcAft>
                <a:spcPct val="0"/>
              </a:spcAft>
              <a:defRPr sz="4300">
                <a:solidFill>
                  <a:srgbClr val="572314"/>
                </a:solidFill>
                <a:latin typeface="Gill Sans MT" charset="0"/>
                <a:ea typeface="ＭＳ Ｐゴシック" charset="0"/>
                <a:cs typeface="ＭＳ Ｐゴシック" charset="0"/>
              </a:defRPr>
            </a:lvl7pPr>
            <a:lvl8pPr marL="1371600" algn="l" rtl="0" fontAlgn="base">
              <a:spcBef>
                <a:spcPct val="0"/>
              </a:spcBef>
              <a:spcAft>
                <a:spcPct val="0"/>
              </a:spcAft>
              <a:defRPr sz="4300">
                <a:solidFill>
                  <a:srgbClr val="572314"/>
                </a:solidFill>
                <a:latin typeface="Gill Sans MT" charset="0"/>
                <a:ea typeface="ＭＳ Ｐゴシック" charset="0"/>
                <a:cs typeface="ＭＳ Ｐゴシック" charset="0"/>
              </a:defRPr>
            </a:lvl8pPr>
            <a:lvl9pPr marL="1828800" algn="l" rtl="0" fontAlgn="base">
              <a:spcBef>
                <a:spcPct val="0"/>
              </a:spcBef>
              <a:spcAft>
                <a:spcPct val="0"/>
              </a:spcAft>
              <a:defRPr sz="4300">
                <a:solidFill>
                  <a:srgbClr val="572314"/>
                </a:solidFill>
                <a:latin typeface="Gill Sans MT" charset="0"/>
                <a:ea typeface="ＭＳ Ｐゴシック" charset="0"/>
                <a:cs typeface="ＭＳ Ｐゴシック" charset="0"/>
              </a:defRPr>
            </a:lvl9pPr>
            <a:extLst/>
          </a:lstStyle>
          <a:p>
            <a:pPr eaLnBrk="1" hangingPunct="1">
              <a:defRPr/>
            </a:pPr>
            <a:r>
              <a:rPr lang="es-ES_tradnl" altLang="es-ES" sz="3200">
                <a:effectLst>
                  <a:outerShdw blurRad="38100" dist="38100" dir="2700000" algn="tl">
                    <a:srgbClr val="C0C0C0"/>
                  </a:outerShdw>
                </a:effectLst>
                <a:ea typeface="ＭＳ Ｐゴシック" panose="020B0600070205080204" pitchFamily="34" charset="-128"/>
              </a:rPr>
              <a:t>OFICINA TÉCNICA</a:t>
            </a:r>
            <a:br>
              <a:rPr lang="es-ES_tradnl" altLang="es-ES" sz="3200">
                <a:effectLst>
                  <a:outerShdw blurRad="38100" dist="38100" dir="2700000" algn="tl">
                    <a:srgbClr val="C0C0C0"/>
                  </a:outerShdw>
                </a:effectLst>
                <a:ea typeface="ＭＳ Ｐゴシック" panose="020B0600070205080204" pitchFamily="34" charset="-128"/>
              </a:rPr>
            </a:br>
            <a:r>
              <a:rPr lang="es-ES_tradnl" altLang="es-ES" sz="3200">
                <a:effectLst>
                  <a:outerShdw blurRad="38100" dist="38100" dir="2700000" algn="tl">
                    <a:srgbClr val="C0C0C0"/>
                  </a:outerShdw>
                </a:effectLst>
                <a:ea typeface="ＭＳ Ｐゴシック" panose="020B0600070205080204" pitchFamily="34" charset="-128"/>
              </a:rPr>
              <a:t>Tema 5. Planos</a:t>
            </a:r>
            <a:endParaRPr lang="es-ES_tradnl" altLang="es-ES" sz="3200" dirty="0">
              <a:effectLst>
                <a:outerShdw blurRad="38100" dist="38100" dir="2700000" algn="tl">
                  <a:srgbClr val="C0C0C0"/>
                </a:outerShdw>
              </a:effectLst>
              <a:ea typeface="ＭＳ Ｐゴシック" panose="020B0600070205080204" pitchFamily="34" charset="-128"/>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652AF095-8F8C-A543-95A9-C81C07DC0D35}"/>
              </a:ext>
            </a:extLst>
          </p:cNvPr>
          <p:cNvSpPr>
            <a:spLocks noGrp="1"/>
          </p:cNvSpPr>
          <p:nvPr>
            <p:ph type="subTitle" idx="1"/>
          </p:nvPr>
        </p:nvSpPr>
        <p:spPr>
          <a:xfrm>
            <a:off x="1431925" y="1484313"/>
            <a:ext cx="7407275" cy="4032919"/>
          </a:xfrm>
        </p:spPr>
        <p:txBody>
          <a:bodyPr>
            <a:normAutofit/>
          </a:bodyPr>
          <a:lstStyle/>
          <a:p>
            <a:pPr marL="0" eaLnBrk="1" hangingPunct="1">
              <a:spcBef>
                <a:spcPct val="20000"/>
              </a:spcBef>
              <a:buClrTx/>
              <a:buSzTx/>
              <a:buFont typeface="Wingdings 2"/>
              <a:buNone/>
              <a:defRPr/>
            </a:pPr>
            <a:r>
              <a:rPr lang="es-ES_tradnl" altLang="en-US" sz="2000" b="1" u="sng" kern="0" dirty="0">
                <a:solidFill>
                  <a:srgbClr val="000000"/>
                </a:solidFill>
                <a:latin typeface="Arial"/>
                <a:ea typeface="+mn-ea"/>
                <a:cs typeface="+mn-cs"/>
              </a:rPr>
              <a:t>Recomendaciones específicas en función del tipo de plano</a:t>
            </a:r>
            <a:endParaRPr lang="es-ES_tradnl" sz="2000" dirty="0">
              <a:ea typeface="+mn-ea"/>
              <a:cs typeface="+mn-cs"/>
            </a:endParaRPr>
          </a:p>
          <a:p>
            <a:pPr marL="484632" indent="-457200" eaLnBrk="1" fontAlgn="auto" hangingPunct="1">
              <a:spcAft>
                <a:spcPts val="0"/>
              </a:spcAft>
              <a:buFont typeface="+mj-lt"/>
              <a:buAutoNum type="arabicPeriod"/>
              <a:defRPr/>
            </a:pPr>
            <a:r>
              <a:rPr lang="es-ES_tradnl" sz="2000" b="1" dirty="0">
                <a:ea typeface="+mn-ea"/>
                <a:cs typeface="+mn-cs"/>
              </a:rPr>
              <a:t>Plano de situación</a:t>
            </a:r>
          </a:p>
          <a:p>
            <a:pPr eaLnBrk="1" fontAlgn="auto" hangingPunct="1">
              <a:spcAft>
                <a:spcPts val="0"/>
              </a:spcAft>
              <a:buFont typeface="Wingdings 2" charset="0"/>
              <a:buNone/>
              <a:defRPr/>
            </a:pPr>
            <a:endParaRPr lang="es-ES_tradnl" sz="2000" dirty="0">
              <a:ea typeface="+mn-ea"/>
              <a:cs typeface="+mn-cs"/>
            </a:endParaRPr>
          </a:p>
          <a:p>
            <a:pPr marL="800100" lvl="1" indent="-342900" algn="l" eaLnBrk="1" fontAlgn="auto" hangingPunct="1">
              <a:spcAft>
                <a:spcPts val="0"/>
              </a:spcAft>
              <a:buFont typeface="Arial"/>
              <a:buChar char="•"/>
              <a:defRPr/>
            </a:pPr>
            <a:r>
              <a:rPr lang="es-ES_tradnl" sz="2200" dirty="0">
                <a:ea typeface="+mn-ea"/>
              </a:rPr>
              <a:t>Debe indicar claramente la ubicación geográfica del proyecto con respecto a núcleos habitados, carreteras, ríos, etc. cercanos.</a:t>
            </a:r>
          </a:p>
          <a:p>
            <a:pPr marL="800100" lvl="1" indent="-342900" algn="l" eaLnBrk="1" fontAlgn="auto" hangingPunct="1">
              <a:spcAft>
                <a:spcPts val="0"/>
              </a:spcAft>
              <a:buFont typeface="Arial"/>
              <a:buChar char="•"/>
              <a:defRPr/>
            </a:pPr>
            <a:r>
              <a:rPr lang="es-ES_tradnl" sz="2200" dirty="0">
                <a:ea typeface="+mn-ea"/>
              </a:rPr>
              <a:t>La escala comúnmente utilizada oscila entre 1/5000 y 1/50000 (nivel de precisión de mapa de carreteras).</a:t>
            </a:r>
          </a:p>
          <a:p>
            <a:pPr marL="800100" lvl="1" indent="-342900" algn="l" eaLnBrk="1" fontAlgn="auto" hangingPunct="1">
              <a:spcAft>
                <a:spcPts val="0"/>
              </a:spcAft>
              <a:buFont typeface="Arial"/>
              <a:buChar char="•"/>
              <a:defRPr/>
            </a:pPr>
            <a:r>
              <a:rPr lang="es-ES_tradnl" sz="2200" dirty="0">
                <a:ea typeface="+mn-ea"/>
              </a:rPr>
              <a:t>No es necesario incluir el plano de situación de ciudades o poblaciones conocidas.</a:t>
            </a:r>
          </a:p>
        </p:txBody>
      </p:sp>
      <p:sp>
        <p:nvSpPr>
          <p:cNvPr id="6" name="1 Título">
            <a:extLst>
              <a:ext uri="{FF2B5EF4-FFF2-40B4-BE49-F238E27FC236}">
                <a16:creationId xmlns:a16="http://schemas.microsoft.com/office/drawing/2014/main" id="{DCC8E843-4D3E-764E-A824-87092CFFAA5E}"/>
              </a:ext>
            </a:extLst>
          </p:cNvPr>
          <p:cNvSpPr>
            <a:spLocks noGrp="1"/>
          </p:cNvSpPr>
          <p:nvPr>
            <p:ph type="ctrTitle"/>
          </p:nvPr>
        </p:nvSpPr>
        <p:spPr>
          <a:xfrm>
            <a:off x="1431925" y="332656"/>
            <a:ext cx="7407275" cy="1079947"/>
          </a:xfrm>
        </p:spPr>
        <p:txBody>
          <a:bodyPr>
            <a:normAutofit/>
          </a:bodyPr>
          <a:lstStyle/>
          <a:p>
            <a:pPr eaLnBrk="1" hangingPunct="1">
              <a:defRPr/>
            </a:pPr>
            <a:r>
              <a:rPr lang="es-ES_tradnl" altLang="es-ES" sz="3200" dirty="0">
                <a:effectLst>
                  <a:outerShdw blurRad="38100" dist="38100" dir="2700000" algn="tl">
                    <a:srgbClr val="C0C0C0"/>
                  </a:outerShdw>
                </a:effectLst>
                <a:ea typeface="ＭＳ Ｐゴシック" panose="020B0600070205080204" pitchFamily="34" charset="-128"/>
              </a:rPr>
              <a:t>OFICINA TÉCNICA</a:t>
            </a:r>
            <a:br>
              <a:rPr lang="es-ES_tradnl" altLang="es-ES" sz="3200" dirty="0">
                <a:effectLst>
                  <a:outerShdw blurRad="38100" dist="38100" dir="2700000" algn="tl">
                    <a:srgbClr val="C0C0C0"/>
                  </a:outerShdw>
                </a:effectLst>
                <a:ea typeface="ＭＳ Ｐゴシック" panose="020B0600070205080204" pitchFamily="34" charset="-128"/>
              </a:rPr>
            </a:br>
            <a:r>
              <a:rPr lang="es-ES_tradnl" altLang="es-ES" sz="32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83F2C259-7941-CB41-822F-4D3D901BBB98}"/>
              </a:ext>
            </a:extLst>
          </p:cNvPr>
          <p:cNvSpPr>
            <a:spLocks noGrp="1"/>
          </p:cNvSpPr>
          <p:nvPr>
            <p:ph type="subTitle" idx="1"/>
          </p:nvPr>
        </p:nvSpPr>
        <p:spPr>
          <a:xfrm>
            <a:off x="1431925" y="1484313"/>
            <a:ext cx="7407275" cy="4825007"/>
          </a:xfrm>
        </p:spPr>
        <p:txBody>
          <a:bodyPr>
            <a:normAutofit fontScale="92500"/>
          </a:bodyPr>
          <a:lstStyle/>
          <a:p>
            <a:pPr marL="0" eaLnBrk="1" hangingPunct="1">
              <a:spcBef>
                <a:spcPct val="20000"/>
              </a:spcBef>
              <a:buClrTx/>
              <a:buSzTx/>
              <a:defRPr/>
            </a:pPr>
            <a:r>
              <a:rPr lang="es-ES_tradnl" altLang="en-US" sz="2000" b="1" u="sng" kern="0" dirty="0">
                <a:solidFill>
                  <a:srgbClr val="000000"/>
                </a:solidFill>
                <a:latin typeface="Arial"/>
              </a:rPr>
              <a:t>Recomendaciones específicas en función del tipo de plano</a:t>
            </a:r>
            <a:endParaRPr lang="es-ES_tradnl" sz="2000" dirty="0">
              <a:ea typeface="+mn-ea"/>
              <a:cs typeface="+mn-cs"/>
            </a:endParaRPr>
          </a:p>
          <a:p>
            <a:pPr marL="484632" indent="-457200" eaLnBrk="1" fontAlgn="auto" hangingPunct="1">
              <a:spcAft>
                <a:spcPts val="0"/>
              </a:spcAft>
              <a:buFont typeface="+mj-lt"/>
              <a:buAutoNum type="arabicPeriod" startAt="2"/>
              <a:defRPr/>
            </a:pPr>
            <a:r>
              <a:rPr lang="es-ES_tradnl" sz="2000" b="1" dirty="0">
                <a:ea typeface="+mn-ea"/>
                <a:cs typeface="+mn-cs"/>
              </a:rPr>
              <a:t>Emplazamiento</a:t>
            </a:r>
            <a:endParaRPr lang="es-ES_tradnl" sz="2000" dirty="0">
              <a:ea typeface="+mn-ea"/>
              <a:cs typeface="+mn-cs"/>
            </a:endParaRPr>
          </a:p>
          <a:p>
            <a:pPr marL="800100" lvl="1" indent="-342900" algn="l" eaLnBrk="1" fontAlgn="auto" hangingPunct="1">
              <a:spcAft>
                <a:spcPts val="0"/>
              </a:spcAft>
              <a:buFont typeface="Arial"/>
              <a:buChar char="•"/>
              <a:defRPr/>
            </a:pPr>
            <a:r>
              <a:rPr lang="es-ES_tradnl" sz="2200" dirty="0">
                <a:ea typeface="+mn-ea"/>
              </a:rPr>
              <a:t>El plano de emplazamiento debe hacer referencia al lugar del proyecto con respecto a la calle, los edificios adyacentes, las carreteras o los puntos característicos del terreno.</a:t>
            </a:r>
          </a:p>
          <a:p>
            <a:pPr marL="800100" lvl="1" indent="-342900" algn="l" eaLnBrk="1" fontAlgn="auto" hangingPunct="1">
              <a:spcAft>
                <a:spcPts val="0"/>
              </a:spcAft>
              <a:buFont typeface="Arial"/>
              <a:buChar char="•"/>
              <a:defRPr/>
            </a:pPr>
            <a:r>
              <a:rPr lang="es-ES_tradnl" sz="2200" dirty="0">
                <a:ea typeface="+mn-ea"/>
              </a:rPr>
              <a:t>La escala será 1:1000 o 1:2000 (nivel de precisión del plano de la calle). Este plano debe ser facilitado por el ayuntamiento donde se ubique el proyecto.</a:t>
            </a:r>
          </a:p>
          <a:p>
            <a:pPr marL="800100" lvl="1" indent="-342900" algn="l" eaLnBrk="1" fontAlgn="auto" hangingPunct="1">
              <a:spcAft>
                <a:spcPts val="0"/>
              </a:spcAft>
              <a:buFont typeface="Arial"/>
              <a:buChar char="•"/>
              <a:defRPr/>
            </a:pPr>
            <a:r>
              <a:rPr lang="es-ES_tradnl" sz="2200" dirty="0">
                <a:ea typeface="+mn-ea"/>
              </a:rPr>
              <a:t>Los límites del plano deben resaltarse aumentando el grosor del contorno o rellenando con un patrón el contenido.</a:t>
            </a:r>
          </a:p>
          <a:p>
            <a:pPr marL="800100" lvl="1" indent="-342900" algn="l" eaLnBrk="1" fontAlgn="auto" hangingPunct="1">
              <a:spcAft>
                <a:spcPts val="0"/>
              </a:spcAft>
              <a:buFont typeface="Arial"/>
              <a:buChar char="•"/>
              <a:defRPr/>
            </a:pPr>
            <a:r>
              <a:rPr lang="es-ES_tradnl" sz="2200" dirty="0">
                <a:ea typeface="+mn-ea"/>
              </a:rPr>
              <a:t>El plano emplazamiento debe indicar todas las referencias necesarias para localizar el proyecto: Nombre o número del edificio, calle o polígono parque, nombre o identificación de las calles o carreteras de acceso.</a:t>
            </a:r>
          </a:p>
        </p:txBody>
      </p:sp>
      <p:sp>
        <p:nvSpPr>
          <p:cNvPr id="6" name="1 Título">
            <a:extLst>
              <a:ext uri="{FF2B5EF4-FFF2-40B4-BE49-F238E27FC236}">
                <a16:creationId xmlns:a16="http://schemas.microsoft.com/office/drawing/2014/main" id="{AC2D0058-9AB1-DE49-AF07-0B0BAD18158B}"/>
              </a:ext>
            </a:extLst>
          </p:cNvPr>
          <p:cNvSpPr>
            <a:spLocks noGrp="1"/>
          </p:cNvSpPr>
          <p:nvPr>
            <p:ph type="ctrTitle"/>
          </p:nvPr>
        </p:nvSpPr>
        <p:spPr>
          <a:xfrm>
            <a:off x="1431925" y="332656"/>
            <a:ext cx="7407275" cy="1079947"/>
          </a:xfrm>
        </p:spPr>
        <p:txBody>
          <a:bodyPr>
            <a:normAutofit/>
          </a:bodyPr>
          <a:lstStyle/>
          <a:p>
            <a:pPr eaLnBrk="1" hangingPunct="1">
              <a:defRPr/>
            </a:pPr>
            <a:r>
              <a:rPr lang="es-ES_tradnl" altLang="es-ES" sz="3200" dirty="0">
                <a:effectLst>
                  <a:outerShdw blurRad="38100" dist="38100" dir="2700000" algn="tl">
                    <a:srgbClr val="C0C0C0"/>
                  </a:outerShdw>
                </a:effectLst>
                <a:ea typeface="ＭＳ Ｐゴシック" panose="020B0600070205080204" pitchFamily="34" charset="-128"/>
              </a:rPr>
              <a:t>OFICINA TÉCNICA</a:t>
            </a:r>
            <a:br>
              <a:rPr lang="es-ES_tradnl" altLang="es-ES" sz="3200" dirty="0">
                <a:effectLst>
                  <a:outerShdw blurRad="38100" dist="38100" dir="2700000" algn="tl">
                    <a:srgbClr val="C0C0C0"/>
                  </a:outerShdw>
                </a:effectLst>
                <a:ea typeface="ＭＳ Ｐゴシック" panose="020B0600070205080204" pitchFamily="34" charset="-128"/>
              </a:rPr>
            </a:br>
            <a:r>
              <a:rPr lang="es-ES_tradnl" altLang="es-ES" sz="3200" dirty="0">
                <a:effectLst>
                  <a:outerShdw blurRad="38100" dist="38100" dir="2700000" algn="tl">
                    <a:srgbClr val="C0C0C0"/>
                  </a:outerShdw>
                </a:effectLst>
                <a:ea typeface="ＭＳ Ｐゴシック" panose="020B0600070205080204" pitchFamily="34" charset="-128"/>
              </a:rPr>
              <a:t>Tema 5. Planos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7DAA59E4-6383-0A49-A78A-838F15E095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88640"/>
            <a:ext cx="8619591" cy="6264696"/>
          </a:xfrm>
          <a:prstGeom prst="rect">
            <a:avLst/>
          </a:prstGeom>
        </p:spPr>
      </p:pic>
    </p:spTree>
    <p:extLst>
      <p:ext uri="{BB962C8B-B14F-4D97-AF65-F5344CB8AC3E}">
        <p14:creationId xmlns:p14="http://schemas.microsoft.com/office/powerpoint/2010/main" val="154586249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83F2C259-7941-CB41-822F-4D3D901BBB98}"/>
              </a:ext>
            </a:extLst>
          </p:cNvPr>
          <p:cNvSpPr>
            <a:spLocks noGrp="1"/>
          </p:cNvSpPr>
          <p:nvPr>
            <p:ph type="subTitle" idx="1"/>
          </p:nvPr>
        </p:nvSpPr>
        <p:spPr>
          <a:xfrm>
            <a:off x="1431925" y="1484313"/>
            <a:ext cx="7407275" cy="5185047"/>
          </a:xfrm>
        </p:spPr>
        <p:txBody>
          <a:bodyPr>
            <a:normAutofit fontScale="70000" lnSpcReduction="20000"/>
          </a:bodyPr>
          <a:lstStyle/>
          <a:p>
            <a:pPr marL="0" eaLnBrk="1" hangingPunct="1">
              <a:spcBef>
                <a:spcPct val="20000"/>
              </a:spcBef>
              <a:buClrTx/>
              <a:buSzTx/>
              <a:defRPr/>
            </a:pPr>
            <a:r>
              <a:rPr lang="es-ES_tradnl" altLang="en-US" sz="2000" b="1" u="sng" kern="0" dirty="0">
                <a:solidFill>
                  <a:srgbClr val="000000"/>
                </a:solidFill>
                <a:latin typeface="Arial"/>
              </a:rPr>
              <a:t>Recomendaciones específicas en función del tipo de plano</a:t>
            </a:r>
            <a:endParaRPr lang="es-ES_tradnl" sz="2000" dirty="0">
              <a:ea typeface="+mn-ea"/>
              <a:cs typeface="+mn-cs"/>
            </a:endParaRPr>
          </a:p>
          <a:p>
            <a:pPr marL="484632" indent="-457200" eaLnBrk="1" fontAlgn="auto" hangingPunct="1">
              <a:spcAft>
                <a:spcPts val="0"/>
              </a:spcAft>
              <a:buFont typeface="+mj-lt"/>
              <a:buAutoNum type="arabicPeriod" startAt="3"/>
              <a:defRPr/>
            </a:pPr>
            <a:r>
              <a:rPr lang="es-ES_tradnl" sz="2000" b="1" dirty="0">
                <a:ea typeface="+mn-ea"/>
                <a:cs typeface="+mn-cs"/>
              </a:rPr>
              <a:t>Planos de conjunto</a:t>
            </a:r>
            <a:endParaRPr lang="es-ES_tradnl" sz="2000" dirty="0">
              <a:ea typeface="+mn-ea"/>
              <a:cs typeface="+mn-cs"/>
            </a:endParaRPr>
          </a:p>
          <a:p>
            <a:pPr marL="800100" lvl="1" indent="-342900" algn="l" eaLnBrk="1" fontAlgn="auto" hangingPunct="1">
              <a:spcAft>
                <a:spcPts val="0"/>
              </a:spcAft>
              <a:buFont typeface="Arial"/>
              <a:buChar char="•"/>
              <a:defRPr/>
            </a:pPr>
            <a:r>
              <a:rPr lang="es-ES_tradnl" sz="2200" dirty="0">
                <a:ea typeface="+mn-ea"/>
              </a:rPr>
              <a:t>La misión fundamental de un plano de conjunto en un proyecto es la de mostrar los detalles relativos al ensamblaje entre elementos, al nivel que corresponda en el WBS. </a:t>
            </a:r>
          </a:p>
          <a:p>
            <a:pPr marL="800100" lvl="1" indent="-342900" algn="l" eaLnBrk="1" fontAlgn="auto" hangingPunct="1">
              <a:spcAft>
                <a:spcPts val="0"/>
              </a:spcAft>
              <a:buFont typeface="Arial"/>
              <a:buChar char="•"/>
              <a:defRPr/>
            </a:pPr>
            <a:r>
              <a:rPr lang="es-ES_tradnl" sz="2200" dirty="0">
                <a:ea typeface="+mn-ea"/>
              </a:rPr>
              <a:t>No deben mostrarse detalles innecesarios dentro de elemento, bloque, conjunto o subsistema, puesto que esos detalles ya se observarán en los correspondientes planos de conjunto, aguas abajo en el WBS.</a:t>
            </a:r>
          </a:p>
          <a:p>
            <a:pPr marL="800100" lvl="1" indent="-342900" algn="l" eaLnBrk="1" fontAlgn="auto" hangingPunct="1">
              <a:spcAft>
                <a:spcPts val="0"/>
              </a:spcAft>
              <a:buFont typeface="Arial"/>
              <a:buChar char="•"/>
              <a:defRPr/>
            </a:pPr>
            <a:r>
              <a:rPr lang="es-ES_tradnl" sz="2200" dirty="0">
                <a:ea typeface="+mn-ea"/>
              </a:rPr>
              <a:t>La lista de componentes deberá tener tantas filas como elementos estén conectados directamente en el correspondiente nodo del WBS.</a:t>
            </a:r>
          </a:p>
          <a:p>
            <a:pPr marL="800100" lvl="1" indent="-342900" algn="l" eaLnBrk="1" fontAlgn="auto" hangingPunct="1">
              <a:spcAft>
                <a:spcPts val="0"/>
              </a:spcAft>
              <a:buFont typeface="Arial"/>
              <a:buChar char="•"/>
              <a:defRPr/>
            </a:pPr>
            <a:r>
              <a:rPr lang="es-ES_tradnl" sz="2200" dirty="0">
                <a:ea typeface="+mn-ea"/>
              </a:rPr>
              <a:t>No deberán repetirse las marcas en elementos en los que, por simetría, se pueda deducir que son iguales.</a:t>
            </a:r>
          </a:p>
          <a:p>
            <a:pPr marL="800100" lvl="1" indent="-342900" algn="l" eaLnBrk="1" fontAlgn="auto" hangingPunct="1">
              <a:spcAft>
                <a:spcPts val="0"/>
              </a:spcAft>
              <a:buFont typeface="Arial"/>
              <a:buChar char="•"/>
              <a:defRPr/>
            </a:pPr>
            <a:r>
              <a:rPr lang="es-ES_tradnl" sz="2200" dirty="0">
                <a:ea typeface="+mn-ea"/>
              </a:rPr>
              <a:t>Deberán incluirse las vistas y detalles necesarios para comprender el montaje.</a:t>
            </a:r>
          </a:p>
          <a:p>
            <a:pPr marL="800100" lvl="1" indent="-342900" algn="l" eaLnBrk="1" fontAlgn="auto" hangingPunct="1">
              <a:spcAft>
                <a:spcPts val="0"/>
              </a:spcAft>
              <a:buFont typeface="Arial"/>
              <a:buChar char="•"/>
              <a:defRPr/>
            </a:pPr>
            <a:r>
              <a:rPr lang="es-ES_tradnl" sz="2200" dirty="0">
                <a:ea typeface="+mn-ea"/>
              </a:rPr>
              <a:t>Solamente deberán incluirse aquellas cotas que puedan ser necesarias a la hora de montar.</a:t>
            </a:r>
          </a:p>
          <a:p>
            <a:pPr marL="800100" lvl="1" indent="-342900" algn="l" eaLnBrk="1" fontAlgn="auto" hangingPunct="1">
              <a:spcAft>
                <a:spcPts val="0"/>
              </a:spcAft>
              <a:buFont typeface="Arial"/>
              <a:buChar char="•"/>
              <a:defRPr/>
            </a:pPr>
            <a:r>
              <a:rPr lang="es-ES_tradnl" sz="2200" dirty="0">
                <a:ea typeface="+mn-ea"/>
              </a:rPr>
              <a:t>Todos los elementos que aparezcan en un dibujo de conjunto deberán estar correctamente referenciados, directamente en el dibujo o indirectamente en la lista de componentes.</a:t>
            </a:r>
          </a:p>
          <a:p>
            <a:pPr marL="800100" lvl="1" indent="-342900" algn="l" eaLnBrk="1" fontAlgn="auto" hangingPunct="1">
              <a:spcAft>
                <a:spcPts val="0"/>
              </a:spcAft>
              <a:buFont typeface="Arial"/>
              <a:buChar char="•"/>
              <a:defRPr/>
            </a:pPr>
            <a:r>
              <a:rPr lang="es-ES_tradnl" sz="2200" dirty="0">
                <a:ea typeface="+mn-ea"/>
              </a:rPr>
              <a:t>En el plano de conjunto mecánico no deben aparecer cableados o conexionados eléctricos o electrónicos. </a:t>
            </a:r>
          </a:p>
          <a:p>
            <a:pPr marL="800100" lvl="1" indent="-342900" algn="l" eaLnBrk="1" fontAlgn="auto" hangingPunct="1">
              <a:spcAft>
                <a:spcPts val="0"/>
              </a:spcAft>
              <a:buFont typeface="Arial"/>
              <a:buChar char="•"/>
              <a:defRPr/>
            </a:pPr>
            <a:r>
              <a:rPr lang="es-ES_tradnl" sz="2200" dirty="0">
                <a:ea typeface="+mn-ea"/>
              </a:rPr>
              <a:t>El cableado o conexionado electrónico o eléctrico se indicará por medio del correspondiente diagrama de conexiones.</a:t>
            </a:r>
          </a:p>
          <a:p>
            <a:pPr marL="800100" lvl="1" indent="-342900" algn="l" eaLnBrk="1" fontAlgn="auto" hangingPunct="1">
              <a:spcAft>
                <a:spcPts val="0"/>
              </a:spcAft>
              <a:buFont typeface="Arial"/>
              <a:buChar char="•"/>
              <a:defRPr/>
            </a:pPr>
            <a:endParaRPr lang="es-ES_tradnl" sz="2200" dirty="0">
              <a:ea typeface="+mn-ea"/>
            </a:endParaRPr>
          </a:p>
        </p:txBody>
      </p:sp>
      <p:sp>
        <p:nvSpPr>
          <p:cNvPr id="6" name="1 Título">
            <a:extLst>
              <a:ext uri="{FF2B5EF4-FFF2-40B4-BE49-F238E27FC236}">
                <a16:creationId xmlns:a16="http://schemas.microsoft.com/office/drawing/2014/main" id="{AC2D0058-9AB1-DE49-AF07-0B0BAD18158B}"/>
              </a:ext>
            </a:extLst>
          </p:cNvPr>
          <p:cNvSpPr>
            <a:spLocks noGrp="1"/>
          </p:cNvSpPr>
          <p:nvPr>
            <p:ph type="ctrTitle"/>
          </p:nvPr>
        </p:nvSpPr>
        <p:spPr>
          <a:xfrm>
            <a:off x="1431925" y="332656"/>
            <a:ext cx="7407275" cy="1079947"/>
          </a:xfrm>
        </p:spPr>
        <p:txBody>
          <a:bodyPr>
            <a:normAutofit/>
          </a:bodyPr>
          <a:lstStyle/>
          <a:p>
            <a:pPr eaLnBrk="1" hangingPunct="1">
              <a:defRPr/>
            </a:pPr>
            <a:r>
              <a:rPr lang="es-ES_tradnl" altLang="es-ES" sz="3200" dirty="0">
                <a:effectLst>
                  <a:outerShdw blurRad="38100" dist="38100" dir="2700000" algn="tl">
                    <a:srgbClr val="C0C0C0"/>
                  </a:outerShdw>
                </a:effectLst>
                <a:ea typeface="ＭＳ Ｐゴシック" panose="020B0600070205080204" pitchFamily="34" charset="-128"/>
              </a:rPr>
              <a:t>OFICINA TÉCNICA</a:t>
            </a:r>
            <a:br>
              <a:rPr lang="es-ES_tradnl" altLang="es-ES" sz="3200" dirty="0">
                <a:effectLst>
                  <a:outerShdw blurRad="38100" dist="38100" dir="2700000" algn="tl">
                    <a:srgbClr val="C0C0C0"/>
                  </a:outerShdw>
                </a:effectLst>
                <a:ea typeface="ＭＳ Ｐゴシック" panose="020B0600070205080204" pitchFamily="34" charset="-128"/>
              </a:rPr>
            </a:br>
            <a:r>
              <a:rPr lang="es-ES_tradnl" altLang="es-ES" sz="3200" dirty="0">
                <a:effectLst>
                  <a:outerShdw blurRad="38100" dist="38100" dir="2700000" algn="tl">
                    <a:srgbClr val="C0C0C0"/>
                  </a:outerShdw>
                </a:effectLst>
                <a:ea typeface="ＭＳ Ｐゴシック" panose="020B0600070205080204" pitchFamily="34" charset="-128"/>
              </a:rPr>
              <a:t>Tema 5. Planos</a:t>
            </a:r>
          </a:p>
        </p:txBody>
      </p:sp>
    </p:spTree>
    <p:extLst>
      <p:ext uri="{BB962C8B-B14F-4D97-AF65-F5344CB8AC3E}">
        <p14:creationId xmlns:p14="http://schemas.microsoft.com/office/powerpoint/2010/main" val="269705775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83F2C259-7941-CB41-822F-4D3D901BBB98}"/>
              </a:ext>
            </a:extLst>
          </p:cNvPr>
          <p:cNvSpPr>
            <a:spLocks noGrp="1"/>
          </p:cNvSpPr>
          <p:nvPr>
            <p:ph type="subTitle" idx="1"/>
          </p:nvPr>
        </p:nvSpPr>
        <p:spPr>
          <a:xfrm>
            <a:off x="1431924" y="1484784"/>
            <a:ext cx="7407275" cy="5185047"/>
          </a:xfrm>
        </p:spPr>
        <p:txBody>
          <a:bodyPr>
            <a:normAutofit fontScale="70000" lnSpcReduction="20000"/>
          </a:bodyPr>
          <a:lstStyle/>
          <a:p>
            <a:pPr marL="0" eaLnBrk="1" hangingPunct="1">
              <a:spcBef>
                <a:spcPct val="20000"/>
              </a:spcBef>
              <a:buClrTx/>
              <a:buSzTx/>
              <a:defRPr/>
            </a:pPr>
            <a:r>
              <a:rPr lang="es-ES_tradnl" altLang="en-US" sz="2000" b="1" u="sng" kern="0" dirty="0">
                <a:solidFill>
                  <a:srgbClr val="000000"/>
                </a:solidFill>
                <a:latin typeface="Arial"/>
              </a:rPr>
              <a:t>Recomendaciones específicas en función del tipo de plano</a:t>
            </a:r>
            <a:endParaRPr lang="es-ES_tradnl" sz="2000" dirty="0">
              <a:ea typeface="+mn-ea"/>
              <a:cs typeface="+mn-cs"/>
            </a:endParaRPr>
          </a:p>
          <a:p>
            <a:pPr marL="484632" indent="-457200" eaLnBrk="1" fontAlgn="auto" hangingPunct="1">
              <a:spcAft>
                <a:spcPts val="0"/>
              </a:spcAft>
              <a:buFont typeface="+mj-lt"/>
              <a:buAutoNum type="arabicPeriod" startAt="4"/>
              <a:defRPr/>
            </a:pPr>
            <a:r>
              <a:rPr lang="es-ES_tradnl" sz="2000" b="1" dirty="0">
                <a:ea typeface="+mn-ea"/>
                <a:cs typeface="+mn-cs"/>
              </a:rPr>
              <a:t>Planos de distribución en planta o alzado</a:t>
            </a:r>
            <a:endParaRPr lang="es-ES_tradnl" sz="2000" dirty="0">
              <a:ea typeface="+mn-ea"/>
              <a:cs typeface="+mn-cs"/>
            </a:endParaRPr>
          </a:p>
          <a:p>
            <a:pPr marL="800100" lvl="1" indent="-342900" algn="l" eaLnBrk="1" fontAlgn="auto" hangingPunct="1">
              <a:spcAft>
                <a:spcPts val="0"/>
              </a:spcAft>
              <a:buFont typeface="Arial"/>
              <a:buChar char="•"/>
              <a:defRPr/>
            </a:pPr>
            <a:r>
              <a:rPr lang="es-ES_tradnl" sz="2200" dirty="0">
                <a:ea typeface="+mn-ea"/>
              </a:rPr>
              <a:t>El plano de distribución en planta o alzado cumple una misión similar a un plano de conjunto. Normalmente, están orientados a la edificación.</a:t>
            </a:r>
          </a:p>
          <a:p>
            <a:pPr marL="800100" lvl="1" indent="-342900" algn="l" eaLnBrk="1" fontAlgn="auto" hangingPunct="1">
              <a:spcAft>
                <a:spcPts val="0"/>
              </a:spcAft>
              <a:buFont typeface="Arial"/>
              <a:buChar char="•"/>
              <a:defRPr/>
            </a:pPr>
            <a:r>
              <a:rPr lang="es-ES_tradnl" sz="2200" dirty="0">
                <a:ea typeface="+mn-ea"/>
              </a:rPr>
              <a:t>No deben mostrarse detalles innecesarios dentro de elemento, bloque, conjunto o subsistema, puesto que esos detalles ya se observarán en los correspondientes planos de conjunto, aguas abajo en el WBS.</a:t>
            </a:r>
          </a:p>
          <a:p>
            <a:pPr marL="800100" lvl="1" indent="-342900" algn="l" eaLnBrk="1" fontAlgn="auto" hangingPunct="1">
              <a:spcAft>
                <a:spcPts val="0"/>
              </a:spcAft>
              <a:buFont typeface="Arial"/>
              <a:buChar char="•"/>
              <a:defRPr/>
            </a:pPr>
            <a:r>
              <a:rPr lang="es-ES_tradnl" sz="2200" dirty="0">
                <a:ea typeface="+mn-ea"/>
              </a:rPr>
              <a:t>En general, en los planos de distribución no suelen aparecer listas de componentes. La lista de componentes se puede sustituir por las adecuadas referencias próximas a los elementos mismos del plano.</a:t>
            </a:r>
          </a:p>
          <a:p>
            <a:pPr marL="800100" lvl="1" indent="-342900" algn="l" eaLnBrk="1" fontAlgn="auto" hangingPunct="1">
              <a:spcAft>
                <a:spcPts val="0"/>
              </a:spcAft>
              <a:buFont typeface="Arial"/>
              <a:buChar char="•"/>
              <a:defRPr/>
            </a:pPr>
            <a:r>
              <a:rPr lang="es-ES_tradnl" sz="2200" dirty="0">
                <a:ea typeface="+mn-ea"/>
              </a:rPr>
              <a:t>No deberán repetirse las marcas en elementos en los que, por simetría, se pueda deducir que son iguales.</a:t>
            </a:r>
          </a:p>
          <a:p>
            <a:pPr marL="800100" lvl="1" indent="-342900" algn="l" eaLnBrk="1" fontAlgn="auto" hangingPunct="1">
              <a:spcAft>
                <a:spcPts val="0"/>
              </a:spcAft>
              <a:buFont typeface="Arial"/>
              <a:buChar char="•"/>
              <a:defRPr/>
            </a:pPr>
            <a:r>
              <a:rPr lang="es-ES_tradnl" sz="2200" dirty="0">
                <a:ea typeface="+mn-ea"/>
              </a:rPr>
              <a:t>Deberán incluirse las vistas y detalles necesarios para comprender el montaje.</a:t>
            </a:r>
          </a:p>
          <a:p>
            <a:pPr marL="800100" lvl="1" indent="-342900" algn="l" eaLnBrk="1" fontAlgn="auto" hangingPunct="1">
              <a:spcAft>
                <a:spcPts val="0"/>
              </a:spcAft>
              <a:buFont typeface="Arial"/>
              <a:buChar char="•"/>
              <a:defRPr/>
            </a:pPr>
            <a:r>
              <a:rPr lang="es-ES_tradnl" sz="2200" dirty="0">
                <a:ea typeface="+mn-ea"/>
              </a:rPr>
              <a:t>Solamente deberán incluirse aquellas cotas que puedan ser necesarias a la hora de montar o construir.</a:t>
            </a:r>
          </a:p>
          <a:p>
            <a:pPr marL="800100" lvl="1" indent="-342900" algn="l" eaLnBrk="1" fontAlgn="auto" hangingPunct="1">
              <a:spcAft>
                <a:spcPts val="0"/>
              </a:spcAft>
              <a:buFont typeface="Arial"/>
              <a:buChar char="•"/>
              <a:defRPr/>
            </a:pPr>
            <a:r>
              <a:rPr lang="es-ES_tradnl" sz="2200" dirty="0">
                <a:ea typeface="+mn-ea"/>
              </a:rPr>
              <a:t>En el caso de que se trate de planos de distribución de elementos eléctricos, electrónicos o de conducción de fluidos se podrán representar los circuitos o tuberías de conexión y los componentes, pudiendo utilizar símbolos para representar algunos componentes.</a:t>
            </a:r>
          </a:p>
          <a:p>
            <a:pPr marL="800100" lvl="1" indent="-342900" algn="l" eaLnBrk="1" fontAlgn="auto" hangingPunct="1">
              <a:spcAft>
                <a:spcPts val="0"/>
              </a:spcAft>
              <a:buFont typeface="Arial"/>
              <a:buChar char="•"/>
              <a:defRPr/>
            </a:pPr>
            <a:r>
              <a:rPr lang="es-ES_tradnl" sz="2200" dirty="0">
                <a:ea typeface="+mn-ea"/>
              </a:rPr>
              <a:t>El conexionado electrónico, eléctrico o de conducción de fluidos se completará por medio del correspondiente esquema unifilar, esquema de fluidos o diagrama de conexiones.</a:t>
            </a:r>
          </a:p>
          <a:p>
            <a:pPr marL="800100" lvl="1" indent="-342900" algn="l" eaLnBrk="1" fontAlgn="auto" hangingPunct="1">
              <a:spcAft>
                <a:spcPts val="0"/>
              </a:spcAft>
              <a:buFont typeface="Arial"/>
              <a:buChar char="•"/>
              <a:defRPr/>
            </a:pPr>
            <a:r>
              <a:rPr lang="es-ES_tradnl" sz="2200" dirty="0">
                <a:ea typeface="+mn-ea"/>
              </a:rPr>
              <a:t>Los planos de distribución en planta pueden acotarse para especificar dimensiones de espacios, longitudes de elementos o superficies de áreas.</a:t>
            </a:r>
          </a:p>
          <a:p>
            <a:pPr marL="800100" lvl="1" indent="-342900" algn="l" eaLnBrk="1" fontAlgn="auto" hangingPunct="1">
              <a:spcAft>
                <a:spcPts val="0"/>
              </a:spcAft>
              <a:buFont typeface="Arial"/>
              <a:buChar char="•"/>
              <a:defRPr/>
            </a:pPr>
            <a:endParaRPr lang="es-ES_tradnl" sz="2200" dirty="0">
              <a:ea typeface="+mn-ea"/>
            </a:endParaRPr>
          </a:p>
        </p:txBody>
      </p:sp>
      <p:sp>
        <p:nvSpPr>
          <p:cNvPr id="6" name="1 Título">
            <a:extLst>
              <a:ext uri="{FF2B5EF4-FFF2-40B4-BE49-F238E27FC236}">
                <a16:creationId xmlns:a16="http://schemas.microsoft.com/office/drawing/2014/main" id="{AC2D0058-9AB1-DE49-AF07-0B0BAD18158B}"/>
              </a:ext>
            </a:extLst>
          </p:cNvPr>
          <p:cNvSpPr>
            <a:spLocks noGrp="1"/>
          </p:cNvSpPr>
          <p:nvPr>
            <p:ph type="ctrTitle"/>
          </p:nvPr>
        </p:nvSpPr>
        <p:spPr>
          <a:xfrm>
            <a:off x="1431925" y="332656"/>
            <a:ext cx="7407275" cy="1079947"/>
          </a:xfrm>
        </p:spPr>
        <p:txBody>
          <a:bodyPr>
            <a:normAutofit/>
          </a:bodyPr>
          <a:lstStyle/>
          <a:p>
            <a:pPr eaLnBrk="1" hangingPunct="1">
              <a:defRPr/>
            </a:pPr>
            <a:r>
              <a:rPr lang="es-ES_tradnl" altLang="es-ES" sz="3200" dirty="0">
                <a:effectLst>
                  <a:outerShdw blurRad="38100" dist="38100" dir="2700000" algn="tl">
                    <a:srgbClr val="C0C0C0"/>
                  </a:outerShdw>
                </a:effectLst>
                <a:ea typeface="ＭＳ Ｐゴシック" panose="020B0600070205080204" pitchFamily="34" charset="-128"/>
              </a:rPr>
              <a:t>OFICINA TÉCNICA</a:t>
            </a:r>
            <a:br>
              <a:rPr lang="es-ES_tradnl" altLang="es-ES" sz="3200" dirty="0">
                <a:effectLst>
                  <a:outerShdw blurRad="38100" dist="38100" dir="2700000" algn="tl">
                    <a:srgbClr val="C0C0C0"/>
                  </a:outerShdw>
                </a:effectLst>
                <a:ea typeface="ＭＳ Ｐゴシック" panose="020B0600070205080204" pitchFamily="34" charset="-128"/>
              </a:rPr>
            </a:br>
            <a:r>
              <a:rPr lang="es-ES_tradnl" altLang="es-ES" sz="3200" dirty="0">
                <a:effectLst>
                  <a:outerShdw blurRad="38100" dist="38100" dir="2700000" algn="tl">
                    <a:srgbClr val="C0C0C0"/>
                  </a:outerShdw>
                </a:effectLst>
                <a:ea typeface="ＭＳ Ｐゴシック" panose="020B0600070205080204" pitchFamily="34" charset="-128"/>
              </a:rPr>
              <a:t>Tema 5. Planos</a:t>
            </a:r>
          </a:p>
        </p:txBody>
      </p:sp>
    </p:spTree>
    <p:extLst>
      <p:ext uri="{BB962C8B-B14F-4D97-AF65-F5344CB8AC3E}">
        <p14:creationId xmlns:p14="http://schemas.microsoft.com/office/powerpoint/2010/main" val="31894795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83F2C259-7941-CB41-822F-4D3D901BBB98}"/>
              </a:ext>
            </a:extLst>
          </p:cNvPr>
          <p:cNvSpPr>
            <a:spLocks noGrp="1"/>
          </p:cNvSpPr>
          <p:nvPr>
            <p:ph type="subTitle" idx="1"/>
          </p:nvPr>
        </p:nvSpPr>
        <p:spPr>
          <a:xfrm>
            <a:off x="1431924" y="1484784"/>
            <a:ext cx="7407275" cy="5185047"/>
          </a:xfrm>
        </p:spPr>
        <p:txBody>
          <a:bodyPr>
            <a:normAutofit lnSpcReduction="10000"/>
          </a:bodyPr>
          <a:lstStyle/>
          <a:p>
            <a:pPr marL="0" eaLnBrk="1" hangingPunct="1">
              <a:spcBef>
                <a:spcPct val="20000"/>
              </a:spcBef>
              <a:buClrTx/>
              <a:buSzTx/>
              <a:defRPr/>
            </a:pPr>
            <a:r>
              <a:rPr lang="es-ES_tradnl" altLang="en-US" sz="2000" b="1" u="sng" kern="0" dirty="0">
                <a:solidFill>
                  <a:srgbClr val="000000"/>
                </a:solidFill>
                <a:latin typeface="Arial"/>
              </a:rPr>
              <a:t>Recomendaciones específicas en función del tipo de plano</a:t>
            </a:r>
            <a:endParaRPr lang="es-ES_tradnl" sz="2000" dirty="0">
              <a:ea typeface="+mn-ea"/>
              <a:cs typeface="+mn-cs"/>
            </a:endParaRPr>
          </a:p>
          <a:p>
            <a:pPr marL="484632" indent="-457200" eaLnBrk="1" fontAlgn="auto" hangingPunct="1">
              <a:spcAft>
                <a:spcPts val="0"/>
              </a:spcAft>
              <a:buFont typeface="+mj-lt"/>
              <a:buAutoNum type="arabicPeriod" startAt="5"/>
              <a:defRPr/>
            </a:pPr>
            <a:r>
              <a:rPr lang="es-ES_tradnl" sz="2000" b="1" dirty="0">
                <a:ea typeface="+mn-ea"/>
                <a:cs typeface="+mn-cs"/>
              </a:rPr>
              <a:t>Esquemas y diagramas</a:t>
            </a:r>
            <a:endParaRPr lang="es-ES_tradnl" sz="2000" dirty="0">
              <a:ea typeface="+mn-ea"/>
              <a:cs typeface="+mn-cs"/>
            </a:endParaRPr>
          </a:p>
          <a:p>
            <a:pPr marL="800100" lvl="1" indent="-342900" algn="l" eaLnBrk="1" fontAlgn="auto" hangingPunct="1">
              <a:spcAft>
                <a:spcPts val="0"/>
              </a:spcAft>
              <a:buFont typeface="Arial"/>
              <a:buChar char="•"/>
              <a:defRPr/>
            </a:pPr>
            <a:r>
              <a:rPr lang="es-ES_tradnl" sz="2200" dirty="0">
                <a:ea typeface="+mn-ea"/>
              </a:rPr>
              <a:t>Se utilizarán preferentemente símbolos normalizados</a:t>
            </a:r>
          </a:p>
          <a:p>
            <a:pPr marL="800100" lvl="1" indent="-342900" algn="l" eaLnBrk="1" fontAlgn="auto" hangingPunct="1">
              <a:spcAft>
                <a:spcPts val="0"/>
              </a:spcAft>
              <a:buFont typeface="Arial"/>
              <a:buChar char="•"/>
              <a:defRPr/>
            </a:pPr>
            <a:r>
              <a:rPr lang="es-ES_tradnl" sz="2200" dirty="0">
                <a:ea typeface="+mn-ea"/>
              </a:rPr>
              <a:t>Si no se utilizaran símbolos normalizados se deberá adjuntar una leyenda explicativa.</a:t>
            </a:r>
          </a:p>
          <a:p>
            <a:pPr marL="800100" lvl="1" indent="-342900" algn="l" eaLnBrk="1" fontAlgn="auto" hangingPunct="1">
              <a:spcAft>
                <a:spcPts val="0"/>
              </a:spcAft>
              <a:buFont typeface="Arial"/>
              <a:buChar char="•"/>
              <a:defRPr/>
            </a:pPr>
            <a:r>
              <a:rPr lang="es-ES_tradnl" sz="2200" dirty="0">
                <a:ea typeface="+mn-ea"/>
              </a:rPr>
              <a:t>Todos los elementos en el esquema o diagrama se especificarán con la correspondiente referencia y valor nominal.</a:t>
            </a:r>
          </a:p>
          <a:p>
            <a:pPr marL="800100" lvl="1" indent="-342900" algn="l" eaLnBrk="1" fontAlgn="auto" hangingPunct="1">
              <a:spcAft>
                <a:spcPts val="0"/>
              </a:spcAft>
              <a:buFont typeface="Arial"/>
              <a:buChar char="•"/>
              <a:defRPr/>
            </a:pPr>
            <a:r>
              <a:rPr lang="es-ES_tradnl" sz="2200" dirty="0">
                <a:ea typeface="+mn-ea"/>
              </a:rPr>
              <a:t>La referencia, como en los planos de conjunto, podrá referirse a una norma, una referencia de proveedor o a otro plano o apartado del pliego de condiciones.</a:t>
            </a:r>
          </a:p>
          <a:p>
            <a:pPr marL="800100" lvl="1" indent="-342900" algn="l" eaLnBrk="1" fontAlgn="auto" hangingPunct="1">
              <a:spcAft>
                <a:spcPts val="0"/>
              </a:spcAft>
              <a:buFont typeface="Arial"/>
              <a:buChar char="•"/>
              <a:defRPr/>
            </a:pPr>
            <a:r>
              <a:rPr lang="es-ES_tradnl" sz="2200" dirty="0">
                <a:ea typeface="+mn-ea"/>
              </a:rPr>
              <a:t>Las conexiones podrán especificarse por medio de líneas o tablas de conexión.</a:t>
            </a:r>
          </a:p>
          <a:p>
            <a:pPr marL="800100" lvl="1" indent="-342900" algn="l" eaLnBrk="1" fontAlgn="auto" hangingPunct="1">
              <a:spcAft>
                <a:spcPts val="0"/>
              </a:spcAft>
              <a:buFont typeface="Arial"/>
              <a:buChar char="•"/>
              <a:defRPr/>
            </a:pPr>
            <a:r>
              <a:rPr lang="es-ES_tradnl" sz="2200" dirty="0">
                <a:ea typeface="+mn-ea"/>
              </a:rPr>
              <a:t>En general la conexión entre componentes se efectuarán por medio de líneas horizontales o </a:t>
            </a:r>
            <a:r>
              <a:rPr lang="es-ES_tradnl" sz="2200">
                <a:ea typeface="+mn-ea"/>
              </a:rPr>
              <a:t>verticales.</a:t>
            </a:r>
            <a:endParaRPr lang="es-ES_tradnl" sz="2200" dirty="0">
              <a:ea typeface="+mn-ea"/>
            </a:endParaRPr>
          </a:p>
          <a:p>
            <a:pPr marL="800100" lvl="1" indent="-342900" algn="l" eaLnBrk="1" fontAlgn="auto" hangingPunct="1">
              <a:spcAft>
                <a:spcPts val="0"/>
              </a:spcAft>
              <a:buFont typeface="Arial"/>
              <a:buChar char="•"/>
              <a:defRPr/>
            </a:pPr>
            <a:endParaRPr lang="es-ES_tradnl" sz="2200" dirty="0">
              <a:ea typeface="+mn-ea"/>
            </a:endParaRPr>
          </a:p>
          <a:p>
            <a:pPr marL="800100" lvl="1" indent="-342900" algn="l" eaLnBrk="1" fontAlgn="auto" hangingPunct="1">
              <a:spcAft>
                <a:spcPts val="0"/>
              </a:spcAft>
              <a:buFont typeface="Arial"/>
              <a:buChar char="•"/>
              <a:defRPr/>
            </a:pPr>
            <a:endParaRPr lang="es-ES_tradnl" sz="2200" dirty="0">
              <a:ea typeface="+mn-ea"/>
            </a:endParaRPr>
          </a:p>
          <a:p>
            <a:pPr marL="800100" lvl="1" indent="-342900" algn="l" eaLnBrk="1" fontAlgn="auto" hangingPunct="1">
              <a:spcAft>
                <a:spcPts val="0"/>
              </a:spcAft>
              <a:buFont typeface="Arial"/>
              <a:buChar char="•"/>
              <a:defRPr/>
            </a:pPr>
            <a:endParaRPr lang="es-ES_tradnl" sz="2200" dirty="0">
              <a:ea typeface="+mn-ea"/>
            </a:endParaRPr>
          </a:p>
        </p:txBody>
      </p:sp>
      <p:sp>
        <p:nvSpPr>
          <p:cNvPr id="6" name="1 Título">
            <a:extLst>
              <a:ext uri="{FF2B5EF4-FFF2-40B4-BE49-F238E27FC236}">
                <a16:creationId xmlns:a16="http://schemas.microsoft.com/office/drawing/2014/main" id="{AC2D0058-9AB1-DE49-AF07-0B0BAD18158B}"/>
              </a:ext>
            </a:extLst>
          </p:cNvPr>
          <p:cNvSpPr>
            <a:spLocks noGrp="1"/>
          </p:cNvSpPr>
          <p:nvPr>
            <p:ph type="ctrTitle"/>
          </p:nvPr>
        </p:nvSpPr>
        <p:spPr>
          <a:xfrm>
            <a:off x="1431925" y="332656"/>
            <a:ext cx="7407275" cy="1079947"/>
          </a:xfrm>
        </p:spPr>
        <p:txBody>
          <a:bodyPr>
            <a:normAutofit/>
          </a:bodyPr>
          <a:lstStyle/>
          <a:p>
            <a:pPr eaLnBrk="1" hangingPunct="1">
              <a:defRPr/>
            </a:pPr>
            <a:r>
              <a:rPr lang="es-ES_tradnl" altLang="es-ES" sz="3200" dirty="0">
                <a:effectLst>
                  <a:outerShdw blurRad="38100" dist="38100" dir="2700000" algn="tl">
                    <a:srgbClr val="C0C0C0"/>
                  </a:outerShdw>
                </a:effectLst>
                <a:ea typeface="ＭＳ Ｐゴシック" panose="020B0600070205080204" pitchFamily="34" charset="-128"/>
              </a:rPr>
              <a:t>OFICINA TÉCNICA</a:t>
            </a:r>
            <a:br>
              <a:rPr lang="es-ES_tradnl" altLang="es-ES" sz="3200" dirty="0">
                <a:effectLst>
                  <a:outerShdw blurRad="38100" dist="38100" dir="2700000" algn="tl">
                    <a:srgbClr val="C0C0C0"/>
                  </a:outerShdw>
                </a:effectLst>
                <a:ea typeface="ＭＳ Ｐゴシック" panose="020B0600070205080204" pitchFamily="34" charset="-128"/>
              </a:rPr>
            </a:br>
            <a:r>
              <a:rPr lang="es-ES_tradnl" altLang="es-ES" sz="3200" dirty="0">
                <a:effectLst>
                  <a:outerShdw blurRad="38100" dist="38100" dir="2700000" algn="tl">
                    <a:srgbClr val="C0C0C0"/>
                  </a:outerShdw>
                </a:effectLst>
                <a:ea typeface="ＭＳ Ｐゴシック" panose="020B0600070205080204" pitchFamily="34" charset="-128"/>
              </a:rPr>
              <a:t>Tema 5. Planos</a:t>
            </a:r>
          </a:p>
        </p:txBody>
      </p:sp>
    </p:spTree>
    <p:extLst>
      <p:ext uri="{BB962C8B-B14F-4D97-AF65-F5344CB8AC3E}">
        <p14:creationId xmlns:p14="http://schemas.microsoft.com/office/powerpoint/2010/main" val="391345783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B1A12A-6092-6741-820C-A1E71BC324D5}"/>
              </a:ext>
            </a:extLst>
          </p:cNvPr>
          <p:cNvSpPr>
            <a:spLocks noGrp="1"/>
          </p:cNvSpPr>
          <p:nvPr>
            <p:ph type="title"/>
          </p:nvPr>
        </p:nvSpPr>
        <p:spPr>
          <a:xfrm>
            <a:off x="2555875" y="1989138"/>
            <a:ext cx="6400800" cy="2376487"/>
          </a:xfrm>
        </p:spPr>
        <p:txBody>
          <a:bodyPr/>
          <a:lstStyle/>
          <a:p>
            <a:pPr>
              <a:defRPr/>
            </a:pPr>
            <a:r>
              <a:rPr lang="es-ES_tradnl" altLang="es-ES" cap="none">
                <a:effectLst>
                  <a:outerShdw blurRad="38100" dist="38100" dir="2700000" algn="tl">
                    <a:srgbClr val="C0C0C0"/>
                  </a:outerShdw>
                </a:effectLst>
                <a:ea typeface="ＭＳ Ｐゴシック" panose="020B0600070205080204" pitchFamily="34" charset="-128"/>
              </a:rPr>
              <a:t>Tema 6:</a:t>
            </a:r>
            <a:br>
              <a:rPr lang="es-ES_tradnl" altLang="es-ES" cap="none">
                <a:effectLst>
                  <a:outerShdw blurRad="38100" dist="38100" dir="2700000" algn="tl">
                    <a:srgbClr val="C0C0C0"/>
                  </a:outerShdw>
                </a:effectLst>
                <a:ea typeface="ＭＳ Ｐゴシック" panose="020B0600070205080204" pitchFamily="34" charset="-128"/>
              </a:rPr>
            </a:br>
            <a:r>
              <a:rPr lang="es-ES_tradnl" altLang="es-ES" cap="none">
                <a:effectLst>
                  <a:outerShdw blurRad="38100" dist="38100" dir="2700000" algn="tl">
                    <a:srgbClr val="C0C0C0"/>
                  </a:outerShdw>
                </a:effectLst>
                <a:ea typeface="ＭＳ Ｐゴシック" panose="020B0600070205080204" pitchFamily="34" charset="-128"/>
              </a:rPr>
              <a:t>Pliego de condiciones</a:t>
            </a:r>
          </a:p>
        </p:txBody>
      </p:sp>
      <p:sp>
        <p:nvSpPr>
          <p:cNvPr id="5" name="1 Título">
            <a:extLst>
              <a:ext uri="{FF2B5EF4-FFF2-40B4-BE49-F238E27FC236}">
                <a16:creationId xmlns:a16="http://schemas.microsoft.com/office/drawing/2014/main" id="{E35E41BE-56B1-3F4F-85ED-D84B06F2FC86}"/>
              </a:ext>
            </a:extLst>
          </p:cNvPr>
          <p:cNvSpPr txBox="1">
            <a:spLocks/>
          </p:cNvSpPr>
          <p:nvPr/>
        </p:nvSpPr>
        <p:spPr>
          <a:xfrm>
            <a:off x="2627313" y="836613"/>
            <a:ext cx="3571875" cy="720725"/>
          </a:xfrm>
          <a:prstGeom prst="rect">
            <a:avLst/>
          </a:prstGeom>
        </p:spPr>
        <p:txBody>
          <a:bodyPr>
            <a:normAutofit/>
          </a:bodyPr>
          <a:lstStyle>
            <a:lvl1pPr eaLnBrk="0" hangingPunct="0">
              <a:defRPr sz="24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defRPr sz="24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defRPr sz="2400">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defRPr sz="24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9pPr>
          </a:lstStyle>
          <a:p>
            <a:pPr eaLnBrk="1" hangingPunct="1">
              <a:lnSpc>
                <a:spcPts val="4500"/>
              </a:lnSpc>
              <a:defRPr/>
            </a:pPr>
            <a:r>
              <a:rPr lang="es-ES_tradnl" altLang="es-ES" sz="2700" b="1">
                <a:solidFill>
                  <a:srgbClr val="572314"/>
                </a:solidFill>
                <a:effectLst>
                  <a:outerShdw blurRad="38100" dist="38100" dir="2700000" algn="tl">
                    <a:srgbClr val="C0C0C0"/>
                  </a:outerShdw>
                </a:effectLst>
              </a:rPr>
              <a:t>OFICINA TÉCNICA</a:t>
            </a:r>
            <a:endParaRPr lang="es-ES" altLang="es-ES" sz="2700" b="1">
              <a:solidFill>
                <a:srgbClr val="572314"/>
              </a:solidFill>
              <a:effectLst>
                <a:outerShdw blurRad="38100" dist="38100" dir="2700000" algn="tl">
                  <a:srgbClr val="C0C0C0"/>
                </a:outerShdw>
              </a:effectLst>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7824DF2B-1129-494B-9E15-BCDD85973DC6}"/>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
        <p:nvSpPr>
          <p:cNvPr id="3" name="2 Subtítulo">
            <a:extLst>
              <a:ext uri="{FF2B5EF4-FFF2-40B4-BE49-F238E27FC236}">
                <a16:creationId xmlns:a16="http://schemas.microsoft.com/office/drawing/2014/main" id="{3F066CF5-192F-E444-9E01-71C5CE6EB80A}"/>
              </a:ext>
            </a:extLst>
          </p:cNvPr>
          <p:cNvSpPr>
            <a:spLocks noGrp="1"/>
          </p:cNvSpPr>
          <p:nvPr>
            <p:ph type="subTitle" idx="1"/>
          </p:nvPr>
        </p:nvSpPr>
        <p:spPr>
          <a:xfrm>
            <a:off x="1431925" y="2060575"/>
            <a:ext cx="7407275" cy="3960813"/>
          </a:xfrm>
        </p:spPr>
        <p:txBody>
          <a:bodyPr>
            <a:normAutofit lnSpcReduction="10000"/>
          </a:bodyPr>
          <a:lstStyle/>
          <a:p>
            <a:pPr marL="541782" indent="-514350" eaLnBrk="1" fontAlgn="auto" hangingPunct="1">
              <a:spcAft>
                <a:spcPts val="0"/>
              </a:spcAft>
              <a:buFont typeface="+mj-lt"/>
              <a:buAutoNum type="arabicPeriod"/>
              <a:defRPr/>
            </a:pPr>
            <a:r>
              <a:rPr lang="es-ES_tradnl" sz="3200" dirty="0">
                <a:ea typeface="+mn-ea"/>
                <a:cs typeface="+mn-cs"/>
              </a:rPr>
              <a:t>Introducción</a:t>
            </a:r>
          </a:p>
          <a:p>
            <a:pPr marL="541782" indent="-514350" eaLnBrk="1" fontAlgn="auto" hangingPunct="1">
              <a:spcAft>
                <a:spcPts val="0"/>
              </a:spcAft>
              <a:buFont typeface="Wingdings 2"/>
              <a:buAutoNum type="arabicPeriod"/>
              <a:defRPr/>
            </a:pPr>
            <a:r>
              <a:rPr lang="es-ES_tradnl" sz="3200" dirty="0">
                <a:ea typeface="+mn-ea"/>
                <a:cs typeface="+mn-cs"/>
              </a:rPr>
              <a:t>Definiciones</a:t>
            </a:r>
          </a:p>
          <a:p>
            <a:pPr marL="541782" indent="-514350" eaLnBrk="1" fontAlgn="auto" hangingPunct="1">
              <a:spcAft>
                <a:spcPts val="0"/>
              </a:spcAft>
              <a:buFont typeface="Wingdings 2"/>
              <a:buAutoNum type="arabicPeriod"/>
              <a:defRPr/>
            </a:pPr>
            <a:r>
              <a:rPr lang="es-ES_tradnl" sz="3200" dirty="0">
                <a:ea typeface="+mn-ea"/>
                <a:cs typeface="+mn-cs"/>
              </a:rPr>
              <a:t>Tipos de especificaciones escritas</a:t>
            </a:r>
          </a:p>
          <a:p>
            <a:pPr marL="541782" indent="-514350" eaLnBrk="1" fontAlgn="auto" hangingPunct="1">
              <a:spcAft>
                <a:spcPts val="0"/>
              </a:spcAft>
              <a:buFont typeface="Wingdings 2"/>
              <a:buAutoNum type="arabicPeriod"/>
              <a:defRPr/>
            </a:pPr>
            <a:r>
              <a:rPr lang="es-ES_tradnl" sz="3200" dirty="0">
                <a:ea typeface="+mn-ea"/>
                <a:cs typeface="+mn-cs"/>
              </a:rPr>
              <a:t>Partes de una especificación técnica</a:t>
            </a:r>
          </a:p>
          <a:p>
            <a:pPr marL="541782" indent="-514350" eaLnBrk="1" fontAlgn="auto" hangingPunct="1">
              <a:spcAft>
                <a:spcPts val="0"/>
              </a:spcAft>
              <a:buFont typeface="Wingdings 2"/>
              <a:buAutoNum type="arabicPeriod"/>
              <a:defRPr/>
            </a:pPr>
            <a:r>
              <a:rPr lang="es-ES_tradnl" sz="3200" dirty="0">
                <a:ea typeface="+mn-ea"/>
                <a:cs typeface="+mn-cs"/>
              </a:rPr>
              <a:t>Principios generales a seguir en la redacción de una especificación técnica.</a:t>
            </a:r>
          </a:p>
          <a:p>
            <a:pPr marL="541782" indent="-514350" eaLnBrk="1" fontAlgn="auto" hangingPunct="1">
              <a:spcAft>
                <a:spcPts val="0"/>
              </a:spcAft>
              <a:buFont typeface="Wingdings 2"/>
              <a:buAutoNum type="arabicPeriod"/>
              <a:defRPr/>
            </a:pPr>
            <a:r>
              <a:rPr lang="es-ES_tradnl" sz="3200" dirty="0">
                <a:ea typeface="+mn-ea"/>
                <a:cs typeface="+mn-cs"/>
              </a:rPr>
              <a:t>Metodología para la redacción de una especificación técnica.</a:t>
            </a:r>
            <a:endParaRPr lang="es-ES_tradnl" altLang="en-US" sz="2800" kern="0" dirty="0">
              <a:solidFill>
                <a:srgbClr val="000000"/>
              </a:solidFill>
              <a:latin typeface="Arial"/>
              <a:ea typeface="+mn-ea"/>
              <a:cs typeface="+mn-cs"/>
            </a:endParaRPr>
          </a:p>
          <a:p>
            <a:pPr eaLnBrk="1" fontAlgn="auto" hangingPunct="1">
              <a:spcAft>
                <a:spcPts val="0"/>
              </a:spcAft>
              <a:buFont typeface="Wingdings 2"/>
              <a:buNone/>
              <a:defRPr/>
            </a:pPr>
            <a:endParaRPr lang="es-ES_tradnl" sz="2000" dirty="0">
              <a:ea typeface="+mn-ea"/>
              <a:cs typeface="+mn-cs"/>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DFDD1083-4837-574B-A50D-C8F21AA42538}"/>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127C4C3E-5E71-7446-9759-7A9A458E0902}"/>
              </a:ext>
            </a:extLst>
          </p:cNvPr>
          <p:cNvSpPr>
            <a:spLocks noGrp="1"/>
          </p:cNvSpPr>
          <p:nvPr>
            <p:ph type="subTitle" idx="1"/>
          </p:nvPr>
        </p:nvSpPr>
        <p:spPr>
          <a:xfrm>
            <a:off x="1331640" y="1772816"/>
            <a:ext cx="7407275" cy="4428629"/>
          </a:xfrm>
        </p:spPr>
        <p:txBody>
          <a:bodyPr>
            <a:noAutofit/>
          </a:bodyPr>
          <a:lstStyle/>
          <a:p>
            <a:pPr eaLnBrk="1" fontAlgn="auto" hangingPunct="1">
              <a:spcAft>
                <a:spcPts val="0"/>
              </a:spcAft>
              <a:buFont typeface="Wingdings 2"/>
              <a:buNone/>
              <a:defRPr/>
            </a:pPr>
            <a:r>
              <a:rPr lang="es-ES_tradnl" sz="1400" b="1" u="sng" dirty="0">
                <a:latin typeface="Times New Roman" panose="02020603050405020304" pitchFamily="18" charset="0"/>
                <a:ea typeface="+mn-ea"/>
                <a:cs typeface="Times New Roman" panose="02020603050405020304" pitchFamily="18" charset="0"/>
              </a:rPr>
              <a:t>Introducción</a:t>
            </a:r>
          </a:p>
          <a:p>
            <a:pPr eaLnBrk="1" fontAlgn="auto" hangingPunct="1">
              <a:spcAft>
                <a:spcPts val="0"/>
              </a:spcAft>
              <a:buFont typeface="Wingdings 2"/>
              <a:buNone/>
              <a:defRPr/>
            </a:pPr>
            <a:endParaRPr lang="es-ES_tradnl" sz="1400" b="1" u="sng" dirty="0">
              <a:latin typeface="Times New Roman" panose="02020603050405020304" pitchFamily="18" charset="0"/>
              <a:ea typeface="+mn-ea"/>
              <a:cs typeface="Times New Roman" panose="02020603050405020304" pitchFamily="18" charset="0"/>
            </a:endParaRPr>
          </a:p>
          <a:p>
            <a:pPr eaLnBrk="1" fontAlgn="auto" hangingPunct="1">
              <a:spcAft>
                <a:spcPts val="0"/>
              </a:spcAft>
              <a:defRPr/>
            </a:pPr>
            <a:r>
              <a:rPr lang="es-ES_tradnl" sz="1400" b="1" dirty="0">
                <a:latin typeface="Times New Roman" panose="02020603050405020304" pitchFamily="18" charset="0"/>
                <a:ea typeface="+mn-ea"/>
                <a:cs typeface="Times New Roman" panose="02020603050405020304" pitchFamily="18" charset="0"/>
              </a:rPr>
              <a:t>1. El proceso de contratación</a:t>
            </a:r>
            <a:r>
              <a:rPr lang="es-ES_tradnl" sz="1400" dirty="0">
                <a:latin typeface="Times New Roman" panose="02020603050405020304" pitchFamily="18" charset="0"/>
                <a:ea typeface="+mn-ea"/>
                <a:cs typeface="Times New Roman" panose="02020603050405020304" pitchFamily="18" charset="0"/>
              </a:rPr>
              <a:t>.</a:t>
            </a:r>
          </a:p>
          <a:p>
            <a:pPr eaLnBrk="1" fontAlgn="auto" hangingPunct="1">
              <a:spcAft>
                <a:spcPts val="0"/>
              </a:spcAft>
              <a:buFont typeface="Wingdings 2"/>
              <a:buNone/>
              <a:defRPr/>
            </a:pPr>
            <a:r>
              <a:rPr lang="es-ES_tradnl" sz="1400" b="1" dirty="0">
                <a:latin typeface="Times New Roman" panose="02020603050405020304" pitchFamily="18" charset="0"/>
                <a:ea typeface="+mn-ea"/>
                <a:cs typeface="Times New Roman" panose="02020603050405020304" pitchFamily="18" charset="0"/>
              </a:rPr>
              <a:t>1.1 La idea y el dinero</a:t>
            </a:r>
          </a:p>
          <a:p>
            <a:pPr eaLnBrk="1" fontAlgn="auto" hangingPunct="1">
              <a:spcAft>
                <a:spcPts val="0"/>
              </a:spcAft>
              <a:defRPr/>
            </a:pPr>
            <a:r>
              <a:rPr lang="es-ES_tradnl" sz="1400" dirty="0">
                <a:latin typeface="Times New Roman" panose="02020603050405020304" pitchFamily="18" charset="0"/>
                <a:ea typeface="+mn-ea"/>
                <a:cs typeface="Times New Roman" panose="02020603050405020304" pitchFamily="18" charset="0"/>
              </a:rPr>
              <a:t>Un ayuntamiento necesita una nueva instalación de eliminación de aguas residuales o de alumbrado público; una empresa necesita una nueva planta de procesamiento o un nuevo diseño de producto.</a:t>
            </a:r>
          </a:p>
          <a:p>
            <a:pPr eaLnBrk="1" fontAlgn="auto" hangingPunct="1">
              <a:spcAft>
                <a:spcPts val="0"/>
              </a:spcAft>
              <a:defRPr/>
            </a:pPr>
            <a:r>
              <a:rPr lang="es-ES_tradnl" sz="1400" dirty="0">
                <a:latin typeface="Times New Roman" panose="02020603050405020304" pitchFamily="18" charset="0"/>
                <a:ea typeface="+mn-ea"/>
                <a:cs typeface="Times New Roman" panose="02020603050405020304" pitchFamily="18" charset="0"/>
              </a:rPr>
              <a:t>El primer paso consiste en conseguir el dinero para el proyecto por del promotor (gobierno, consejo, empresa, organización o persona). Para que el organismo promotor decida llevar a cabo el proyecto se necesita un estudio de viabilidad junto con el </a:t>
            </a:r>
            <a:r>
              <a:rPr lang="es-ES_tradnl" sz="1400" b="1" dirty="0">
                <a:latin typeface="Times New Roman" panose="02020603050405020304" pitchFamily="18" charset="0"/>
                <a:ea typeface="+mn-ea"/>
                <a:cs typeface="Times New Roman" panose="02020603050405020304" pitchFamily="18" charset="0"/>
              </a:rPr>
              <a:t>proyecto de definición</a:t>
            </a:r>
            <a:r>
              <a:rPr lang="es-ES_tradnl" sz="1400" dirty="0">
                <a:latin typeface="Times New Roman" panose="02020603050405020304" pitchFamily="18" charset="0"/>
                <a:ea typeface="+mn-ea"/>
                <a:cs typeface="Times New Roman" panose="02020603050405020304" pitchFamily="18" charset="0"/>
              </a:rPr>
              <a:t>.</a:t>
            </a:r>
          </a:p>
          <a:p>
            <a:pPr eaLnBrk="1" fontAlgn="auto" hangingPunct="1">
              <a:spcAft>
                <a:spcPts val="0"/>
              </a:spcAft>
              <a:defRPr/>
            </a:pPr>
            <a:r>
              <a:rPr lang="es-ES_tradnl" sz="1400" b="1" dirty="0">
                <a:latin typeface="Times New Roman" panose="02020603050405020304" pitchFamily="18" charset="0"/>
                <a:ea typeface="+mn-ea"/>
                <a:cs typeface="Times New Roman" panose="02020603050405020304" pitchFamily="18" charset="0"/>
              </a:rPr>
              <a:t>1.2 Contratación del ingeniero o proyectista</a:t>
            </a:r>
          </a:p>
          <a:p>
            <a:pPr eaLnBrk="1" fontAlgn="auto" hangingPunct="1">
              <a:spcAft>
                <a:spcPts val="0"/>
              </a:spcAft>
              <a:defRPr/>
            </a:pPr>
            <a:r>
              <a:rPr lang="es-ES_tradnl" sz="1400" dirty="0">
                <a:latin typeface="Times New Roman" panose="02020603050405020304" pitchFamily="18" charset="0"/>
                <a:ea typeface="+mn-ea"/>
                <a:cs typeface="Times New Roman" panose="02020603050405020304" pitchFamily="18" charset="0"/>
              </a:rPr>
              <a:t>La ingeniería encargada de desarrollar el proyecto será seleccionada por el promotor directamente o por medio de un concurso o licitación.</a:t>
            </a:r>
          </a:p>
          <a:p>
            <a:pPr eaLnBrk="1" fontAlgn="auto" hangingPunct="1">
              <a:spcAft>
                <a:spcPts val="0"/>
              </a:spcAft>
              <a:defRPr/>
            </a:pPr>
            <a:r>
              <a:rPr lang="es-ES_tradnl" sz="1400" dirty="0">
                <a:latin typeface="Times New Roman" panose="02020603050405020304" pitchFamily="18" charset="0"/>
                <a:ea typeface="+mn-ea"/>
                <a:cs typeface="Times New Roman" panose="02020603050405020304" pitchFamily="18" charset="0"/>
              </a:rPr>
              <a:t>El concurso para adjudicar los servicios de ingeniería suele seguir el procedimiento general asociado a la contratación de servicios. Para la adjudicación del proyecto constructivo (de desarrollo) las ingenierías licitantes presentan </a:t>
            </a:r>
            <a:r>
              <a:rPr lang="es-ES_tradnl" sz="1400" b="1" dirty="0">
                <a:latin typeface="Times New Roman" panose="02020603050405020304" pitchFamily="18" charset="0"/>
                <a:ea typeface="+mn-ea"/>
                <a:cs typeface="Times New Roman" panose="02020603050405020304" pitchFamily="18" charset="0"/>
              </a:rPr>
              <a:t>anteproyectos o proyectos básicos.</a:t>
            </a:r>
          </a:p>
          <a:p>
            <a:pPr eaLnBrk="1" fontAlgn="auto" hangingPunct="1">
              <a:spcAft>
                <a:spcPts val="0"/>
              </a:spcAft>
              <a:defRPr/>
            </a:pPr>
            <a:r>
              <a:rPr lang="es-ES_tradnl" sz="1400" dirty="0">
                <a:latin typeface="Times New Roman" panose="02020603050405020304" pitchFamily="18" charset="0"/>
                <a:ea typeface="+mn-ea"/>
                <a:cs typeface="Times New Roman" panose="02020603050405020304" pitchFamily="18" charset="0"/>
              </a:rPr>
              <a:t>Esta etapa suele concluir con la firma de un contrato entre el propietario y el ingeniero. El contrato o acuerdo debe incluir una declaración de los trabajos a realizar y los honorarios.</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76FC84C2-D7E3-4B45-8456-1FE37053B8A3}"/>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36196C0A-9DEC-5041-A360-875937FD976F}"/>
              </a:ext>
            </a:extLst>
          </p:cNvPr>
          <p:cNvSpPr>
            <a:spLocks noGrp="1"/>
          </p:cNvSpPr>
          <p:nvPr>
            <p:ph type="subTitle" idx="1"/>
          </p:nvPr>
        </p:nvSpPr>
        <p:spPr>
          <a:xfrm>
            <a:off x="1431925" y="2060575"/>
            <a:ext cx="7407275" cy="3384649"/>
          </a:xfrm>
        </p:spPr>
        <p:txBody>
          <a:bodyPr>
            <a:normAutofit/>
          </a:bodyPr>
          <a:lstStyle/>
          <a:p>
            <a:pPr eaLnBrk="1" fontAlgn="auto" hangingPunct="1">
              <a:spcAft>
                <a:spcPts val="0"/>
              </a:spcAft>
              <a:defRPr/>
            </a:pPr>
            <a:r>
              <a:rPr lang="es-ES_tradnl" sz="1500" b="1" dirty="0">
                <a:latin typeface="Times New Roman" panose="02020603050405020304" pitchFamily="18" charset="0"/>
                <a:ea typeface="+mn-ea"/>
                <a:cs typeface="Times New Roman" panose="02020603050405020304" pitchFamily="18" charset="0"/>
              </a:rPr>
              <a:t>1.3 Elaboración del proyecto de desarrollo o de ejecución. </a:t>
            </a:r>
          </a:p>
          <a:p>
            <a:pPr eaLnBrk="1" fontAlgn="auto" hangingPunct="1">
              <a:spcAft>
                <a:spcPts val="0"/>
              </a:spcAft>
              <a:defRPr/>
            </a:pPr>
            <a:r>
              <a:rPr lang="es-ES_tradnl" sz="1500" dirty="0">
                <a:latin typeface="Times New Roman" panose="02020603050405020304" pitchFamily="18" charset="0"/>
                <a:ea typeface="+mn-ea"/>
                <a:cs typeface="Times New Roman" panose="02020603050405020304" pitchFamily="18" charset="0"/>
              </a:rPr>
              <a:t>Por parte de la ingeniería a la que se le ha adjudicado el proyecto, que incluye las especificaciones detalladas para la ejecución, construcción, fabricación o montaje.</a:t>
            </a:r>
          </a:p>
          <a:p>
            <a:pPr eaLnBrk="1" fontAlgn="auto" hangingPunct="1">
              <a:spcAft>
                <a:spcPts val="0"/>
              </a:spcAft>
              <a:defRPr/>
            </a:pPr>
            <a:r>
              <a:rPr lang="es-ES_tradnl" sz="1500" b="1" dirty="0">
                <a:latin typeface="Times New Roman" panose="02020603050405020304" pitchFamily="18" charset="0"/>
                <a:ea typeface="+mn-ea"/>
                <a:cs typeface="Times New Roman" panose="02020603050405020304" pitchFamily="18" charset="0"/>
              </a:rPr>
              <a:t>1.4 Invitación a licitar (anuncio) </a:t>
            </a:r>
          </a:p>
          <a:p>
            <a:pPr eaLnBrk="1" fontAlgn="auto" hangingPunct="1">
              <a:spcAft>
                <a:spcPts val="0"/>
              </a:spcAft>
              <a:defRPr/>
            </a:pPr>
            <a:r>
              <a:rPr lang="es-ES_tradnl" sz="1500" dirty="0">
                <a:latin typeface="Times New Roman" panose="02020603050405020304" pitchFamily="18" charset="0"/>
                <a:ea typeface="+mn-ea"/>
                <a:cs typeface="Times New Roman" panose="02020603050405020304" pitchFamily="18" charset="0"/>
              </a:rPr>
              <a:t>Se trata de la comunicación enviada a los posibles empresas encargadas de ejecutar el proyecto con las instrucciones necesarias para presenten sus diferentes ofertas para su posible adjudicación como </a:t>
            </a:r>
            <a:r>
              <a:rPr lang="es-ES_tradnl" sz="1500" b="1" dirty="0">
                <a:latin typeface="Times New Roman" panose="02020603050405020304" pitchFamily="18" charset="0"/>
                <a:ea typeface="+mn-ea"/>
                <a:cs typeface="Times New Roman" panose="02020603050405020304" pitchFamily="18" charset="0"/>
              </a:rPr>
              <a:t>contratistas</a:t>
            </a:r>
            <a:r>
              <a:rPr lang="es-ES_tradnl" sz="1500" dirty="0">
                <a:latin typeface="Times New Roman" panose="02020603050405020304" pitchFamily="18" charset="0"/>
                <a:ea typeface="+mn-ea"/>
                <a:cs typeface="Times New Roman" panose="02020603050405020304" pitchFamily="18" charset="0"/>
              </a:rPr>
              <a:t> del proyecto. Esta comunicación puede efectuarse por teléfono, carta, web, anuncio en periódico o en el boletín oficial del estado o de la provincia.</a:t>
            </a:r>
          </a:p>
          <a:p>
            <a:pPr eaLnBrk="1" fontAlgn="auto" hangingPunct="1">
              <a:spcAft>
                <a:spcPts val="0"/>
              </a:spcAft>
              <a:defRPr/>
            </a:pPr>
            <a:r>
              <a:rPr lang="es-ES_tradnl" sz="1500" dirty="0">
                <a:latin typeface="Times New Roman" panose="02020603050405020304" pitchFamily="18" charset="0"/>
                <a:ea typeface="+mn-ea"/>
                <a:cs typeface="Times New Roman" panose="02020603050405020304" pitchFamily="18" charset="0"/>
              </a:rPr>
              <a:t>La invitación a licitar suele contener:  Descripción general del proyecto, características, ubicación, requisitos de calendario, garantías, dónde obtener el proyecto completo de ejecución, especificaciones detalladas para la ejecución, requisitos legales, formularios necesarios para la presentación de las ofertas y </a:t>
            </a:r>
            <a:r>
              <a:rPr lang="es-ES_tradnl" sz="1500" dirty="0">
                <a:latin typeface="Times New Roman" panose="02020603050405020304" pitchFamily="18" charset="0"/>
                <a:cs typeface="Times New Roman" panose="02020603050405020304" pitchFamily="18" charset="0"/>
              </a:rPr>
              <a:t>otras instrucciones</a:t>
            </a:r>
            <a:r>
              <a:rPr lang="es-ES_tradnl" sz="2000" dirty="0">
                <a:latin typeface="Times New Roman" panose="02020603050405020304" pitchFamily="18" charset="0"/>
                <a:cs typeface="Times New Roman" panose="02020603050405020304" pitchFamily="18" charset="0"/>
              </a:rPr>
              <a:t>.</a:t>
            </a:r>
            <a:endParaRPr lang="es-ES_tradnl" sz="20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521652B0-60D4-F449-9B8F-5F32A48B9CBE}"/>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7EBB2A98-A43B-FA46-A5E1-CC6A00791E12}"/>
              </a:ext>
            </a:extLst>
          </p:cNvPr>
          <p:cNvSpPr>
            <a:spLocks noGrp="1"/>
          </p:cNvSpPr>
          <p:nvPr>
            <p:ph type="subTitle" idx="1"/>
          </p:nvPr>
        </p:nvSpPr>
        <p:spPr>
          <a:xfrm>
            <a:off x="1417573" y="1512168"/>
            <a:ext cx="7407275" cy="5345832"/>
          </a:xfrm>
        </p:spPr>
        <p:txBody>
          <a:bodyPr/>
          <a:lstStyle/>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1.5 </a:t>
            </a:r>
            <a:r>
              <a:rPr lang="es-ES_tradnl" altLang="es-ES" sz="14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La oferta</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La oferta es el documento mediante el cual el licitador presenta un precio por hacer el trabajo. Suele contener los siguientes elementos:</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Nombre y dirección del contratista, precio, desglose por precios descompuestos de las unidades de obra, precios contradictorios de las partidas alzadas (unidades de obra cuya composición no se especifica en el proyecto), plazos, firmas, condición jurídica de los firmantes y otras informaciones solicitadas por el promotor.</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1.6 </a:t>
            </a:r>
            <a:r>
              <a:rPr lang="es-ES_tradnl" altLang="es-ES" sz="14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Selección del contratista y firma del contrato</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La adjudicación suele realizarse según las bases planteadas en las bases de concurso.</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Normalmente, se utilizan dos sistemas: concurso o subasta. La subasta corresponde con la adjudicación a la oferta más económica que cumpla los requisitos del concurso. </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En el concurso se adjudica el contrato a la mejor oferta según criterios combinados de garantías de calidad, precio y plazos.</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1.7 </a:t>
            </a:r>
            <a:r>
              <a:rPr lang="es-ES_tradnl" altLang="es-ES" sz="14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Ejecución del proyecto</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Una vez adjudicada la ejecución del proyecto, la una empresa adjudicataria (contratista) deberá llevar a cabo el proyecto según los plazos y calidades establecidas en el contrato de ejecución. En esta fase comienza la dirección de obra o de proyecto por parte del ingeniero director.</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1.8 </a:t>
            </a:r>
            <a:r>
              <a:rPr lang="es-ES_tradnl" altLang="es-ES" sz="14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Certificaciones, entrega, puesta en servicio y aceptación</a:t>
            </a:r>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a:t>
            </a:r>
          </a:p>
          <a:p>
            <a:pPr marL="26988" eaLnBrk="1" hangingPunct="1"/>
            <a:r>
              <a:rPr lang="es-ES_tradnl" altLang="es-ES" sz="14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El proyecto finaliza con la entrega y puesta en servicio, tarea que vendrá precedida por las correspondientes certificaciones extendidas por la propiedad, la dirección facultativa y el contratista.</a:t>
            </a: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EA4C1713-C7F1-F046-AAA1-19F953F9F14A}"/>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85B31203-3DD3-4D42-83C2-2D5FB951D93D}"/>
              </a:ext>
            </a:extLst>
          </p:cNvPr>
          <p:cNvSpPr>
            <a:spLocks noGrp="1"/>
          </p:cNvSpPr>
          <p:nvPr>
            <p:ph type="subTitle" idx="1"/>
          </p:nvPr>
        </p:nvSpPr>
        <p:spPr>
          <a:xfrm>
            <a:off x="1431924" y="1563037"/>
            <a:ext cx="7407275" cy="5178331"/>
          </a:xfrm>
        </p:spPr>
        <p:txBody>
          <a:bodyPr/>
          <a:lstStyle/>
          <a:p>
            <a:pPr marL="26988" eaLnBrk="1" hangingPunct="1">
              <a:lnSpc>
                <a:spcPct val="80000"/>
              </a:lnSpc>
            </a:pPr>
            <a:r>
              <a:rPr lang="es-ES_tradnl" altLang="es-ES" sz="1600" b="1" u="sng" dirty="0">
                <a:solidFill>
                  <a:srgbClr val="320E04"/>
                </a:solidFill>
                <a:ea typeface="ＭＳ Ｐゴシック" panose="020B0600070205080204" pitchFamily="34" charset="-128"/>
              </a:rPr>
              <a:t>Introducción</a:t>
            </a:r>
          </a:p>
          <a:p>
            <a:pPr marL="26988" eaLnBrk="1" hangingPunct="1">
              <a:lnSpc>
                <a:spcPct val="80000"/>
              </a:lnSpc>
            </a:pPr>
            <a:endParaRPr lang="es-ES_tradnl" altLang="es-ES" sz="1600" b="1" u="sng" dirty="0">
              <a:solidFill>
                <a:srgbClr val="320E04"/>
              </a:solidFill>
              <a:ea typeface="ＭＳ Ｐゴシック" panose="020B0600070205080204" pitchFamily="34" charset="-128"/>
            </a:endParaRPr>
          </a:p>
          <a:p>
            <a:pPr marL="312738" indent="-285750" eaLnBrk="1" hangingPunct="1">
              <a:lnSpc>
                <a:spcPct val="80000"/>
              </a:lnSpc>
              <a:buFont typeface="Arial" panose="020B0604020202020204" pitchFamily="34" charset="0"/>
              <a:buChar char="•"/>
            </a:pPr>
            <a:r>
              <a:rPr lang="es-ES_tradnl" altLang="es-ES" sz="1600" dirty="0">
                <a:solidFill>
                  <a:srgbClr val="320E04"/>
                </a:solidFill>
                <a:ea typeface="ＭＳ Ｐゴシック" panose="020B0600070205080204" pitchFamily="34" charset="-128"/>
              </a:rPr>
              <a:t>El pliego de condiciones de un proyecto y los planos son documentos contractuales del proyecto porque forman parte del contrato que firman la propiedad y el contratista. </a:t>
            </a:r>
          </a:p>
          <a:p>
            <a:pPr marL="312738" indent="-285750" eaLnBrk="1" hangingPunct="1">
              <a:lnSpc>
                <a:spcPct val="80000"/>
              </a:lnSpc>
              <a:buFont typeface="Arial" panose="020B0604020202020204" pitchFamily="34" charset="0"/>
              <a:buChar char="•"/>
            </a:pPr>
            <a:r>
              <a:rPr lang="es-ES_tradnl" altLang="es-ES" sz="1600" dirty="0">
                <a:solidFill>
                  <a:srgbClr val="320E04"/>
                </a:solidFill>
                <a:ea typeface="ＭＳ Ｐゴシック" panose="020B0600070205080204" pitchFamily="34" charset="-128"/>
              </a:rPr>
              <a:t>El pliego de condiciones suele responder a las preguntas:</a:t>
            </a: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26988" algn="ctr" eaLnBrk="1" hangingPunct="1">
              <a:lnSpc>
                <a:spcPct val="80000"/>
              </a:lnSpc>
            </a:pPr>
            <a:r>
              <a:rPr lang="es-ES_tradnl" altLang="es-ES" sz="1800" b="1" dirty="0">
                <a:solidFill>
                  <a:srgbClr val="320E04"/>
                </a:solidFill>
                <a:ea typeface="ＭＳ Ｐゴシック" panose="020B0600070205080204" pitchFamily="34" charset="-128"/>
              </a:rPr>
              <a:t>¿Quiénes? ¿Qué? ¿Cómo? ¿Cuándo? ¿Cuánto? </a:t>
            </a: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312738" indent="-285750" eaLnBrk="1" hangingPunct="1">
              <a:lnSpc>
                <a:spcPct val="80000"/>
              </a:lnSpc>
              <a:buFont typeface="Arial" panose="020B0604020202020204" pitchFamily="34" charset="0"/>
              <a:buChar char="•"/>
            </a:pPr>
            <a:r>
              <a:rPr lang="es-ES_tradnl" altLang="es-ES" sz="1600" dirty="0">
                <a:solidFill>
                  <a:srgbClr val="320E04"/>
                </a:solidFill>
                <a:ea typeface="ＭＳ Ｐゴシック" panose="020B0600070205080204" pitchFamily="34" charset="-128"/>
              </a:rPr>
              <a:t>Como ya se indicó anteriormente,  los planos deben expresar las condiciones que mejor se expresen mediante imágenes y el pliego las condiciones que mejor se expresen con palabras.</a:t>
            </a:r>
          </a:p>
          <a:p>
            <a:pPr marL="312738" indent="-285750" eaLnBrk="1" hangingPunct="1">
              <a:lnSpc>
                <a:spcPct val="80000"/>
              </a:lnSpc>
              <a:buFont typeface="Arial" panose="020B0604020202020204" pitchFamily="34" charset="0"/>
              <a:buChar char="•"/>
            </a:pPr>
            <a:r>
              <a:rPr lang="es-ES_tradnl" altLang="es-ES" sz="1600" dirty="0">
                <a:solidFill>
                  <a:srgbClr val="320E04"/>
                </a:solidFill>
                <a:ea typeface="ＭＳ Ｐゴシック" panose="020B0600070205080204" pitchFamily="34" charset="-128"/>
              </a:rPr>
              <a:t>El pliego de condiciones técnicas suele responder a las preguntas del qué y del cómo. El resto de preguntas indicadas anteriormente pueden ser respondidas directamente en las cláusulas generales de los contratos que firman la propiedad y el contratista y que suele ser redactadas por abogados especialistas en contratación.</a:t>
            </a:r>
          </a:p>
          <a:p>
            <a:pPr marL="312738" indent="-285750" eaLnBrk="1" hangingPunct="1">
              <a:lnSpc>
                <a:spcPct val="80000"/>
              </a:lnSpc>
              <a:buFont typeface="Arial" panose="020B0604020202020204" pitchFamily="34" charset="0"/>
              <a:buChar char="•"/>
            </a:pPr>
            <a:r>
              <a:rPr lang="es-ES_tradnl" altLang="es-ES" sz="1600" dirty="0">
                <a:solidFill>
                  <a:srgbClr val="320E04"/>
                </a:solidFill>
                <a:ea typeface="ＭＳ Ｐゴシック" panose="020B0600070205080204" pitchFamily="34" charset="-128"/>
              </a:rPr>
              <a:t>El pliego de condiciones técnicas es un documento muy importante para el ingeniero director del proyecto porque representa la guía para la supervisión de los trabajos y de la calidad de los materiales empleados.</a:t>
            </a:r>
          </a:p>
          <a:p>
            <a:pPr marL="312738" indent="-285750" eaLnBrk="1" hangingPunct="1">
              <a:lnSpc>
                <a:spcPct val="80000"/>
              </a:lnSpc>
              <a:buFont typeface="Arial" panose="020B0604020202020204" pitchFamily="34" charset="0"/>
              <a:buChar char="•"/>
            </a:pPr>
            <a:r>
              <a:rPr lang="es-ES_tradnl" altLang="es-ES" sz="1600" dirty="0">
                <a:solidFill>
                  <a:srgbClr val="320E04"/>
                </a:solidFill>
                <a:ea typeface="ＭＳ Ｐゴシック" panose="020B0600070205080204" pitchFamily="34" charset="-128"/>
              </a:rPr>
              <a:t>La redacción del pliego de condiciones técnicas es responsabilidad del ingeniero o de la ingeniería que redacté el proyecto</a:t>
            </a: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26988" eaLnBrk="1" hangingPunct="1">
              <a:lnSpc>
                <a:spcPct val="80000"/>
              </a:lnSpc>
            </a:pPr>
            <a:endParaRPr lang="es-ES_tradnl" altLang="es-ES" sz="1900" dirty="0">
              <a:solidFill>
                <a:srgbClr val="320E04"/>
              </a:solidFill>
              <a:ea typeface="ＭＳ Ｐゴシック" panose="020B0600070205080204" pitchFamily="34" charset="-128"/>
            </a:endParaRPr>
          </a:p>
          <a:p>
            <a:pPr marL="26988" eaLnBrk="1" hangingPunct="1">
              <a:lnSpc>
                <a:spcPct val="80000"/>
              </a:lnSpc>
            </a:pPr>
            <a:endParaRPr lang="es-ES_tradnl" altLang="es-ES" sz="1900" dirty="0">
              <a:solidFill>
                <a:srgbClr val="320E04"/>
              </a:solidFill>
              <a:ea typeface="ＭＳ Ｐゴシック" panose="020B0600070205080204" pitchFamily="34" charset="-128"/>
            </a:endParaRPr>
          </a:p>
          <a:p>
            <a:pPr marL="26988" eaLnBrk="1" hangingPunct="1">
              <a:lnSpc>
                <a:spcPct val="80000"/>
              </a:lnSpc>
            </a:pPr>
            <a:endParaRPr lang="es-ES_tradnl" altLang="es-ES" sz="1900" dirty="0">
              <a:solidFill>
                <a:srgbClr val="320E04"/>
              </a:solidFill>
              <a:ea typeface="ＭＳ Ｐゴシック" panose="020B0600070205080204" pitchFamily="34" charset="-128"/>
            </a:endParaRPr>
          </a:p>
          <a:p>
            <a:pPr marL="26988" eaLnBrk="1" hangingPunct="1">
              <a:lnSpc>
                <a:spcPct val="80000"/>
              </a:lnSpc>
            </a:pPr>
            <a:endParaRPr lang="es-ES_tradnl" altLang="es-ES" sz="1900" dirty="0">
              <a:solidFill>
                <a:srgbClr val="320E04"/>
              </a:solidFill>
              <a:ea typeface="ＭＳ Ｐゴシック" panose="020B0600070205080204" pitchFamily="34" charset="-128"/>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EA4C1713-C7F1-F046-AAA1-19F953F9F14A}"/>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D4E116D3-4481-464C-8107-58DD94BF3C85}"/>
              </a:ext>
            </a:extLst>
          </p:cNvPr>
          <p:cNvSpPr>
            <a:spLocks noGrp="1"/>
          </p:cNvSpPr>
          <p:nvPr>
            <p:ph type="subTitle" idx="1"/>
          </p:nvPr>
        </p:nvSpPr>
        <p:spPr>
          <a:xfrm>
            <a:off x="1431924" y="1563037"/>
            <a:ext cx="7407275" cy="5178331"/>
          </a:xfrm>
        </p:spPr>
        <p:txBody>
          <a:bodyPr/>
          <a:lstStyle/>
          <a:p>
            <a:pPr marL="311150" indent="-284163" eaLnBrk="1" hangingPunct="1">
              <a:lnSpc>
                <a:spcPct val="80000"/>
              </a:lnSpc>
              <a:buFont typeface="+mj-lt"/>
              <a:buAutoNum type="arabicPeriod" startAt="2"/>
            </a:pPr>
            <a:r>
              <a:rPr lang="es-ES_tradnl" altLang="es-ES" sz="16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Apartados del pliego de condiciones de un proyecto</a:t>
            </a:r>
          </a:p>
          <a:p>
            <a:pPr marL="26988" eaLnBrk="1" hangingPunct="1">
              <a:lnSpc>
                <a:spcPct val="80000"/>
              </a:lnSpc>
            </a:pPr>
            <a:r>
              <a:rPr lang="es-ES_tradnl" altLang="es-ES" sz="16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2.1 Condiciones generales</a:t>
            </a:r>
          </a:p>
          <a:p>
            <a:pPr marL="26988" eaLnBrk="1" hangingPunct="1">
              <a:lnSpc>
                <a:spcPct val="80000"/>
              </a:lnSpc>
            </a:pPr>
            <a:r>
              <a:rPr lang="es-ES_tradnl" altLang="es-ES" sz="16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Son condiciones que el promotor exige en todo proyecto de ejecución.</a:t>
            </a:r>
          </a:p>
          <a:p>
            <a:pPr marL="26988" eaLnBrk="1" hangingPunct="1">
              <a:lnSpc>
                <a:spcPct val="80000"/>
              </a:lnSpc>
            </a:pPr>
            <a:r>
              <a:rPr lang="es-ES_tradnl" altLang="es-ES" sz="16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Cubren aspectos relativos a seguros, fianzas patentes, protección en el trabajo, reclamaciones de costes adicionales, terminación del contrato, pagos, trabajos necesarios no especificados en el proyecto, precios contradictorios, forma de medición de las unidades de obra, certificación y abono de los trabajos, certificados y documentación necesarios a la recepción de las instalaciones, plazos de entrega. Normalmente son las mismas para cualquier proyecto de la misma clase.</a:t>
            </a:r>
          </a:p>
          <a:p>
            <a:pPr marL="26988" eaLnBrk="1" hangingPunct="1">
              <a:lnSpc>
                <a:spcPct val="80000"/>
              </a:lnSpc>
            </a:pPr>
            <a:r>
              <a:rPr lang="es-ES_tradnl" altLang="es-ES" sz="16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Las condiciones generales suelen agruparse en condiciones generales de carácter </a:t>
            </a:r>
            <a:r>
              <a:rPr lang="es-ES_tradnl" altLang="es-ES" sz="16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administrativo, legal, económico o técnico</a:t>
            </a:r>
            <a:r>
              <a:rPr lang="es-ES_tradnl" altLang="es-ES" sz="16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 y pueden especificarse por referencia a normas generales en forma de listado.</a:t>
            </a:r>
          </a:p>
          <a:p>
            <a:pPr marL="26988" eaLnBrk="1" hangingPunct="1">
              <a:lnSpc>
                <a:spcPct val="80000"/>
              </a:lnSpc>
            </a:pPr>
            <a:r>
              <a:rPr lang="es-ES_tradnl" altLang="es-ES" sz="16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2.2 Condiciones particulares administrativas</a:t>
            </a:r>
            <a:endParaRPr lang="es-ES_tradnl" altLang="es-ES" sz="16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endParaRPr>
          </a:p>
          <a:p>
            <a:pPr marL="26988" eaLnBrk="1" hangingPunct="1">
              <a:lnSpc>
                <a:spcPct val="80000"/>
              </a:lnSpc>
            </a:pPr>
            <a:r>
              <a:rPr lang="es-ES_tradnl" altLang="es-ES" sz="16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Se consideran complementarias a las condiciones generales. Son similares a las generales pero se aplican al proyecto concreto.</a:t>
            </a:r>
          </a:p>
          <a:p>
            <a:pPr marL="26988" eaLnBrk="1" hangingPunct="1">
              <a:lnSpc>
                <a:spcPct val="80000"/>
              </a:lnSpc>
            </a:pPr>
            <a:r>
              <a:rPr lang="es-ES_tradnl" altLang="es-ES" sz="16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2.3 Condiciones técnicas particulares</a:t>
            </a:r>
          </a:p>
          <a:p>
            <a:pPr marL="26988" eaLnBrk="1" hangingPunct="1">
              <a:lnSpc>
                <a:spcPct val="80000"/>
              </a:lnSpc>
            </a:pPr>
            <a:r>
              <a:rPr lang="es-ES_tradnl" altLang="es-ES" sz="16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Las condiciones técnicas son a las que debe prestar más atención un ingeniero por su carácter técnico. Especifica el trabajo real que debe hacerse. Se suele subdividir por </a:t>
            </a:r>
            <a:r>
              <a:rPr lang="es-ES_tradnl" altLang="es-ES" sz="1600" u="sng"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capítulos o especificaciones</a:t>
            </a:r>
            <a:r>
              <a:rPr lang="es-ES_tradnl" altLang="es-ES" sz="16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a:t>
            </a:r>
          </a:p>
          <a:p>
            <a:pPr marL="26988" eaLnBrk="1" hangingPunct="1">
              <a:lnSpc>
                <a:spcPct val="80000"/>
              </a:lnSpc>
            </a:pPr>
            <a:r>
              <a:rPr lang="es-ES_tradnl" altLang="es-ES" sz="16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Los trabajos incluidos en cada capítulo o especificación deben ser responsabilidad de un único contratista o subcontratista y nunca deben ser responsabilidad de varios subcontratistas.</a:t>
            </a:r>
          </a:p>
          <a:p>
            <a:pPr marL="26988" eaLnBrk="1" hangingPunct="1">
              <a:lnSpc>
                <a:spcPct val="80000"/>
              </a:lnSpc>
            </a:pPr>
            <a:endParaRPr lang="es-ES_tradnl" altLang="es-ES" sz="1600" dirty="0">
              <a:solidFill>
                <a:srgbClr val="320E04"/>
              </a:solidFill>
              <a:ea typeface="ＭＳ Ｐゴシック" panose="020B0600070205080204" pitchFamily="34" charset="-128"/>
            </a:endParaRPr>
          </a:p>
          <a:p>
            <a:pPr marL="26988" eaLnBrk="1" hangingPunct="1">
              <a:lnSpc>
                <a:spcPct val="80000"/>
              </a:lnSpc>
            </a:pPr>
            <a:endParaRPr lang="es-ES_tradnl" altLang="es-ES" sz="1900" dirty="0">
              <a:solidFill>
                <a:srgbClr val="320E04"/>
              </a:solidFill>
              <a:ea typeface="ＭＳ Ｐゴシック" panose="020B0600070205080204" pitchFamily="34" charset="-128"/>
            </a:endParaRPr>
          </a:p>
          <a:p>
            <a:pPr marL="26988" eaLnBrk="1" hangingPunct="1">
              <a:lnSpc>
                <a:spcPct val="80000"/>
              </a:lnSpc>
            </a:pPr>
            <a:endParaRPr lang="es-ES_tradnl" altLang="es-ES" sz="1900" dirty="0">
              <a:solidFill>
                <a:srgbClr val="320E04"/>
              </a:solidFill>
              <a:ea typeface="ＭＳ Ｐゴシック" panose="020B0600070205080204" pitchFamily="34" charset="-128"/>
            </a:endParaRPr>
          </a:p>
          <a:p>
            <a:pPr marL="26988" eaLnBrk="1" hangingPunct="1">
              <a:lnSpc>
                <a:spcPct val="80000"/>
              </a:lnSpc>
            </a:pPr>
            <a:endParaRPr lang="es-ES_tradnl" altLang="es-ES" sz="1900" dirty="0">
              <a:solidFill>
                <a:srgbClr val="320E04"/>
              </a:solidFill>
              <a:ea typeface="ＭＳ Ｐゴシック" panose="020B0600070205080204" pitchFamily="34" charset="-128"/>
            </a:endParaRPr>
          </a:p>
          <a:p>
            <a:pPr marL="26988" eaLnBrk="1" hangingPunct="1">
              <a:lnSpc>
                <a:spcPct val="80000"/>
              </a:lnSpc>
            </a:pPr>
            <a:endParaRPr lang="es-ES_tradnl" altLang="es-ES" sz="1900" dirty="0">
              <a:solidFill>
                <a:srgbClr val="320E04"/>
              </a:solidFill>
              <a:ea typeface="ＭＳ Ｐゴシック" panose="020B0600070205080204" pitchFamily="34" charset="-128"/>
            </a:endParaRPr>
          </a:p>
        </p:txBody>
      </p:sp>
    </p:spTree>
    <p:extLst>
      <p:ext uri="{BB962C8B-B14F-4D97-AF65-F5344CB8AC3E}">
        <p14:creationId xmlns:p14="http://schemas.microsoft.com/office/powerpoint/2010/main" val="212790317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ECBB26A2-B8AE-7E40-AFA3-6116C4A3D3BC}"/>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9713831A-800D-804C-B33F-601E79DD778F}"/>
              </a:ext>
            </a:extLst>
          </p:cNvPr>
          <p:cNvSpPr>
            <a:spLocks noGrp="1"/>
          </p:cNvSpPr>
          <p:nvPr>
            <p:ph type="subTitle" idx="1"/>
          </p:nvPr>
        </p:nvSpPr>
        <p:spPr>
          <a:xfrm>
            <a:off x="1452328" y="1577389"/>
            <a:ext cx="7407275" cy="1995627"/>
          </a:xfrm>
        </p:spPr>
        <p:txBody>
          <a:bodyPr>
            <a:normAutofit/>
          </a:bodyPr>
          <a:lstStyle/>
          <a:p>
            <a:pPr eaLnBrk="1" fontAlgn="auto" hangingPunct="1">
              <a:spcAft>
                <a:spcPts val="0"/>
              </a:spcAft>
              <a:defRPr/>
            </a:pPr>
            <a:r>
              <a:rPr lang="es-ES_tradnl" sz="1600" dirty="0">
                <a:latin typeface="Times New Roman" panose="02020603050405020304" pitchFamily="18" charset="0"/>
                <a:ea typeface="+mn-ea"/>
                <a:cs typeface="Times New Roman" panose="02020603050405020304" pitchFamily="18" charset="0"/>
              </a:rPr>
              <a:t>En principio, el número de especificaciones técnicas o capítulos del pliego de condiciones técnicas se pueden deducir del organigrama técnico del proyecto. En el caso de un proyecto con un organigrama técnico como el de la figura, el pliego de condiciones técnicas debería incluir los siguientes especificaciones o capítulos:</a:t>
            </a:r>
          </a:p>
          <a:p>
            <a:pPr eaLnBrk="1" fontAlgn="auto" hangingPunct="1">
              <a:spcAft>
                <a:spcPts val="0"/>
              </a:spcAft>
              <a:defRPr/>
            </a:pPr>
            <a:r>
              <a:rPr lang="es-ES_tradnl" sz="1600" dirty="0">
                <a:latin typeface="Times New Roman" panose="02020603050405020304" pitchFamily="18" charset="0"/>
                <a:ea typeface="+mn-ea"/>
                <a:cs typeface="Times New Roman" panose="02020603050405020304" pitchFamily="18" charset="0"/>
              </a:rPr>
              <a:t>2.3.1 Especificación técnica del subsistema 1</a:t>
            </a:r>
          </a:p>
          <a:p>
            <a:pPr eaLnBrk="1" fontAlgn="auto" hangingPunct="1">
              <a:spcAft>
                <a:spcPts val="0"/>
              </a:spcAft>
              <a:defRPr/>
            </a:pPr>
            <a:r>
              <a:rPr lang="es-ES_tradnl" sz="1600" dirty="0">
                <a:latin typeface="Times New Roman" panose="02020603050405020304" pitchFamily="18" charset="0"/>
                <a:ea typeface="+mn-ea"/>
                <a:cs typeface="Times New Roman" panose="02020603050405020304" pitchFamily="18" charset="0"/>
              </a:rPr>
              <a:t>2.3.2 </a:t>
            </a:r>
            <a:r>
              <a:rPr lang="es-ES_tradnl" sz="1600" dirty="0">
                <a:latin typeface="Times New Roman" panose="02020603050405020304" pitchFamily="18" charset="0"/>
                <a:cs typeface="Times New Roman" panose="02020603050405020304" pitchFamily="18" charset="0"/>
              </a:rPr>
              <a:t>Especificación técnica del subsistema 2</a:t>
            </a:r>
          </a:p>
          <a:p>
            <a:pPr eaLnBrk="1" fontAlgn="auto" hangingPunct="1">
              <a:spcAft>
                <a:spcPts val="0"/>
              </a:spcAft>
              <a:defRPr/>
            </a:pPr>
            <a:r>
              <a:rPr lang="es-ES_tradnl" sz="1600" dirty="0">
                <a:latin typeface="Times New Roman" panose="02020603050405020304" pitchFamily="18" charset="0"/>
                <a:ea typeface="+mn-ea"/>
                <a:cs typeface="Times New Roman" panose="02020603050405020304" pitchFamily="18" charset="0"/>
              </a:rPr>
              <a:t>2.3.3 </a:t>
            </a:r>
            <a:r>
              <a:rPr lang="es-ES_tradnl" sz="1600" dirty="0">
                <a:latin typeface="Times New Roman" panose="02020603050405020304" pitchFamily="18" charset="0"/>
                <a:cs typeface="Times New Roman" panose="02020603050405020304" pitchFamily="18" charset="0"/>
              </a:rPr>
              <a:t>Especificación técnica del subsistema 3</a:t>
            </a:r>
          </a:p>
          <a:p>
            <a:pPr eaLnBrk="1" fontAlgn="auto" hangingPunct="1">
              <a:spcAft>
                <a:spcPts val="0"/>
              </a:spcAft>
              <a:defRPr/>
            </a:pPr>
            <a:endParaRPr lang="es-ES_tradnl" sz="16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16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16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16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16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16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1600" dirty="0">
              <a:latin typeface="Times New Roman" panose="02020603050405020304" pitchFamily="18" charset="0"/>
              <a:ea typeface="+mn-ea"/>
              <a:cs typeface="Times New Roman" panose="02020603050405020304" pitchFamily="18" charset="0"/>
            </a:endParaRPr>
          </a:p>
        </p:txBody>
      </p:sp>
      <p:pic>
        <p:nvPicPr>
          <p:cNvPr id="7" name="Picture 2">
            <a:extLst>
              <a:ext uri="{FF2B5EF4-FFF2-40B4-BE49-F238E27FC236}">
                <a16:creationId xmlns:a16="http://schemas.microsoft.com/office/drawing/2014/main" id="{AEE6797E-64AB-D14D-9D9D-27EDC312F9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262" y="3573016"/>
            <a:ext cx="7848600"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ECBB26A2-B8AE-7E40-AFA3-6116C4A3D3BC}"/>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8B6C1590-B289-E34D-ADE5-CC5BD3E44B66}"/>
              </a:ext>
            </a:extLst>
          </p:cNvPr>
          <p:cNvSpPr>
            <a:spLocks noGrp="1"/>
          </p:cNvSpPr>
          <p:nvPr>
            <p:ph type="subTitle" idx="1"/>
          </p:nvPr>
        </p:nvSpPr>
        <p:spPr>
          <a:xfrm>
            <a:off x="1431925" y="2060575"/>
            <a:ext cx="7407275" cy="3744689"/>
          </a:xfrm>
        </p:spPr>
        <p:txBody>
          <a:bodyPr/>
          <a:lstStyle/>
          <a:p>
            <a:pPr marL="311150" indent="-284163" eaLnBrk="1" hangingPunct="1">
              <a:buFont typeface="+mj-lt"/>
              <a:buAutoNum type="arabicPeriod" startAt="3"/>
            </a:pPr>
            <a:r>
              <a:rPr lang="es-ES_tradnl" altLang="es-ES" sz="2000" b="1" u="sng" dirty="0">
                <a:solidFill>
                  <a:srgbClr val="320E04"/>
                </a:solidFill>
                <a:ea typeface="ＭＳ Ｐゴシック" panose="020B0600070205080204" pitchFamily="34" charset="-128"/>
              </a:rPr>
              <a:t>Definición de especificación técnica</a:t>
            </a:r>
          </a:p>
          <a:p>
            <a:pPr marL="26988" eaLnBrk="1" hangingPunct="1"/>
            <a:endParaRPr lang="es-ES_tradnl" altLang="es-ES" sz="2000" b="1" u="sng" dirty="0">
              <a:solidFill>
                <a:srgbClr val="320E04"/>
              </a:solidFill>
              <a:ea typeface="ＭＳ Ｐゴシック" panose="020B0600070205080204" pitchFamily="34" charset="-128"/>
            </a:endParaRPr>
          </a:p>
          <a:p>
            <a:pPr marL="311150" eaLnBrk="1" hangingPunct="1"/>
            <a:r>
              <a:rPr lang="es-ES_tradnl" altLang="es-ES" sz="1600" b="1" u="sng" dirty="0" err="1">
                <a:solidFill>
                  <a:srgbClr val="320E04"/>
                </a:solidFill>
                <a:latin typeface="Arial" panose="020B0604020202020204" pitchFamily="34" charset="0"/>
                <a:ea typeface="ＭＳ Ｐゴシック" panose="020B0600070205080204" pitchFamily="34" charset="-128"/>
                <a:cs typeface="Arial" panose="020B0604020202020204" pitchFamily="34" charset="0"/>
              </a:rPr>
              <a:t>Ayers</a:t>
            </a:r>
            <a:r>
              <a:rPr lang="es-ES_tradnl" altLang="es-ES" sz="1600" b="1" u="sng"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[1]:</a:t>
            </a:r>
          </a:p>
          <a:p>
            <a:pPr marL="311150" eaLnBrk="1" hangingPunct="1"/>
            <a:r>
              <a:rPr lang="es-ES_tradnl" altLang="es-ES" sz="1600" dirty="0">
                <a:solidFill>
                  <a:srgbClr val="320E04"/>
                </a:solidFill>
                <a:ea typeface="ＭＳ Ｐゴシック" panose="020B0600070205080204" pitchFamily="34" charset="-128"/>
              </a:rPr>
              <a:t>"Una especificación es una descripción de un producto o servicio descrita con el detalle necesario para que puede ser comprado o fabricado por otros a entera satisfacción de las partes implicadas."</a:t>
            </a:r>
          </a:p>
          <a:p>
            <a:pPr marL="311150" eaLnBrk="1" hangingPunct="1"/>
            <a:r>
              <a:rPr lang="es-ES_tradnl" altLang="es-ES" sz="1600" b="1" u="sng"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Wikipedia [2]:</a:t>
            </a:r>
          </a:p>
          <a:p>
            <a:pPr marL="311150" eaLnBrk="1" hangingPunct="1"/>
            <a:r>
              <a:rPr lang="es-ES_tradnl" altLang="es-ES" sz="1600" dirty="0">
                <a:solidFill>
                  <a:srgbClr val="320E04"/>
                </a:solidFill>
                <a:ea typeface="ＭＳ Ｐゴシック" panose="020B0600070205080204" pitchFamily="34" charset="-128"/>
              </a:rPr>
              <a:t>"Una especificación se refiere a un conjunto explícito de requisitos que debería cumplir un material, diseño, producto o servicio".</a:t>
            </a:r>
          </a:p>
          <a:p>
            <a:pPr marL="26988" eaLnBrk="1" hangingPunct="1"/>
            <a:endParaRPr lang="es-ES_tradnl" altLang="es-ES" sz="2000" dirty="0">
              <a:solidFill>
                <a:srgbClr val="320E04"/>
              </a:solidFill>
              <a:ea typeface="ＭＳ Ｐゴシック" panose="020B0600070205080204" pitchFamily="34" charset="-128"/>
            </a:endParaRPr>
          </a:p>
          <a:p>
            <a:pPr marL="255588" indent="-228600" eaLnBrk="1" hangingPunct="1">
              <a:buFont typeface="+mj-lt"/>
              <a:buAutoNum type="arabicPeriod"/>
            </a:pPr>
            <a:r>
              <a:rPr lang="es-ES_tradnl" altLang="es-ES" sz="1200" dirty="0">
                <a:solidFill>
                  <a:srgbClr val="320E04"/>
                </a:solidFill>
                <a:ea typeface="ＭＳ Ｐゴシック" panose="020B0600070205080204" pitchFamily="34" charset="-128"/>
              </a:rPr>
              <a:t> </a:t>
            </a:r>
            <a:r>
              <a:rPr lang="es-ES_tradnl" altLang="es-ES" sz="1200" dirty="0" err="1">
                <a:solidFill>
                  <a:srgbClr val="320E04"/>
                </a:solidFill>
                <a:ea typeface="ＭＳ Ｐゴシック" panose="020B0600070205080204" pitchFamily="34" charset="-128"/>
              </a:rPr>
              <a:t>Ayers</a:t>
            </a:r>
            <a:r>
              <a:rPr lang="es-ES_tradnl" altLang="es-ES" sz="1200" dirty="0">
                <a:solidFill>
                  <a:srgbClr val="320E04"/>
                </a:solidFill>
                <a:ea typeface="ＭＳ Ｐゴシック" panose="020B0600070205080204" pitchFamily="34" charset="-128"/>
              </a:rPr>
              <a:t>, Ch. </a:t>
            </a:r>
            <a:r>
              <a:rPr lang="es-ES_tradnl" altLang="es-ES" sz="1200" dirty="0" err="1">
                <a:solidFill>
                  <a:srgbClr val="320E04"/>
                </a:solidFill>
                <a:ea typeface="ＭＳ Ｐゴシック" panose="020B0600070205080204" pitchFamily="34" charset="-128"/>
              </a:rPr>
              <a:t>Specifications</a:t>
            </a:r>
            <a:r>
              <a:rPr lang="es-ES_tradnl" altLang="es-ES" sz="1200" dirty="0">
                <a:solidFill>
                  <a:srgbClr val="320E04"/>
                </a:solidFill>
                <a:ea typeface="ＭＳ Ｐゴシック" panose="020B0600070205080204" pitchFamily="34" charset="-128"/>
              </a:rPr>
              <a:t> </a:t>
            </a:r>
            <a:r>
              <a:rPr lang="es-ES_tradnl" altLang="es-ES" sz="1200" dirty="0" err="1">
                <a:solidFill>
                  <a:srgbClr val="320E04"/>
                </a:solidFill>
                <a:ea typeface="ＭＳ Ｐゴシック" panose="020B0600070205080204" pitchFamily="34" charset="-128"/>
              </a:rPr>
              <a:t>for</a:t>
            </a:r>
            <a:r>
              <a:rPr lang="es-ES_tradnl" altLang="es-ES" sz="1200" dirty="0">
                <a:solidFill>
                  <a:srgbClr val="320E04"/>
                </a:solidFill>
                <a:ea typeface="ＭＳ Ｐゴシック" panose="020B0600070205080204" pitchFamily="34" charset="-128"/>
              </a:rPr>
              <a:t> </a:t>
            </a:r>
            <a:r>
              <a:rPr lang="es-ES_tradnl" altLang="es-ES" sz="1200" dirty="0" err="1">
                <a:solidFill>
                  <a:srgbClr val="320E04"/>
                </a:solidFill>
                <a:ea typeface="ＭＳ Ｐゴシック" panose="020B0600070205080204" pitchFamily="34" charset="-128"/>
              </a:rPr>
              <a:t>Architecture</a:t>
            </a:r>
            <a:r>
              <a:rPr lang="es-ES_tradnl" altLang="es-ES" sz="1200" dirty="0">
                <a:solidFill>
                  <a:srgbClr val="320E04"/>
                </a:solidFill>
                <a:ea typeface="ＭＳ Ｐゴシック" panose="020B0600070205080204" pitchFamily="34" charset="-128"/>
              </a:rPr>
              <a:t>, </a:t>
            </a:r>
            <a:r>
              <a:rPr lang="es-ES_tradnl" altLang="es-ES" sz="1200" dirty="0" err="1">
                <a:solidFill>
                  <a:srgbClr val="320E04"/>
                </a:solidFill>
                <a:ea typeface="ＭＳ Ｐゴシック" panose="020B0600070205080204" pitchFamily="34" charset="-128"/>
              </a:rPr>
              <a:t>Engineering</a:t>
            </a:r>
            <a:r>
              <a:rPr lang="es-ES_tradnl" altLang="es-ES" sz="1200" dirty="0">
                <a:solidFill>
                  <a:srgbClr val="320E04"/>
                </a:solidFill>
                <a:ea typeface="ＭＳ Ｐゴシック" panose="020B0600070205080204" pitchFamily="34" charset="-128"/>
              </a:rPr>
              <a:t> and </a:t>
            </a:r>
            <a:r>
              <a:rPr lang="es-ES_tradnl" altLang="es-ES" sz="1200" dirty="0" err="1">
                <a:solidFill>
                  <a:srgbClr val="320E04"/>
                </a:solidFill>
                <a:ea typeface="ＭＳ Ｐゴシック" panose="020B0600070205080204" pitchFamily="34" charset="-128"/>
              </a:rPr>
              <a:t>Construction</a:t>
            </a:r>
            <a:r>
              <a:rPr lang="es-ES_tradnl" altLang="es-ES" sz="1200" dirty="0">
                <a:solidFill>
                  <a:srgbClr val="320E04"/>
                </a:solidFill>
                <a:ea typeface="ＭＳ Ｐゴシック" panose="020B0600070205080204" pitchFamily="34" charset="-128"/>
              </a:rPr>
              <a:t>. </a:t>
            </a:r>
            <a:r>
              <a:rPr lang="es-ES_tradnl" altLang="es-ES" sz="1200" dirty="0" err="1">
                <a:solidFill>
                  <a:srgbClr val="320E04"/>
                </a:solidFill>
                <a:ea typeface="ＭＳ Ｐゴシック" panose="020B0600070205080204" pitchFamily="34" charset="-128"/>
              </a:rPr>
              <a:t>MacGraw</a:t>
            </a:r>
            <a:r>
              <a:rPr lang="es-ES_tradnl" altLang="es-ES" sz="1200" dirty="0">
                <a:solidFill>
                  <a:srgbClr val="320E04"/>
                </a:solidFill>
                <a:ea typeface="ＭＳ Ｐゴシック" panose="020B0600070205080204" pitchFamily="34" charset="-128"/>
              </a:rPr>
              <a:t>-Hill, Inc.</a:t>
            </a:r>
          </a:p>
          <a:p>
            <a:pPr marL="255588" indent="-228600" eaLnBrk="1" hangingPunct="1">
              <a:buFont typeface="+mj-lt"/>
              <a:buAutoNum type="arabicPeriod"/>
            </a:pPr>
            <a:r>
              <a:rPr lang="es-ES_tradnl" altLang="es-ES" sz="1200" dirty="0">
                <a:solidFill>
                  <a:srgbClr val="320E04"/>
                </a:solidFill>
                <a:ea typeface="ＭＳ Ｐゴシック" panose="020B0600070205080204" pitchFamily="34" charset="-128"/>
                <a:hlinkClick r:id="rId2"/>
              </a:rPr>
              <a:t>https://en.wikipedia.org/wiki/Specification_(technical_standard)</a:t>
            </a:r>
            <a:endParaRPr lang="es-ES_tradnl" altLang="es-ES" sz="12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p:txBody>
      </p:sp>
    </p:spTree>
    <p:extLst>
      <p:ext uri="{BB962C8B-B14F-4D97-AF65-F5344CB8AC3E}">
        <p14:creationId xmlns:p14="http://schemas.microsoft.com/office/powerpoint/2010/main" val="74326584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F54D7BC2-69A6-C14B-867A-FA21836C05AD}"/>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FDC61C8D-0E45-734D-B92E-5426F2ACF0C1}"/>
              </a:ext>
            </a:extLst>
          </p:cNvPr>
          <p:cNvSpPr>
            <a:spLocks noGrp="1"/>
          </p:cNvSpPr>
          <p:nvPr>
            <p:ph type="subTitle" idx="1"/>
          </p:nvPr>
        </p:nvSpPr>
        <p:spPr>
          <a:xfrm>
            <a:off x="1431925" y="2060575"/>
            <a:ext cx="7407275" cy="3960813"/>
          </a:xfrm>
        </p:spPr>
        <p:txBody>
          <a:bodyPr>
            <a:normAutofit/>
          </a:bodyPr>
          <a:lstStyle/>
          <a:p>
            <a:pPr marL="370332" indent="-342900" eaLnBrk="1" fontAlgn="auto" hangingPunct="1">
              <a:spcAft>
                <a:spcPts val="0"/>
              </a:spcAft>
              <a:buFont typeface="+mj-lt"/>
              <a:buAutoNum type="arabicPeriod" startAt="4"/>
              <a:defRPr/>
            </a:pPr>
            <a:r>
              <a:rPr lang="es-ES_tradnl" sz="1800" b="1" u="sng" dirty="0">
                <a:ea typeface="+mn-ea"/>
                <a:cs typeface="+mn-cs"/>
              </a:rPr>
              <a:t>Tipos de especificaciones técnicas</a:t>
            </a:r>
          </a:p>
          <a:p>
            <a:pPr eaLnBrk="1" fontAlgn="auto" hangingPunct="1">
              <a:spcAft>
                <a:spcPts val="0"/>
              </a:spcAft>
              <a:buFont typeface="Wingdings 2"/>
              <a:buNone/>
              <a:defRPr/>
            </a:pPr>
            <a:endParaRPr lang="es-ES_tradnl" sz="1800" b="1" u="sng" dirty="0">
              <a:ea typeface="+mn-ea"/>
              <a:cs typeface="+mn-cs"/>
            </a:endParaRPr>
          </a:p>
          <a:p>
            <a:pPr marL="914400" lvl="1" indent="-457200" algn="l" eaLnBrk="1" fontAlgn="auto" hangingPunct="1">
              <a:spcAft>
                <a:spcPts val="0"/>
              </a:spcAft>
              <a:buFont typeface="+mj-lt"/>
              <a:buAutoNum type="arabicPeriod"/>
              <a:defRPr/>
            </a:pPr>
            <a:r>
              <a:rPr lang="es-ES_tradnl" sz="2200" b="1" dirty="0">
                <a:ea typeface="+mn-ea"/>
              </a:rPr>
              <a:t>Funcionales</a:t>
            </a:r>
          </a:p>
          <a:p>
            <a:pPr marL="914400" lvl="1" indent="-457200" algn="l" eaLnBrk="1" fontAlgn="auto" hangingPunct="1">
              <a:spcAft>
                <a:spcPts val="0"/>
              </a:spcAft>
              <a:buFont typeface="+mj-lt"/>
              <a:buAutoNum type="arabicPeriod"/>
              <a:defRPr/>
            </a:pPr>
            <a:r>
              <a:rPr lang="es-ES_tradnl" sz="2200" b="1" dirty="0">
                <a:ea typeface="+mn-ea"/>
              </a:rPr>
              <a:t>Descriptivas</a:t>
            </a:r>
          </a:p>
          <a:p>
            <a:pPr marL="914400" lvl="1" indent="-457200" algn="l" eaLnBrk="1" fontAlgn="auto" hangingPunct="1">
              <a:spcAft>
                <a:spcPts val="0"/>
              </a:spcAft>
              <a:buFont typeface="+mj-lt"/>
              <a:buAutoNum type="arabicPeriod"/>
              <a:defRPr/>
            </a:pPr>
            <a:r>
              <a:rPr lang="es-ES_tradnl" sz="2200" b="1" dirty="0">
                <a:ea typeface="+mn-ea"/>
              </a:rPr>
              <a:t>Por referencia a proveedor o fabricante</a:t>
            </a:r>
          </a:p>
          <a:p>
            <a:pPr marL="914400" lvl="1" indent="-457200" algn="l" eaLnBrk="1" fontAlgn="auto" hangingPunct="1">
              <a:spcAft>
                <a:spcPts val="0"/>
              </a:spcAft>
              <a:buFont typeface="+mj-lt"/>
              <a:buAutoNum type="arabicPeriod"/>
              <a:defRPr/>
            </a:pPr>
            <a:r>
              <a:rPr lang="es-ES_tradnl" sz="2200" b="1" dirty="0">
                <a:ea typeface="+mn-ea"/>
              </a:rPr>
              <a:t>Por referencia a norma</a:t>
            </a:r>
          </a:p>
          <a:p>
            <a:pPr marL="914400" lvl="1" indent="-457200" algn="l" eaLnBrk="1" fontAlgn="auto" hangingPunct="1">
              <a:spcAft>
                <a:spcPts val="0"/>
              </a:spcAft>
              <a:buFont typeface="+mj-lt"/>
              <a:buAutoNum type="arabicPeriod"/>
              <a:defRPr/>
            </a:pPr>
            <a:r>
              <a:rPr lang="es-ES_tradnl" sz="2200" b="1" dirty="0">
                <a:ea typeface="+mn-ea"/>
              </a:rPr>
              <a:t>Abiertas</a:t>
            </a:r>
          </a:p>
          <a:p>
            <a:pPr marL="914400" lvl="1" indent="-457200" algn="l" eaLnBrk="1" fontAlgn="auto" hangingPunct="1">
              <a:spcAft>
                <a:spcPts val="0"/>
              </a:spcAft>
              <a:buFont typeface="+mj-lt"/>
              <a:buAutoNum type="arabicPeriod"/>
              <a:defRPr/>
            </a:pPr>
            <a:r>
              <a:rPr lang="es-ES_tradnl" sz="2200" b="1" dirty="0">
                <a:ea typeface="+mn-ea"/>
              </a:rPr>
              <a:t>Cerradas</a:t>
            </a:r>
          </a:p>
          <a:p>
            <a:pPr marL="914400" lvl="1" indent="-457200" algn="l" eaLnBrk="1" fontAlgn="auto" hangingPunct="1">
              <a:spcAft>
                <a:spcPts val="0"/>
              </a:spcAft>
              <a:buFont typeface="+mj-lt"/>
              <a:buAutoNum type="arabicPeriod"/>
              <a:defRPr/>
            </a:pPr>
            <a:r>
              <a:rPr lang="es-ES_tradnl" sz="2200" b="1" dirty="0">
                <a:ea typeface="+mn-ea"/>
              </a:rPr>
              <a:t>Mixtas</a:t>
            </a:r>
            <a:endParaRPr lang="es-ES_tradnl" sz="2200" dirty="0">
              <a:ea typeface="+mn-ea"/>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2 Subtítulo">
            <a:extLst>
              <a:ext uri="{FF2B5EF4-FFF2-40B4-BE49-F238E27FC236}">
                <a16:creationId xmlns:a16="http://schemas.microsoft.com/office/drawing/2014/main" id="{0645D84E-9E3F-374C-9133-7019DBC4A9DF}"/>
              </a:ext>
            </a:extLst>
          </p:cNvPr>
          <p:cNvSpPr>
            <a:spLocks noGrp="1"/>
          </p:cNvSpPr>
          <p:nvPr>
            <p:ph type="subTitle" idx="1"/>
          </p:nvPr>
        </p:nvSpPr>
        <p:spPr>
          <a:xfrm>
            <a:off x="1431925" y="2060575"/>
            <a:ext cx="7407275" cy="3960813"/>
          </a:xfrm>
        </p:spPr>
        <p:txBody>
          <a:bodyPr/>
          <a:lstStyle/>
          <a:p>
            <a:pPr marL="26988" eaLnBrk="1" hangingPunct="1"/>
            <a:r>
              <a:rPr lang="es-ES_tradnl" altLang="es-ES" sz="1800" b="1" u="sng" dirty="0">
                <a:solidFill>
                  <a:srgbClr val="320E04"/>
                </a:solidFill>
                <a:ea typeface="ＭＳ Ｐゴシック" panose="020B0600070205080204" pitchFamily="34" charset="-128"/>
              </a:rPr>
              <a:t>Tipos de especificaciones</a:t>
            </a:r>
          </a:p>
          <a:p>
            <a:pPr marL="26988" eaLnBrk="1" hangingPunct="1"/>
            <a:r>
              <a:rPr lang="es-ES_tradnl" altLang="es-ES" sz="2000" b="1" dirty="0">
                <a:solidFill>
                  <a:srgbClr val="320E04"/>
                </a:solidFill>
                <a:ea typeface="ＭＳ Ｐゴシック" panose="020B0600070205080204" pitchFamily="34" charset="-128"/>
              </a:rPr>
              <a:t>Funcionales</a:t>
            </a:r>
          </a:p>
          <a:p>
            <a:pPr marL="26988" eaLnBrk="1" hangingPunct="1"/>
            <a:r>
              <a:rPr lang="es-ES_tradnl" altLang="es-ES" sz="2000" dirty="0">
                <a:solidFill>
                  <a:srgbClr val="320E04"/>
                </a:solidFill>
                <a:ea typeface="ＭＳ Ｐゴシック" panose="020B0600070205080204" pitchFamily="34" charset="-128"/>
              </a:rPr>
              <a:t>Es una especificación relacionada con las prestaciones, funciones u objetivos de un producto o servicio. Ejemplo:</a:t>
            </a:r>
          </a:p>
          <a:p>
            <a:pPr marL="26988" eaLnBrk="1" hangingPunct="1"/>
            <a:r>
              <a:rPr lang="es-ES_tradnl" altLang="es-ES" sz="2000" dirty="0">
                <a:solidFill>
                  <a:srgbClr val="320E04"/>
                </a:solidFill>
                <a:ea typeface="ＭＳ Ｐゴシック" panose="020B0600070205080204" pitchFamily="34" charset="-128"/>
              </a:rPr>
              <a:t>"El ventilador será de flujo axial y generará un caudal de aire no inferior a 10 m3/min con una presión no inferior a 15 mm de columna de agua. El grado de protección del equipo eléctrico será IP 44 (DIN 40050).  En ningún momento el conjunto debe emitir un ruido superior a 65 dB (A) "</a:t>
            </a: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0CA5C9E9-6E49-A547-8656-F18A6CB0257F}"/>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2 Subtítulo">
            <a:extLst>
              <a:ext uri="{FF2B5EF4-FFF2-40B4-BE49-F238E27FC236}">
                <a16:creationId xmlns:a16="http://schemas.microsoft.com/office/drawing/2014/main" id="{9D5BFD46-28D2-8440-85FB-6C9CBA06C1DE}"/>
              </a:ext>
            </a:extLst>
          </p:cNvPr>
          <p:cNvSpPr>
            <a:spLocks noGrp="1"/>
          </p:cNvSpPr>
          <p:nvPr>
            <p:ph type="subTitle" idx="1"/>
          </p:nvPr>
        </p:nvSpPr>
        <p:spPr>
          <a:xfrm>
            <a:off x="1431925" y="2060575"/>
            <a:ext cx="7407275" cy="3312641"/>
          </a:xfrm>
        </p:spPr>
        <p:txBody>
          <a:bodyPr/>
          <a:lstStyle/>
          <a:p>
            <a:pPr marL="26988" eaLnBrk="1" hangingPunct="1"/>
            <a:r>
              <a:rPr lang="es-ES_tradnl" altLang="es-ES" sz="1800" b="1" u="sng" dirty="0">
                <a:solidFill>
                  <a:srgbClr val="320E04"/>
                </a:solidFill>
                <a:ea typeface="ＭＳ Ｐゴシック" panose="020B0600070205080204" pitchFamily="34" charset="-128"/>
              </a:rPr>
              <a:t>Tipos de especificaciones</a:t>
            </a:r>
          </a:p>
          <a:p>
            <a:pPr marL="26988" eaLnBrk="1" hangingPunct="1"/>
            <a:r>
              <a:rPr lang="es-ES_tradnl" altLang="es-ES" sz="2000" b="1" dirty="0">
                <a:solidFill>
                  <a:srgbClr val="320E04"/>
                </a:solidFill>
                <a:ea typeface="ＭＳ Ｐゴシック" panose="020B0600070205080204" pitchFamily="34" charset="-128"/>
              </a:rPr>
              <a:t>Descriptivas</a:t>
            </a:r>
          </a:p>
          <a:p>
            <a:pPr marL="26988" eaLnBrk="1" hangingPunct="1"/>
            <a:r>
              <a:rPr lang="es-ES_tradnl" altLang="es-ES" sz="2000" dirty="0">
                <a:solidFill>
                  <a:srgbClr val="320E04"/>
                </a:solidFill>
                <a:ea typeface="ＭＳ Ｐゴシック" panose="020B0600070205080204" pitchFamily="34" charset="-128"/>
              </a:rPr>
              <a:t>Son aquellas relacionadas otras características del producto o servicio a parte de las funcionales, como pueden ser las referentes a la forma, dimensiones, peso, color y otras características formales.</a:t>
            </a:r>
          </a:p>
          <a:p>
            <a:pPr marL="26988" eaLnBrk="1" hangingPunct="1"/>
            <a:r>
              <a:rPr lang="es-ES_tradnl" altLang="es-ES" sz="2000" dirty="0">
                <a:solidFill>
                  <a:srgbClr val="320E04"/>
                </a:solidFill>
                <a:ea typeface="ＭＳ Ｐゴシック" panose="020B0600070205080204" pitchFamily="34" charset="-128"/>
              </a:rPr>
              <a:t>Ejemplo:</a:t>
            </a:r>
          </a:p>
          <a:p>
            <a:pPr marL="26988" eaLnBrk="1" hangingPunct="1"/>
            <a:r>
              <a:rPr lang="es-ES_tradnl" altLang="es-ES" sz="2000" dirty="0">
                <a:solidFill>
                  <a:srgbClr val="320E04"/>
                </a:solidFill>
                <a:ea typeface="ＭＳ Ｐゴシック" panose="020B0600070205080204" pitchFamily="34" charset="-128"/>
              </a:rPr>
              <a:t>“El diámetro nominal de la brida de la tubería de entrada del ventilador será de 500 </a:t>
            </a:r>
            <a:r>
              <a:rPr lang="es-ES_tradnl" altLang="es-ES" sz="2000" dirty="0" err="1">
                <a:solidFill>
                  <a:srgbClr val="320E04"/>
                </a:solidFill>
                <a:ea typeface="ＭＳ Ｐゴシック" panose="020B0600070205080204" pitchFamily="34" charset="-128"/>
              </a:rPr>
              <a:t>mm.</a:t>
            </a:r>
            <a:r>
              <a:rPr lang="es-ES_tradnl" altLang="es-ES" sz="2000" dirty="0">
                <a:solidFill>
                  <a:srgbClr val="320E04"/>
                </a:solidFill>
                <a:ea typeface="ＭＳ Ｐゴシック" panose="020B0600070205080204" pitchFamily="34" charset="-128"/>
              </a:rPr>
              <a:t> El peso del ventilador no superará los 12 kg”.</a:t>
            </a: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3F744335-D184-9648-86A6-2CB2ED25B1E4}"/>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2 Subtítulo">
            <a:extLst>
              <a:ext uri="{FF2B5EF4-FFF2-40B4-BE49-F238E27FC236}">
                <a16:creationId xmlns:a16="http://schemas.microsoft.com/office/drawing/2014/main" id="{016C452C-50E8-3D4C-A615-B90BD2979B6F}"/>
              </a:ext>
            </a:extLst>
          </p:cNvPr>
          <p:cNvSpPr>
            <a:spLocks noGrp="1"/>
          </p:cNvSpPr>
          <p:nvPr>
            <p:ph type="subTitle" idx="1"/>
          </p:nvPr>
        </p:nvSpPr>
        <p:spPr>
          <a:xfrm>
            <a:off x="1431925" y="2060575"/>
            <a:ext cx="7407275" cy="3960813"/>
          </a:xfrm>
        </p:spPr>
        <p:txBody>
          <a:bodyPr/>
          <a:lstStyle/>
          <a:p>
            <a:pPr marL="26988" eaLnBrk="1" hangingPunct="1"/>
            <a:r>
              <a:rPr lang="es-ES_tradnl" altLang="es-ES" sz="1800" b="1" u="sng" dirty="0">
                <a:solidFill>
                  <a:srgbClr val="320E04"/>
                </a:solidFill>
                <a:ea typeface="ＭＳ Ｐゴシック" panose="020B0600070205080204" pitchFamily="34" charset="-128"/>
              </a:rPr>
              <a:t>Tipos de especificaciones</a:t>
            </a:r>
          </a:p>
          <a:p>
            <a:pPr marL="26988" eaLnBrk="1" hangingPunct="1"/>
            <a:r>
              <a:rPr lang="es-ES_tradnl" altLang="es-ES" sz="2000" b="1" dirty="0">
                <a:solidFill>
                  <a:srgbClr val="320E04"/>
                </a:solidFill>
                <a:ea typeface="ＭＳ Ｐゴシック" panose="020B0600070205080204" pitchFamily="34" charset="-128"/>
              </a:rPr>
              <a:t>Por referencia a proveedor o fabricante</a:t>
            </a:r>
          </a:p>
          <a:p>
            <a:pPr marL="26988" eaLnBrk="1" hangingPunct="1"/>
            <a:r>
              <a:rPr lang="es-ES_tradnl" altLang="es-ES" sz="2000" dirty="0">
                <a:solidFill>
                  <a:srgbClr val="320E04"/>
                </a:solidFill>
                <a:ea typeface="ＭＳ Ｐゴシック" panose="020B0600070205080204" pitchFamily="34" charset="-128"/>
              </a:rPr>
              <a:t>Corresponde con la especificación de la referencia proporcionada por un proveedor o fabricante de su producto o servicio.</a:t>
            </a:r>
          </a:p>
          <a:p>
            <a:pPr marL="26988" eaLnBrk="1" hangingPunct="1"/>
            <a:r>
              <a:rPr lang="es-ES_tradnl" altLang="es-ES" sz="2000" dirty="0">
                <a:solidFill>
                  <a:srgbClr val="320E04"/>
                </a:solidFill>
                <a:ea typeface="ＭＳ Ｐゴシック" panose="020B0600070205080204" pitchFamily="34" charset="-128"/>
              </a:rPr>
              <a:t>Ejemplo:</a:t>
            </a:r>
          </a:p>
          <a:p>
            <a:pPr marL="26988" eaLnBrk="1" hangingPunct="1"/>
            <a:r>
              <a:rPr lang="es-ES_tradnl" altLang="es-ES" sz="2000" dirty="0">
                <a:solidFill>
                  <a:srgbClr val="320E04"/>
                </a:solidFill>
                <a:ea typeface="ＭＳ Ｐゴシック" panose="020B0600070205080204" pitchFamily="34" charset="-128"/>
              </a:rPr>
              <a:t>“</a:t>
            </a:r>
            <a:r>
              <a:rPr lang="es-ES_tradnl" altLang="ja-JP" sz="2000" dirty="0">
                <a:solidFill>
                  <a:srgbClr val="320E04"/>
                </a:solidFill>
                <a:ea typeface="ＭＳ Ｐゴシック" panose="020B0600070205080204" pitchFamily="34" charset="-128"/>
              </a:rPr>
              <a:t>El ventilador será </a:t>
            </a:r>
            <a:r>
              <a:rPr lang="es-ES_tradnl" altLang="ja-JP" sz="2000" dirty="0" err="1">
                <a:solidFill>
                  <a:srgbClr val="320E04"/>
                </a:solidFill>
                <a:ea typeface="ＭＳ Ｐゴシック" panose="020B0600070205080204" pitchFamily="34" charset="-128"/>
              </a:rPr>
              <a:t>Casals</a:t>
            </a:r>
            <a:r>
              <a:rPr lang="es-ES_tradnl" altLang="ja-JP" sz="2000" dirty="0">
                <a:solidFill>
                  <a:srgbClr val="320E04"/>
                </a:solidFill>
                <a:ea typeface="ＭＳ Ｐゴシック" panose="020B0600070205080204" pitchFamily="34" charset="-128"/>
              </a:rPr>
              <a:t> HB-45 T4H (ref. 26235.0106)"</a:t>
            </a: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C7EDE8A5-C914-DB4C-9284-D32AE1489B56}"/>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B1C7921A-2C47-0F45-81EE-DB77741D7DA8}"/>
              </a:ext>
            </a:extLst>
          </p:cNvPr>
          <p:cNvSpPr>
            <a:spLocks noGrp="1"/>
          </p:cNvSpPr>
          <p:nvPr>
            <p:ph type="subTitle" idx="1"/>
          </p:nvPr>
        </p:nvSpPr>
        <p:spPr>
          <a:xfrm>
            <a:off x="1431924" y="1844824"/>
            <a:ext cx="7407275" cy="3960813"/>
          </a:xfrm>
        </p:spPr>
        <p:txBody>
          <a:bodyPr>
            <a:normAutofit/>
          </a:bodyPr>
          <a:lstStyle/>
          <a:p>
            <a:pPr eaLnBrk="1" fontAlgn="auto" hangingPunct="1">
              <a:spcAft>
                <a:spcPts val="0"/>
              </a:spcAft>
              <a:buFont typeface="Wingdings 2"/>
              <a:buNone/>
              <a:defRPr/>
            </a:pPr>
            <a:r>
              <a:rPr lang="es-ES_tradnl" sz="1800" b="1" u="sng" dirty="0">
                <a:ea typeface="+mn-ea"/>
                <a:cs typeface="+mn-cs"/>
              </a:rPr>
              <a:t>Tipos de especificaciones</a:t>
            </a:r>
          </a:p>
          <a:p>
            <a:pPr eaLnBrk="1" fontAlgn="auto" hangingPunct="1">
              <a:spcAft>
                <a:spcPts val="0"/>
              </a:spcAft>
              <a:buFont typeface="Wingdings 2"/>
              <a:buNone/>
              <a:defRPr/>
            </a:pPr>
            <a:endParaRPr lang="es-ES_tradnl" sz="1800" b="1" u="sng" dirty="0">
              <a:ea typeface="+mn-ea"/>
              <a:cs typeface="+mn-cs"/>
            </a:endParaRPr>
          </a:p>
          <a:p>
            <a:pPr eaLnBrk="1" fontAlgn="auto" hangingPunct="1">
              <a:spcAft>
                <a:spcPts val="0"/>
              </a:spcAft>
              <a:defRPr/>
            </a:pPr>
            <a:r>
              <a:rPr lang="es-ES_tradnl" sz="2000" b="1" dirty="0">
                <a:ea typeface="+mn-ea"/>
                <a:cs typeface="+mn-cs"/>
              </a:rPr>
              <a:t>Por referencia a una norma</a:t>
            </a:r>
          </a:p>
          <a:p>
            <a:pPr eaLnBrk="1" fontAlgn="auto" hangingPunct="1">
              <a:spcAft>
                <a:spcPts val="0"/>
              </a:spcAft>
              <a:buFont typeface="Wingdings 2"/>
              <a:buNone/>
              <a:defRPr/>
            </a:pPr>
            <a:r>
              <a:rPr lang="es-ES_tradnl" sz="2000" dirty="0">
                <a:ea typeface="+mn-ea"/>
                <a:cs typeface="+mn-cs"/>
              </a:rPr>
              <a:t>Corresponde con la indicación de una norma </a:t>
            </a:r>
            <a:r>
              <a:rPr lang="es-ES_tradnl" sz="2000" dirty="0" err="1">
                <a:ea typeface="+mn-ea"/>
                <a:cs typeface="+mn-cs"/>
              </a:rPr>
              <a:t>porporcionada</a:t>
            </a:r>
            <a:r>
              <a:rPr lang="es-ES_tradnl" sz="2000" dirty="0">
                <a:ea typeface="+mn-ea"/>
                <a:cs typeface="+mn-cs"/>
              </a:rPr>
              <a:t> por una asociación de normalización.</a:t>
            </a:r>
          </a:p>
          <a:p>
            <a:pPr eaLnBrk="1" fontAlgn="auto" hangingPunct="1">
              <a:spcAft>
                <a:spcPts val="0"/>
              </a:spcAft>
              <a:buFont typeface="Wingdings 2"/>
              <a:buNone/>
              <a:defRPr/>
            </a:pPr>
            <a:r>
              <a:rPr lang="es-ES_tradnl" sz="2000" dirty="0">
                <a:ea typeface="+mn-ea"/>
                <a:cs typeface="+mn-cs"/>
              </a:rPr>
              <a:t>Ejemplo:</a:t>
            </a:r>
          </a:p>
          <a:p>
            <a:pPr eaLnBrk="1" fontAlgn="auto" hangingPunct="1">
              <a:spcAft>
                <a:spcPts val="0"/>
              </a:spcAft>
              <a:buFont typeface="Wingdings 2"/>
              <a:buNone/>
              <a:defRPr/>
            </a:pPr>
            <a:r>
              <a:rPr lang="es-ES_tradnl" sz="2000" dirty="0">
                <a:ea typeface="+mn-ea"/>
                <a:cs typeface="+mn-cs"/>
              </a:rPr>
              <a:t>”La curva característica del ventilador se obtendrá de conformidad con la norma BS 848."</a:t>
            </a: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
        <p:nvSpPr>
          <p:cNvPr id="6" name="1 Título">
            <a:extLst>
              <a:ext uri="{FF2B5EF4-FFF2-40B4-BE49-F238E27FC236}">
                <a16:creationId xmlns:a16="http://schemas.microsoft.com/office/drawing/2014/main" id="{583FBB53-F25E-774A-8A74-8A9E2E10BBD8}"/>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E69C4933-D1FA-0D45-A08F-BCEFAA007765}"/>
              </a:ext>
            </a:extLst>
          </p:cNvPr>
          <p:cNvSpPr>
            <a:spLocks noGrp="1"/>
          </p:cNvSpPr>
          <p:nvPr>
            <p:ph type="subTitle" idx="1"/>
          </p:nvPr>
        </p:nvSpPr>
        <p:spPr>
          <a:xfrm>
            <a:off x="1431925" y="1844824"/>
            <a:ext cx="7407275" cy="3960813"/>
          </a:xfrm>
        </p:spPr>
        <p:txBody>
          <a:bodyPr>
            <a:normAutofit/>
          </a:bodyPr>
          <a:lstStyle/>
          <a:p>
            <a:pPr eaLnBrk="1" fontAlgn="auto" hangingPunct="1">
              <a:spcAft>
                <a:spcPts val="0"/>
              </a:spcAft>
              <a:buFont typeface="Wingdings 2"/>
              <a:buNone/>
              <a:defRPr/>
            </a:pPr>
            <a:r>
              <a:rPr lang="es-ES_tradnl" sz="1800" b="1" u="sng" dirty="0">
                <a:ea typeface="+mn-ea"/>
                <a:cs typeface="+mn-cs"/>
              </a:rPr>
              <a:t>Tipos de especificaciones</a:t>
            </a:r>
          </a:p>
          <a:p>
            <a:pPr eaLnBrk="1" fontAlgn="auto" hangingPunct="1">
              <a:spcAft>
                <a:spcPts val="0"/>
              </a:spcAft>
              <a:defRPr/>
            </a:pPr>
            <a:endParaRPr lang="es-ES_tradnl" sz="1800" b="1" u="sng" dirty="0">
              <a:ea typeface="+mn-ea"/>
              <a:cs typeface="+mn-cs"/>
            </a:endParaRPr>
          </a:p>
          <a:p>
            <a:pPr eaLnBrk="1" fontAlgn="auto" hangingPunct="1">
              <a:spcAft>
                <a:spcPts val="0"/>
              </a:spcAft>
              <a:defRPr/>
            </a:pPr>
            <a:r>
              <a:rPr lang="es-ES_tradnl" sz="2000" b="1" dirty="0">
                <a:ea typeface="+mn-ea"/>
                <a:cs typeface="+mn-cs"/>
              </a:rPr>
              <a:t>Cerrada</a:t>
            </a:r>
          </a:p>
          <a:p>
            <a:pPr eaLnBrk="1" fontAlgn="auto" hangingPunct="1">
              <a:spcAft>
                <a:spcPts val="0"/>
              </a:spcAft>
              <a:buFont typeface="Wingdings 2"/>
              <a:buNone/>
              <a:defRPr/>
            </a:pPr>
            <a:r>
              <a:rPr lang="es-ES_tradnl" sz="2000" dirty="0">
                <a:ea typeface="+mn-ea"/>
                <a:cs typeface="+mn-cs"/>
              </a:rPr>
              <a:t>Corresponde con la especificación que solamente puede ser satisfecha por un único proveedor o fabricante. Las especificaciones por referencia a un proveedor o fabricante son cerradas.</a:t>
            </a: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defRPr/>
            </a:pPr>
            <a:r>
              <a:rPr lang="es-ES_tradnl" sz="2000" b="1" dirty="0">
                <a:ea typeface="+mn-ea"/>
                <a:cs typeface="+mn-cs"/>
              </a:rPr>
              <a:t>Abierta</a:t>
            </a:r>
          </a:p>
          <a:p>
            <a:pPr eaLnBrk="1" fontAlgn="auto" hangingPunct="1">
              <a:spcAft>
                <a:spcPts val="0"/>
              </a:spcAft>
              <a:buFont typeface="Wingdings 2"/>
              <a:buNone/>
              <a:defRPr/>
            </a:pPr>
            <a:r>
              <a:rPr lang="es-ES_tradnl" sz="2000" dirty="0">
                <a:ea typeface="+mn-ea"/>
                <a:cs typeface="+mn-cs"/>
              </a:rPr>
              <a:t>Corresponde con toda especificación que no sea. cerrada .  Esto quiere decir que la especificación abierta puede ser satisfecha por varios proveedores.</a:t>
            </a: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
        <p:nvSpPr>
          <p:cNvPr id="6" name="1 Título">
            <a:extLst>
              <a:ext uri="{FF2B5EF4-FFF2-40B4-BE49-F238E27FC236}">
                <a16:creationId xmlns:a16="http://schemas.microsoft.com/office/drawing/2014/main" id="{2730C1F8-F5CE-0B49-8F1D-E4F12C707308}"/>
              </a:ext>
            </a:extLst>
          </p:cNvPr>
          <p:cNvSpPr>
            <a:spLocks noGrp="1"/>
          </p:cNvSpPr>
          <p:nvPr>
            <p:ph type="ctrTitle"/>
          </p:nvPr>
        </p:nvSpPr>
        <p:spPr>
          <a:xfrm>
            <a:off x="1431925" y="332656"/>
            <a:ext cx="7407275" cy="1224558"/>
          </a:xfrm>
        </p:spPr>
        <p:txBody>
          <a:bodyPr/>
          <a:lstStyle/>
          <a:p>
            <a:pPr eaLnBrk="1" hangingPunct="1">
              <a:defRPr/>
            </a:pPr>
            <a:r>
              <a:rPr lang="es-ES_tradnl" altLang="es-ES">
                <a:effectLst>
                  <a:outerShdw blurRad="38100" dist="38100" dir="2700000" algn="tl">
                    <a:srgbClr val="C0C0C0"/>
                  </a:outerShdw>
                </a:effectLst>
                <a:ea typeface="ＭＳ Ｐゴシック" panose="020B0600070205080204" pitchFamily="34" charset="-128"/>
              </a:rPr>
              <a:t>OFICINA TÉCNICA</a:t>
            </a:r>
            <a:br>
              <a:rPr lang="es-ES_tradnl" altLang="es-ES">
                <a:effectLst>
                  <a:outerShdw blurRad="38100" dist="38100" dir="2700000" algn="tl">
                    <a:srgbClr val="C0C0C0"/>
                  </a:outerShdw>
                </a:effectLst>
                <a:ea typeface="ＭＳ Ｐゴシック" panose="020B0600070205080204" pitchFamily="34" charset="-128"/>
              </a:rPr>
            </a:br>
            <a:r>
              <a:rPr lang="es-ES_tradnl" altLang="es-ES" sz="3100">
                <a:effectLst>
                  <a:outerShdw blurRad="38100" dist="38100" dir="2700000" algn="tl">
                    <a:srgbClr val="C0C0C0"/>
                  </a:outerShdw>
                </a:effectLst>
                <a:ea typeface="ＭＳ Ｐゴシック" panose="020B0600070205080204" pitchFamily="34" charset="-128"/>
              </a:rPr>
              <a:t>Tema 6. Pliego de condiciones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2 Subtítulo">
            <a:extLst>
              <a:ext uri="{FF2B5EF4-FFF2-40B4-BE49-F238E27FC236}">
                <a16:creationId xmlns:a16="http://schemas.microsoft.com/office/drawing/2014/main" id="{E5F4FF54-E899-C847-851A-32FB6EB0BAE9}"/>
              </a:ext>
            </a:extLst>
          </p:cNvPr>
          <p:cNvSpPr>
            <a:spLocks noGrp="1"/>
          </p:cNvSpPr>
          <p:nvPr>
            <p:ph type="subTitle" idx="1"/>
          </p:nvPr>
        </p:nvSpPr>
        <p:spPr>
          <a:xfrm>
            <a:off x="1433473" y="1772816"/>
            <a:ext cx="7407275" cy="4392488"/>
          </a:xfrm>
        </p:spPr>
        <p:txBody>
          <a:bodyPr/>
          <a:lstStyle/>
          <a:p>
            <a:pPr marL="26988" eaLnBrk="1" hangingPunct="1">
              <a:lnSpc>
                <a:spcPct val="90000"/>
              </a:lnSpc>
            </a:pPr>
            <a:r>
              <a:rPr lang="es-ES_tradnl" altLang="es-ES" sz="1800" b="1" u="sng" dirty="0">
                <a:solidFill>
                  <a:srgbClr val="320E04"/>
                </a:solidFill>
                <a:ea typeface="ＭＳ Ｐゴシック" panose="020B0600070205080204" pitchFamily="34" charset="-128"/>
              </a:rPr>
              <a:t>Tipos de especificaciones</a:t>
            </a:r>
          </a:p>
          <a:p>
            <a:pPr marL="26988" eaLnBrk="1" hangingPunct="1">
              <a:lnSpc>
                <a:spcPct val="90000"/>
              </a:lnSpc>
            </a:pPr>
            <a:endParaRPr lang="es-ES_tradnl" altLang="es-ES" sz="1800" b="1" u="sng" dirty="0">
              <a:solidFill>
                <a:srgbClr val="320E04"/>
              </a:solidFill>
              <a:ea typeface="ＭＳ Ｐゴシック" panose="020B0600070205080204" pitchFamily="34" charset="-128"/>
            </a:endParaRPr>
          </a:p>
          <a:p>
            <a:pPr marL="26988" eaLnBrk="1" hangingPunct="1">
              <a:lnSpc>
                <a:spcPct val="90000"/>
              </a:lnSpc>
            </a:pPr>
            <a:r>
              <a:rPr lang="es-ES_tradnl" altLang="es-ES" sz="2000" b="1" dirty="0">
                <a:solidFill>
                  <a:srgbClr val="320E04"/>
                </a:solidFill>
                <a:ea typeface="ＭＳ Ｐゴシック" panose="020B0600070205080204" pitchFamily="34" charset="-128"/>
              </a:rPr>
              <a:t>Mixtas</a:t>
            </a:r>
          </a:p>
          <a:p>
            <a:pPr marL="26988" eaLnBrk="1" hangingPunct="1">
              <a:lnSpc>
                <a:spcPct val="90000"/>
              </a:lnSpc>
            </a:pPr>
            <a:r>
              <a:rPr lang="es-ES_tradnl" altLang="es-ES" sz="2000" dirty="0">
                <a:solidFill>
                  <a:srgbClr val="320E04"/>
                </a:solidFill>
                <a:ea typeface="ＭＳ Ｐゴシック" panose="020B0600070205080204" pitchFamily="34" charset="-128"/>
              </a:rPr>
              <a:t>Corresponde con una especificación en la que se combinan varios tipos de los descritos anteriormente.</a:t>
            </a:r>
          </a:p>
          <a:p>
            <a:pPr marL="26988" eaLnBrk="1" hangingPunct="1">
              <a:lnSpc>
                <a:spcPct val="90000"/>
              </a:lnSpc>
            </a:pPr>
            <a:r>
              <a:rPr lang="es-ES_tradnl" altLang="es-ES" sz="2000" dirty="0">
                <a:solidFill>
                  <a:srgbClr val="320E04"/>
                </a:solidFill>
                <a:ea typeface="ＭＳ Ｐゴシック" panose="020B0600070205080204" pitchFamily="34" charset="-128"/>
              </a:rPr>
              <a:t>Ejemplo:</a:t>
            </a:r>
          </a:p>
          <a:p>
            <a:pPr marL="26988" eaLnBrk="1" hangingPunct="1">
              <a:lnSpc>
                <a:spcPct val="90000"/>
              </a:lnSpc>
            </a:pPr>
            <a:r>
              <a:rPr lang="es-ES_tradnl" altLang="es-ES" sz="2000" dirty="0">
                <a:solidFill>
                  <a:srgbClr val="320E04"/>
                </a:solidFill>
                <a:ea typeface="ＭＳ Ｐゴシック" panose="020B0600070205080204" pitchFamily="34" charset="-128"/>
              </a:rPr>
              <a:t>"El ventilador será de flujo axial y generará un caudal de aire no inferior a 10 m3/min con una presión no inferior a 15 mm de columna de agua. El grado de protección del equipo eléctrico será IP 44 (DIN 40050).  En ningún momento el conjunto debe emitir un ruido superior a 65 dB (A). El diámetro nominal de la brida de la tubería de entrada del ventilador será de 500 </a:t>
            </a:r>
            <a:r>
              <a:rPr lang="es-ES_tradnl" altLang="es-ES" sz="2000" dirty="0" err="1">
                <a:solidFill>
                  <a:srgbClr val="320E04"/>
                </a:solidFill>
                <a:ea typeface="ＭＳ Ｐゴシック" panose="020B0600070205080204" pitchFamily="34" charset="-128"/>
              </a:rPr>
              <a:t>mm.</a:t>
            </a:r>
            <a:r>
              <a:rPr lang="es-ES_tradnl" altLang="es-ES" sz="2000" dirty="0">
                <a:solidFill>
                  <a:srgbClr val="320E04"/>
                </a:solidFill>
                <a:ea typeface="ＭＳ Ｐゴシック" panose="020B0600070205080204" pitchFamily="34" charset="-128"/>
              </a:rPr>
              <a:t> El peso del ventilador no superará los 12 kg."</a:t>
            </a: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3D152E3A-8691-864E-8DA2-360714DD6884}"/>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6. Pliego de condiciones</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753408DA-0C85-F045-A976-B1625D82BA7F}"/>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CA6C6EDE-9DD6-6846-BD4B-4EE6B57F6AE7}"/>
              </a:ext>
            </a:extLst>
          </p:cNvPr>
          <p:cNvSpPr>
            <a:spLocks noGrp="1"/>
          </p:cNvSpPr>
          <p:nvPr>
            <p:ph type="subTitle" idx="1"/>
          </p:nvPr>
        </p:nvSpPr>
        <p:spPr>
          <a:xfrm>
            <a:off x="1431925" y="2060575"/>
            <a:ext cx="7407275" cy="2880593"/>
          </a:xfrm>
        </p:spPr>
        <p:txBody>
          <a:bodyPr>
            <a:normAutofit/>
          </a:bodyPr>
          <a:lstStyle/>
          <a:p>
            <a:pPr marL="370332" indent="-342900" eaLnBrk="1" fontAlgn="auto" hangingPunct="1">
              <a:spcAft>
                <a:spcPts val="0"/>
              </a:spcAft>
              <a:buFont typeface="+mj-lt"/>
              <a:buAutoNum type="arabicPeriod" startAt="5"/>
              <a:defRPr/>
            </a:pPr>
            <a:r>
              <a:rPr lang="es-ES_tradnl" sz="1800" b="1" u="sng" dirty="0">
                <a:ea typeface="+mn-ea"/>
                <a:cs typeface="+mn-cs"/>
              </a:rPr>
              <a:t>Partes de una especificación técnica</a:t>
            </a:r>
          </a:p>
          <a:p>
            <a:pPr eaLnBrk="1" fontAlgn="auto" hangingPunct="1">
              <a:spcAft>
                <a:spcPts val="0"/>
              </a:spcAft>
              <a:buFont typeface="Wingdings 2"/>
              <a:buNone/>
              <a:defRPr/>
            </a:pPr>
            <a:endParaRPr lang="es-ES_tradnl" sz="1800" b="1" u="sng" dirty="0">
              <a:ea typeface="+mn-ea"/>
              <a:cs typeface="+mn-cs"/>
            </a:endParaRPr>
          </a:p>
          <a:p>
            <a:pPr marL="914400" lvl="1" indent="-457200" algn="l" eaLnBrk="1" fontAlgn="auto" hangingPunct="1">
              <a:spcAft>
                <a:spcPts val="0"/>
              </a:spcAft>
              <a:buFont typeface="+mj-lt"/>
              <a:buAutoNum type="arabicPeriod"/>
              <a:defRPr/>
            </a:pPr>
            <a:r>
              <a:rPr lang="es-ES_tradnl" sz="1800" b="1" dirty="0">
                <a:ea typeface="+mn-ea"/>
              </a:rPr>
              <a:t>Objeto y campo de aplicación</a:t>
            </a:r>
          </a:p>
          <a:p>
            <a:pPr marL="914400" lvl="1" indent="-457200" algn="l" eaLnBrk="1" fontAlgn="auto" hangingPunct="1">
              <a:spcAft>
                <a:spcPts val="0"/>
              </a:spcAft>
              <a:buFont typeface="+mj-lt"/>
              <a:buAutoNum type="arabicPeriod"/>
              <a:defRPr/>
            </a:pPr>
            <a:r>
              <a:rPr lang="es-ES_tradnl" sz="1800" b="1" dirty="0">
                <a:ea typeface="+mn-ea"/>
              </a:rPr>
              <a:t>Materiales</a:t>
            </a:r>
          </a:p>
          <a:p>
            <a:pPr marL="914400" lvl="1" indent="-457200" algn="l" eaLnBrk="1" fontAlgn="auto" hangingPunct="1">
              <a:spcAft>
                <a:spcPts val="0"/>
              </a:spcAft>
              <a:buFont typeface="+mj-lt"/>
              <a:buAutoNum type="arabicPeriod"/>
              <a:defRPr/>
            </a:pPr>
            <a:r>
              <a:rPr lang="es-ES_tradnl" sz="1800" b="1" dirty="0">
                <a:ea typeface="+mn-ea"/>
              </a:rPr>
              <a:t>Condiciones de la ejecución</a:t>
            </a:r>
          </a:p>
          <a:p>
            <a:pPr marL="914400" lvl="1" indent="-457200" algn="l" eaLnBrk="1" fontAlgn="auto" hangingPunct="1">
              <a:spcAft>
                <a:spcPts val="0"/>
              </a:spcAft>
              <a:buFont typeface="+mj-lt"/>
              <a:buAutoNum type="arabicPeriod"/>
              <a:defRPr/>
            </a:pPr>
            <a:r>
              <a:rPr lang="es-ES_tradnl" sz="1800" b="1" dirty="0">
                <a:ea typeface="+mn-ea"/>
              </a:rPr>
              <a:t>Pruebas previas a la puesta en servicio</a:t>
            </a:r>
          </a:p>
          <a:p>
            <a:pPr marL="914400" lvl="1" indent="-457200" algn="l" eaLnBrk="1" fontAlgn="auto" hangingPunct="1">
              <a:spcAft>
                <a:spcPts val="0"/>
              </a:spcAft>
              <a:buFont typeface="+mj-lt"/>
              <a:buAutoNum type="arabicPeriod"/>
              <a:defRPr/>
            </a:pPr>
            <a:r>
              <a:rPr lang="es-ES_tradnl" sz="1800" b="1" dirty="0">
                <a:ea typeface="+mn-ea"/>
              </a:rPr>
              <a:t>Condiciones de mantenimiento, uso y seguridad (opcional, pueden incluirse como anexos a la memoria)</a:t>
            </a: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A9BC84B1-4359-A142-9DDE-8C4A32DCE055}"/>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8DD42F01-79C1-F141-8F94-ABAF5368EEF5}"/>
              </a:ext>
            </a:extLst>
          </p:cNvPr>
          <p:cNvSpPr>
            <a:spLocks noGrp="1"/>
          </p:cNvSpPr>
          <p:nvPr>
            <p:ph type="subTitle" idx="1"/>
          </p:nvPr>
        </p:nvSpPr>
        <p:spPr>
          <a:xfrm>
            <a:off x="1431925" y="1773239"/>
            <a:ext cx="7407275" cy="4176042"/>
          </a:xfrm>
        </p:spPr>
        <p:txBody>
          <a:bodyPr/>
          <a:lstStyle/>
          <a:p>
            <a:pPr marL="26988" eaLnBrk="1" hangingPunct="1">
              <a:lnSpc>
                <a:spcPct val="90000"/>
              </a:lnSpc>
            </a:pPr>
            <a:r>
              <a:rPr lang="es-ES_tradnl" altLang="es-ES" sz="1800" b="1" u="sng"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Partes de una especificación técnica</a:t>
            </a:r>
          </a:p>
          <a:p>
            <a:pPr marL="26988" eaLnBrk="1" hangingPunct="1">
              <a:lnSpc>
                <a:spcPct val="90000"/>
              </a:lnSpc>
            </a:pPr>
            <a:endParaRPr lang="es-ES_tradnl" altLang="es-ES" sz="1800" b="1" u="sng"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endParaRPr>
          </a:p>
          <a:p>
            <a:pPr marL="311150" indent="-284163" eaLnBrk="1" hangingPunct="1">
              <a:lnSpc>
                <a:spcPct val="90000"/>
              </a:lnSpc>
              <a:buFont typeface="Gill Sans MT" panose="020B0502020104020203" pitchFamily="34" charset="77"/>
              <a:buAutoNum type="arabicPeriod"/>
            </a:pPr>
            <a:r>
              <a:rPr lang="es-ES_tradnl" altLang="es-ES" sz="18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Objeto</a:t>
            </a:r>
          </a:p>
          <a:p>
            <a:pPr marL="311150" lvl="1" algn="l" eaLnBrk="1" hangingPunct="1">
              <a:lnSpc>
                <a:spcPct val="90000"/>
              </a:lnSpc>
            </a:pPr>
            <a:r>
              <a:rPr lang="es-ES_tradnl" altLang="es-ES" sz="1800" dirty="0">
                <a:latin typeface="Times New Roman" panose="02020603050405020304" pitchFamily="18" charset="0"/>
                <a:ea typeface="ＭＳ Ｐゴシック" panose="020B0600070205080204" pitchFamily="34" charset="-128"/>
                <a:cs typeface="Times New Roman" panose="02020603050405020304" pitchFamily="18" charset="0"/>
              </a:rPr>
              <a:t>Se trata de una descripción general del trabajo a realizar con una indicación explícita de los trabajos no incluidos.</a:t>
            </a:r>
          </a:p>
          <a:p>
            <a:pPr marL="311150" lvl="1" algn="l" eaLnBrk="1" hangingPunct="1">
              <a:lnSpc>
                <a:spcPct val="90000"/>
              </a:lnSpc>
            </a:pPr>
            <a:r>
              <a:rPr lang="es-ES_tradnl" altLang="es-ES" sz="1800" dirty="0">
                <a:latin typeface="Times New Roman" panose="02020603050405020304" pitchFamily="18" charset="0"/>
                <a:ea typeface="ＭＳ Ｐゴシック" panose="020B0600070205080204" pitchFamily="34" charset="-128"/>
                <a:cs typeface="Times New Roman" panose="02020603050405020304" pitchFamily="18" charset="0"/>
              </a:rPr>
              <a:t>Ejemplo:</a:t>
            </a:r>
          </a:p>
          <a:p>
            <a:pPr marL="311150" lvl="1" algn="l" eaLnBrk="1" hangingPunct="1">
              <a:lnSpc>
                <a:spcPct val="90000"/>
              </a:lnSpc>
            </a:pPr>
            <a:r>
              <a:rPr lang="es-ES_tradnl" altLang="es-ES" sz="1800" dirty="0">
                <a:latin typeface="Times New Roman" panose="02020603050405020304" pitchFamily="18" charset="0"/>
                <a:ea typeface="ＭＳ Ｐゴシック" panose="020B0600070205080204" pitchFamily="34" charset="-128"/>
                <a:cs typeface="Times New Roman" panose="02020603050405020304" pitchFamily="18" charset="0"/>
              </a:rPr>
              <a:t>"</a:t>
            </a:r>
            <a:r>
              <a:rPr lang="es-ES_tradnl" altLang="es-ES" sz="1800" u="sng" dirty="0">
                <a:latin typeface="Times New Roman" panose="02020603050405020304" pitchFamily="18" charset="0"/>
                <a:ea typeface="ＭＳ Ｐゴシック" panose="020B0600070205080204" pitchFamily="34" charset="-128"/>
                <a:cs typeface="Times New Roman" panose="02020603050405020304" pitchFamily="18" charset="0"/>
              </a:rPr>
              <a:t>Esta especificación se refiere a</a:t>
            </a:r>
            <a:r>
              <a:rPr lang="es-ES_tradnl" altLang="es-ES" sz="1800" dirty="0">
                <a:latin typeface="Times New Roman" panose="02020603050405020304" pitchFamily="18" charset="0"/>
                <a:ea typeface="ＭＳ Ｐゴシック" panose="020B0600070205080204" pitchFamily="34" charset="-128"/>
                <a:cs typeface="Times New Roman" panose="02020603050405020304" pitchFamily="18" charset="0"/>
              </a:rPr>
              <a:t> la instalación eléctrica del alumbrado público de la Avenida Blasco Ibáñez entre los números 25 a 151 inclusive”.</a:t>
            </a:r>
          </a:p>
          <a:p>
            <a:pPr marL="311150" lvl="1" algn="l" eaLnBrk="1" hangingPunct="1">
              <a:lnSpc>
                <a:spcPct val="90000"/>
              </a:lnSpc>
            </a:pPr>
            <a:r>
              <a:rPr lang="es-ES_tradnl" altLang="es-ES" sz="1800" dirty="0">
                <a:latin typeface="Times New Roman" panose="02020603050405020304" pitchFamily="18" charset="0"/>
                <a:ea typeface="ＭＳ Ｐゴシック" panose="020B0600070205080204" pitchFamily="34" charset="-128"/>
                <a:cs typeface="Times New Roman" panose="02020603050405020304" pitchFamily="18" charset="0"/>
              </a:rPr>
              <a:t>Quedan excluidas de esta especificación toda la obra civil y de albañilería necesaria para la construcción de cimentaciones de los puntos de alumbrado, zanjas para canalizaciones eléctricas y arquetas de conexión, que serán objeto de especificación aparte”.</a:t>
            </a:r>
          </a:p>
          <a:p>
            <a:pPr lvl="1" algn="l" eaLnBrk="1" hangingPunct="1">
              <a:lnSpc>
                <a:spcPct val="90000"/>
              </a:lnSpc>
            </a:pPr>
            <a:endParaRPr lang="es-ES_tradnl" altLang="es-ES" sz="2200" b="1" dirty="0">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a:p>
            <a:pPr marL="26988" eaLnBrk="1" hangingPunct="1">
              <a:lnSpc>
                <a:spcPct val="90000"/>
              </a:lnSpc>
            </a:pPr>
            <a:endParaRPr lang="es-ES_tradnl" altLang="es-ES" sz="2000" dirty="0">
              <a:solidFill>
                <a:srgbClr val="320E04"/>
              </a:solidFill>
              <a:ea typeface="ＭＳ Ｐゴシック" panose="020B0600070205080204" pitchFamily="34" charset="-128"/>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8B27E178-4663-294D-A858-C6D123571079}"/>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6. Pliego de condiciones</a:t>
            </a:r>
          </a:p>
        </p:txBody>
      </p:sp>
      <p:sp>
        <p:nvSpPr>
          <p:cNvPr id="7" name="2 Subtítulo">
            <a:extLst>
              <a:ext uri="{FF2B5EF4-FFF2-40B4-BE49-F238E27FC236}">
                <a16:creationId xmlns:a16="http://schemas.microsoft.com/office/drawing/2014/main" id="{AD623CE1-21D2-7F40-BDC7-8D1565DF9DC6}"/>
              </a:ext>
            </a:extLst>
          </p:cNvPr>
          <p:cNvSpPr>
            <a:spLocks noGrp="1"/>
          </p:cNvSpPr>
          <p:nvPr>
            <p:ph type="subTitle" idx="1"/>
          </p:nvPr>
        </p:nvSpPr>
        <p:spPr>
          <a:xfrm>
            <a:off x="1420774" y="1611351"/>
            <a:ext cx="7407275" cy="4941168"/>
          </a:xfrm>
        </p:spPr>
        <p:txBody>
          <a:bodyPr/>
          <a:lstStyle/>
          <a:p>
            <a:pPr marL="26988" eaLnBrk="1" hangingPunct="1"/>
            <a:r>
              <a:rPr lang="es-ES_tradnl" altLang="es-ES" sz="1800" b="1" u="sng"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Partes de una especificación técnica</a:t>
            </a:r>
          </a:p>
          <a:p>
            <a:pPr marL="26988" eaLnBrk="1" hangingPunct="1"/>
            <a:endParaRPr lang="es-ES_tradnl" altLang="es-ES" sz="1800" b="1" u="sng"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endParaRPr>
          </a:p>
          <a:p>
            <a:pPr marL="26988" eaLnBrk="1" hangingPunct="1">
              <a:buFont typeface="Gill Sans MT" panose="020B0502020104020203" pitchFamily="34" charset="77"/>
              <a:buAutoNum type="arabicPeriod" startAt="2"/>
            </a:pPr>
            <a:r>
              <a:rPr lang="es-ES_tradnl" altLang="es-ES" sz="18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 Materiales</a:t>
            </a:r>
            <a:endParaRPr lang="es-ES_tradnl" altLang="es-ES" sz="18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endParaRPr>
          </a:p>
          <a:p>
            <a:pPr marL="266700" lvl="1" algn="l" eaLnBrk="1" hangingPunct="1"/>
            <a:r>
              <a:rPr lang="es-ES_tradnl" altLang="es-ES" sz="1800" dirty="0">
                <a:latin typeface="Times New Roman" panose="02020603050405020304" pitchFamily="18" charset="0"/>
                <a:ea typeface="ＭＳ Ｐゴシック" panose="020B0600070205080204" pitchFamily="34" charset="-128"/>
                <a:cs typeface="Times New Roman" panose="02020603050405020304" pitchFamily="18" charset="0"/>
              </a:rPr>
              <a:t>En este apartado se deben describir las características de los materiales y el control de calidad requerido por el proyectista.</a:t>
            </a:r>
          </a:p>
          <a:p>
            <a:pPr marL="266700" lvl="1" algn="l" eaLnBrk="1" hangingPunct="1"/>
            <a:r>
              <a:rPr lang="es-ES_tradnl" altLang="es-ES" sz="1800" dirty="0">
                <a:latin typeface="Times New Roman" panose="02020603050405020304" pitchFamily="18" charset="0"/>
                <a:ea typeface="ＭＳ Ｐゴシック" panose="020B0600070205080204" pitchFamily="34" charset="-128"/>
                <a:cs typeface="Times New Roman" panose="02020603050405020304" pitchFamily="18" charset="0"/>
              </a:rPr>
              <a:t>Este apartado podría subdividirse en subapartados siguiendo la organización según el organigrama técnico del proyecto.</a:t>
            </a:r>
          </a:p>
          <a:p>
            <a:pPr marL="266700" lvl="1" algn="l" eaLnBrk="1" hangingPunct="1"/>
            <a:r>
              <a:rPr lang="es-ES_tradnl" altLang="es-ES" sz="1800" dirty="0">
                <a:latin typeface="Times New Roman" panose="02020603050405020304" pitchFamily="18" charset="0"/>
                <a:ea typeface="ＭＳ Ｐゴシック" panose="020B0600070205080204" pitchFamily="34" charset="-128"/>
                <a:cs typeface="Times New Roman" panose="02020603050405020304" pitchFamily="18" charset="0"/>
              </a:rPr>
              <a:t>El ”apartado de materiales” debe ser interpretado en sentido general por poder referirse tanto a una materias prima como a una pieza, conjunto, subsistema o sistema, que vaya a ser fabricado o proporcionado por los proveedores del contratista o subcontratistas del proyecto.</a:t>
            </a:r>
            <a:endParaRPr lang="es-ES_tradnl" altLang="es-ES" sz="18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endParaRPr>
          </a:p>
          <a:p>
            <a:pPr marL="266700"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C52EDE34-C3F5-924A-AC56-4D1C4191BC0B}"/>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6. Pliego de condiciones</a:t>
            </a:r>
          </a:p>
        </p:txBody>
      </p:sp>
      <p:sp>
        <p:nvSpPr>
          <p:cNvPr id="7" name="2 Subtítulo">
            <a:extLst>
              <a:ext uri="{FF2B5EF4-FFF2-40B4-BE49-F238E27FC236}">
                <a16:creationId xmlns:a16="http://schemas.microsoft.com/office/drawing/2014/main" id="{74C45AE1-A83E-4349-B07A-BA824187C07A}"/>
              </a:ext>
            </a:extLst>
          </p:cNvPr>
          <p:cNvSpPr>
            <a:spLocks noGrp="1"/>
          </p:cNvSpPr>
          <p:nvPr>
            <p:ph type="subTitle" idx="1"/>
          </p:nvPr>
        </p:nvSpPr>
        <p:spPr>
          <a:xfrm>
            <a:off x="1431925" y="2060575"/>
            <a:ext cx="7407275" cy="3528665"/>
          </a:xfrm>
        </p:spPr>
        <p:txBody>
          <a:bodyPr>
            <a:normAutofit/>
          </a:bodyPr>
          <a:lstStyle/>
          <a:p>
            <a:pPr eaLnBrk="1" fontAlgn="auto" hangingPunct="1">
              <a:spcAft>
                <a:spcPts val="0"/>
              </a:spcAft>
              <a:buFont typeface="Wingdings 2"/>
              <a:buNone/>
              <a:defRPr/>
            </a:pPr>
            <a:r>
              <a:rPr lang="es-ES_tradnl" sz="1800" b="1" u="sng" dirty="0">
                <a:latin typeface="Times New Roman" panose="02020603050405020304" pitchFamily="18" charset="0"/>
                <a:ea typeface="+mn-ea"/>
                <a:cs typeface="Times New Roman" panose="02020603050405020304" pitchFamily="18" charset="0"/>
              </a:rPr>
              <a:t>Partes de una especificación técnica</a:t>
            </a:r>
          </a:p>
          <a:p>
            <a:pPr eaLnBrk="1" fontAlgn="auto" hangingPunct="1">
              <a:spcAft>
                <a:spcPts val="0"/>
              </a:spcAft>
              <a:buFont typeface="Wingdings 2"/>
              <a:buNone/>
              <a:defRPr/>
            </a:pPr>
            <a:endParaRPr lang="es-ES_tradnl" sz="1800" b="1" u="sng" dirty="0">
              <a:latin typeface="Times New Roman" panose="02020603050405020304" pitchFamily="18" charset="0"/>
              <a:ea typeface="+mn-ea"/>
              <a:cs typeface="Times New Roman" panose="02020603050405020304" pitchFamily="18" charset="0"/>
            </a:endParaRPr>
          </a:p>
          <a:p>
            <a:pPr marL="484632" indent="-457200" eaLnBrk="1" fontAlgn="auto" hangingPunct="1">
              <a:spcAft>
                <a:spcPts val="0"/>
              </a:spcAft>
              <a:buFont typeface="+mj-lt"/>
              <a:buAutoNum type="arabicPeriod" startAt="3"/>
              <a:defRPr/>
            </a:pPr>
            <a:r>
              <a:rPr lang="es-ES_tradnl" sz="2000" b="1" dirty="0">
                <a:latin typeface="Times New Roman" panose="02020603050405020304" pitchFamily="18" charset="0"/>
                <a:ea typeface="+mn-ea"/>
                <a:cs typeface="Times New Roman" panose="02020603050405020304" pitchFamily="18" charset="0"/>
              </a:rPr>
              <a:t>Condiciones de la ejecución</a:t>
            </a:r>
            <a:endParaRPr lang="es-ES_tradnl" sz="2200" dirty="0">
              <a:latin typeface="Times New Roman" panose="02020603050405020304" pitchFamily="18" charset="0"/>
              <a:ea typeface="+mn-ea"/>
              <a:cs typeface="Times New Roman" panose="02020603050405020304" pitchFamily="18" charset="0"/>
            </a:endParaRPr>
          </a:p>
          <a:p>
            <a:pPr lvl="1" algn="l" eaLnBrk="1" fontAlgn="auto" hangingPunct="1">
              <a:spcAft>
                <a:spcPts val="0"/>
              </a:spcAft>
              <a:defRPr/>
            </a:pPr>
            <a:r>
              <a:rPr lang="es-ES_tradnl" sz="2200" dirty="0">
                <a:latin typeface="Times New Roman" panose="02020603050405020304" pitchFamily="18" charset="0"/>
                <a:ea typeface="+mn-ea"/>
                <a:cs typeface="Times New Roman" panose="02020603050405020304" pitchFamily="18" charset="0"/>
              </a:rPr>
              <a:t>En este apartado se deben describir los procesos y controles de calidad necesarios o críticos para el correcto funcionamiento, y la seguridad.</a:t>
            </a:r>
          </a:p>
          <a:p>
            <a:pPr lvl="1" algn="l" eaLnBrk="1" fontAlgn="auto" hangingPunct="1">
              <a:spcAft>
                <a:spcPts val="0"/>
              </a:spcAft>
              <a:defRPr/>
            </a:pPr>
            <a:r>
              <a:rPr lang="es-ES_tradnl" sz="2200" dirty="0">
                <a:latin typeface="Times New Roman" panose="02020603050405020304" pitchFamily="18" charset="0"/>
                <a:ea typeface="+mn-ea"/>
                <a:cs typeface="Times New Roman" panose="02020603050405020304" pitchFamily="18" charset="0"/>
              </a:rPr>
              <a:t>Esta sección puede subdividirse en </a:t>
            </a:r>
            <a:r>
              <a:rPr lang="es-ES_tradnl" sz="2200" dirty="0" err="1">
                <a:latin typeface="Times New Roman" panose="02020603050405020304" pitchFamily="18" charset="0"/>
                <a:ea typeface="+mn-ea"/>
                <a:cs typeface="Times New Roman" panose="02020603050405020304" pitchFamily="18" charset="0"/>
              </a:rPr>
              <a:t>subapartados</a:t>
            </a:r>
            <a:r>
              <a:rPr lang="es-ES_tradnl" sz="2200" dirty="0">
                <a:latin typeface="Times New Roman" panose="02020603050405020304" pitchFamily="18" charset="0"/>
                <a:ea typeface="+mn-ea"/>
                <a:cs typeface="Times New Roman" panose="02020603050405020304" pitchFamily="18" charset="0"/>
              </a:rPr>
              <a:t> siguiendo el proceso de fabricación o de instalación.</a:t>
            </a:r>
            <a:endParaRPr lang="es-ES_tradnl" sz="2200" b="1"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20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CCC1C687-EEA3-5648-B676-B4D336027B5F}"/>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32A6D9DD-4B4D-214B-B406-F11C843FF77A}"/>
              </a:ext>
            </a:extLst>
          </p:cNvPr>
          <p:cNvSpPr>
            <a:spLocks noGrp="1"/>
          </p:cNvSpPr>
          <p:nvPr>
            <p:ph type="subTitle" idx="1"/>
          </p:nvPr>
        </p:nvSpPr>
        <p:spPr>
          <a:xfrm>
            <a:off x="1431925" y="2060575"/>
            <a:ext cx="7407275" cy="3960813"/>
          </a:xfrm>
        </p:spPr>
        <p:txBody>
          <a:bodyPr>
            <a:normAutofit/>
          </a:bodyPr>
          <a:lstStyle/>
          <a:p>
            <a:pPr eaLnBrk="1" fontAlgn="auto" hangingPunct="1">
              <a:spcAft>
                <a:spcPts val="0"/>
              </a:spcAft>
              <a:buFont typeface="Wingdings 2"/>
              <a:buNone/>
              <a:defRPr/>
            </a:pPr>
            <a:r>
              <a:rPr lang="es-ES_tradnl" sz="1800" b="1" u="sng" dirty="0">
                <a:latin typeface="Times New Roman" panose="02020603050405020304" pitchFamily="18" charset="0"/>
                <a:ea typeface="+mn-ea"/>
                <a:cs typeface="Times New Roman" panose="02020603050405020304" pitchFamily="18" charset="0"/>
              </a:rPr>
              <a:t>Partes de una especificación técnica</a:t>
            </a:r>
          </a:p>
          <a:p>
            <a:pPr eaLnBrk="1" fontAlgn="auto" hangingPunct="1">
              <a:spcAft>
                <a:spcPts val="0"/>
              </a:spcAft>
              <a:buFont typeface="Wingdings 2"/>
              <a:buNone/>
              <a:defRPr/>
            </a:pPr>
            <a:endParaRPr lang="es-ES_tradnl" sz="1800" b="1" u="sng" dirty="0">
              <a:latin typeface="Times New Roman" panose="02020603050405020304" pitchFamily="18" charset="0"/>
              <a:ea typeface="+mn-ea"/>
              <a:cs typeface="Times New Roman" panose="02020603050405020304" pitchFamily="18" charset="0"/>
            </a:endParaRPr>
          </a:p>
          <a:p>
            <a:pPr marL="355600" indent="-328613" eaLnBrk="1" fontAlgn="auto" hangingPunct="1">
              <a:spcAft>
                <a:spcPts val="0"/>
              </a:spcAft>
              <a:buFont typeface="+mj-lt"/>
              <a:buAutoNum type="arabicPeriod" startAt="4"/>
              <a:defRPr/>
            </a:pPr>
            <a:r>
              <a:rPr lang="es-ES_tradnl" sz="2000" b="1" dirty="0">
                <a:latin typeface="Times New Roman" panose="02020603050405020304" pitchFamily="18" charset="0"/>
                <a:ea typeface="+mn-ea"/>
                <a:cs typeface="Times New Roman" panose="02020603050405020304" pitchFamily="18" charset="0"/>
              </a:rPr>
              <a:t>Pruebas previas a la puesta en servicio</a:t>
            </a:r>
          </a:p>
          <a:p>
            <a:pPr lvl="1" algn="l" eaLnBrk="1" fontAlgn="auto" hangingPunct="1">
              <a:spcAft>
                <a:spcPts val="0"/>
              </a:spcAft>
              <a:buFont typeface="Verdana"/>
              <a:buNone/>
              <a:defRPr/>
            </a:pPr>
            <a:endParaRPr lang="es-ES_tradnl" sz="2200" dirty="0">
              <a:latin typeface="Times New Roman" panose="02020603050405020304" pitchFamily="18" charset="0"/>
              <a:ea typeface="+mn-ea"/>
              <a:cs typeface="Times New Roman" panose="02020603050405020304" pitchFamily="18" charset="0"/>
            </a:endParaRPr>
          </a:p>
          <a:p>
            <a:pPr marL="355600" lvl="1" algn="l" eaLnBrk="1" fontAlgn="auto" hangingPunct="1">
              <a:spcAft>
                <a:spcPts val="0"/>
              </a:spcAft>
              <a:defRPr/>
            </a:pPr>
            <a:r>
              <a:rPr lang="es-ES_tradnl" sz="2200" dirty="0">
                <a:latin typeface="Times New Roman" panose="02020603050405020304" pitchFamily="18" charset="0"/>
                <a:ea typeface="+mn-ea"/>
                <a:cs typeface="Times New Roman" panose="02020603050405020304" pitchFamily="18" charset="0"/>
              </a:rPr>
              <a:t>En este apartado se debe especificar la prueba o pruebas que se deberán realizar antes de la puesta en servicio.</a:t>
            </a:r>
          </a:p>
          <a:p>
            <a:pPr marL="355600" lvl="1" algn="l" eaLnBrk="1" fontAlgn="auto" hangingPunct="1">
              <a:spcAft>
                <a:spcPts val="0"/>
              </a:spcAft>
              <a:defRPr/>
            </a:pPr>
            <a:r>
              <a:rPr lang="es-ES_tradnl" sz="2200" dirty="0">
                <a:latin typeface="Times New Roman" panose="02020603050405020304" pitchFamily="18" charset="0"/>
                <a:ea typeface="+mn-ea"/>
                <a:cs typeface="Times New Roman" panose="02020603050405020304" pitchFamily="18" charset="0"/>
              </a:rPr>
              <a:t>Por lo general, las pruebas de servicio se suelen especificar en las normas o reglamentos de seguridad.</a:t>
            </a:r>
            <a:endParaRPr lang="es-ES_tradnl" sz="20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20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98F43FCA-0D96-5D46-A92A-F2423186ACD7}"/>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9577ECF3-9BF5-D847-94AF-778E6F46B23D}"/>
              </a:ext>
            </a:extLst>
          </p:cNvPr>
          <p:cNvSpPr>
            <a:spLocks noGrp="1"/>
          </p:cNvSpPr>
          <p:nvPr>
            <p:ph type="subTitle" idx="1"/>
          </p:nvPr>
        </p:nvSpPr>
        <p:spPr>
          <a:xfrm>
            <a:off x="1431925" y="1844824"/>
            <a:ext cx="7407275" cy="4392488"/>
          </a:xfrm>
        </p:spPr>
        <p:txBody>
          <a:bodyPr/>
          <a:lstStyle/>
          <a:p>
            <a:pPr marL="26988" eaLnBrk="1" hangingPunct="1"/>
            <a:r>
              <a:rPr lang="es-ES_tradnl" altLang="es-ES" sz="2000" b="1" u="sng"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6. Principios generales para la redacción de una especificación técnica</a:t>
            </a:r>
          </a:p>
          <a:p>
            <a:pPr marL="26988" eaLnBrk="1" hangingPunct="1"/>
            <a:r>
              <a:rPr lang="es-ES_tradnl" altLang="es-ES" sz="20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Una especificación técnica debe ser:</a:t>
            </a:r>
          </a:p>
          <a:p>
            <a:pPr marL="26988" eaLnBrk="1" hangingPunct="1"/>
            <a:r>
              <a:rPr lang="es-ES_tradnl" altLang="es-ES" sz="20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1. </a:t>
            </a:r>
            <a:r>
              <a:rPr lang="es-ES_tradnl" altLang="es-ES" sz="20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Concreta</a:t>
            </a:r>
          </a:p>
          <a:p>
            <a:pPr marL="26988" eaLnBrk="1" hangingPunct="1"/>
            <a:r>
              <a:rPr lang="es-ES_tradnl" altLang="es-ES" sz="20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Un especificación técnica debe ser concisa y concreta. Los tribunales están llenos de casos por la diferencia de interpretación de una especificación entre las partes involucradas en un contrato. Es un principio general del derecho que, en caso de ambigüedad, los tribunales no se inclinen a favor de la interpretación del significado de la parte que escribió la declaración ambigua.</a:t>
            </a:r>
          </a:p>
          <a:p>
            <a:pPr eaLnBrk="1" fontAlgn="auto" hangingPunct="1">
              <a:spcAft>
                <a:spcPts val="0"/>
              </a:spcAft>
              <a:defRPr/>
            </a:pPr>
            <a:r>
              <a:rPr lang="es-ES_tradnl" sz="2000" dirty="0"/>
              <a:t>2. </a:t>
            </a:r>
            <a:r>
              <a:rPr lang="es-ES_tradnl" sz="2000" b="1" dirty="0"/>
              <a:t>Completa</a:t>
            </a:r>
          </a:p>
          <a:p>
            <a:pPr eaLnBrk="1" fontAlgn="auto" hangingPunct="1">
              <a:spcAft>
                <a:spcPts val="0"/>
              </a:spcAft>
              <a:defRPr/>
            </a:pPr>
            <a:r>
              <a:rPr lang="es-ES_tradnl" sz="2000" dirty="0"/>
              <a:t>El error más costoso en una especificación técnica es la omisión.</a:t>
            </a:r>
            <a:endParaRPr lang="es-ES_tradnl" altLang="es-ES" sz="20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DA44BA83-85B9-7E4A-9EA7-1D4110E5984F}"/>
              </a:ext>
            </a:extLst>
          </p:cNvPr>
          <p:cNvSpPr>
            <a:spLocks noGrp="1"/>
          </p:cNvSpPr>
          <p:nvPr>
            <p:ph type="ctrTitle"/>
          </p:nvPr>
        </p:nvSpPr>
        <p:spPr>
          <a:xfrm>
            <a:off x="1431925" y="332656"/>
            <a:ext cx="7407275" cy="936104"/>
          </a:xfrm>
        </p:spPr>
        <p:txBody>
          <a:bodyPr>
            <a:normAutofit fontScale="90000"/>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6EB395B6-4169-AB4D-B15B-7E0FFFF36FC8}"/>
              </a:ext>
            </a:extLst>
          </p:cNvPr>
          <p:cNvSpPr>
            <a:spLocks noGrp="1"/>
          </p:cNvSpPr>
          <p:nvPr>
            <p:ph type="subTitle" idx="1"/>
          </p:nvPr>
        </p:nvSpPr>
        <p:spPr>
          <a:xfrm>
            <a:off x="1403350" y="1412875"/>
            <a:ext cx="7407275" cy="5184775"/>
          </a:xfrm>
        </p:spPr>
        <p:txBody>
          <a:bodyPr>
            <a:noAutofit/>
          </a:bodyPr>
          <a:lstStyle/>
          <a:p>
            <a:pPr eaLnBrk="1" fontAlgn="auto" hangingPunct="1">
              <a:spcAft>
                <a:spcPts val="0"/>
              </a:spcAft>
              <a:buFont typeface="Wingdings 2"/>
              <a:buNone/>
              <a:defRPr/>
            </a:pPr>
            <a:r>
              <a:rPr lang="es-ES_tradnl" sz="1600" b="1" u="sng" dirty="0">
                <a:latin typeface="Times New Roman" panose="02020603050405020304" pitchFamily="18" charset="0"/>
                <a:ea typeface="+mn-ea"/>
                <a:cs typeface="Times New Roman" panose="02020603050405020304" pitchFamily="18" charset="0"/>
              </a:rPr>
              <a:t>Principios generales para la redacción de una especificación técnica</a:t>
            </a:r>
            <a:endParaRPr lang="es-ES_tradnl" sz="1600" dirty="0">
              <a:latin typeface="Times New Roman" panose="02020603050405020304" pitchFamily="18" charset="0"/>
              <a:ea typeface="+mn-ea"/>
              <a:cs typeface="Times New Roman" panose="02020603050405020304" pitchFamily="18" charset="0"/>
            </a:endParaRPr>
          </a:p>
          <a:p>
            <a:pPr eaLnBrk="1" fontAlgn="auto" hangingPunct="1">
              <a:spcAft>
                <a:spcPts val="0"/>
              </a:spcAft>
              <a:buFont typeface="Wingdings 2"/>
              <a:buNone/>
              <a:defRPr/>
            </a:pPr>
            <a:r>
              <a:rPr lang="es-ES_tradnl" sz="1600" dirty="0">
                <a:latin typeface="Times New Roman" panose="02020603050405020304" pitchFamily="18" charset="0"/>
                <a:ea typeface="+mn-ea"/>
                <a:cs typeface="Times New Roman" panose="02020603050405020304" pitchFamily="18" charset="0"/>
              </a:rPr>
              <a:t>3. </a:t>
            </a:r>
            <a:r>
              <a:rPr lang="es-ES_tradnl" sz="1600" b="1" dirty="0">
                <a:latin typeface="Times New Roman" panose="02020603050405020304" pitchFamily="18" charset="0"/>
                <a:ea typeface="+mn-ea"/>
                <a:cs typeface="Times New Roman" panose="02020603050405020304" pitchFamily="18" charset="0"/>
              </a:rPr>
              <a:t>Precisa</a:t>
            </a:r>
          </a:p>
          <a:p>
            <a:pPr eaLnBrk="1" fontAlgn="auto" hangingPunct="1">
              <a:spcAft>
                <a:spcPts val="0"/>
              </a:spcAft>
              <a:defRPr/>
            </a:pPr>
            <a:r>
              <a:rPr lang="es-ES_tradnl" sz="1600" dirty="0">
                <a:latin typeface="Times New Roman" panose="02020603050405020304" pitchFamily="18" charset="0"/>
                <a:ea typeface="+mn-ea"/>
                <a:cs typeface="Times New Roman" panose="02020603050405020304" pitchFamily="18" charset="0"/>
              </a:rPr>
              <a:t>Es necesario utilizar la terminología necesaria correspondiente al ámbito de conocimiento de la especificación. Utilizar rangos o tolerancias cuando sea necesario y la sintaxis correcta.  Se recomienda utilizar frases cortas.</a:t>
            </a:r>
          </a:p>
          <a:p>
            <a:pPr eaLnBrk="1" fontAlgn="auto" hangingPunct="1">
              <a:spcAft>
                <a:spcPts val="0"/>
              </a:spcAft>
              <a:defRPr/>
            </a:pPr>
            <a:r>
              <a:rPr lang="es-ES_tradnl" sz="1600" dirty="0">
                <a:latin typeface="Times New Roman" panose="02020603050405020304" pitchFamily="18" charset="0"/>
                <a:ea typeface="+mn-ea"/>
                <a:cs typeface="Times New Roman" panose="02020603050405020304" pitchFamily="18" charset="0"/>
              </a:rPr>
              <a:t>4. </a:t>
            </a:r>
            <a:r>
              <a:rPr lang="es-ES_tradnl" sz="1600" b="1" dirty="0">
                <a:latin typeface="Times New Roman" panose="02020603050405020304" pitchFamily="18" charset="0"/>
                <a:ea typeface="+mn-ea"/>
                <a:cs typeface="Times New Roman" panose="02020603050405020304" pitchFamily="18" charset="0"/>
              </a:rPr>
              <a:t>Sin errores </a:t>
            </a:r>
          </a:p>
          <a:p>
            <a:pPr eaLnBrk="1" fontAlgn="auto" hangingPunct="1">
              <a:spcAft>
                <a:spcPts val="0"/>
              </a:spcAft>
              <a:buFont typeface="Wingdings 2"/>
              <a:buNone/>
              <a:defRPr/>
            </a:pPr>
            <a:r>
              <a:rPr lang="es-ES_tradnl" sz="1600" dirty="0">
                <a:latin typeface="Times New Roman" panose="02020603050405020304" pitchFamily="18" charset="0"/>
                <a:ea typeface="+mn-ea"/>
                <a:cs typeface="Times New Roman" panose="02020603050405020304" pitchFamily="18" charset="0"/>
              </a:rPr>
              <a:t>Se recomienda revisar una especificación al menos tres veces y la última, si es posible, que sea efectuada por una persona diferente al autor.</a:t>
            </a:r>
          </a:p>
          <a:p>
            <a:pPr eaLnBrk="1" fontAlgn="auto" hangingPunct="1">
              <a:spcAft>
                <a:spcPts val="0"/>
              </a:spcAft>
              <a:buFont typeface="Wingdings 2" charset="0"/>
              <a:buNone/>
              <a:defRPr/>
            </a:pPr>
            <a:r>
              <a:rPr lang="es-ES_tradnl" sz="1600" dirty="0">
                <a:latin typeface="Times New Roman" panose="02020603050405020304" pitchFamily="18" charset="0"/>
                <a:ea typeface="+mn-ea"/>
                <a:cs typeface="Times New Roman" panose="02020603050405020304" pitchFamily="18" charset="0"/>
              </a:rPr>
              <a:t>5. </a:t>
            </a:r>
            <a:r>
              <a:rPr lang="es-ES_tradnl" sz="1600" b="1" dirty="0">
                <a:latin typeface="Times New Roman" panose="02020603050405020304" pitchFamily="18" charset="0"/>
                <a:ea typeface="+mn-ea"/>
                <a:cs typeface="Times New Roman" panose="02020603050405020304" pitchFamily="18" charset="0"/>
              </a:rPr>
              <a:t>Realista</a:t>
            </a:r>
          </a:p>
          <a:p>
            <a:pPr eaLnBrk="1" fontAlgn="auto" hangingPunct="1">
              <a:spcAft>
                <a:spcPts val="0"/>
              </a:spcAft>
              <a:buFont typeface="Wingdings 2"/>
              <a:buNone/>
              <a:defRPr/>
            </a:pPr>
            <a:r>
              <a:rPr lang="es-ES_tradnl" sz="1600" dirty="0">
                <a:latin typeface="Times New Roman" panose="02020603050405020304" pitchFamily="18" charset="0"/>
                <a:ea typeface="+mn-ea"/>
                <a:cs typeface="Times New Roman" panose="02020603050405020304" pitchFamily="18" charset="0"/>
              </a:rPr>
              <a:t>No se deben especificar características más exigentes que lo necesario. </a:t>
            </a:r>
          </a:p>
          <a:p>
            <a:pPr eaLnBrk="1" fontAlgn="auto" hangingPunct="1">
              <a:spcAft>
                <a:spcPts val="0"/>
              </a:spcAft>
              <a:buFont typeface="Wingdings 2" charset="0"/>
              <a:buNone/>
              <a:defRPr/>
            </a:pPr>
            <a:r>
              <a:rPr lang="es-ES_tradnl" sz="1600" dirty="0">
                <a:latin typeface="Times New Roman" panose="02020603050405020304" pitchFamily="18" charset="0"/>
                <a:ea typeface="+mn-ea"/>
                <a:cs typeface="Times New Roman" panose="02020603050405020304" pitchFamily="18" charset="0"/>
              </a:rPr>
              <a:t>6. </a:t>
            </a:r>
            <a:r>
              <a:rPr lang="es-ES_tradnl" sz="1600" b="1" dirty="0">
                <a:latin typeface="Times New Roman" panose="02020603050405020304" pitchFamily="18" charset="0"/>
                <a:ea typeface="+mn-ea"/>
                <a:cs typeface="Times New Roman" panose="02020603050405020304" pitchFamily="18" charset="0"/>
              </a:rPr>
              <a:t>Complemento de los planos</a:t>
            </a:r>
          </a:p>
          <a:p>
            <a:pPr eaLnBrk="1" fontAlgn="auto" hangingPunct="1">
              <a:spcAft>
                <a:spcPts val="0"/>
              </a:spcAft>
              <a:buFont typeface="Wingdings 2"/>
              <a:buNone/>
              <a:defRPr/>
            </a:pPr>
            <a:r>
              <a:rPr lang="es-ES_tradnl" sz="1600" dirty="0">
                <a:latin typeface="Times New Roman" panose="02020603050405020304" pitchFamily="18" charset="0"/>
                <a:ea typeface="+mn-ea"/>
                <a:cs typeface="Times New Roman" panose="02020603050405020304" pitchFamily="18" charset="0"/>
              </a:rPr>
              <a:t>No se deben repetir las especificaciones que ya se hayan indicado en los planos.</a:t>
            </a:r>
          </a:p>
          <a:p>
            <a:pPr eaLnBrk="1" fontAlgn="auto" hangingPunct="1">
              <a:spcAft>
                <a:spcPts val="0"/>
              </a:spcAft>
              <a:buFont typeface="Wingdings 2" charset="0"/>
              <a:buNone/>
              <a:defRPr/>
            </a:pPr>
            <a:r>
              <a:rPr lang="es-ES_tradnl" sz="1600" dirty="0">
                <a:latin typeface="Times New Roman" panose="02020603050405020304" pitchFamily="18" charset="0"/>
                <a:ea typeface="+mn-ea"/>
                <a:cs typeface="Times New Roman" panose="02020603050405020304" pitchFamily="18" charset="0"/>
              </a:rPr>
              <a:t>7. </a:t>
            </a:r>
            <a:r>
              <a:rPr lang="es-ES_tradnl" sz="1600" b="1" dirty="0">
                <a:latin typeface="Times New Roman" panose="02020603050405020304" pitchFamily="18" charset="0"/>
                <a:ea typeface="+mn-ea"/>
                <a:cs typeface="Times New Roman" panose="02020603050405020304" pitchFamily="18" charset="0"/>
              </a:rPr>
              <a:t>Escrita con el modo y tiempo adecuado</a:t>
            </a:r>
          </a:p>
          <a:p>
            <a:pPr eaLnBrk="1" fontAlgn="auto" hangingPunct="1">
              <a:spcAft>
                <a:spcPts val="0"/>
              </a:spcAft>
              <a:buFont typeface="Wingdings 2"/>
              <a:buNone/>
              <a:defRPr/>
            </a:pPr>
            <a:r>
              <a:rPr lang="es-ES_tradnl" sz="1600" dirty="0">
                <a:latin typeface="Times New Roman" panose="02020603050405020304" pitchFamily="18" charset="0"/>
                <a:ea typeface="+mn-ea"/>
                <a:cs typeface="Times New Roman" panose="02020603050405020304" pitchFamily="18" charset="0"/>
              </a:rPr>
              <a:t>Una especificación técnica no debería redactarse en tiempo pasado puesto que se trata de un conjunto de características que se deben cumplir cuando se vaya a ejecutar el proyecto. En una especificación se debe diferenciar claramente entre una recomendación y un prescripción. Normalmente se suele utilizar las palabras  ‘</a:t>
            </a:r>
            <a:r>
              <a:rPr lang="es-ES_tradnl" sz="1600" i="1" dirty="0">
                <a:latin typeface="Times New Roman" panose="02020603050405020304" pitchFamily="18" charset="0"/>
                <a:ea typeface="+mn-ea"/>
                <a:cs typeface="Times New Roman" panose="02020603050405020304" pitchFamily="18" charset="0"/>
              </a:rPr>
              <a:t>debe ser</a:t>
            </a:r>
            <a:r>
              <a:rPr lang="es-ES_tradnl" sz="1600" dirty="0">
                <a:latin typeface="Times New Roman" panose="02020603050405020304" pitchFamily="18" charset="0"/>
                <a:ea typeface="+mn-ea"/>
                <a:cs typeface="Times New Roman" panose="02020603050405020304" pitchFamily="18" charset="0"/>
              </a:rPr>
              <a:t>’ o ‘</a:t>
            </a:r>
            <a:r>
              <a:rPr lang="es-ES_tradnl" sz="1600" i="1" dirty="0">
                <a:latin typeface="Times New Roman" panose="02020603050405020304" pitchFamily="18" charset="0"/>
                <a:ea typeface="+mn-ea"/>
                <a:cs typeface="Times New Roman" panose="02020603050405020304" pitchFamily="18" charset="0"/>
              </a:rPr>
              <a:t>deberá ser</a:t>
            </a:r>
            <a:r>
              <a:rPr lang="es-ES_tradnl" sz="1600" dirty="0">
                <a:latin typeface="Times New Roman" panose="02020603050405020304" pitchFamily="18" charset="0"/>
                <a:ea typeface="+mn-ea"/>
                <a:cs typeface="Times New Roman" panose="02020603050405020304" pitchFamily="18" charset="0"/>
              </a:rPr>
              <a:t>’ para las prescripciones y ‘</a:t>
            </a:r>
            <a:r>
              <a:rPr lang="es-ES_tradnl" sz="1600" i="1" dirty="0">
                <a:latin typeface="Times New Roman" panose="02020603050405020304" pitchFamily="18" charset="0"/>
                <a:ea typeface="+mn-ea"/>
                <a:cs typeface="Times New Roman" panose="02020603050405020304" pitchFamily="18" charset="0"/>
              </a:rPr>
              <a:t>debería ser</a:t>
            </a:r>
            <a:r>
              <a:rPr lang="es-ES_tradnl" sz="1600" dirty="0">
                <a:latin typeface="Times New Roman" panose="02020603050405020304" pitchFamily="18" charset="0"/>
                <a:ea typeface="+mn-ea"/>
                <a:cs typeface="Times New Roman" panose="02020603050405020304" pitchFamily="18" charset="0"/>
              </a:rPr>
              <a:t>’ para las recomendaciones.</a:t>
            </a:r>
          </a:p>
          <a:p>
            <a:pPr eaLnBrk="1" fontAlgn="auto" hangingPunct="1">
              <a:spcAft>
                <a:spcPts val="0"/>
              </a:spcAft>
              <a:buFont typeface="Wingdings 2"/>
              <a:buNone/>
              <a:defRPr/>
            </a:pPr>
            <a:endParaRPr lang="es-ES_tradnl" sz="1600" dirty="0">
              <a:ea typeface="+mn-ea"/>
              <a:cs typeface="+mn-cs"/>
            </a:endParaRPr>
          </a:p>
          <a:p>
            <a:pPr eaLnBrk="1" fontAlgn="auto" hangingPunct="1">
              <a:spcAft>
                <a:spcPts val="0"/>
              </a:spcAft>
              <a:buFont typeface="Wingdings 2"/>
              <a:buNone/>
              <a:defRPr/>
            </a:pPr>
            <a:endParaRPr lang="es-ES_tradnl" sz="1600" dirty="0">
              <a:ea typeface="+mn-ea"/>
              <a:cs typeface="+mn-cs"/>
            </a:endParaRPr>
          </a:p>
          <a:p>
            <a:pPr eaLnBrk="1" fontAlgn="auto" hangingPunct="1">
              <a:spcAft>
                <a:spcPts val="0"/>
              </a:spcAft>
              <a:buFont typeface="Wingdings 2"/>
              <a:buNone/>
              <a:defRPr/>
            </a:pPr>
            <a:endParaRPr lang="es-ES_tradnl" sz="1600" dirty="0">
              <a:ea typeface="+mn-ea"/>
              <a:cs typeface="+mn-cs"/>
            </a:endParaRPr>
          </a:p>
          <a:p>
            <a:pPr eaLnBrk="1" fontAlgn="auto" hangingPunct="1">
              <a:spcAft>
                <a:spcPts val="0"/>
              </a:spcAft>
              <a:buFont typeface="Wingdings 2"/>
              <a:buNone/>
              <a:defRPr/>
            </a:pPr>
            <a:endParaRPr lang="es-ES_tradnl" sz="1600" dirty="0">
              <a:ea typeface="+mn-ea"/>
              <a:cs typeface="+mn-cs"/>
            </a:endParaRPr>
          </a:p>
          <a:p>
            <a:pPr eaLnBrk="1" fontAlgn="auto" hangingPunct="1">
              <a:spcAft>
                <a:spcPts val="0"/>
              </a:spcAft>
              <a:buFont typeface="Wingdings 2"/>
              <a:buNone/>
              <a:defRPr/>
            </a:pPr>
            <a:endParaRPr lang="es-ES_tradnl" sz="1600" dirty="0">
              <a:ea typeface="+mn-ea"/>
              <a:cs typeface="+mn-cs"/>
            </a:endParaRPr>
          </a:p>
          <a:p>
            <a:pPr eaLnBrk="1" fontAlgn="auto" hangingPunct="1">
              <a:spcAft>
                <a:spcPts val="0"/>
              </a:spcAft>
              <a:buFont typeface="Wingdings 2"/>
              <a:buNone/>
              <a:defRPr/>
            </a:pPr>
            <a:endParaRPr lang="es-ES_tradnl" sz="1600" dirty="0">
              <a:ea typeface="+mn-ea"/>
              <a:cs typeface="+mn-cs"/>
            </a:endParaRPr>
          </a:p>
          <a:p>
            <a:pPr eaLnBrk="1" fontAlgn="auto" hangingPunct="1">
              <a:spcAft>
                <a:spcPts val="0"/>
              </a:spcAft>
              <a:buFont typeface="Wingdings 2"/>
              <a:buNone/>
              <a:defRPr/>
            </a:pPr>
            <a:endParaRPr lang="es-ES_tradnl" sz="1600" dirty="0">
              <a:ea typeface="+mn-ea"/>
              <a:cs typeface="+mn-cs"/>
            </a:endParaRPr>
          </a:p>
          <a:p>
            <a:pPr eaLnBrk="1" fontAlgn="auto" hangingPunct="1">
              <a:spcAft>
                <a:spcPts val="0"/>
              </a:spcAft>
              <a:buFont typeface="Wingdings 2"/>
              <a:buNone/>
              <a:defRPr/>
            </a:pPr>
            <a:endParaRPr lang="es-ES_tradnl" sz="1600" dirty="0">
              <a:ea typeface="+mn-ea"/>
              <a:cs typeface="+mn-cs"/>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a:extLst>
              <a:ext uri="{FF2B5EF4-FFF2-40B4-BE49-F238E27FC236}">
                <a16:creationId xmlns:a16="http://schemas.microsoft.com/office/drawing/2014/main" id="{E16D3045-B952-7144-9666-857BF5DAEE7D}"/>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6. Pliego de condiciones</a:t>
            </a:r>
          </a:p>
        </p:txBody>
      </p:sp>
      <p:sp>
        <p:nvSpPr>
          <p:cNvPr id="5" name="2 Subtítulo">
            <a:extLst>
              <a:ext uri="{FF2B5EF4-FFF2-40B4-BE49-F238E27FC236}">
                <a16:creationId xmlns:a16="http://schemas.microsoft.com/office/drawing/2014/main" id="{0B7DBB34-0B3D-FD4F-9A9E-05524CF0AAA5}"/>
              </a:ext>
            </a:extLst>
          </p:cNvPr>
          <p:cNvSpPr>
            <a:spLocks noGrp="1"/>
          </p:cNvSpPr>
          <p:nvPr>
            <p:ph type="subTitle" idx="1"/>
          </p:nvPr>
        </p:nvSpPr>
        <p:spPr>
          <a:xfrm>
            <a:off x="1431925" y="2060575"/>
            <a:ext cx="7407275" cy="3960813"/>
          </a:xfrm>
        </p:spPr>
        <p:txBody>
          <a:bodyPr>
            <a:normAutofit/>
          </a:bodyPr>
          <a:lstStyle/>
          <a:p>
            <a:pPr marL="266700" indent="-239713" eaLnBrk="1" fontAlgn="auto" hangingPunct="1">
              <a:spcAft>
                <a:spcPts val="0"/>
              </a:spcAft>
              <a:buFont typeface="+mj-lt"/>
              <a:buAutoNum type="arabicPeriod" startAt="7"/>
              <a:defRPr/>
            </a:pPr>
            <a:r>
              <a:rPr lang="es-ES_tradnl" sz="1800" b="1" u="sng" dirty="0">
                <a:ea typeface="+mn-ea"/>
                <a:cs typeface="+mn-cs"/>
              </a:rPr>
              <a:t>Metodología para la redacción de una especificación técnica</a:t>
            </a:r>
          </a:p>
          <a:p>
            <a:pPr eaLnBrk="1" fontAlgn="auto" hangingPunct="1">
              <a:spcAft>
                <a:spcPts val="0"/>
              </a:spcAft>
              <a:defRPr/>
            </a:pPr>
            <a:endParaRPr lang="es-ES_tradnl" sz="1800" b="1" u="sng" dirty="0">
              <a:ea typeface="+mn-ea"/>
              <a:cs typeface="+mn-cs"/>
            </a:endParaRPr>
          </a:p>
          <a:p>
            <a:pPr marL="533400" indent="-311150" eaLnBrk="1" fontAlgn="auto" hangingPunct="1">
              <a:spcAft>
                <a:spcPts val="0"/>
              </a:spcAft>
              <a:buFont typeface="+mj-lt"/>
              <a:buAutoNum type="arabicPeriod"/>
              <a:defRPr/>
            </a:pPr>
            <a:r>
              <a:rPr lang="es-ES_tradnl" sz="2000" dirty="0">
                <a:ea typeface="+mn-ea"/>
                <a:cs typeface="+mn-cs"/>
              </a:rPr>
              <a:t>Buscar información.</a:t>
            </a:r>
          </a:p>
          <a:p>
            <a:pPr marL="533400" indent="-311150" eaLnBrk="1" fontAlgn="auto" hangingPunct="1">
              <a:spcAft>
                <a:spcPts val="0"/>
              </a:spcAft>
              <a:buFont typeface="+mj-lt"/>
              <a:buAutoNum type="arabicPeriod"/>
              <a:defRPr/>
            </a:pPr>
            <a:r>
              <a:rPr lang="es-ES_tradnl" sz="2000" dirty="0">
                <a:ea typeface="+mn-ea"/>
                <a:cs typeface="+mn-cs"/>
              </a:rPr>
              <a:t>Crear un índice provisional de la especificación.</a:t>
            </a:r>
          </a:p>
          <a:p>
            <a:pPr marL="533400" indent="-311150" eaLnBrk="1" fontAlgn="auto" hangingPunct="1">
              <a:spcAft>
                <a:spcPts val="0"/>
              </a:spcAft>
              <a:buFont typeface="+mj-lt"/>
              <a:buAutoNum type="arabicPeriod"/>
              <a:defRPr/>
            </a:pPr>
            <a:r>
              <a:rPr lang="es-ES_tradnl" sz="2000" dirty="0">
                <a:ea typeface="+mn-ea"/>
                <a:cs typeface="+mn-cs"/>
              </a:rPr>
              <a:t>Analizar la información y asignar las especificaciones relevantes al índice provisional.</a:t>
            </a:r>
          </a:p>
          <a:p>
            <a:pPr marL="533400" indent="-311150" eaLnBrk="1" fontAlgn="auto" hangingPunct="1">
              <a:spcAft>
                <a:spcPts val="0"/>
              </a:spcAft>
              <a:buFont typeface="+mj-lt"/>
              <a:buAutoNum type="arabicPeriod"/>
              <a:defRPr/>
            </a:pPr>
            <a:r>
              <a:rPr lang="es-ES_tradnl" sz="2000" dirty="0">
                <a:ea typeface="+mn-ea"/>
                <a:cs typeface="+mn-cs"/>
              </a:rPr>
              <a:t>Redactar la especificación</a:t>
            </a: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2356A3-5A92-6B4A-926F-D81F3268C10A}"/>
              </a:ext>
            </a:extLst>
          </p:cNvPr>
          <p:cNvSpPr>
            <a:spLocks noGrp="1"/>
          </p:cNvSpPr>
          <p:nvPr>
            <p:ph type="title"/>
          </p:nvPr>
        </p:nvSpPr>
        <p:spPr>
          <a:xfrm>
            <a:off x="2555875" y="2276475"/>
            <a:ext cx="6400800" cy="2376488"/>
          </a:xfrm>
        </p:spPr>
        <p:txBody>
          <a:bodyPr/>
          <a:lstStyle/>
          <a:p>
            <a:pPr>
              <a:defRPr/>
            </a:pPr>
            <a:r>
              <a:rPr lang="es-ES_tradnl" altLang="es-ES" cap="none">
                <a:effectLst>
                  <a:outerShdw blurRad="38100" dist="38100" dir="2700000" algn="tl">
                    <a:srgbClr val="C0C0C0"/>
                  </a:outerShdw>
                </a:effectLst>
                <a:ea typeface="ＭＳ Ｐゴシック" panose="020B0600070205080204" pitchFamily="34" charset="-128"/>
              </a:rPr>
              <a:t>Tema 7:</a:t>
            </a:r>
            <a:br>
              <a:rPr lang="es-ES_tradnl" altLang="es-ES" cap="none">
                <a:effectLst>
                  <a:outerShdw blurRad="38100" dist="38100" dir="2700000" algn="tl">
                    <a:srgbClr val="C0C0C0"/>
                  </a:outerShdw>
                </a:effectLst>
                <a:ea typeface="ＭＳ Ｐゴシック" panose="020B0600070205080204" pitchFamily="34" charset="-128"/>
              </a:rPr>
            </a:br>
            <a:r>
              <a:rPr lang="es-ES_tradnl" altLang="es-ES" cap="none">
                <a:effectLst>
                  <a:outerShdw blurRad="38100" dist="38100" dir="2700000" algn="tl">
                    <a:srgbClr val="C0C0C0"/>
                  </a:outerShdw>
                </a:effectLst>
                <a:ea typeface="ＭＳ Ｐゴシック" panose="020B0600070205080204" pitchFamily="34" charset="-128"/>
              </a:rPr>
              <a:t>Presupuesto</a:t>
            </a:r>
          </a:p>
        </p:txBody>
      </p:sp>
      <p:sp>
        <p:nvSpPr>
          <p:cNvPr id="5" name="1 Título">
            <a:extLst>
              <a:ext uri="{FF2B5EF4-FFF2-40B4-BE49-F238E27FC236}">
                <a16:creationId xmlns:a16="http://schemas.microsoft.com/office/drawing/2014/main" id="{26F8F2F1-9F05-4443-BEFF-17DDBD7FE5F9}"/>
              </a:ext>
            </a:extLst>
          </p:cNvPr>
          <p:cNvSpPr txBox="1">
            <a:spLocks/>
          </p:cNvSpPr>
          <p:nvPr/>
        </p:nvSpPr>
        <p:spPr>
          <a:xfrm>
            <a:off x="2627313" y="836613"/>
            <a:ext cx="3571875" cy="720725"/>
          </a:xfrm>
          <a:prstGeom prst="rect">
            <a:avLst/>
          </a:prstGeom>
        </p:spPr>
        <p:txBody>
          <a:bodyPr>
            <a:normAutofit/>
          </a:bodyPr>
          <a:lstStyle>
            <a:lvl1pPr eaLnBrk="0" hangingPunct="0">
              <a:defRPr sz="24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defRPr sz="24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defRPr sz="2400">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defRPr sz="24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9pPr>
          </a:lstStyle>
          <a:p>
            <a:pPr eaLnBrk="1" hangingPunct="1">
              <a:lnSpc>
                <a:spcPts val="4500"/>
              </a:lnSpc>
              <a:defRPr/>
            </a:pPr>
            <a:r>
              <a:rPr lang="es-ES_tradnl" altLang="es-ES" sz="2700" b="1">
                <a:solidFill>
                  <a:srgbClr val="572314"/>
                </a:solidFill>
                <a:effectLst>
                  <a:outerShdw blurRad="38100" dist="38100" dir="2700000" algn="tl">
                    <a:srgbClr val="C0C0C0"/>
                  </a:outerShdw>
                </a:effectLst>
              </a:rPr>
              <a:t>OFICINA TÉCNICA</a:t>
            </a:r>
            <a:endParaRPr lang="es-ES" altLang="es-ES" sz="2700" b="1">
              <a:solidFill>
                <a:srgbClr val="572314"/>
              </a:solidFill>
              <a:effectLst>
                <a:outerShdw blurRad="38100" dist="38100" dir="2700000" algn="tl">
                  <a:srgbClr val="C0C0C0"/>
                </a:outerShdw>
              </a:effectLst>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3D57A53C-FDEB-F84C-B851-91F5570FB114}"/>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7. Documento 4: Presupuesto</a:t>
            </a:r>
          </a:p>
        </p:txBody>
      </p:sp>
      <p:sp>
        <p:nvSpPr>
          <p:cNvPr id="3" name="2 Subtítulo">
            <a:extLst>
              <a:ext uri="{FF2B5EF4-FFF2-40B4-BE49-F238E27FC236}">
                <a16:creationId xmlns:a16="http://schemas.microsoft.com/office/drawing/2014/main" id="{DA968764-985E-8647-8E2B-895018413487}"/>
              </a:ext>
            </a:extLst>
          </p:cNvPr>
          <p:cNvSpPr>
            <a:spLocks noGrp="1"/>
          </p:cNvSpPr>
          <p:nvPr>
            <p:ph type="subTitle" idx="1"/>
          </p:nvPr>
        </p:nvSpPr>
        <p:spPr>
          <a:xfrm>
            <a:off x="1431925" y="2060575"/>
            <a:ext cx="7407275" cy="3960813"/>
          </a:xfrm>
        </p:spPr>
        <p:txBody>
          <a:bodyPr>
            <a:normAutofit lnSpcReduction="10000"/>
          </a:bodyPr>
          <a:lstStyle/>
          <a:p>
            <a:pPr marL="484632" indent="-457200" eaLnBrk="1" fontAlgn="auto" hangingPunct="1">
              <a:spcAft>
                <a:spcPts val="0"/>
              </a:spcAft>
              <a:buFont typeface="+mj-lt"/>
              <a:buAutoNum type="arabicPeriod"/>
              <a:defRPr/>
            </a:pPr>
            <a:r>
              <a:rPr lang="es-ES_tradnl" sz="2000" dirty="0">
                <a:ea typeface="+mn-ea"/>
                <a:cs typeface="+mn-cs"/>
              </a:rPr>
              <a:t>Introducción</a:t>
            </a:r>
          </a:p>
          <a:p>
            <a:pPr marL="484632" indent="-457200" eaLnBrk="1" fontAlgn="auto" hangingPunct="1">
              <a:spcAft>
                <a:spcPts val="0"/>
              </a:spcAft>
              <a:buFont typeface="+mj-lt"/>
              <a:buAutoNum type="arabicPeriod"/>
              <a:defRPr/>
            </a:pPr>
            <a:r>
              <a:rPr lang="es-ES_tradnl" sz="2000" dirty="0">
                <a:ea typeface="+mn-ea"/>
                <a:cs typeface="+mn-cs"/>
              </a:rPr>
              <a:t>Definiciones relacionadas con el coste</a:t>
            </a:r>
          </a:p>
          <a:p>
            <a:pPr marL="484632" indent="-457200" eaLnBrk="1" fontAlgn="auto" hangingPunct="1">
              <a:spcAft>
                <a:spcPts val="0"/>
              </a:spcAft>
              <a:buFont typeface="+mj-lt"/>
              <a:buAutoNum type="arabicPeriod"/>
              <a:defRPr/>
            </a:pPr>
            <a:r>
              <a:rPr lang="es-ES_tradnl" sz="2000" dirty="0">
                <a:ea typeface="+mn-ea"/>
                <a:cs typeface="+mn-cs"/>
              </a:rPr>
              <a:t>Clases de coste</a:t>
            </a:r>
          </a:p>
          <a:p>
            <a:pPr marL="484632" indent="-457200" eaLnBrk="1" fontAlgn="auto" hangingPunct="1">
              <a:spcAft>
                <a:spcPts val="0"/>
              </a:spcAft>
              <a:buFont typeface="+mj-lt"/>
              <a:buAutoNum type="arabicPeriod"/>
              <a:defRPr/>
            </a:pPr>
            <a:r>
              <a:rPr lang="es-ES_tradnl" sz="2000" dirty="0">
                <a:ea typeface="+mn-ea"/>
                <a:cs typeface="+mn-cs"/>
              </a:rPr>
              <a:t>Métodos de cálculo de costes</a:t>
            </a:r>
          </a:p>
          <a:p>
            <a:pPr marL="484632" indent="-457200" eaLnBrk="1" fontAlgn="auto" hangingPunct="1">
              <a:spcAft>
                <a:spcPts val="0"/>
              </a:spcAft>
              <a:buFont typeface="+mj-lt"/>
              <a:buAutoNum type="arabicPeriod"/>
              <a:defRPr/>
            </a:pPr>
            <a:r>
              <a:rPr lang="es-ES_tradnl" sz="2000" dirty="0">
                <a:ea typeface="+mn-ea"/>
                <a:cs typeface="+mn-cs"/>
              </a:rPr>
              <a:t>Coste de los materiales</a:t>
            </a:r>
          </a:p>
          <a:p>
            <a:pPr marL="484632" indent="-457200" eaLnBrk="1" fontAlgn="auto" hangingPunct="1">
              <a:spcAft>
                <a:spcPts val="0"/>
              </a:spcAft>
              <a:buFont typeface="+mj-lt"/>
              <a:buAutoNum type="arabicPeriod"/>
              <a:defRPr/>
            </a:pPr>
            <a:r>
              <a:rPr lang="es-ES_tradnl" sz="2000" dirty="0">
                <a:ea typeface="+mn-ea"/>
                <a:cs typeface="+mn-cs"/>
              </a:rPr>
              <a:t>Coste del trabajo</a:t>
            </a:r>
          </a:p>
          <a:p>
            <a:pPr marL="484632" indent="-457200" eaLnBrk="1" fontAlgn="auto" hangingPunct="1">
              <a:spcAft>
                <a:spcPts val="0"/>
              </a:spcAft>
              <a:buFont typeface="+mj-lt"/>
              <a:buAutoNum type="arabicPeriod"/>
              <a:defRPr/>
            </a:pPr>
            <a:r>
              <a:rPr lang="es-ES_tradnl" sz="2000" dirty="0">
                <a:ea typeface="+mn-ea"/>
                <a:cs typeface="+mn-cs"/>
              </a:rPr>
              <a:t>Coste del equipo industrial</a:t>
            </a:r>
          </a:p>
          <a:p>
            <a:pPr marL="484632" indent="-457200" eaLnBrk="1" fontAlgn="auto" hangingPunct="1">
              <a:spcAft>
                <a:spcPts val="0"/>
              </a:spcAft>
              <a:buFont typeface="+mj-lt"/>
              <a:buAutoNum type="arabicPeriod"/>
              <a:defRPr/>
            </a:pPr>
            <a:r>
              <a:rPr lang="es-ES_tradnl" sz="2000" dirty="0">
                <a:ea typeface="+mn-ea"/>
                <a:cs typeface="+mn-cs"/>
              </a:rPr>
              <a:t>Formas de presupuestar</a:t>
            </a:r>
          </a:p>
          <a:p>
            <a:pPr marL="484632" indent="-457200" eaLnBrk="1" fontAlgn="auto" hangingPunct="1">
              <a:spcAft>
                <a:spcPts val="0"/>
              </a:spcAft>
              <a:buFont typeface="+mj-lt"/>
              <a:buAutoNum type="arabicPeriod"/>
              <a:defRPr/>
            </a:pPr>
            <a:r>
              <a:rPr lang="es-ES_tradnl" sz="2000" dirty="0">
                <a:ea typeface="+mn-ea"/>
                <a:cs typeface="+mn-cs"/>
              </a:rPr>
              <a:t>Presupuesto por coste según su naturaleza</a:t>
            </a:r>
          </a:p>
          <a:p>
            <a:pPr marL="484632" indent="-457200" eaLnBrk="1" fontAlgn="auto" hangingPunct="1">
              <a:spcAft>
                <a:spcPts val="0"/>
              </a:spcAft>
              <a:buFont typeface="+mj-lt"/>
              <a:buAutoNum type="arabicPeriod"/>
              <a:defRPr/>
            </a:pPr>
            <a:r>
              <a:rPr lang="es-ES_tradnl" sz="2000" dirty="0">
                <a:ea typeface="+mn-ea"/>
                <a:cs typeface="+mn-cs"/>
              </a:rPr>
              <a:t>Presupuesto por el método de las secciones</a:t>
            </a:r>
          </a:p>
          <a:p>
            <a:pPr marL="484632" indent="-457200" eaLnBrk="1" fontAlgn="auto" hangingPunct="1">
              <a:spcAft>
                <a:spcPts val="0"/>
              </a:spcAft>
              <a:buFont typeface="+mj-lt"/>
              <a:buAutoNum type="arabicPeriod"/>
              <a:defRPr/>
            </a:pPr>
            <a:r>
              <a:rPr lang="es-ES_tradnl" sz="2000" dirty="0">
                <a:ea typeface="+mn-ea"/>
                <a:cs typeface="+mn-cs"/>
              </a:rPr>
              <a:t>Presupuesto por precios descompuestos o unidades de obra</a:t>
            </a: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A96C7275-587C-3D4F-AA80-3E42EE14CC6C}"/>
              </a:ext>
            </a:extLst>
          </p:cNvPr>
          <p:cNvSpPr>
            <a:spLocks noGrp="1"/>
          </p:cNvSpPr>
          <p:nvPr>
            <p:ph type="subTitle" idx="1"/>
          </p:nvPr>
        </p:nvSpPr>
        <p:spPr>
          <a:xfrm>
            <a:off x="1431925" y="2060575"/>
            <a:ext cx="7407275" cy="3960813"/>
          </a:xfrm>
        </p:spPr>
        <p:txBody>
          <a:bodyPr>
            <a:normAutofit/>
          </a:bodyPr>
          <a:lstStyle/>
          <a:p>
            <a:pPr eaLnBrk="1" fontAlgn="auto" hangingPunct="1">
              <a:spcAft>
                <a:spcPts val="0"/>
              </a:spcAft>
              <a:buFont typeface="Wingdings 2"/>
              <a:buNone/>
              <a:defRPr/>
            </a:pPr>
            <a:r>
              <a:rPr lang="es-ES_tradnl" sz="2000" b="1" u="sng" dirty="0">
                <a:ea typeface="+mn-ea"/>
                <a:cs typeface="+mn-cs"/>
              </a:rPr>
              <a:t>Introducción</a:t>
            </a:r>
          </a:p>
          <a:p>
            <a:pPr eaLnBrk="1" fontAlgn="auto" hangingPunct="1">
              <a:spcAft>
                <a:spcPts val="0"/>
              </a:spcAft>
              <a:buFont typeface="Wingdings 2"/>
              <a:buNone/>
              <a:defRPr/>
            </a:pPr>
            <a:r>
              <a:rPr lang="es-ES_tradnl" sz="2000" u="sng" dirty="0">
                <a:ea typeface="+mn-ea"/>
                <a:cs typeface="+mn-cs"/>
              </a:rPr>
              <a:t>Presupuesto</a:t>
            </a:r>
            <a:r>
              <a:rPr lang="es-ES_tradnl" sz="2000" dirty="0">
                <a:ea typeface="+mn-ea"/>
                <a:cs typeface="+mn-cs"/>
              </a:rPr>
              <a:t>:</a:t>
            </a:r>
          </a:p>
          <a:p>
            <a:pPr eaLnBrk="1" fontAlgn="auto" hangingPunct="1">
              <a:spcAft>
                <a:spcPts val="0"/>
              </a:spcAft>
              <a:buFont typeface="Wingdings 2"/>
              <a:buNone/>
              <a:defRPr/>
            </a:pPr>
            <a:r>
              <a:rPr lang="es-ES_tradnl" sz="2000" dirty="0">
                <a:ea typeface="+mn-ea"/>
                <a:cs typeface="+mn-cs"/>
              </a:rPr>
              <a:t>Estimación de los costes de ejecución de un proyecto.</a:t>
            </a:r>
          </a:p>
          <a:p>
            <a:pPr eaLnBrk="1" fontAlgn="auto" hangingPunct="1">
              <a:spcAft>
                <a:spcPts val="0"/>
              </a:spcAft>
              <a:buFont typeface="Wingdings 2"/>
              <a:buNone/>
              <a:defRPr/>
            </a:pPr>
            <a:r>
              <a:rPr lang="es-ES_tradnl" sz="2000" dirty="0">
                <a:ea typeface="+mn-ea"/>
                <a:cs typeface="+mn-cs"/>
              </a:rPr>
              <a:t>Corresponde con el documento nº 4.</a:t>
            </a:r>
          </a:p>
          <a:p>
            <a:pPr eaLnBrk="1" fontAlgn="auto" hangingPunct="1">
              <a:spcAft>
                <a:spcPts val="0"/>
              </a:spcAft>
              <a:buFont typeface="Wingdings 2"/>
              <a:buNone/>
              <a:defRPr/>
            </a:pPr>
            <a:r>
              <a:rPr lang="es-ES_tradnl" sz="2000" u="sng" dirty="0">
                <a:ea typeface="+mn-ea"/>
                <a:cs typeface="+mn-cs"/>
              </a:rPr>
              <a:t>Estudio económico</a:t>
            </a:r>
            <a:r>
              <a:rPr lang="es-ES_tradnl" sz="2000" dirty="0">
                <a:ea typeface="+mn-ea"/>
                <a:cs typeface="+mn-cs"/>
              </a:rPr>
              <a:t>:</a:t>
            </a:r>
          </a:p>
          <a:p>
            <a:pPr eaLnBrk="1" fontAlgn="auto" hangingPunct="1">
              <a:spcAft>
                <a:spcPts val="0"/>
              </a:spcAft>
              <a:buFont typeface="Wingdings 2"/>
              <a:buNone/>
              <a:defRPr/>
            </a:pPr>
            <a:r>
              <a:rPr lang="es-ES_tradnl" sz="2000" dirty="0">
                <a:ea typeface="+mn-ea"/>
                <a:cs typeface="+mn-cs"/>
              </a:rPr>
              <a:t>Estimación de los costes de explotación.</a:t>
            </a:r>
          </a:p>
          <a:p>
            <a:pPr eaLnBrk="1" fontAlgn="auto" hangingPunct="1">
              <a:spcAft>
                <a:spcPts val="0"/>
              </a:spcAft>
              <a:buFont typeface="Wingdings 2"/>
              <a:buNone/>
              <a:defRPr/>
            </a:pPr>
            <a:r>
              <a:rPr lang="es-ES_tradnl" sz="2000" dirty="0">
                <a:ea typeface="+mn-ea"/>
                <a:cs typeface="+mn-cs"/>
              </a:rPr>
              <a:t>Se incluye en un anexo a la memoria.</a:t>
            </a: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sp>
        <p:nvSpPr>
          <p:cNvPr id="6" name="1 Título">
            <a:extLst>
              <a:ext uri="{FF2B5EF4-FFF2-40B4-BE49-F238E27FC236}">
                <a16:creationId xmlns:a16="http://schemas.microsoft.com/office/drawing/2014/main" id="{1AC39B8D-C342-0B41-A7B7-449DC6DCB344}"/>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2 Subtítulo">
            <a:extLst>
              <a:ext uri="{FF2B5EF4-FFF2-40B4-BE49-F238E27FC236}">
                <a16:creationId xmlns:a16="http://schemas.microsoft.com/office/drawing/2014/main" id="{E63A0471-8396-104A-8FCD-C53CEC738D3E}"/>
              </a:ext>
            </a:extLst>
          </p:cNvPr>
          <p:cNvSpPr>
            <a:spLocks noGrp="1"/>
          </p:cNvSpPr>
          <p:nvPr>
            <p:ph type="subTitle" idx="1"/>
          </p:nvPr>
        </p:nvSpPr>
        <p:spPr>
          <a:xfrm>
            <a:off x="1431925" y="2060575"/>
            <a:ext cx="7407275" cy="3168625"/>
          </a:xfrm>
        </p:spPr>
        <p:txBody>
          <a:bodyPr/>
          <a:lstStyle/>
          <a:p>
            <a:pPr marL="26988" eaLnBrk="1" hangingPunct="1"/>
            <a:r>
              <a:rPr lang="es-ES_tradnl" altLang="es-ES" sz="2000" b="1" u="sng" dirty="0">
                <a:solidFill>
                  <a:srgbClr val="320E04"/>
                </a:solidFill>
                <a:ea typeface="ＭＳ Ｐゴシック" panose="020B0600070205080204" pitchFamily="34" charset="-128"/>
              </a:rPr>
              <a:t>Introducción</a:t>
            </a:r>
          </a:p>
          <a:p>
            <a:pPr marL="26988" eaLnBrk="1" hangingPunct="1"/>
            <a:r>
              <a:rPr lang="es-ES_tradnl" altLang="es-ES" sz="2000" u="sng" dirty="0">
                <a:solidFill>
                  <a:srgbClr val="320E04"/>
                </a:solidFill>
                <a:ea typeface="ＭＳ Ｐゴシック" panose="020B0600070205080204" pitchFamily="34" charset="-128"/>
              </a:rPr>
              <a:t>Presupuesto de ejecución</a:t>
            </a:r>
            <a:r>
              <a:rPr lang="es-ES_tradnl" altLang="es-ES" sz="2000" dirty="0">
                <a:solidFill>
                  <a:srgbClr val="320E04"/>
                </a:solidFill>
                <a:ea typeface="ＭＳ Ｐゴシック" panose="020B0600070205080204" pitchFamily="34" charset="-128"/>
              </a:rPr>
              <a:t>:</a:t>
            </a:r>
          </a:p>
          <a:p>
            <a:pPr marL="26988" eaLnBrk="1" hangingPunct="1"/>
            <a:r>
              <a:rPr lang="es-ES_tradnl" altLang="es-ES" sz="2000" dirty="0">
                <a:solidFill>
                  <a:srgbClr val="320E04"/>
                </a:solidFill>
                <a:ea typeface="ＭＳ Ｐゴシック" panose="020B0600070205080204" pitchFamily="34" charset="-128"/>
              </a:rPr>
              <a:t>Se trata de una estimación de los costes directos más un porcentaje de los costes indirectos de fabricación. Es equivalente al coste industrial de la fabricación.</a:t>
            </a:r>
          </a:p>
          <a:p>
            <a:pPr marL="26988" eaLnBrk="1" hangingPunct="1"/>
            <a:r>
              <a:rPr lang="es-ES_tradnl" altLang="es-ES" sz="2000" u="sng" dirty="0">
                <a:solidFill>
                  <a:srgbClr val="320E04"/>
                </a:solidFill>
                <a:ea typeface="ＭＳ Ｐゴシック" panose="020B0600070205080204" pitchFamily="34" charset="-128"/>
              </a:rPr>
              <a:t>Presupuesto de contrata</a:t>
            </a:r>
            <a:r>
              <a:rPr lang="es-ES_tradnl" altLang="es-ES" sz="2000" dirty="0">
                <a:solidFill>
                  <a:srgbClr val="320E04"/>
                </a:solidFill>
                <a:ea typeface="ＭＳ Ｐゴシック" panose="020B0600070205080204" pitchFamily="34" charset="-128"/>
              </a:rPr>
              <a:t>:</a:t>
            </a:r>
          </a:p>
          <a:p>
            <a:pPr marL="26988" eaLnBrk="1" hangingPunct="1"/>
            <a:r>
              <a:rPr lang="es-ES_tradnl" altLang="es-ES" sz="2000" dirty="0">
                <a:solidFill>
                  <a:srgbClr val="320E04"/>
                </a:solidFill>
                <a:ea typeface="ＭＳ Ｐゴシック" panose="020B0600070205080204" pitchFamily="34" charset="-128"/>
              </a:rPr>
              <a:t>Corresponde con el presupuesto de ejecución material más los gastos generales de empresa y beneficio industrial.</a:t>
            </a: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endParaRPr lang="es-ES_tradnl" altLang="es-ES" sz="20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F47E6C35-3906-7348-A1FE-15C5DA18548C}"/>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2 Subtítulo">
            <a:extLst>
              <a:ext uri="{FF2B5EF4-FFF2-40B4-BE49-F238E27FC236}">
                <a16:creationId xmlns:a16="http://schemas.microsoft.com/office/drawing/2014/main" id="{640338B6-2598-BB45-847D-E61906195CCD}"/>
              </a:ext>
            </a:extLst>
          </p:cNvPr>
          <p:cNvSpPr>
            <a:spLocks noGrp="1"/>
          </p:cNvSpPr>
          <p:nvPr>
            <p:ph type="subTitle" idx="1"/>
          </p:nvPr>
        </p:nvSpPr>
        <p:spPr>
          <a:xfrm>
            <a:off x="1431925" y="1557338"/>
            <a:ext cx="7407275" cy="4464050"/>
          </a:xfrm>
        </p:spPr>
        <p:txBody>
          <a:bodyPr/>
          <a:lstStyle/>
          <a:p>
            <a:pPr marL="26988" eaLnBrk="1" hangingPunct="1">
              <a:lnSpc>
                <a:spcPct val="80000"/>
              </a:lnSpc>
            </a:pPr>
            <a:r>
              <a:rPr lang="es-ES_tradnl" altLang="es-ES" sz="1700" b="1" u="sng" dirty="0" err="1">
                <a:solidFill>
                  <a:srgbClr val="320E04"/>
                </a:solidFill>
                <a:ea typeface="ＭＳ Ｐゴシック" panose="020B0600070205080204" pitchFamily="34" charset="-128"/>
              </a:rPr>
              <a:t>Definciones</a:t>
            </a:r>
            <a:r>
              <a:rPr lang="es-ES_tradnl" altLang="es-ES" sz="1700" b="1" u="sng" dirty="0">
                <a:solidFill>
                  <a:srgbClr val="320E04"/>
                </a:solidFill>
                <a:ea typeface="ＭＳ Ｐゴシック" panose="020B0600070205080204" pitchFamily="34" charset="-128"/>
              </a:rPr>
              <a:t> relativas al coste</a:t>
            </a:r>
          </a:p>
          <a:p>
            <a:pPr marL="26988" eaLnBrk="1" hangingPunct="1">
              <a:lnSpc>
                <a:spcPct val="80000"/>
              </a:lnSpc>
            </a:pPr>
            <a:r>
              <a:rPr lang="es-ES_tradnl" altLang="es-ES" sz="1700" b="1" dirty="0">
                <a:solidFill>
                  <a:srgbClr val="320E04"/>
                </a:solidFill>
                <a:ea typeface="ＭＳ Ｐゴシック" panose="020B0600070205080204" pitchFamily="34" charset="-128"/>
              </a:rPr>
              <a:t>Gasto de aprovisionamiento:</a:t>
            </a:r>
          </a:p>
          <a:p>
            <a:pPr marL="26988" eaLnBrk="1" hangingPunct="1">
              <a:lnSpc>
                <a:spcPct val="80000"/>
              </a:lnSpc>
            </a:pPr>
            <a:r>
              <a:rPr lang="es-ES_tradnl" altLang="es-ES" sz="1700" dirty="0">
                <a:solidFill>
                  <a:srgbClr val="320E04"/>
                </a:solidFill>
                <a:ea typeface="ＭＳ Ｐゴシック" panose="020B0600070205080204" pitchFamily="34" charset="-128"/>
              </a:rPr>
              <a:t>Acopio expresado en unidades monetarias por la adquisición o compra de un producto o servicio</a:t>
            </a:r>
          </a:p>
          <a:p>
            <a:pPr marL="26988" eaLnBrk="1" hangingPunct="1">
              <a:lnSpc>
                <a:spcPct val="80000"/>
              </a:lnSpc>
            </a:pPr>
            <a:r>
              <a:rPr lang="es-ES_tradnl" altLang="es-ES" sz="1700" b="1" dirty="0">
                <a:solidFill>
                  <a:srgbClr val="320E04"/>
                </a:solidFill>
                <a:ea typeface="ＭＳ Ｐゴシック" panose="020B0600070205080204" pitchFamily="34" charset="-128"/>
              </a:rPr>
              <a:t>Coste:</a:t>
            </a:r>
          </a:p>
          <a:p>
            <a:pPr marL="26988" eaLnBrk="1" hangingPunct="1">
              <a:lnSpc>
                <a:spcPct val="80000"/>
              </a:lnSpc>
            </a:pPr>
            <a:r>
              <a:rPr lang="es-ES_tradnl" altLang="es-ES" sz="1700" dirty="0">
                <a:solidFill>
                  <a:srgbClr val="320E04"/>
                </a:solidFill>
                <a:ea typeface="ＭＳ Ｐゴシック" panose="020B0600070205080204" pitchFamily="34" charset="-128"/>
              </a:rPr>
              <a:t>Parte del gasto económico que se incorpora a la producción.</a:t>
            </a:r>
          </a:p>
          <a:p>
            <a:pPr marL="26988" eaLnBrk="1" hangingPunct="1">
              <a:lnSpc>
                <a:spcPct val="80000"/>
              </a:lnSpc>
            </a:pPr>
            <a:r>
              <a:rPr lang="es-ES_tradnl" altLang="es-ES" sz="1700" b="1" dirty="0">
                <a:solidFill>
                  <a:srgbClr val="320E04"/>
                </a:solidFill>
                <a:ea typeface="ＭＳ Ｐゴシック" panose="020B0600070205080204" pitchFamily="34" charset="-128"/>
              </a:rPr>
              <a:t>Gasto contable:</a:t>
            </a:r>
          </a:p>
          <a:p>
            <a:pPr marL="26988" eaLnBrk="1" hangingPunct="1">
              <a:lnSpc>
                <a:spcPct val="80000"/>
              </a:lnSpc>
            </a:pPr>
            <a:r>
              <a:rPr lang="es-ES_tradnl" altLang="es-ES" sz="1700" dirty="0">
                <a:solidFill>
                  <a:srgbClr val="320E04"/>
                </a:solidFill>
                <a:ea typeface="ＭＳ Ｐゴシック" panose="020B0600070205080204" pitchFamily="34" charset="-128"/>
              </a:rPr>
              <a:t>Parte del gasto que tiene influencia en los resultados del año fiscal.</a:t>
            </a:r>
          </a:p>
          <a:p>
            <a:pPr marL="26988" eaLnBrk="1" hangingPunct="1">
              <a:lnSpc>
                <a:spcPct val="80000"/>
              </a:lnSpc>
            </a:pPr>
            <a:r>
              <a:rPr lang="es-ES_tradnl" altLang="es-ES" sz="1700" dirty="0">
                <a:solidFill>
                  <a:srgbClr val="320E04"/>
                </a:solidFill>
                <a:ea typeface="ＭＳ Ｐゴシック" panose="020B0600070205080204" pitchFamily="34" charset="-128"/>
              </a:rPr>
              <a:t>Gasto contable = Gastos de aprovisionamiento – Coste de los productos no vendidos.</a:t>
            </a:r>
          </a:p>
          <a:p>
            <a:pPr marL="26988" eaLnBrk="1" hangingPunct="1">
              <a:lnSpc>
                <a:spcPct val="80000"/>
              </a:lnSpc>
            </a:pPr>
            <a:r>
              <a:rPr lang="es-ES_tradnl" altLang="es-ES" sz="1700" b="1" dirty="0">
                <a:solidFill>
                  <a:srgbClr val="320E04"/>
                </a:solidFill>
                <a:ea typeface="ＭＳ Ｐゴシック" panose="020B0600070205080204" pitchFamily="34" charset="-128"/>
              </a:rPr>
              <a:t>Ingreso:</a:t>
            </a:r>
          </a:p>
          <a:p>
            <a:pPr marL="26988" eaLnBrk="1" hangingPunct="1">
              <a:lnSpc>
                <a:spcPct val="80000"/>
              </a:lnSpc>
            </a:pPr>
            <a:r>
              <a:rPr lang="es-ES_tradnl" altLang="es-ES" sz="1700" dirty="0">
                <a:solidFill>
                  <a:srgbClr val="320E04"/>
                </a:solidFill>
                <a:ea typeface="ＭＳ Ｐゴシック" panose="020B0600070205080204" pitchFamily="34" charset="-128"/>
              </a:rPr>
              <a:t>Devengo medido en unidades monetarias por la venta de un producto o servicio.</a:t>
            </a:r>
          </a:p>
          <a:p>
            <a:pPr marL="26988" eaLnBrk="1" hangingPunct="1">
              <a:lnSpc>
                <a:spcPct val="80000"/>
              </a:lnSpc>
            </a:pPr>
            <a:r>
              <a:rPr lang="es-ES_tradnl" altLang="es-ES" sz="1700" b="1" dirty="0">
                <a:solidFill>
                  <a:srgbClr val="320E04"/>
                </a:solidFill>
                <a:ea typeface="ＭＳ Ｐゴシック" panose="020B0600070205080204" pitchFamily="34" charset="-128"/>
              </a:rPr>
              <a:t>Margen = Ingresos - Costes</a:t>
            </a:r>
          </a:p>
          <a:p>
            <a:pPr marL="26988" eaLnBrk="1" hangingPunct="1">
              <a:lnSpc>
                <a:spcPct val="80000"/>
              </a:lnSpc>
            </a:pPr>
            <a:r>
              <a:rPr lang="es-ES_tradnl" altLang="es-ES" sz="1700" b="1" dirty="0">
                <a:solidFill>
                  <a:srgbClr val="320E04"/>
                </a:solidFill>
                <a:ea typeface="ＭＳ Ｐゴシック" panose="020B0600070205080204" pitchFamily="34" charset="-128"/>
              </a:rPr>
              <a:t>Beneficio anual = Ingresos – Gasto contables</a:t>
            </a:r>
          </a:p>
          <a:p>
            <a:pPr marL="26988" eaLnBrk="1" hangingPunct="1">
              <a:lnSpc>
                <a:spcPct val="80000"/>
              </a:lnSpc>
            </a:pPr>
            <a:r>
              <a:rPr lang="es-ES_tradnl" altLang="es-ES" sz="1700" b="1" dirty="0">
                <a:solidFill>
                  <a:srgbClr val="320E04"/>
                </a:solidFill>
                <a:ea typeface="ＭＳ Ｐゴシック" panose="020B0600070205080204" pitchFamily="34" charset="-128"/>
              </a:rPr>
              <a:t>Pérdida</a:t>
            </a:r>
          </a:p>
          <a:p>
            <a:pPr marL="26988" eaLnBrk="1" hangingPunct="1">
              <a:lnSpc>
                <a:spcPct val="80000"/>
              </a:lnSpc>
            </a:pPr>
            <a:r>
              <a:rPr lang="es-ES_tradnl" altLang="es-ES" sz="1700" dirty="0">
                <a:solidFill>
                  <a:srgbClr val="320E04"/>
                </a:solidFill>
                <a:ea typeface="ＭＳ Ｐゴシック" panose="020B0600070205080204" pitchFamily="34" charset="-128"/>
              </a:rPr>
              <a:t>Ganancia negativa, parte de los gastos que nunca participan en los ingresos por venta debido a la devaluación, ruptura o sustracción.</a:t>
            </a:r>
          </a:p>
          <a:p>
            <a:pPr marL="26988" eaLnBrk="1" hangingPunct="1">
              <a:lnSpc>
                <a:spcPct val="80000"/>
              </a:lnSpc>
            </a:pPr>
            <a:endParaRPr lang="es-ES_tradnl" altLang="es-ES" sz="1700" dirty="0">
              <a:solidFill>
                <a:srgbClr val="320E04"/>
              </a:solidFill>
              <a:ea typeface="ＭＳ Ｐゴシック" panose="020B0600070205080204" pitchFamily="34" charset="-128"/>
            </a:endParaRPr>
          </a:p>
          <a:p>
            <a:pPr marL="26988" eaLnBrk="1" hangingPunct="1">
              <a:lnSpc>
                <a:spcPct val="80000"/>
              </a:lnSpc>
            </a:pPr>
            <a:endParaRPr lang="es-ES_tradnl" altLang="es-ES" sz="1700" dirty="0">
              <a:solidFill>
                <a:srgbClr val="320E04"/>
              </a:solidFill>
              <a:ea typeface="ＭＳ Ｐゴシック" panose="020B0600070205080204" pitchFamily="34" charset="-128"/>
            </a:endParaRPr>
          </a:p>
          <a:p>
            <a:pPr marL="26988" eaLnBrk="1" hangingPunct="1">
              <a:lnSpc>
                <a:spcPct val="80000"/>
              </a:lnSpc>
            </a:pPr>
            <a:endParaRPr lang="es-ES_tradnl" altLang="es-ES" sz="17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E7E36100-E15D-C149-A359-74F3DF919053}"/>
              </a:ext>
            </a:extLst>
          </p:cNvPr>
          <p:cNvSpPr>
            <a:spLocks noGrp="1"/>
          </p:cNvSpPr>
          <p:nvPr>
            <p:ph type="ctrTitle"/>
          </p:nvPr>
        </p:nvSpPr>
        <p:spPr>
          <a:xfrm>
            <a:off x="1423541" y="224333"/>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AF009388-1915-D54B-9371-DFA7232D2F4C}"/>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7. Documento 4: Presupuesto</a:t>
            </a:r>
          </a:p>
        </p:txBody>
      </p:sp>
      <p:pic>
        <p:nvPicPr>
          <p:cNvPr id="8" name="Picture 4">
            <a:extLst>
              <a:ext uri="{FF2B5EF4-FFF2-40B4-BE49-F238E27FC236}">
                <a16:creationId xmlns:a16="http://schemas.microsoft.com/office/drawing/2014/main" id="{81A14976-9157-8A4F-AADE-2099EDCC4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520259" y="2348880"/>
            <a:ext cx="7080912" cy="383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D46CC447-C1E8-0541-95E5-95C6213C7FB2}"/>
              </a:ext>
            </a:extLst>
          </p:cNvPr>
          <p:cNvSpPr>
            <a:spLocks noGrp="1"/>
          </p:cNvSpPr>
          <p:nvPr>
            <p:ph type="subTitle" idx="1"/>
          </p:nvPr>
        </p:nvSpPr>
        <p:spPr>
          <a:xfrm>
            <a:off x="1431925" y="1700808"/>
            <a:ext cx="7407275" cy="4464050"/>
          </a:xfrm>
        </p:spPr>
        <p:txBody>
          <a:bodyPr>
            <a:normAutofit fontScale="92500" lnSpcReduction="10000"/>
          </a:bodyPr>
          <a:lstStyle/>
          <a:p>
            <a:pPr eaLnBrk="1" fontAlgn="auto" hangingPunct="1">
              <a:spcAft>
                <a:spcPts val="0"/>
              </a:spcAft>
              <a:buFont typeface="Wingdings 2"/>
              <a:buNone/>
              <a:defRPr/>
            </a:pPr>
            <a:r>
              <a:rPr lang="es-ES_tradnl" b="1" u="sng" dirty="0">
                <a:latin typeface="Arial" panose="020B0604020202020204" pitchFamily="34" charset="0"/>
                <a:ea typeface="+mn-ea"/>
                <a:cs typeface="Arial" panose="020B0604020202020204" pitchFamily="34" charset="0"/>
              </a:rPr>
              <a:t>Clases de costes</a:t>
            </a:r>
          </a:p>
          <a:p>
            <a:pPr eaLnBrk="1" fontAlgn="auto" hangingPunct="1">
              <a:spcAft>
                <a:spcPts val="0"/>
              </a:spcAft>
              <a:defRPr/>
            </a:pPr>
            <a:r>
              <a:rPr lang="es-ES_tradnl" sz="2000" dirty="0">
                <a:latin typeface="Arial" panose="020B0604020202020204" pitchFamily="34" charset="0"/>
                <a:ea typeface="+mn-ea"/>
                <a:cs typeface="Arial" panose="020B0604020202020204" pitchFamily="34" charset="0"/>
              </a:rPr>
              <a:t>1. </a:t>
            </a:r>
            <a:r>
              <a:rPr lang="es-ES_tradnl" sz="2000" u="sng" dirty="0">
                <a:latin typeface="Arial" panose="020B0604020202020204" pitchFamily="34" charset="0"/>
                <a:ea typeface="+mn-ea"/>
                <a:cs typeface="Arial" panose="020B0604020202020204" pitchFamily="34" charset="0"/>
              </a:rPr>
              <a:t>Atendiendo a la relación con el proceso de fabricación y la facilidad de cálculo </a:t>
            </a:r>
            <a:r>
              <a:rPr lang="es-ES_tradnl" sz="2000" dirty="0">
                <a:latin typeface="Arial" panose="020B0604020202020204" pitchFamily="34" charset="0"/>
                <a:ea typeface="+mn-ea"/>
                <a:cs typeface="Arial" panose="020B0604020202020204" pitchFamily="34" charset="0"/>
              </a:rPr>
              <a:t>:</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1.1 Directos</a:t>
            </a:r>
          </a:p>
          <a:p>
            <a:pPr eaLnBrk="1" fontAlgn="auto" hangingPunct="1">
              <a:spcAft>
                <a:spcPts val="0"/>
              </a:spcAft>
              <a:defRPr/>
            </a:pPr>
            <a:r>
              <a:rPr lang="es-ES_tradnl" sz="2000" dirty="0">
                <a:latin typeface="Arial" panose="020B0604020202020204" pitchFamily="34" charset="0"/>
                <a:ea typeface="+mn-ea"/>
                <a:cs typeface="Arial" panose="020B0604020202020204" pitchFamily="34" charset="0"/>
              </a:rPr>
              <a:t>	 Materiales, mano de obra y otros costos de fabricación.</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1.2 Indirectos</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	Todos los no clasificados como directos.</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2. </a:t>
            </a:r>
            <a:r>
              <a:rPr lang="es-ES_tradnl" sz="2000" u="sng" dirty="0">
                <a:latin typeface="Arial" panose="020B0604020202020204" pitchFamily="34" charset="0"/>
                <a:ea typeface="+mn-ea"/>
                <a:cs typeface="Arial" panose="020B0604020202020204" pitchFamily="34" charset="0"/>
              </a:rPr>
              <a:t>Atendiendo a su variabilidad</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2.1 Fijos</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	Salarios y otros costes que no son proporcionales a la</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 	producción. </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2.2 Variables</a:t>
            </a: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	Materiales y otros costes proporcionales a la producción.</a:t>
            </a: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dirty="0">
              <a:latin typeface="Arial" panose="020B0604020202020204" pitchFamily="34" charset="0"/>
              <a:ea typeface="+mn-ea"/>
              <a:cs typeface="Arial" panose="020B0604020202020204" pitchFamily="34" charset="0"/>
            </a:endParaRPr>
          </a:p>
        </p:txBody>
      </p:sp>
      <p:sp>
        <p:nvSpPr>
          <p:cNvPr id="6" name="1 Título">
            <a:extLst>
              <a:ext uri="{FF2B5EF4-FFF2-40B4-BE49-F238E27FC236}">
                <a16:creationId xmlns:a16="http://schemas.microsoft.com/office/drawing/2014/main" id="{F660E2E6-27CD-1046-A431-BEE245307C4C}"/>
              </a:ext>
            </a:extLst>
          </p:cNvPr>
          <p:cNvSpPr>
            <a:spLocks noGrp="1"/>
          </p:cNvSpPr>
          <p:nvPr>
            <p:ph type="ctrTitle"/>
          </p:nvPr>
        </p:nvSpPr>
        <p:spPr>
          <a:xfrm>
            <a:off x="1431925" y="332656"/>
            <a:ext cx="7407275" cy="1224558"/>
          </a:xfrm>
        </p:spPr>
        <p:txBody>
          <a:bodyPr/>
          <a:lstStyle/>
          <a:p>
            <a:pPr eaLnBrk="1" hangingPunct="1">
              <a:defRPr/>
            </a:pPr>
            <a:r>
              <a:rPr lang="es-ES_tradnl" altLang="es-ES" dirty="0">
                <a:effectLst>
                  <a:outerShdw blurRad="38100" dist="38100" dir="2700000" algn="tl">
                    <a:srgbClr val="C0C0C0"/>
                  </a:outerShdw>
                </a:effectLst>
                <a:ea typeface="ＭＳ Ｐゴシック" panose="020B0600070205080204" pitchFamily="34" charset="-128"/>
              </a:rPr>
              <a:t>OFICINA TÉCNICA</a:t>
            </a:r>
            <a:br>
              <a:rPr lang="es-ES_tradnl" altLang="es-ES" dirty="0">
                <a:effectLst>
                  <a:outerShdw blurRad="38100" dist="38100" dir="2700000" algn="tl">
                    <a:srgbClr val="C0C0C0"/>
                  </a:outerShdw>
                </a:effectLst>
                <a:ea typeface="ＭＳ Ｐゴシック" panose="020B0600070205080204" pitchFamily="34" charset="-128"/>
              </a:rPr>
            </a:br>
            <a:r>
              <a:rPr lang="es-ES_tradnl" altLang="es-ES" sz="31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2 Subtítulo">
            <a:extLst>
              <a:ext uri="{FF2B5EF4-FFF2-40B4-BE49-F238E27FC236}">
                <a16:creationId xmlns:a16="http://schemas.microsoft.com/office/drawing/2014/main" id="{9588E346-DCD5-EF48-97C9-91AE9C06835C}"/>
              </a:ext>
            </a:extLst>
          </p:cNvPr>
          <p:cNvSpPr>
            <a:spLocks noGrp="1"/>
          </p:cNvSpPr>
          <p:nvPr>
            <p:ph type="subTitle" idx="1"/>
          </p:nvPr>
        </p:nvSpPr>
        <p:spPr>
          <a:xfrm>
            <a:off x="1485900" y="1268413"/>
            <a:ext cx="7407275" cy="5184923"/>
          </a:xfrm>
        </p:spPr>
        <p:txBody>
          <a:bodyPr/>
          <a:lstStyle/>
          <a:p>
            <a:pPr marL="26988" eaLnBrk="1" hangingPunct="1">
              <a:lnSpc>
                <a:spcPct val="80000"/>
              </a:lnSpc>
            </a:pPr>
            <a:r>
              <a:rPr lang="es-ES_tradnl" altLang="es-ES" sz="1900" b="1" u="sng" dirty="0">
                <a:solidFill>
                  <a:srgbClr val="320E04"/>
                </a:solidFill>
                <a:ea typeface="ＭＳ Ｐゴシック" panose="020B0600070205080204" pitchFamily="34" charset="-128"/>
              </a:rPr>
              <a:t>Clases de costes</a:t>
            </a:r>
          </a:p>
          <a:p>
            <a:pPr marL="26988" eaLnBrk="1" hangingPunct="1">
              <a:lnSpc>
                <a:spcPct val="80000"/>
              </a:lnSpc>
            </a:pPr>
            <a:r>
              <a:rPr lang="es-ES_tradnl" altLang="es-ES" sz="1900" dirty="0">
                <a:solidFill>
                  <a:srgbClr val="320E04"/>
                </a:solidFill>
                <a:ea typeface="ＭＳ Ｐゴシック" panose="020B0600070205080204" pitchFamily="34" charset="-128"/>
              </a:rPr>
              <a:t>3. Según su origen (por naturaleza)</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Coste de materiales</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Costes del trabajo</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Coste de los equipos industriales</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Impuestos</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Costes del transporte</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Coste de las comunicaciones</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Alquileres</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Suministros de aguas, gas y electricidad.</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Gastos financieros</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Gastos de publicidad y de representación</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Derechos de patente, licencias de explotación y otras concesiones públicas o privadas</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Honorarios por asesoramiento técnico.</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Seguros</a:t>
            </a:r>
          </a:p>
          <a:p>
            <a:pPr marL="2698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Otros</a:t>
            </a:r>
          </a:p>
        </p:txBody>
      </p:sp>
      <p:sp>
        <p:nvSpPr>
          <p:cNvPr id="6" name="1 Título">
            <a:extLst>
              <a:ext uri="{FF2B5EF4-FFF2-40B4-BE49-F238E27FC236}">
                <a16:creationId xmlns:a16="http://schemas.microsoft.com/office/drawing/2014/main" id="{BDB1546E-5902-5147-BE72-683D330463E8}"/>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E5451F24-BE9F-A64E-AE9B-7D2DC15C97F1}"/>
              </a:ext>
            </a:extLst>
          </p:cNvPr>
          <p:cNvSpPr>
            <a:spLocks noGrp="1"/>
          </p:cNvSpPr>
          <p:nvPr>
            <p:ph type="subTitle" idx="1"/>
          </p:nvPr>
        </p:nvSpPr>
        <p:spPr>
          <a:xfrm>
            <a:off x="1485900" y="1268413"/>
            <a:ext cx="7407275" cy="865187"/>
          </a:xfrm>
        </p:spPr>
        <p:txBody>
          <a:bodyPr>
            <a:normAutofit/>
          </a:bodyPr>
          <a:lstStyle/>
          <a:p>
            <a:pPr eaLnBrk="1" fontAlgn="auto" hangingPunct="1">
              <a:spcAft>
                <a:spcPts val="0"/>
              </a:spcAft>
              <a:buFont typeface="Wingdings 2"/>
              <a:buNone/>
              <a:defRPr/>
            </a:pPr>
            <a:r>
              <a:rPr lang="es-ES_tradnl" sz="2000" b="1" u="sng" dirty="0">
                <a:ea typeface="+mn-ea"/>
                <a:cs typeface="+mn-cs"/>
              </a:rPr>
              <a:t>Clases de costes</a:t>
            </a:r>
          </a:p>
          <a:p>
            <a:pPr eaLnBrk="1" fontAlgn="auto" hangingPunct="1">
              <a:spcAft>
                <a:spcPts val="0"/>
              </a:spcAft>
              <a:buFont typeface="Wingdings 2"/>
              <a:buNone/>
              <a:defRPr/>
            </a:pPr>
            <a:r>
              <a:rPr lang="es-ES_tradnl" sz="2000" dirty="0">
                <a:ea typeface="+mn-ea"/>
                <a:cs typeface="+mn-cs"/>
              </a:rPr>
              <a:t>4.  Atendiendo a su contribución en la formación del precio</a:t>
            </a:r>
          </a:p>
        </p:txBody>
      </p:sp>
      <p:sp>
        <p:nvSpPr>
          <p:cNvPr id="7" name="1 Título">
            <a:extLst>
              <a:ext uri="{FF2B5EF4-FFF2-40B4-BE49-F238E27FC236}">
                <a16:creationId xmlns:a16="http://schemas.microsoft.com/office/drawing/2014/main" id="{7853292D-1DCB-6040-B6C3-58F9D13D5808}"/>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pic>
        <p:nvPicPr>
          <p:cNvPr id="8" name="Picture 4">
            <a:extLst>
              <a:ext uri="{FF2B5EF4-FFF2-40B4-BE49-F238E27FC236}">
                <a16:creationId xmlns:a16="http://schemas.microsoft.com/office/drawing/2014/main" id="{6844DA72-F138-D54B-A95B-FC17391019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46" t="14673" r="3672"/>
          <a:stretch/>
        </p:blipFill>
        <p:spPr bwMode="auto">
          <a:xfrm>
            <a:off x="2771799" y="2132856"/>
            <a:ext cx="3672409" cy="4608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499799FF-164C-DF46-8F95-CA4FAEC333A3}"/>
              </a:ext>
            </a:extLst>
          </p:cNvPr>
          <p:cNvSpPr>
            <a:spLocks noGrp="1"/>
          </p:cNvSpPr>
          <p:nvPr>
            <p:ph type="subTitle" idx="1"/>
          </p:nvPr>
        </p:nvSpPr>
        <p:spPr>
          <a:xfrm>
            <a:off x="1414463" y="1125538"/>
            <a:ext cx="7405687" cy="431800"/>
          </a:xfrm>
        </p:spPr>
        <p:txBody>
          <a:bodyPr>
            <a:normAutofit/>
          </a:bodyPr>
          <a:lstStyle/>
          <a:p>
            <a:pPr eaLnBrk="1" fontAlgn="auto" hangingPunct="1">
              <a:spcAft>
                <a:spcPts val="0"/>
              </a:spcAft>
              <a:buFont typeface="Wingdings 2"/>
              <a:buNone/>
              <a:defRPr/>
            </a:pPr>
            <a:r>
              <a:rPr lang="es-ES_tradnl" sz="2000" b="1" u="sng" dirty="0">
                <a:ea typeface="+mn-ea"/>
                <a:cs typeface="+mn-cs"/>
              </a:rPr>
              <a:t>Métodos de cálculo de costes</a:t>
            </a:r>
            <a:endParaRPr lang="es-ES_tradnl" sz="2000" dirty="0">
              <a:ea typeface="+mn-ea"/>
              <a:cs typeface="+mn-cs"/>
            </a:endParaRPr>
          </a:p>
        </p:txBody>
      </p:sp>
      <p:pic>
        <p:nvPicPr>
          <p:cNvPr id="161795" name="Picture 4">
            <a:extLst>
              <a:ext uri="{FF2B5EF4-FFF2-40B4-BE49-F238E27FC236}">
                <a16:creationId xmlns:a16="http://schemas.microsoft.com/office/drawing/2014/main" id="{767672A3-C906-C244-A275-32E157021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52384" y="1552358"/>
            <a:ext cx="3930649" cy="2509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796" name="Picture 5">
            <a:extLst>
              <a:ext uri="{FF2B5EF4-FFF2-40B4-BE49-F238E27FC236}">
                <a16:creationId xmlns:a16="http://schemas.microsoft.com/office/drawing/2014/main" id="{F8B696F7-56A7-A341-AB30-F82CCFE100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5148064" y="1575814"/>
            <a:ext cx="3789362" cy="241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797" name="Picture 6">
            <a:extLst>
              <a:ext uri="{FF2B5EF4-FFF2-40B4-BE49-F238E27FC236}">
                <a16:creationId xmlns:a16="http://schemas.microsoft.com/office/drawing/2014/main" id="{86F3F0FD-2E8A-A648-8424-2B0A6277DB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3131841" y="4149080"/>
            <a:ext cx="3922710" cy="2504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1 Título">
            <a:extLst>
              <a:ext uri="{FF2B5EF4-FFF2-40B4-BE49-F238E27FC236}">
                <a16:creationId xmlns:a16="http://schemas.microsoft.com/office/drawing/2014/main" id="{6F31A149-E9DD-E647-8848-AB97CC183BCC}"/>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ADC7FD5F-DD7C-3145-AAA5-0458C25C1825}"/>
              </a:ext>
            </a:extLst>
          </p:cNvPr>
          <p:cNvSpPr>
            <a:spLocks noGrp="1"/>
          </p:cNvSpPr>
          <p:nvPr>
            <p:ph type="subTitle" idx="1"/>
          </p:nvPr>
        </p:nvSpPr>
        <p:spPr>
          <a:xfrm>
            <a:off x="1485900" y="1628775"/>
            <a:ext cx="7407275" cy="3816350"/>
          </a:xfrm>
        </p:spPr>
        <p:txBody>
          <a:bodyPr>
            <a:normAutofit/>
          </a:bodyPr>
          <a:lstStyle/>
          <a:p>
            <a:pPr eaLnBrk="1" fontAlgn="auto" hangingPunct="1">
              <a:spcAft>
                <a:spcPts val="0"/>
              </a:spcAft>
              <a:buFont typeface="Wingdings 2"/>
              <a:buNone/>
              <a:defRPr/>
            </a:pPr>
            <a:r>
              <a:rPr lang="es-ES_tradnl" sz="2000" b="1" u="sng" dirty="0">
                <a:latin typeface="Arial" panose="020B0604020202020204" pitchFamily="34" charset="0"/>
                <a:ea typeface="+mn-ea"/>
                <a:cs typeface="Arial" panose="020B0604020202020204" pitchFamily="34" charset="0"/>
              </a:rPr>
              <a:t>Coste de los materiales</a:t>
            </a:r>
          </a:p>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1. Coste de compra</a:t>
            </a:r>
          </a:p>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Es el precio menos el descuento del proveedor del almacén</a:t>
            </a:r>
          </a:p>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2. Costo de adquisición</a:t>
            </a:r>
          </a:p>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Costo de compra + costos de transporte</a:t>
            </a:r>
          </a:p>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3. Coste de suministro</a:t>
            </a:r>
          </a:p>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Costo de adquisición + costos de almacenamiento</a:t>
            </a:r>
          </a:p>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El presupuesto del proyecto se calcula normalmente tomando el costo de adquisición.</a:t>
            </a:r>
            <a:endParaRPr lang="es-ES_tradnl" sz="2000" dirty="0">
              <a:latin typeface="Arial" panose="020B0604020202020204" pitchFamily="34" charset="0"/>
              <a:ea typeface="+mn-ea"/>
              <a:cs typeface="Arial" panose="020B0604020202020204" pitchFamily="34" charset="0"/>
            </a:endParaRPr>
          </a:p>
        </p:txBody>
      </p:sp>
      <p:sp>
        <p:nvSpPr>
          <p:cNvPr id="6" name="1 Título">
            <a:extLst>
              <a:ext uri="{FF2B5EF4-FFF2-40B4-BE49-F238E27FC236}">
                <a16:creationId xmlns:a16="http://schemas.microsoft.com/office/drawing/2014/main" id="{9D873A9D-0E5C-F843-AF44-A5E32E7CB347}"/>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F2353AD9-C0EE-8B4E-A2F0-24E06952C040}"/>
              </a:ext>
            </a:extLst>
          </p:cNvPr>
          <p:cNvSpPr>
            <a:spLocks noGrp="1"/>
          </p:cNvSpPr>
          <p:nvPr>
            <p:ph type="subTitle" idx="1"/>
          </p:nvPr>
        </p:nvSpPr>
        <p:spPr>
          <a:xfrm>
            <a:off x="1485900" y="1628775"/>
            <a:ext cx="7407275" cy="3816350"/>
          </a:xfrm>
        </p:spPr>
        <p:txBody>
          <a:bodyPr>
            <a:normAutofit/>
          </a:bodyPr>
          <a:lstStyle/>
          <a:p>
            <a:pPr eaLnBrk="1" fontAlgn="auto" hangingPunct="1">
              <a:spcAft>
                <a:spcPts val="0"/>
              </a:spcAft>
              <a:buFont typeface="Wingdings 2"/>
              <a:buNone/>
              <a:defRPr/>
            </a:pPr>
            <a:r>
              <a:rPr lang="es-ES_tradnl" sz="2000" b="1" u="sng" dirty="0">
                <a:ea typeface="+mn-ea"/>
                <a:cs typeface="+mn-cs"/>
              </a:rPr>
              <a:t>Coste de los materiales</a:t>
            </a:r>
          </a:p>
          <a:p>
            <a:pPr eaLnBrk="1" fontAlgn="auto" hangingPunct="1">
              <a:spcAft>
                <a:spcPts val="0"/>
              </a:spcAft>
              <a:buFont typeface="Wingdings 2"/>
              <a:buNone/>
              <a:defRPr/>
            </a:pPr>
            <a:endParaRPr lang="es-ES_tradnl" sz="2000" b="1" u="sng" dirty="0">
              <a:ea typeface="+mn-ea"/>
              <a:cs typeface="+mn-cs"/>
            </a:endParaRPr>
          </a:p>
          <a:p>
            <a:pPr eaLnBrk="1" fontAlgn="auto" hangingPunct="1">
              <a:spcAft>
                <a:spcPts val="0"/>
              </a:spcAft>
              <a:defRPr/>
            </a:pPr>
            <a:r>
              <a:rPr lang="es-ES_tradnl" sz="2000" b="1" dirty="0">
                <a:ea typeface="+mn-ea"/>
                <a:cs typeface="+mn-cs"/>
              </a:rPr>
              <a:t>Demasías</a:t>
            </a:r>
          </a:p>
          <a:p>
            <a:pPr eaLnBrk="1" fontAlgn="auto" hangingPunct="1">
              <a:spcAft>
                <a:spcPts val="0"/>
              </a:spcAft>
              <a:defRPr/>
            </a:pPr>
            <a:r>
              <a:rPr lang="es-ES_tradnl" sz="2000" dirty="0">
                <a:ea typeface="+mn-ea"/>
                <a:cs typeface="+mn-cs"/>
              </a:rPr>
              <a:t>El exceso de material necesario para fabricar un producto para realmente aprovechar.</a:t>
            </a:r>
          </a:p>
          <a:p>
            <a:pPr eaLnBrk="1" fontAlgn="auto" hangingPunct="1">
              <a:spcAft>
                <a:spcPts val="0"/>
              </a:spcAft>
              <a:defRPr/>
            </a:pPr>
            <a:r>
              <a:rPr lang="es-ES_tradnl" sz="2000" b="1" dirty="0">
                <a:ea typeface="+mn-ea"/>
                <a:cs typeface="+mn-cs"/>
              </a:rPr>
              <a:t>Pérdida o rotura</a:t>
            </a:r>
          </a:p>
          <a:p>
            <a:pPr eaLnBrk="1" fontAlgn="auto" hangingPunct="1">
              <a:spcAft>
                <a:spcPts val="0"/>
              </a:spcAft>
              <a:defRPr/>
            </a:pPr>
            <a:r>
              <a:rPr lang="es-ES_tradnl" sz="2000" dirty="0">
                <a:ea typeface="+mn-ea"/>
                <a:cs typeface="+mn-cs"/>
              </a:rPr>
              <a:t>Evaluar la parte de los materiales que se deteriora por pérdida o rotura.</a:t>
            </a:r>
          </a:p>
          <a:p>
            <a:pPr eaLnBrk="1" fontAlgn="auto" hangingPunct="1">
              <a:spcAft>
                <a:spcPts val="0"/>
              </a:spcAft>
              <a:defRPr/>
            </a:pPr>
            <a:r>
              <a:rPr lang="es-ES_tradnl" sz="2000" dirty="0">
                <a:ea typeface="+mn-ea"/>
                <a:cs typeface="+mn-cs"/>
              </a:rPr>
              <a:t>Las demasías, pérdidas o roturas se tienen en cuenta aplicando un porcentaje sobre las cantidades o sobre los precios de los materiales</a:t>
            </a:r>
          </a:p>
        </p:txBody>
      </p:sp>
      <p:sp>
        <p:nvSpPr>
          <p:cNvPr id="6" name="1 Título">
            <a:extLst>
              <a:ext uri="{FF2B5EF4-FFF2-40B4-BE49-F238E27FC236}">
                <a16:creationId xmlns:a16="http://schemas.microsoft.com/office/drawing/2014/main" id="{64DC9073-CD62-0940-B70E-CBB0D3208BA7}"/>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2 Subtítulo">
            <a:extLst>
              <a:ext uri="{FF2B5EF4-FFF2-40B4-BE49-F238E27FC236}">
                <a16:creationId xmlns:a16="http://schemas.microsoft.com/office/drawing/2014/main" id="{2F092E5A-C4DD-FA41-A862-21B210CFE3FE}"/>
              </a:ext>
            </a:extLst>
          </p:cNvPr>
          <p:cNvSpPr>
            <a:spLocks noGrp="1"/>
          </p:cNvSpPr>
          <p:nvPr>
            <p:ph type="subTitle" idx="1"/>
          </p:nvPr>
        </p:nvSpPr>
        <p:spPr>
          <a:xfrm>
            <a:off x="1485900" y="1341438"/>
            <a:ext cx="7407275" cy="5111750"/>
          </a:xfrm>
        </p:spPr>
        <p:txBody>
          <a:bodyPr/>
          <a:lstStyle/>
          <a:p>
            <a:pPr marL="26988" eaLnBrk="1" hangingPunct="1"/>
            <a:r>
              <a:rPr lang="es-ES_tradnl" altLang="es-ES" sz="2000" b="1" u="sng" dirty="0">
                <a:solidFill>
                  <a:srgbClr val="320E04"/>
                </a:solidFill>
                <a:ea typeface="ＭＳ Ｐゴシック" panose="020B0600070205080204" pitchFamily="34" charset="-128"/>
              </a:rPr>
              <a:t>Coste de los materiales</a:t>
            </a:r>
          </a:p>
          <a:p>
            <a:pPr marL="26988" eaLnBrk="1" hangingPunct="1"/>
            <a:endParaRPr lang="es-ES_tradnl" altLang="es-ES" sz="2000" b="1" u="sng" dirty="0">
              <a:solidFill>
                <a:srgbClr val="320E04"/>
              </a:solidFill>
              <a:ea typeface="ＭＳ Ｐゴシック" panose="020B0600070205080204" pitchFamily="34" charset="-128"/>
            </a:endParaRPr>
          </a:p>
          <a:p>
            <a:pPr marL="26988" eaLnBrk="1" hangingPunct="1"/>
            <a:r>
              <a:rPr lang="es-ES_tradnl" altLang="es-ES" b="1" i="1" dirty="0">
                <a:solidFill>
                  <a:srgbClr val="320E04"/>
                </a:solidFill>
                <a:latin typeface="Arial" panose="020B0604020202020204" pitchFamily="34" charset="0"/>
                <a:ea typeface="ＭＳ Ｐゴシック" panose="020B0600070205080204" pitchFamily="34" charset="-128"/>
              </a:rPr>
              <a:t>Coste de los materiales = </a:t>
            </a:r>
            <a:r>
              <a:rPr lang="es-ES_tradnl" altLang="es-ES" b="1" dirty="0" err="1">
                <a:solidFill>
                  <a:srgbClr val="320E04"/>
                </a:solidFill>
                <a:latin typeface="Arial" panose="020B0604020202020204" pitchFamily="34" charset="0"/>
                <a:ea typeface="ＭＳ Ｐゴシック" panose="020B0600070205080204" pitchFamily="34" charset="-128"/>
              </a:rPr>
              <a:t>Σ</a:t>
            </a:r>
            <a:r>
              <a:rPr lang="es-ES_tradnl" altLang="es-ES" b="1" i="1" dirty="0" err="1">
                <a:solidFill>
                  <a:srgbClr val="320E04"/>
                </a:solidFill>
                <a:latin typeface="Arial" panose="020B0604020202020204" pitchFamily="34" charset="0"/>
                <a:ea typeface="ＭＳ Ｐゴシック" panose="020B0600070205080204" pitchFamily="34" charset="-128"/>
              </a:rPr>
              <a:t>P</a:t>
            </a:r>
            <a:r>
              <a:rPr lang="es-ES_tradnl" altLang="es-ES" b="1" i="1" baseline="-25000" dirty="0" err="1">
                <a:solidFill>
                  <a:srgbClr val="320E04"/>
                </a:solidFill>
                <a:latin typeface="Arial" panose="020B0604020202020204" pitchFamily="34" charset="0"/>
                <a:ea typeface="ＭＳ Ｐゴシック" panose="020B0600070205080204" pitchFamily="34" charset="-128"/>
              </a:rPr>
              <a:t>i</a:t>
            </a:r>
            <a:r>
              <a:rPr lang="es-ES_tradnl" altLang="es-ES" b="1" i="1" dirty="0" err="1">
                <a:solidFill>
                  <a:srgbClr val="320E04"/>
                </a:solidFill>
                <a:latin typeface="Arial" panose="020B0604020202020204" pitchFamily="34" charset="0"/>
                <a:ea typeface="ＭＳ Ｐゴシック" panose="020B0600070205080204" pitchFamily="34" charset="-128"/>
              </a:rPr>
              <a:t>Q</a:t>
            </a:r>
            <a:r>
              <a:rPr lang="es-ES_tradnl" altLang="es-ES" b="1" i="1" baseline="-25000" dirty="0" err="1">
                <a:solidFill>
                  <a:srgbClr val="320E04"/>
                </a:solidFill>
                <a:latin typeface="Arial" panose="020B0604020202020204" pitchFamily="34" charset="0"/>
                <a:ea typeface="ＭＳ Ｐゴシック" panose="020B0600070205080204" pitchFamily="34" charset="-128"/>
              </a:rPr>
              <a:t>i</a:t>
            </a:r>
            <a:r>
              <a:rPr lang="es-ES_tradnl" altLang="es-ES" b="1" i="1" dirty="0">
                <a:solidFill>
                  <a:srgbClr val="320E04"/>
                </a:solidFill>
                <a:latin typeface="Arial" panose="020B0604020202020204" pitchFamily="34" charset="0"/>
                <a:ea typeface="ＭＳ Ｐゴシック" panose="020B0600070205080204" pitchFamily="34" charset="-128"/>
              </a:rPr>
              <a:t> = </a:t>
            </a:r>
            <a:r>
              <a:rPr lang="es-ES_tradnl" altLang="es-ES" b="1" dirty="0" err="1">
                <a:solidFill>
                  <a:srgbClr val="320E04"/>
                </a:solidFill>
                <a:latin typeface="Arial" panose="020B0604020202020204" pitchFamily="34" charset="0"/>
                <a:ea typeface="ＭＳ Ｐゴシック" panose="020B0600070205080204" pitchFamily="34" charset="-128"/>
              </a:rPr>
              <a:t>Σ</a:t>
            </a:r>
            <a:r>
              <a:rPr lang="es-ES_tradnl" altLang="es-ES" b="1" i="1" dirty="0" err="1">
                <a:solidFill>
                  <a:srgbClr val="320E04"/>
                </a:solidFill>
                <a:latin typeface="Arial" panose="020B0604020202020204" pitchFamily="34" charset="0"/>
                <a:ea typeface="ＭＳ Ｐゴシック" panose="020B0600070205080204" pitchFamily="34" charset="-128"/>
              </a:rPr>
              <a:t>P’</a:t>
            </a:r>
            <a:r>
              <a:rPr lang="es-ES_tradnl" altLang="ja-JP" b="1" i="1" baseline="-25000" dirty="0" err="1">
                <a:solidFill>
                  <a:srgbClr val="320E04"/>
                </a:solidFill>
                <a:latin typeface="Arial" panose="020B0604020202020204" pitchFamily="34" charset="0"/>
                <a:ea typeface="ＭＳ Ｐゴシック" panose="020B0600070205080204" pitchFamily="34" charset="-128"/>
              </a:rPr>
              <a:t>i</a:t>
            </a:r>
            <a:r>
              <a:rPr lang="es-ES_tradnl" altLang="ja-JP" b="1" i="1" dirty="0" err="1">
                <a:solidFill>
                  <a:srgbClr val="320E04"/>
                </a:solidFill>
                <a:latin typeface="Arial" panose="020B0604020202020204" pitchFamily="34" charset="0"/>
                <a:ea typeface="ＭＳ Ｐゴシック" panose="020B0600070205080204" pitchFamily="34" charset="-128"/>
              </a:rPr>
              <a:t>Q</a:t>
            </a:r>
            <a:r>
              <a:rPr lang="es-ES_tradnl" altLang="es-ES" b="1" i="1" dirty="0" err="1">
                <a:solidFill>
                  <a:srgbClr val="320E04"/>
                </a:solidFill>
                <a:latin typeface="Arial" panose="020B0604020202020204" pitchFamily="34" charset="0"/>
                <a:ea typeface="ＭＳ Ｐゴシック" panose="020B0600070205080204" pitchFamily="34" charset="-128"/>
              </a:rPr>
              <a:t>’</a:t>
            </a:r>
            <a:r>
              <a:rPr lang="es-ES_tradnl" altLang="ja-JP" b="1" i="1" baseline="-25000" dirty="0" err="1">
                <a:solidFill>
                  <a:srgbClr val="320E04"/>
                </a:solidFill>
                <a:latin typeface="Arial" panose="020B0604020202020204" pitchFamily="34" charset="0"/>
                <a:ea typeface="ＭＳ Ｐゴシック" panose="020B0600070205080204" pitchFamily="34" charset="-128"/>
              </a:rPr>
              <a:t>I</a:t>
            </a:r>
            <a:endParaRPr lang="es-ES_tradnl" altLang="ja-JP" b="1"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endParaRPr lang="es-ES_tradnl" altLang="es-ES" b="1"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400" i="1" dirty="0">
                <a:solidFill>
                  <a:srgbClr val="320E04"/>
                </a:solidFill>
                <a:latin typeface="Arial" panose="020B0604020202020204" pitchFamily="34" charset="0"/>
                <a:ea typeface="ＭＳ Ｐゴシック" panose="020B0600070205080204" pitchFamily="34" charset="-128"/>
              </a:rPr>
              <a:t>P</a:t>
            </a:r>
            <a:r>
              <a:rPr lang="es-ES_tradnl" altLang="es-ES" sz="2400" i="1" baseline="-25000" dirty="0">
                <a:solidFill>
                  <a:srgbClr val="320E04"/>
                </a:solidFill>
                <a:latin typeface="Arial" panose="020B0604020202020204" pitchFamily="34" charset="0"/>
                <a:ea typeface="ＭＳ Ｐゴシック" panose="020B0600070205080204" pitchFamily="34" charset="-128"/>
              </a:rPr>
              <a:t>i</a:t>
            </a:r>
            <a:r>
              <a:rPr lang="es-ES_tradnl" altLang="es-ES" sz="2400" i="1" dirty="0">
                <a:solidFill>
                  <a:srgbClr val="320E04"/>
                </a:solidFill>
                <a:latin typeface="Arial" panose="020B0604020202020204" pitchFamily="34" charset="0"/>
                <a:ea typeface="ＭＳ Ｐゴシック" panose="020B0600070205080204" pitchFamily="34" charset="-128"/>
              </a:rPr>
              <a:t> = Coste de adquisición</a:t>
            </a:r>
          </a:p>
          <a:p>
            <a:pPr marL="26988" eaLnBrk="1" hangingPunct="1"/>
            <a:r>
              <a:rPr lang="es-ES_tradnl" altLang="es-ES" sz="2400" i="1" dirty="0" err="1">
                <a:solidFill>
                  <a:srgbClr val="320E04"/>
                </a:solidFill>
                <a:latin typeface="Arial" panose="020B0604020202020204" pitchFamily="34" charset="0"/>
                <a:ea typeface="ＭＳ Ｐゴシック" panose="020B0600070205080204" pitchFamily="34" charset="-128"/>
              </a:rPr>
              <a:t>Q</a:t>
            </a:r>
            <a:r>
              <a:rPr lang="es-ES_tradnl" altLang="es-ES" sz="2400" i="1" baseline="-25000" dirty="0" err="1">
                <a:solidFill>
                  <a:srgbClr val="320E04"/>
                </a:solidFill>
                <a:latin typeface="Arial" panose="020B0604020202020204" pitchFamily="34" charset="0"/>
                <a:ea typeface="ＭＳ Ｐゴシック" panose="020B0600070205080204" pitchFamily="34" charset="-128"/>
              </a:rPr>
              <a:t>i</a:t>
            </a:r>
            <a:r>
              <a:rPr lang="es-ES_tradnl" altLang="es-ES" sz="2400" i="1" baseline="-25000" dirty="0">
                <a:solidFill>
                  <a:srgbClr val="320E04"/>
                </a:solidFill>
                <a:latin typeface="Arial" panose="020B0604020202020204" pitchFamily="34" charset="0"/>
                <a:ea typeface="ＭＳ Ｐゴシック" panose="020B0600070205080204" pitchFamily="34" charset="-128"/>
              </a:rPr>
              <a:t> </a:t>
            </a:r>
            <a:r>
              <a:rPr lang="es-ES_tradnl" altLang="es-ES" sz="2400" i="1" dirty="0">
                <a:solidFill>
                  <a:srgbClr val="320E04"/>
                </a:solidFill>
                <a:latin typeface="Arial" panose="020B0604020202020204" pitchFamily="34" charset="0"/>
                <a:ea typeface="ＭＳ Ｐゴシック" panose="020B0600070205080204" pitchFamily="34" charset="-128"/>
              </a:rPr>
              <a:t>= Cantidad neta + Demasías + Roturas = </a:t>
            </a:r>
          </a:p>
          <a:p>
            <a:pPr marL="26988" eaLnBrk="1" hangingPunct="1"/>
            <a:r>
              <a:rPr lang="es-ES_tradnl" altLang="es-ES" sz="2400" i="1" dirty="0">
                <a:solidFill>
                  <a:srgbClr val="320E04"/>
                </a:solidFill>
                <a:latin typeface="Arial" panose="020B0604020202020204" pitchFamily="34" charset="0"/>
                <a:ea typeface="ＭＳ Ｐゴシック" panose="020B0600070205080204" pitchFamily="34" charset="-128"/>
              </a:rPr>
              <a:t>    = </a:t>
            </a:r>
            <a:r>
              <a:rPr lang="es-ES_tradnl" altLang="es-ES" sz="2400" i="1" dirty="0" err="1">
                <a:solidFill>
                  <a:srgbClr val="320E04"/>
                </a:solidFill>
                <a:latin typeface="Arial" panose="020B0604020202020204" pitchFamily="34" charset="0"/>
                <a:ea typeface="ＭＳ Ｐゴシック" panose="020B0600070205080204" pitchFamily="34" charset="-128"/>
              </a:rPr>
              <a:t>Q’</a:t>
            </a:r>
            <a:r>
              <a:rPr lang="es-ES_tradnl" altLang="ja-JP" sz="2400" i="1" baseline="-25000" dirty="0" err="1">
                <a:solidFill>
                  <a:srgbClr val="320E04"/>
                </a:solidFill>
                <a:latin typeface="Arial" panose="020B0604020202020204" pitchFamily="34" charset="0"/>
                <a:ea typeface="ＭＳ Ｐゴシック" panose="020B0600070205080204" pitchFamily="34" charset="-128"/>
              </a:rPr>
              <a:t>i</a:t>
            </a:r>
            <a:r>
              <a:rPr lang="es-ES_tradnl" altLang="ja-JP" sz="2400" i="1" baseline="-25000" dirty="0">
                <a:solidFill>
                  <a:srgbClr val="320E04"/>
                </a:solidFill>
                <a:latin typeface="Arial" panose="020B0604020202020204" pitchFamily="34" charset="0"/>
                <a:ea typeface="ＭＳ Ｐゴシック" panose="020B0600070205080204" pitchFamily="34" charset="-128"/>
              </a:rPr>
              <a:t> </a:t>
            </a:r>
            <a:r>
              <a:rPr lang="es-ES_tradnl" altLang="ja-JP" sz="2400" i="1" dirty="0">
                <a:solidFill>
                  <a:srgbClr val="320E04"/>
                </a:solidFill>
                <a:latin typeface="Arial" panose="020B0604020202020204" pitchFamily="34" charset="0"/>
                <a:ea typeface="ＭＳ Ｐゴシック" panose="020B0600070205080204" pitchFamily="34" charset="-128"/>
              </a:rPr>
              <a:t>(1 + r/100)</a:t>
            </a:r>
          </a:p>
          <a:p>
            <a:pPr marL="26988" eaLnBrk="1" hangingPunct="1"/>
            <a:r>
              <a:rPr lang="es-ES_tradnl" altLang="es-ES" sz="2400" i="1" dirty="0" err="1">
                <a:solidFill>
                  <a:srgbClr val="320E04"/>
                </a:solidFill>
                <a:latin typeface="Arial" panose="020B0604020202020204" pitchFamily="34" charset="0"/>
                <a:ea typeface="ＭＳ Ｐゴシック" panose="020B0600070205080204" pitchFamily="34" charset="-128"/>
              </a:rPr>
              <a:t>P’</a:t>
            </a:r>
            <a:r>
              <a:rPr lang="es-ES_tradnl" altLang="ja-JP" sz="2400" i="1" baseline="-25000" dirty="0" err="1">
                <a:solidFill>
                  <a:srgbClr val="320E04"/>
                </a:solidFill>
                <a:latin typeface="Arial" panose="020B0604020202020204" pitchFamily="34" charset="0"/>
                <a:ea typeface="ＭＳ Ｐゴシック" panose="020B0600070205080204" pitchFamily="34" charset="-128"/>
              </a:rPr>
              <a:t>i</a:t>
            </a:r>
            <a:r>
              <a:rPr lang="es-ES_tradnl" altLang="ja-JP" sz="2400" i="1" dirty="0">
                <a:solidFill>
                  <a:srgbClr val="320E04"/>
                </a:solidFill>
                <a:latin typeface="Arial" panose="020B0604020202020204" pitchFamily="34" charset="0"/>
                <a:ea typeface="ＭＳ Ｐゴシック" panose="020B0600070205080204" pitchFamily="34" charset="-128"/>
              </a:rPr>
              <a:t> = P</a:t>
            </a:r>
            <a:r>
              <a:rPr lang="es-ES_tradnl" altLang="ja-JP" sz="2400" i="1" baseline="-25000" dirty="0">
                <a:solidFill>
                  <a:srgbClr val="320E04"/>
                </a:solidFill>
                <a:latin typeface="Arial" panose="020B0604020202020204" pitchFamily="34" charset="0"/>
                <a:ea typeface="ＭＳ Ｐゴシック" panose="020B0600070205080204" pitchFamily="34" charset="-128"/>
              </a:rPr>
              <a:t>i </a:t>
            </a:r>
            <a:r>
              <a:rPr lang="es-ES_tradnl" altLang="ja-JP" sz="2400" i="1" dirty="0">
                <a:solidFill>
                  <a:srgbClr val="320E04"/>
                </a:solidFill>
                <a:latin typeface="Arial" panose="020B0604020202020204" pitchFamily="34" charset="0"/>
                <a:ea typeface="ＭＳ Ｐゴシック" panose="020B0600070205080204" pitchFamily="34" charset="-128"/>
              </a:rPr>
              <a:t>(1 + r/100)</a:t>
            </a:r>
          </a:p>
          <a:p>
            <a:pPr marL="26988" eaLnBrk="1" hangingPunct="1"/>
            <a:r>
              <a:rPr lang="es-ES_tradnl" altLang="es-ES" sz="2400" i="1" dirty="0" err="1">
                <a:solidFill>
                  <a:srgbClr val="320E04"/>
                </a:solidFill>
                <a:latin typeface="Arial" panose="020B0604020202020204" pitchFamily="34" charset="0"/>
                <a:ea typeface="ＭＳ Ｐゴシック" panose="020B0600070205080204" pitchFamily="34" charset="-128"/>
              </a:rPr>
              <a:t>Q’</a:t>
            </a:r>
            <a:r>
              <a:rPr lang="es-ES_tradnl" altLang="ja-JP" sz="2400" i="1" baseline="-25000" dirty="0" err="1">
                <a:solidFill>
                  <a:srgbClr val="320E04"/>
                </a:solidFill>
                <a:latin typeface="Arial" panose="020B0604020202020204" pitchFamily="34" charset="0"/>
                <a:ea typeface="ＭＳ Ｐゴシック" panose="020B0600070205080204" pitchFamily="34" charset="-128"/>
              </a:rPr>
              <a:t>i</a:t>
            </a:r>
            <a:r>
              <a:rPr lang="es-ES_tradnl" altLang="ja-JP" sz="2400" i="1" dirty="0">
                <a:solidFill>
                  <a:srgbClr val="320E04"/>
                </a:solidFill>
                <a:latin typeface="Arial" panose="020B0604020202020204" pitchFamily="34" charset="0"/>
                <a:ea typeface="ＭＳ Ｐゴシック" panose="020B0600070205080204" pitchFamily="34" charset="-128"/>
              </a:rPr>
              <a:t> = Cantidad neta</a:t>
            </a:r>
          </a:p>
          <a:p>
            <a:pPr marL="26988" eaLnBrk="1" hangingPunct="1"/>
            <a:r>
              <a:rPr lang="es-ES_tradnl" altLang="es-ES" sz="2400" i="1" dirty="0">
                <a:solidFill>
                  <a:srgbClr val="320E04"/>
                </a:solidFill>
                <a:latin typeface="Arial" panose="020B0604020202020204" pitchFamily="34" charset="0"/>
                <a:ea typeface="ＭＳ Ｐゴシック" panose="020B0600070205080204" pitchFamily="34" charset="-128"/>
              </a:rPr>
              <a:t>r = porcentaje por demasías, pérdidas o roturas</a:t>
            </a:r>
            <a:endParaRPr lang="es-ES_tradnl" altLang="es-ES" sz="2400" dirty="0">
              <a:solidFill>
                <a:srgbClr val="320E04"/>
              </a:solidFill>
              <a:latin typeface="Arial" panose="020B0604020202020204" pitchFamily="34" charset="0"/>
              <a:ea typeface="ＭＳ Ｐゴシック" panose="020B0600070205080204" pitchFamily="34" charset="-128"/>
            </a:endParaRPr>
          </a:p>
        </p:txBody>
      </p:sp>
      <p:sp>
        <p:nvSpPr>
          <p:cNvPr id="6" name="1 Título">
            <a:extLst>
              <a:ext uri="{FF2B5EF4-FFF2-40B4-BE49-F238E27FC236}">
                <a16:creationId xmlns:a16="http://schemas.microsoft.com/office/drawing/2014/main" id="{FA965608-4393-C24F-8D30-6249B705B983}"/>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2 Subtítulo">
            <a:extLst>
              <a:ext uri="{FF2B5EF4-FFF2-40B4-BE49-F238E27FC236}">
                <a16:creationId xmlns:a16="http://schemas.microsoft.com/office/drawing/2014/main" id="{976FC357-64A7-A749-A728-CF94CD620052}"/>
              </a:ext>
            </a:extLst>
          </p:cNvPr>
          <p:cNvSpPr>
            <a:spLocks noGrp="1"/>
          </p:cNvSpPr>
          <p:nvPr>
            <p:ph type="subTitle" idx="1"/>
          </p:nvPr>
        </p:nvSpPr>
        <p:spPr>
          <a:xfrm>
            <a:off x="1042988" y="1341438"/>
            <a:ext cx="7921625" cy="5111750"/>
          </a:xfrm>
        </p:spPr>
        <p:txBody>
          <a:bodyPr/>
          <a:lstStyle/>
          <a:p>
            <a:pPr marL="26988" eaLnBrk="1" hangingPunct="1"/>
            <a:r>
              <a:rPr lang="es-ES_tradnl" altLang="es-ES" sz="2000" b="1" u="sng" dirty="0">
                <a:solidFill>
                  <a:srgbClr val="320E04"/>
                </a:solidFill>
                <a:ea typeface="ＭＳ Ｐゴシック" panose="020B0600070205080204" pitchFamily="34" charset="-128"/>
              </a:rPr>
              <a:t>Coste del trabajo</a:t>
            </a:r>
          </a:p>
          <a:p>
            <a:pPr marL="26988" eaLnBrk="1" hangingPunct="1"/>
            <a:endParaRPr lang="es-ES_tradnl" altLang="es-ES" sz="2000" b="1" u="sng" dirty="0">
              <a:solidFill>
                <a:srgbClr val="320E04"/>
              </a:solidFill>
              <a:ea typeface="ＭＳ Ｐゴシック" panose="020B0600070205080204" pitchFamily="34" charset="-128"/>
            </a:endParaRPr>
          </a:p>
          <a:p>
            <a:pPr marL="26988" eaLnBrk="1" hangingPunct="1"/>
            <a:r>
              <a:rPr lang="es-ES_tradnl" altLang="es-ES" b="1" i="1" dirty="0">
                <a:solidFill>
                  <a:srgbClr val="320E04"/>
                </a:solidFill>
                <a:latin typeface="Arial" panose="020B0604020202020204" pitchFamily="34" charset="0"/>
                <a:ea typeface="ＭＳ Ｐゴシック" panose="020B0600070205080204" pitchFamily="34" charset="-128"/>
              </a:rPr>
              <a:t>		Coste del trabajo = </a:t>
            </a:r>
            <a:r>
              <a:rPr lang="es-ES_tradnl" altLang="es-ES" b="1" dirty="0" err="1">
                <a:solidFill>
                  <a:srgbClr val="320E04"/>
                </a:solidFill>
                <a:latin typeface="Arial" panose="020B0604020202020204" pitchFamily="34" charset="0"/>
                <a:ea typeface="ＭＳ Ｐゴシック" panose="020B0600070205080204" pitchFamily="34" charset="-128"/>
              </a:rPr>
              <a:t>Σ</a:t>
            </a:r>
            <a:r>
              <a:rPr lang="es-ES_tradnl" altLang="es-ES" b="1" i="1" dirty="0" err="1">
                <a:solidFill>
                  <a:srgbClr val="320E04"/>
                </a:solidFill>
                <a:latin typeface="Arial" panose="020B0604020202020204" pitchFamily="34" charset="0"/>
                <a:ea typeface="ＭＳ Ｐゴシック" panose="020B0600070205080204" pitchFamily="34" charset="-128"/>
              </a:rPr>
              <a:t>p</a:t>
            </a:r>
            <a:r>
              <a:rPr lang="es-ES_tradnl" altLang="es-ES" b="1" i="1" baseline="-25000" dirty="0" err="1">
                <a:solidFill>
                  <a:srgbClr val="320E04"/>
                </a:solidFill>
                <a:latin typeface="Arial" panose="020B0604020202020204" pitchFamily="34" charset="0"/>
                <a:ea typeface="ＭＳ Ｐゴシック" panose="020B0600070205080204" pitchFamily="34" charset="-128"/>
              </a:rPr>
              <a:t>i</a:t>
            </a:r>
            <a:r>
              <a:rPr lang="es-ES_tradnl" altLang="es-ES" b="1" i="1" dirty="0" err="1">
                <a:solidFill>
                  <a:srgbClr val="320E04"/>
                </a:solidFill>
                <a:latin typeface="Arial" panose="020B0604020202020204" pitchFamily="34" charset="0"/>
                <a:ea typeface="ＭＳ Ｐゴシック" panose="020B0600070205080204" pitchFamily="34" charset="-128"/>
              </a:rPr>
              <a:t>h</a:t>
            </a:r>
            <a:r>
              <a:rPr lang="es-ES_tradnl" altLang="es-ES" b="1" i="1" baseline="-25000" dirty="0" err="1">
                <a:solidFill>
                  <a:srgbClr val="320E04"/>
                </a:solidFill>
                <a:latin typeface="Arial" panose="020B0604020202020204" pitchFamily="34" charset="0"/>
                <a:ea typeface="ＭＳ Ｐゴシック" panose="020B0600070205080204" pitchFamily="34" charset="-128"/>
              </a:rPr>
              <a:t>i</a:t>
            </a:r>
            <a:endParaRPr lang="es-ES_tradnl" altLang="es-ES" b="1"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endParaRPr lang="es-ES_tradnl" altLang="es-ES" b="1"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400" i="1" dirty="0">
                <a:solidFill>
                  <a:srgbClr val="320E04"/>
                </a:solidFill>
                <a:latin typeface="Arial" panose="020B0604020202020204" pitchFamily="34" charset="0"/>
                <a:ea typeface="ＭＳ Ｐゴシック" panose="020B0600070205080204" pitchFamily="34" charset="-128"/>
              </a:rPr>
              <a:t>P</a:t>
            </a:r>
            <a:r>
              <a:rPr lang="es-ES_tradnl" altLang="es-ES" sz="2400" i="1" baseline="-25000" dirty="0">
                <a:solidFill>
                  <a:srgbClr val="320E04"/>
                </a:solidFill>
                <a:latin typeface="Arial" panose="020B0604020202020204" pitchFamily="34" charset="0"/>
                <a:ea typeface="ＭＳ Ｐゴシック" panose="020B0600070205080204" pitchFamily="34" charset="-128"/>
              </a:rPr>
              <a:t>i</a:t>
            </a:r>
            <a:r>
              <a:rPr lang="es-ES_tradnl" altLang="es-ES" sz="2400" i="1" dirty="0">
                <a:solidFill>
                  <a:srgbClr val="320E04"/>
                </a:solidFill>
                <a:latin typeface="Arial" panose="020B0604020202020204" pitchFamily="34" charset="0"/>
                <a:ea typeface="ＭＳ Ｐゴシック" panose="020B0600070205080204" pitchFamily="34" charset="-128"/>
              </a:rPr>
              <a:t> = Coste del trabajo de la categoría laboral ‘</a:t>
            </a:r>
            <a:r>
              <a:rPr lang="es-ES_tradnl" altLang="ja-JP" sz="2400" i="1" dirty="0">
                <a:solidFill>
                  <a:srgbClr val="320E04"/>
                </a:solidFill>
                <a:latin typeface="Arial" panose="020B0604020202020204" pitchFamily="34" charset="0"/>
                <a:ea typeface="ＭＳ Ｐゴシック" panose="020B0600070205080204" pitchFamily="34" charset="-128"/>
              </a:rPr>
              <a:t>i</a:t>
            </a:r>
            <a:r>
              <a:rPr lang="es-ES_tradnl" altLang="es-ES" sz="2400" i="1" dirty="0">
                <a:solidFill>
                  <a:srgbClr val="320E04"/>
                </a:solidFill>
                <a:latin typeface="Arial" panose="020B0604020202020204" pitchFamily="34" charset="0"/>
                <a:ea typeface="ＭＳ Ｐゴシック" panose="020B0600070205080204" pitchFamily="34" charset="-128"/>
              </a:rPr>
              <a:t>’</a:t>
            </a:r>
            <a:r>
              <a:rPr lang="es-ES_tradnl" altLang="ja-JP" sz="2400" i="1" dirty="0">
                <a:solidFill>
                  <a:srgbClr val="320E04"/>
                </a:solidFill>
                <a:latin typeface="Arial" panose="020B0604020202020204" pitchFamily="34" charset="0"/>
                <a:ea typeface="ＭＳ Ｐゴシック" panose="020B0600070205080204" pitchFamily="34" charset="-128"/>
              </a:rPr>
              <a:t> (información proporcionada por el proveedor o contratista)</a:t>
            </a:r>
          </a:p>
          <a:p>
            <a:pPr marL="26988" eaLnBrk="1" hangingPunct="1"/>
            <a:r>
              <a:rPr lang="es-ES_tradnl" altLang="es-ES" sz="2400" i="1" dirty="0">
                <a:solidFill>
                  <a:srgbClr val="320E04"/>
                </a:solidFill>
                <a:latin typeface="Arial" panose="020B0604020202020204" pitchFamily="34" charset="0"/>
                <a:ea typeface="ＭＳ Ｐゴシック" panose="020B0600070205080204" pitchFamily="34" charset="-128"/>
              </a:rPr>
              <a:t>h</a:t>
            </a:r>
            <a:r>
              <a:rPr lang="es-ES_tradnl" altLang="es-ES" sz="2400" i="1" baseline="-25000" dirty="0">
                <a:solidFill>
                  <a:srgbClr val="320E04"/>
                </a:solidFill>
                <a:latin typeface="Arial" panose="020B0604020202020204" pitchFamily="34" charset="0"/>
                <a:ea typeface="ＭＳ Ｐゴシック" panose="020B0600070205080204" pitchFamily="34" charset="-128"/>
              </a:rPr>
              <a:t>i</a:t>
            </a:r>
            <a:r>
              <a:rPr lang="es-ES_tradnl" altLang="es-ES" sz="2400" i="1" dirty="0">
                <a:solidFill>
                  <a:srgbClr val="320E04"/>
                </a:solidFill>
                <a:latin typeface="Arial" panose="020B0604020202020204" pitchFamily="34" charset="0"/>
                <a:ea typeface="ＭＳ Ｐゴシック" panose="020B0600070205080204" pitchFamily="34" charset="-128"/>
              </a:rPr>
              <a:t> = Número de unidades de tiempo necesarias de la categoría ‘i’</a:t>
            </a:r>
            <a:r>
              <a:rPr lang="es-ES_tradnl" altLang="ja-JP" sz="2400" i="1" dirty="0">
                <a:solidFill>
                  <a:srgbClr val="320E04"/>
                </a:solidFill>
                <a:latin typeface="Arial" panose="020B0604020202020204" pitchFamily="34" charset="0"/>
                <a:ea typeface="ＭＳ Ｐゴシック" panose="020B0600070205080204" pitchFamily="34" charset="-128"/>
              </a:rPr>
              <a:t>(estimación)</a:t>
            </a:r>
            <a:endParaRPr lang="es-ES_tradnl" altLang="es-ES" sz="2400" dirty="0">
              <a:solidFill>
                <a:srgbClr val="320E04"/>
              </a:solidFill>
              <a:latin typeface="Arial" panose="020B0604020202020204" pitchFamily="34" charset="0"/>
              <a:ea typeface="ＭＳ Ｐゴシック" panose="020B0600070205080204" pitchFamily="34" charset="-128"/>
            </a:endParaRPr>
          </a:p>
        </p:txBody>
      </p:sp>
      <p:sp>
        <p:nvSpPr>
          <p:cNvPr id="6" name="1 Título">
            <a:extLst>
              <a:ext uri="{FF2B5EF4-FFF2-40B4-BE49-F238E27FC236}">
                <a16:creationId xmlns:a16="http://schemas.microsoft.com/office/drawing/2014/main" id="{6C7D874B-EB28-8546-9E79-CC686D59CC57}"/>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2 Subtítulo">
            <a:extLst>
              <a:ext uri="{FF2B5EF4-FFF2-40B4-BE49-F238E27FC236}">
                <a16:creationId xmlns:a16="http://schemas.microsoft.com/office/drawing/2014/main" id="{5290E3AB-03F1-854E-B7E6-A4B7BE0572A1}"/>
              </a:ext>
            </a:extLst>
          </p:cNvPr>
          <p:cNvSpPr>
            <a:spLocks noGrp="1"/>
          </p:cNvSpPr>
          <p:nvPr>
            <p:ph type="subTitle" idx="1"/>
          </p:nvPr>
        </p:nvSpPr>
        <p:spPr>
          <a:xfrm>
            <a:off x="1042988" y="1341438"/>
            <a:ext cx="7921625" cy="5111750"/>
          </a:xfrm>
        </p:spPr>
        <p:txBody>
          <a:bodyPr/>
          <a:lstStyle/>
          <a:p>
            <a:pPr marL="26988" eaLnBrk="1" hangingPunct="1"/>
            <a:r>
              <a:rPr lang="es-ES_tradnl" altLang="es-ES" sz="2000" b="1" u="sng" dirty="0">
                <a:solidFill>
                  <a:srgbClr val="320E04"/>
                </a:solidFill>
                <a:ea typeface="ＭＳ Ｐゴシック" panose="020B0600070205080204" pitchFamily="34" charset="-128"/>
              </a:rPr>
              <a:t>Coste por uso del equipo industrial</a:t>
            </a:r>
          </a:p>
          <a:p>
            <a:pPr marL="26988" eaLnBrk="1" hangingPunct="1"/>
            <a:endParaRPr lang="es-ES_tradnl" altLang="es-ES" sz="2000" b="1" u="sng" dirty="0">
              <a:solidFill>
                <a:srgbClr val="320E04"/>
              </a:solidFill>
              <a:ea typeface="ＭＳ Ｐゴシック" panose="020B0600070205080204" pitchFamily="34" charset="-128"/>
            </a:endParaRPr>
          </a:p>
          <a:p>
            <a:pPr marL="26988" eaLnBrk="1" hangingPunct="1"/>
            <a:r>
              <a:rPr lang="es-ES_tradnl" altLang="es-ES" b="1" i="1" dirty="0">
                <a:solidFill>
                  <a:srgbClr val="320E04"/>
                </a:solidFill>
                <a:latin typeface="Arial" panose="020B0604020202020204" pitchFamily="34" charset="0"/>
                <a:ea typeface="ＭＳ Ｐゴシック" panose="020B0600070205080204" pitchFamily="34" charset="-128"/>
              </a:rPr>
              <a:t>     Coste del equipo industrial = </a:t>
            </a:r>
            <a:r>
              <a:rPr lang="es-ES_tradnl" altLang="es-ES" b="1" dirty="0" err="1">
                <a:solidFill>
                  <a:srgbClr val="320E04"/>
                </a:solidFill>
                <a:latin typeface="Arial" panose="020B0604020202020204" pitchFamily="34" charset="0"/>
                <a:ea typeface="ＭＳ Ｐゴシック" panose="020B0600070205080204" pitchFamily="34" charset="-128"/>
              </a:rPr>
              <a:t>Σ</a:t>
            </a:r>
            <a:r>
              <a:rPr lang="es-ES_tradnl" altLang="es-ES" b="1" i="1" dirty="0" err="1">
                <a:solidFill>
                  <a:srgbClr val="320E04"/>
                </a:solidFill>
                <a:latin typeface="Arial" panose="020B0604020202020204" pitchFamily="34" charset="0"/>
                <a:ea typeface="ＭＳ Ｐゴシック" panose="020B0600070205080204" pitchFamily="34" charset="-128"/>
              </a:rPr>
              <a:t>e</a:t>
            </a:r>
            <a:r>
              <a:rPr lang="es-ES_tradnl" altLang="es-ES" b="1" i="1" baseline="-25000" dirty="0" err="1">
                <a:solidFill>
                  <a:srgbClr val="320E04"/>
                </a:solidFill>
                <a:latin typeface="Arial" panose="020B0604020202020204" pitchFamily="34" charset="0"/>
                <a:ea typeface="ＭＳ Ｐゴシック" panose="020B0600070205080204" pitchFamily="34" charset="-128"/>
              </a:rPr>
              <a:t>i</a:t>
            </a:r>
            <a:r>
              <a:rPr lang="es-ES_tradnl" altLang="es-ES" b="1" i="1" dirty="0" err="1">
                <a:solidFill>
                  <a:srgbClr val="320E04"/>
                </a:solidFill>
                <a:latin typeface="Arial" panose="020B0604020202020204" pitchFamily="34" charset="0"/>
                <a:ea typeface="ＭＳ Ｐゴシック" panose="020B0600070205080204" pitchFamily="34" charset="-128"/>
              </a:rPr>
              <a:t>t</a:t>
            </a:r>
            <a:r>
              <a:rPr lang="es-ES_tradnl" altLang="es-ES" b="1" i="1" baseline="-25000" dirty="0" err="1">
                <a:solidFill>
                  <a:srgbClr val="320E04"/>
                </a:solidFill>
                <a:latin typeface="Arial" panose="020B0604020202020204" pitchFamily="34" charset="0"/>
                <a:ea typeface="ＭＳ Ｐゴシック" panose="020B0600070205080204" pitchFamily="34" charset="-128"/>
              </a:rPr>
              <a:t>i</a:t>
            </a:r>
            <a:endParaRPr lang="es-ES_tradnl" altLang="es-ES" b="1"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endParaRPr lang="es-ES_tradnl" altLang="es-ES" b="1"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400" i="1" dirty="0" err="1">
                <a:solidFill>
                  <a:srgbClr val="320E04"/>
                </a:solidFill>
                <a:latin typeface="Arial" panose="020B0604020202020204" pitchFamily="34" charset="0"/>
                <a:ea typeface="ＭＳ Ｐゴシック" panose="020B0600070205080204" pitchFamily="34" charset="-128"/>
              </a:rPr>
              <a:t>e</a:t>
            </a:r>
            <a:r>
              <a:rPr lang="es-ES_tradnl" altLang="es-ES" sz="2400" i="1" baseline="-25000" dirty="0" err="1">
                <a:solidFill>
                  <a:srgbClr val="320E04"/>
                </a:solidFill>
                <a:latin typeface="Arial" panose="020B0604020202020204" pitchFamily="34" charset="0"/>
                <a:ea typeface="ＭＳ Ｐゴシック" panose="020B0600070205080204" pitchFamily="34" charset="-128"/>
              </a:rPr>
              <a:t>i</a:t>
            </a:r>
            <a:r>
              <a:rPr lang="es-ES_tradnl" altLang="es-ES" sz="2400" i="1" dirty="0">
                <a:solidFill>
                  <a:srgbClr val="320E04"/>
                </a:solidFill>
                <a:latin typeface="Arial" panose="020B0604020202020204" pitchFamily="34" charset="0"/>
                <a:ea typeface="ＭＳ Ｐゴシック" panose="020B0600070205080204" pitchFamily="34" charset="-128"/>
              </a:rPr>
              <a:t> = Coste del equipo ‘</a:t>
            </a:r>
            <a:r>
              <a:rPr lang="es-ES_tradnl" altLang="ja-JP" sz="2400" i="1" dirty="0">
                <a:solidFill>
                  <a:srgbClr val="320E04"/>
                </a:solidFill>
                <a:latin typeface="Arial" panose="020B0604020202020204" pitchFamily="34" charset="0"/>
                <a:ea typeface="ＭＳ Ｐゴシック" panose="020B0600070205080204" pitchFamily="34" charset="-128"/>
              </a:rPr>
              <a:t>i</a:t>
            </a:r>
            <a:r>
              <a:rPr lang="es-ES_tradnl" altLang="es-ES" sz="2400" i="1" dirty="0">
                <a:solidFill>
                  <a:srgbClr val="320E04"/>
                </a:solidFill>
                <a:latin typeface="Arial" panose="020B0604020202020204" pitchFamily="34" charset="0"/>
                <a:ea typeface="ＭＳ Ｐゴシック" panose="020B0600070205080204" pitchFamily="34" charset="-128"/>
              </a:rPr>
              <a:t>’</a:t>
            </a:r>
            <a:r>
              <a:rPr lang="es-ES_tradnl" altLang="ja-JP" sz="2400" i="1" dirty="0">
                <a:solidFill>
                  <a:srgbClr val="320E04"/>
                </a:solidFill>
                <a:latin typeface="Arial" panose="020B0604020202020204" pitchFamily="34" charset="0"/>
                <a:ea typeface="ＭＳ Ｐゴシック" panose="020B0600070205080204" pitchFamily="34" charset="-128"/>
              </a:rPr>
              <a:t> por unidad de tiempo (dato proporcionado por el proveedor o contratista)</a:t>
            </a:r>
          </a:p>
          <a:p>
            <a:pPr marL="26988" eaLnBrk="1" hangingPunct="1"/>
            <a:r>
              <a:rPr lang="es-ES_tradnl" altLang="es-ES" sz="2400" i="1" dirty="0">
                <a:solidFill>
                  <a:srgbClr val="320E04"/>
                </a:solidFill>
                <a:latin typeface="Arial" panose="020B0604020202020204" pitchFamily="34" charset="0"/>
                <a:ea typeface="ＭＳ Ｐゴシック" panose="020B0600070205080204" pitchFamily="34" charset="-128"/>
              </a:rPr>
              <a:t>t</a:t>
            </a:r>
            <a:r>
              <a:rPr lang="es-ES_tradnl" altLang="es-ES" sz="2400" i="1" baseline="-25000" dirty="0">
                <a:solidFill>
                  <a:srgbClr val="320E04"/>
                </a:solidFill>
                <a:latin typeface="Arial" panose="020B0604020202020204" pitchFamily="34" charset="0"/>
                <a:ea typeface="ＭＳ Ｐゴシック" panose="020B0600070205080204" pitchFamily="34" charset="-128"/>
              </a:rPr>
              <a:t>i</a:t>
            </a:r>
            <a:r>
              <a:rPr lang="es-ES_tradnl" altLang="es-ES" sz="2400" i="1" dirty="0">
                <a:solidFill>
                  <a:srgbClr val="320E04"/>
                </a:solidFill>
                <a:latin typeface="Arial" panose="020B0604020202020204" pitchFamily="34" charset="0"/>
                <a:ea typeface="ＭＳ Ｐゴシック" panose="020B0600070205080204" pitchFamily="34" charset="-128"/>
              </a:rPr>
              <a:t> = Número de unidades de tiempo necesarias del equipo ‘</a:t>
            </a:r>
            <a:r>
              <a:rPr lang="es-ES_tradnl" altLang="ja-JP" sz="2400" i="1" dirty="0">
                <a:solidFill>
                  <a:srgbClr val="320E04"/>
                </a:solidFill>
                <a:latin typeface="Arial" panose="020B0604020202020204" pitchFamily="34" charset="0"/>
                <a:ea typeface="ＭＳ Ｐゴシック" panose="020B0600070205080204" pitchFamily="34" charset="-128"/>
              </a:rPr>
              <a:t>i</a:t>
            </a:r>
            <a:r>
              <a:rPr lang="es-ES_tradnl" altLang="es-ES" sz="2400" i="1" dirty="0">
                <a:solidFill>
                  <a:srgbClr val="320E04"/>
                </a:solidFill>
                <a:latin typeface="Arial" panose="020B0604020202020204" pitchFamily="34" charset="0"/>
                <a:ea typeface="ＭＳ Ｐゴシック" panose="020B0600070205080204" pitchFamily="34" charset="-128"/>
              </a:rPr>
              <a:t>’</a:t>
            </a:r>
            <a:r>
              <a:rPr lang="es-ES_tradnl" altLang="ja-JP" sz="2400" i="1" dirty="0">
                <a:solidFill>
                  <a:srgbClr val="320E04"/>
                </a:solidFill>
                <a:latin typeface="Arial" panose="020B0604020202020204" pitchFamily="34" charset="0"/>
                <a:ea typeface="ＭＳ Ｐゴシック" panose="020B0600070205080204" pitchFamily="34" charset="-128"/>
              </a:rPr>
              <a:t> (estimación)</a:t>
            </a:r>
          </a:p>
          <a:p>
            <a:pPr marL="26988" eaLnBrk="1" hangingPunct="1"/>
            <a:endParaRPr lang="es-ES_tradnl" altLang="es-ES" sz="2400" i="1"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400" b="1" dirty="0">
                <a:solidFill>
                  <a:srgbClr val="320E04"/>
                </a:solidFill>
                <a:latin typeface="Arial" panose="020B0604020202020204" pitchFamily="34" charset="0"/>
                <a:ea typeface="ＭＳ Ｐゴシック" panose="020B0600070205080204" pitchFamily="34" charset="-128"/>
              </a:rPr>
              <a:t>   </a:t>
            </a:r>
            <a:r>
              <a:rPr lang="es-ES_tradnl" altLang="es-ES" sz="2400" b="1" dirty="0" err="1">
                <a:solidFill>
                  <a:srgbClr val="320E04"/>
                </a:solidFill>
                <a:latin typeface="Arial" panose="020B0604020202020204" pitchFamily="34" charset="0"/>
                <a:ea typeface="ＭＳ Ｐゴシック" panose="020B0600070205080204" pitchFamily="34" charset="-128"/>
              </a:rPr>
              <a:t>e</a:t>
            </a:r>
            <a:r>
              <a:rPr lang="es-ES_tradnl" altLang="es-ES" sz="2400" b="1" baseline="-25000" dirty="0" err="1">
                <a:solidFill>
                  <a:srgbClr val="320E04"/>
                </a:solidFill>
                <a:latin typeface="Arial" panose="020B0604020202020204" pitchFamily="34" charset="0"/>
                <a:ea typeface="ＭＳ Ｐゴシック" panose="020B0600070205080204" pitchFamily="34" charset="-128"/>
              </a:rPr>
              <a:t>i</a:t>
            </a:r>
            <a:r>
              <a:rPr lang="es-ES_tradnl" altLang="es-ES" sz="2400" b="1" baseline="-25000" dirty="0">
                <a:solidFill>
                  <a:srgbClr val="320E04"/>
                </a:solidFill>
                <a:latin typeface="Arial" panose="020B0604020202020204" pitchFamily="34" charset="0"/>
                <a:ea typeface="ＭＳ Ｐゴシック" panose="020B0600070205080204" pitchFamily="34" charset="-128"/>
              </a:rPr>
              <a:t> </a:t>
            </a:r>
            <a:r>
              <a:rPr lang="es-ES_tradnl" altLang="es-ES" sz="2400" b="1" dirty="0">
                <a:solidFill>
                  <a:srgbClr val="320E04"/>
                </a:solidFill>
                <a:latin typeface="Arial" panose="020B0604020202020204" pitchFamily="34" charset="0"/>
                <a:ea typeface="ＭＳ Ｐゴシック" panose="020B0600070205080204" pitchFamily="34" charset="-128"/>
              </a:rPr>
              <a:t>= (amortizaciones + mantenimiento + energía)</a:t>
            </a:r>
            <a:r>
              <a:rPr lang="es-ES_tradnl" altLang="es-ES" sz="2400" b="1" baseline="-25000" dirty="0">
                <a:solidFill>
                  <a:srgbClr val="320E04"/>
                </a:solidFill>
                <a:latin typeface="Arial" panose="020B0604020202020204" pitchFamily="34" charset="0"/>
                <a:ea typeface="ＭＳ Ｐゴシック" panose="020B0600070205080204" pitchFamily="34" charset="-128"/>
              </a:rPr>
              <a:t>i</a:t>
            </a:r>
            <a:endParaRPr lang="es-ES_tradnl" altLang="es-ES" sz="2400" i="1" dirty="0">
              <a:solidFill>
                <a:srgbClr val="320E04"/>
              </a:solidFill>
              <a:latin typeface="Arial" panose="020B0604020202020204" pitchFamily="34" charset="0"/>
              <a:ea typeface="ＭＳ Ｐゴシック" panose="020B0600070205080204" pitchFamily="34" charset="-128"/>
            </a:endParaRPr>
          </a:p>
          <a:p>
            <a:pPr marL="26988" eaLnBrk="1" hangingPunct="1"/>
            <a:endParaRPr lang="es-ES_tradnl" altLang="es-ES" sz="2400" dirty="0">
              <a:solidFill>
                <a:srgbClr val="320E04"/>
              </a:solidFill>
              <a:latin typeface="Arial" panose="020B0604020202020204" pitchFamily="34" charset="0"/>
              <a:ea typeface="ＭＳ Ｐゴシック" panose="020B0600070205080204" pitchFamily="34" charset="-128"/>
            </a:endParaRPr>
          </a:p>
        </p:txBody>
      </p:sp>
      <p:sp>
        <p:nvSpPr>
          <p:cNvPr id="6" name="1 Título">
            <a:extLst>
              <a:ext uri="{FF2B5EF4-FFF2-40B4-BE49-F238E27FC236}">
                <a16:creationId xmlns:a16="http://schemas.microsoft.com/office/drawing/2014/main" id="{E8969D5F-4910-1144-A57D-5897840E5988}"/>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9BB9634F-7E0C-CC46-8452-2ED5BE90E738}"/>
              </a:ext>
            </a:extLst>
          </p:cNvPr>
          <p:cNvSpPr>
            <a:spLocks noGrp="1"/>
          </p:cNvSpPr>
          <p:nvPr>
            <p:ph type="subTitle" idx="1"/>
          </p:nvPr>
        </p:nvSpPr>
        <p:spPr>
          <a:xfrm>
            <a:off x="1403338" y="1340768"/>
            <a:ext cx="6337324" cy="5111750"/>
          </a:xfrm>
        </p:spPr>
        <p:txBody>
          <a:bodyPr>
            <a:normAutofit/>
          </a:bodyPr>
          <a:lstStyle/>
          <a:p>
            <a:pPr eaLnBrk="1" fontAlgn="auto" hangingPunct="1">
              <a:spcAft>
                <a:spcPts val="0"/>
              </a:spcAft>
              <a:buFont typeface="Wingdings 2"/>
              <a:buNone/>
              <a:defRPr/>
            </a:pPr>
            <a:r>
              <a:rPr lang="es-ES_tradnl" sz="2000" b="1" u="sng" dirty="0" err="1">
                <a:ea typeface="+mn-ea"/>
                <a:cs typeface="+mn-cs"/>
              </a:rPr>
              <a:t>Fomas</a:t>
            </a:r>
            <a:r>
              <a:rPr lang="es-ES_tradnl" sz="2000" b="1" u="sng" dirty="0">
                <a:ea typeface="+mn-ea"/>
                <a:cs typeface="+mn-cs"/>
              </a:rPr>
              <a:t> de presupuestar</a:t>
            </a:r>
          </a:p>
          <a:p>
            <a:pPr eaLnBrk="1" fontAlgn="auto" hangingPunct="1">
              <a:spcAft>
                <a:spcPts val="0"/>
              </a:spcAft>
              <a:buFont typeface="Wingdings 2"/>
              <a:buNone/>
              <a:defRPr/>
            </a:pPr>
            <a:endParaRPr lang="es-ES_tradnl" sz="2000" b="1" u="sng" dirty="0">
              <a:ea typeface="+mn-ea"/>
              <a:cs typeface="+mn-cs"/>
            </a:endParaRPr>
          </a:p>
          <a:p>
            <a:pPr eaLnBrk="1" fontAlgn="auto" hangingPunct="1">
              <a:spcAft>
                <a:spcPts val="0"/>
              </a:spcAft>
              <a:buFont typeface="Wingdings 2"/>
              <a:buNone/>
              <a:defRPr/>
            </a:pPr>
            <a:endParaRPr lang="es-ES_tradnl" sz="2000" b="1" u="sng" dirty="0">
              <a:ea typeface="+mn-ea"/>
              <a:cs typeface="+mn-cs"/>
            </a:endParaRPr>
          </a:p>
          <a:p>
            <a:pPr marL="541782" indent="-514350" eaLnBrk="1" fontAlgn="auto" hangingPunct="1">
              <a:spcAft>
                <a:spcPts val="0"/>
              </a:spcAft>
              <a:buFont typeface="+mj-lt"/>
              <a:buAutoNum type="arabicPeriod"/>
              <a:defRPr/>
            </a:pPr>
            <a:r>
              <a:rPr lang="es-ES_tradnl" b="1" i="1" dirty="0">
                <a:latin typeface="Arial" charset="0"/>
                <a:ea typeface="+mn-ea"/>
                <a:cs typeface="+mn-cs"/>
              </a:rPr>
              <a:t>Por costes según su naturaleza</a:t>
            </a:r>
          </a:p>
          <a:p>
            <a:pPr marL="541782" indent="-514350" eaLnBrk="1" fontAlgn="auto" hangingPunct="1">
              <a:spcAft>
                <a:spcPts val="0"/>
              </a:spcAft>
              <a:buFont typeface="+mj-lt"/>
              <a:buAutoNum type="arabicPeriod"/>
              <a:defRPr/>
            </a:pPr>
            <a:r>
              <a:rPr lang="es-ES_tradnl" b="1" i="1" dirty="0">
                <a:latin typeface="Arial" charset="0"/>
                <a:ea typeface="+mn-ea"/>
                <a:cs typeface="+mn-cs"/>
              </a:rPr>
              <a:t>Por secciones</a:t>
            </a:r>
          </a:p>
          <a:p>
            <a:pPr marL="541782" indent="-514350" eaLnBrk="1" fontAlgn="auto" hangingPunct="1">
              <a:spcAft>
                <a:spcPts val="0"/>
              </a:spcAft>
              <a:buFont typeface="+mj-lt"/>
              <a:buAutoNum type="arabicPeriod"/>
              <a:defRPr/>
            </a:pPr>
            <a:r>
              <a:rPr lang="es-ES_tradnl" b="1" i="1" dirty="0">
                <a:latin typeface="Arial" charset="0"/>
                <a:ea typeface="+mn-ea"/>
                <a:cs typeface="+mn-cs"/>
              </a:rPr>
              <a:t>Por precios descompuestos o unidades de obra</a:t>
            </a:r>
          </a:p>
          <a:p>
            <a:pPr eaLnBrk="1" fontAlgn="auto" hangingPunct="1">
              <a:spcAft>
                <a:spcPts val="0"/>
              </a:spcAft>
              <a:buFont typeface="Wingdings 2"/>
              <a:buNone/>
              <a:defRPr/>
            </a:pPr>
            <a:endParaRPr lang="es-ES_tradnl" b="1" i="1" dirty="0">
              <a:latin typeface="Arial" charset="0"/>
              <a:ea typeface="+mn-ea"/>
              <a:cs typeface="+mn-cs"/>
            </a:endParaRPr>
          </a:p>
          <a:p>
            <a:pPr eaLnBrk="1" fontAlgn="auto" hangingPunct="1">
              <a:spcAft>
                <a:spcPts val="0"/>
              </a:spcAft>
              <a:buFont typeface="Wingdings 2"/>
              <a:buNone/>
              <a:defRPr/>
            </a:pPr>
            <a:r>
              <a:rPr lang="es-ES_tradnl" b="1" i="1" dirty="0">
                <a:latin typeface="Arial" charset="0"/>
                <a:ea typeface="+mn-ea"/>
                <a:cs typeface="+mn-cs"/>
              </a:rPr>
              <a:t> </a:t>
            </a:r>
            <a:endParaRPr lang="es-ES_tradnl" sz="2400" dirty="0">
              <a:latin typeface="Arial" charset="0"/>
              <a:ea typeface="+mn-ea"/>
              <a:cs typeface="+mn-cs"/>
            </a:endParaRPr>
          </a:p>
        </p:txBody>
      </p:sp>
      <p:sp>
        <p:nvSpPr>
          <p:cNvPr id="6" name="1 Título">
            <a:extLst>
              <a:ext uri="{FF2B5EF4-FFF2-40B4-BE49-F238E27FC236}">
                <a16:creationId xmlns:a16="http://schemas.microsoft.com/office/drawing/2014/main" id="{689499CE-41CD-0A43-A8F4-2EF839DCD3A5}"/>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2 Subtítulo">
            <a:extLst>
              <a:ext uri="{FF2B5EF4-FFF2-40B4-BE49-F238E27FC236}">
                <a16:creationId xmlns:a16="http://schemas.microsoft.com/office/drawing/2014/main" id="{96DDE690-39F9-1244-A307-A45E60778D07}"/>
              </a:ext>
            </a:extLst>
          </p:cNvPr>
          <p:cNvSpPr>
            <a:spLocks noGrp="1"/>
          </p:cNvSpPr>
          <p:nvPr>
            <p:ph type="subTitle" idx="1"/>
          </p:nvPr>
        </p:nvSpPr>
        <p:spPr>
          <a:xfrm>
            <a:off x="1042988" y="1341438"/>
            <a:ext cx="7921625" cy="5111750"/>
          </a:xfrm>
        </p:spPr>
        <p:txBody>
          <a:bodyPr/>
          <a:lstStyle/>
          <a:p>
            <a:pPr marL="26988" eaLnBrk="1" hangingPunct="1"/>
            <a:r>
              <a:rPr lang="es-ES_tradnl" altLang="es-ES" sz="2000" b="1" u="sng" dirty="0" err="1">
                <a:solidFill>
                  <a:srgbClr val="320E04"/>
                </a:solidFill>
                <a:ea typeface="ＭＳ Ｐゴシック" panose="020B0600070205080204" pitchFamily="34" charset="-128"/>
              </a:rPr>
              <a:t>Fomas</a:t>
            </a:r>
            <a:r>
              <a:rPr lang="es-ES_tradnl" altLang="es-ES" sz="2000" b="1" u="sng" dirty="0">
                <a:solidFill>
                  <a:srgbClr val="320E04"/>
                </a:solidFill>
                <a:ea typeface="ＭＳ Ｐゴシック" panose="020B0600070205080204" pitchFamily="34" charset="-128"/>
              </a:rPr>
              <a:t> de presupuestar</a:t>
            </a:r>
          </a:p>
          <a:p>
            <a:pPr marL="26988" eaLnBrk="1" hangingPunct="1"/>
            <a:r>
              <a:rPr lang="es-ES_tradnl" altLang="es-ES" sz="2000" b="1" dirty="0">
                <a:solidFill>
                  <a:srgbClr val="320E04"/>
                </a:solidFill>
                <a:ea typeface="ＭＳ Ｐゴシック" panose="020B0600070205080204" pitchFamily="34" charset="-128"/>
              </a:rPr>
              <a:t>1.  Por costes según su naturaleza</a:t>
            </a:r>
          </a:p>
          <a:p>
            <a:pPr marL="26988" eaLnBrk="1" hangingPunct="1"/>
            <a:endParaRPr lang="es-ES_tradnl" altLang="es-ES" sz="2000" b="1" u="sng" dirty="0">
              <a:solidFill>
                <a:srgbClr val="320E04"/>
              </a:solidFill>
              <a:ea typeface="ＭＳ Ｐゴシック" panose="020B0600070205080204" pitchFamily="34" charset="-128"/>
            </a:endParaRPr>
          </a:p>
          <a:p>
            <a:pPr marL="26988" eaLnBrk="1" hangingPunct="1">
              <a:lnSpc>
                <a:spcPct val="90000"/>
              </a:lnSpc>
            </a:pPr>
            <a:r>
              <a:rPr lang="es-ES_tradnl" altLang="es-ES" sz="2400" b="1" dirty="0">
                <a:solidFill>
                  <a:srgbClr val="320E04"/>
                </a:solidFill>
                <a:latin typeface="Arial" panose="020B0604020202020204" pitchFamily="34" charset="0"/>
                <a:ea typeface="ＭＳ Ｐゴシック" panose="020B0600070205080204" pitchFamily="34" charset="-128"/>
              </a:rPr>
              <a:t>Presupuesto de ejecución =</a:t>
            </a:r>
          </a:p>
          <a:p>
            <a:pPr marL="26988" eaLnBrk="1" hangingPunct="1">
              <a:lnSpc>
                <a:spcPct val="90000"/>
              </a:lnSpc>
            </a:pPr>
            <a:r>
              <a:rPr lang="es-ES_tradnl" altLang="es-ES" sz="2400" b="1" dirty="0">
                <a:solidFill>
                  <a:srgbClr val="320E04"/>
                </a:solidFill>
                <a:latin typeface="Arial" panose="020B0604020202020204" pitchFamily="34" charset="0"/>
                <a:ea typeface="ＭＳ Ｐゴシック" panose="020B0600070205080204" pitchFamily="34" charset="-128"/>
              </a:rPr>
              <a:t>     = (Materiales + Trabajo + C.E.I.) x (1 + %CI/100</a:t>
            </a:r>
            <a:r>
              <a:rPr lang="es-ES_tradnl" altLang="es-ES" sz="2000" b="1" dirty="0">
                <a:solidFill>
                  <a:srgbClr val="320E04"/>
                </a:solidFill>
                <a:latin typeface="Arial" panose="020B0604020202020204" pitchFamily="34" charset="0"/>
                <a:ea typeface="ＭＳ Ｐゴシック" panose="020B0600070205080204" pitchFamily="34" charset="-128"/>
              </a:rPr>
              <a:t>)</a:t>
            </a:r>
          </a:p>
          <a:p>
            <a:pPr marL="26988" eaLnBrk="1" hangingPunct="1">
              <a:lnSpc>
                <a:spcPct val="90000"/>
              </a:lnSpc>
            </a:pPr>
            <a:endParaRPr lang="es-ES_tradnl" altLang="es-ES" sz="2400" i="1" dirty="0">
              <a:solidFill>
                <a:srgbClr val="320E04"/>
              </a:solidFill>
              <a:latin typeface="Arial" panose="020B0604020202020204" pitchFamily="34" charset="0"/>
              <a:ea typeface="ＭＳ Ｐゴシック" panose="020B0600070205080204" pitchFamily="34" charset="-128"/>
            </a:endParaRPr>
          </a:p>
          <a:p>
            <a:pPr marL="26988" eaLnBrk="1" hangingPunct="1">
              <a:lnSpc>
                <a:spcPct val="90000"/>
              </a:lnSpc>
            </a:pPr>
            <a:r>
              <a:rPr lang="es-ES_tradnl" altLang="es-ES" sz="2000" i="1" dirty="0">
                <a:solidFill>
                  <a:srgbClr val="320E04"/>
                </a:solidFill>
                <a:latin typeface="Arial" panose="020B0604020202020204" pitchFamily="34" charset="0"/>
                <a:ea typeface="ＭＳ Ｐゴシック" panose="020B0600070205080204" pitchFamily="34" charset="-128"/>
              </a:rPr>
              <a:t>Materiales = </a:t>
            </a:r>
            <a:r>
              <a:rPr lang="es-ES_tradnl" altLang="es-ES" sz="2000" dirty="0" err="1">
                <a:solidFill>
                  <a:srgbClr val="320E04"/>
                </a:solidFill>
                <a:latin typeface="Arial" panose="020B0604020202020204" pitchFamily="34" charset="0"/>
                <a:ea typeface="ＭＳ Ｐゴシック" panose="020B0600070205080204" pitchFamily="34" charset="-128"/>
              </a:rPr>
              <a:t>Σ</a:t>
            </a:r>
            <a:r>
              <a:rPr lang="es-ES_tradnl" altLang="es-ES" sz="2000" i="1" dirty="0" err="1">
                <a:solidFill>
                  <a:srgbClr val="320E04"/>
                </a:solidFill>
                <a:latin typeface="Arial" panose="020B0604020202020204" pitchFamily="34" charset="0"/>
                <a:ea typeface="ＭＳ Ｐゴシック" panose="020B0600070205080204" pitchFamily="34" charset="-128"/>
              </a:rPr>
              <a:t>P</a:t>
            </a:r>
            <a:r>
              <a:rPr lang="es-ES_tradnl" altLang="es-ES" sz="2000" i="1" baseline="-25000" dirty="0" err="1">
                <a:solidFill>
                  <a:srgbClr val="320E04"/>
                </a:solidFill>
                <a:latin typeface="Arial" panose="020B0604020202020204" pitchFamily="34" charset="0"/>
                <a:ea typeface="ＭＳ Ｐゴシック" panose="020B0600070205080204" pitchFamily="34" charset="-128"/>
              </a:rPr>
              <a:t>i</a:t>
            </a:r>
            <a:r>
              <a:rPr lang="es-ES_tradnl" altLang="es-ES" sz="2000" i="1" dirty="0" err="1">
                <a:solidFill>
                  <a:srgbClr val="320E04"/>
                </a:solidFill>
                <a:latin typeface="Arial" panose="020B0604020202020204" pitchFamily="34" charset="0"/>
                <a:ea typeface="ＭＳ Ｐゴシック" panose="020B0600070205080204" pitchFamily="34" charset="-128"/>
              </a:rPr>
              <a:t>Q</a:t>
            </a:r>
            <a:r>
              <a:rPr lang="es-ES_tradnl" altLang="es-ES" sz="2000" i="1" baseline="-25000" dirty="0" err="1">
                <a:solidFill>
                  <a:srgbClr val="320E04"/>
                </a:solidFill>
                <a:latin typeface="Arial" panose="020B0604020202020204" pitchFamily="34" charset="0"/>
                <a:ea typeface="ＭＳ Ｐゴシック" panose="020B0600070205080204" pitchFamily="34" charset="-128"/>
              </a:rPr>
              <a:t>i</a:t>
            </a:r>
            <a:endParaRPr lang="es-ES_tradnl" altLang="es-ES" sz="2000"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lnSpc>
                <a:spcPct val="90000"/>
              </a:lnSpc>
            </a:pPr>
            <a:r>
              <a:rPr lang="es-ES_tradnl" altLang="es-ES" sz="2000" i="1" dirty="0">
                <a:solidFill>
                  <a:srgbClr val="320E04"/>
                </a:solidFill>
                <a:latin typeface="Arial" panose="020B0604020202020204" pitchFamily="34" charset="0"/>
                <a:ea typeface="ＭＳ Ｐゴシック" panose="020B0600070205080204" pitchFamily="34" charset="-128"/>
              </a:rPr>
              <a:t>Labor     = </a:t>
            </a:r>
            <a:r>
              <a:rPr lang="es-ES_tradnl" altLang="es-ES" sz="2000" dirty="0" err="1">
                <a:solidFill>
                  <a:srgbClr val="320E04"/>
                </a:solidFill>
                <a:latin typeface="Arial" panose="020B0604020202020204" pitchFamily="34" charset="0"/>
                <a:ea typeface="ＭＳ Ｐゴシック" panose="020B0600070205080204" pitchFamily="34" charset="-128"/>
              </a:rPr>
              <a:t>Σ</a:t>
            </a:r>
            <a:r>
              <a:rPr lang="es-ES_tradnl" altLang="es-ES" sz="2000" i="1" dirty="0" err="1">
                <a:solidFill>
                  <a:srgbClr val="320E04"/>
                </a:solidFill>
                <a:latin typeface="Arial" panose="020B0604020202020204" pitchFamily="34" charset="0"/>
                <a:ea typeface="ＭＳ Ｐゴシック" panose="020B0600070205080204" pitchFamily="34" charset="-128"/>
              </a:rPr>
              <a:t>p</a:t>
            </a:r>
            <a:r>
              <a:rPr lang="es-ES_tradnl" altLang="es-ES" sz="2000" i="1" baseline="-25000" dirty="0" err="1">
                <a:solidFill>
                  <a:srgbClr val="320E04"/>
                </a:solidFill>
                <a:latin typeface="Arial" panose="020B0604020202020204" pitchFamily="34" charset="0"/>
                <a:ea typeface="ＭＳ Ｐゴシック" panose="020B0600070205080204" pitchFamily="34" charset="-128"/>
              </a:rPr>
              <a:t>i</a:t>
            </a:r>
            <a:r>
              <a:rPr lang="es-ES_tradnl" altLang="es-ES" sz="2000" i="1" dirty="0" err="1">
                <a:solidFill>
                  <a:srgbClr val="320E04"/>
                </a:solidFill>
                <a:latin typeface="Arial" panose="020B0604020202020204" pitchFamily="34" charset="0"/>
                <a:ea typeface="ＭＳ Ｐゴシック" panose="020B0600070205080204" pitchFamily="34" charset="-128"/>
              </a:rPr>
              <a:t>h</a:t>
            </a:r>
            <a:r>
              <a:rPr lang="es-ES_tradnl" altLang="es-ES" sz="2000" i="1" baseline="-25000" dirty="0" err="1">
                <a:solidFill>
                  <a:srgbClr val="320E04"/>
                </a:solidFill>
                <a:latin typeface="Arial" panose="020B0604020202020204" pitchFamily="34" charset="0"/>
                <a:ea typeface="ＭＳ Ｐゴシック" panose="020B0600070205080204" pitchFamily="34" charset="-128"/>
              </a:rPr>
              <a:t>i</a:t>
            </a:r>
            <a:endParaRPr lang="es-ES_tradnl" altLang="es-ES" sz="2000"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lnSpc>
                <a:spcPct val="90000"/>
              </a:lnSpc>
            </a:pPr>
            <a:r>
              <a:rPr lang="es-ES_tradnl" altLang="es-ES" sz="2000" i="1" dirty="0">
                <a:solidFill>
                  <a:srgbClr val="320E04"/>
                </a:solidFill>
                <a:latin typeface="Arial" panose="020B0604020202020204" pitchFamily="34" charset="0"/>
                <a:ea typeface="ＭＳ Ｐゴシック" panose="020B0600070205080204" pitchFamily="34" charset="-128"/>
              </a:rPr>
              <a:t>I.E.C.     = </a:t>
            </a:r>
            <a:r>
              <a:rPr lang="es-ES_tradnl" altLang="es-ES" sz="2000" dirty="0" err="1">
                <a:solidFill>
                  <a:srgbClr val="320E04"/>
                </a:solidFill>
                <a:latin typeface="Arial" panose="020B0604020202020204" pitchFamily="34" charset="0"/>
                <a:ea typeface="ＭＳ Ｐゴシック" panose="020B0600070205080204" pitchFamily="34" charset="-128"/>
              </a:rPr>
              <a:t>Σ</a:t>
            </a:r>
            <a:r>
              <a:rPr lang="es-ES_tradnl" altLang="es-ES" sz="2000" i="1" dirty="0" err="1">
                <a:solidFill>
                  <a:srgbClr val="320E04"/>
                </a:solidFill>
                <a:latin typeface="Arial" panose="020B0604020202020204" pitchFamily="34" charset="0"/>
                <a:ea typeface="ＭＳ Ｐゴシック" panose="020B0600070205080204" pitchFamily="34" charset="-128"/>
              </a:rPr>
              <a:t>e</a:t>
            </a:r>
            <a:r>
              <a:rPr lang="es-ES_tradnl" altLang="es-ES" sz="2000" i="1" baseline="-25000" dirty="0" err="1">
                <a:solidFill>
                  <a:srgbClr val="320E04"/>
                </a:solidFill>
                <a:latin typeface="Arial" panose="020B0604020202020204" pitchFamily="34" charset="0"/>
                <a:ea typeface="ＭＳ Ｐゴシック" panose="020B0600070205080204" pitchFamily="34" charset="-128"/>
              </a:rPr>
              <a:t>i</a:t>
            </a:r>
            <a:r>
              <a:rPr lang="es-ES_tradnl" altLang="es-ES" sz="2000" i="1" dirty="0" err="1">
                <a:solidFill>
                  <a:srgbClr val="320E04"/>
                </a:solidFill>
                <a:latin typeface="Arial" panose="020B0604020202020204" pitchFamily="34" charset="0"/>
                <a:ea typeface="ＭＳ Ｐゴシック" panose="020B0600070205080204" pitchFamily="34" charset="-128"/>
              </a:rPr>
              <a:t>t</a:t>
            </a:r>
            <a:r>
              <a:rPr lang="es-ES_tradnl" altLang="es-ES" sz="2000" i="1" baseline="-25000" dirty="0" err="1">
                <a:solidFill>
                  <a:srgbClr val="320E04"/>
                </a:solidFill>
                <a:latin typeface="Arial" panose="020B0604020202020204" pitchFamily="34" charset="0"/>
                <a:ea typeface="ＭＳ Ｐゴシック" panose="020B0600070205080204" pitchFamily="34" charset="-128"/>
              </a:rPr>
              <a:t>i</a:t>
            </a:r>
            <a:endParaRPr lang="es-ES_tradnl" altLang="es-ES" sz="2000"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lnSpc>
                <a:spcPct val="90000"/>
              </a:lnSpc>
            </a:pPr>
            <a:r>
              <a:rPr lang="es-ES_tradnl" altLang="es-ES" sz="2000" i="1" dirty="0">
                <a:solidFill>
                  <a:srgbClr val="320E04"/>
                </a:solidFill>
                <a:latin typeface="Arial" panose="020B0604020202020204" pitchFamily="34" charset="0"/>
                <a:ea typeface="ＭＳ Ｐゴシック" panose="020B0600070205080204" pitchFamily="34" charset="-128"/>
              </a:rPr>
              <a:t>C.I.       = Gastos indirectos de fabricación</a:t>
            </a:r>
            <a:endParaRPr lang="es-ES_tradnl" altLang="es-ES" sz="2000" i="1" baseline="-25000" dirty="0">
              <a:solidFill>
                <a:srgbClr val="320E04"/>
              </a:solidFill>
              <a:latin typeface="Arial" panose="020B0604020202020204" pitchFamily="34" charset="0"/>
              <a:ea typeface="ＭＳ Ｐゴシック" panose="020B0600070205080204" pitchFamily="34" charset="-128"/>
            </a:endParaRPr>
          </a:p>
        </p:txBody>
      </p:sp>
      <p:sp>
        <p:nvSpPr>
          <p:cNvPr id="6" name="1 Título">
            <a:extLst>
              <a:ext uri="{FF2B5EF4-FFF2-40B4-BE49-F238E27FC236}">
                <a16:creationId xmlns:a16="http://schemas.microsoft.com/office/drawing/2014/main" id="{6C29E2AD-57A4-D54A-9AF7-ABD4C60C06CB}"/>
              </a:ext>
            </a:extLst>
          </p:cNvPr>
          <p:cNvSpPr>
            <a:spLocks noGrp="1"/>
          </p:cNvSpPr>
          <p:nvPr>
            <p:ph type="ctrTitle"/>
          </p:nvPr>
        </p:nvSpPr>
        <p:spPr>
          <a:xfrm>
            <a:off x="1331640"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2 Subtítulo">
            <a:extLst>
              <a:ext uri="{FF2B5EF4-FFF2-40B4-BE49-F238E27FC236}">
                <a16:creationId xmlns:a16="http://schemas.microsoft.com/office/drawing/2014/main" id="{A8C9187C-08F9-C349-AE97-A5A9430A5E10}"/>
              </a:ext>
            </a:extLst>
          </p:cNvPr>
          <p:cNvSpPr>
            <a:spLocks noGrp="1"/>
          </p:cNvSpPr>
          <p:nvPr>
            <p:ph type="subTitle" idx="1"/>
          </p:nvPr>
        </p:nvSpPr>
        <p:spPr>
          <a:xfrm>
            <a:off x="1042988" y="1341438"/>
            <a:ext cx="7921625" cy="5111750"/>
          </a:xfrm>
        </p:spPr>
        <p:txBody>
          <a:bodyPr/>
          <a:lstStyle/>
          <a:p>
            <a:pPr marL="26988" eaLnBrk="1" hangingPunct="1"/>
            <a:r>
              <a:rPr lang="es-ES_tradnl" altLang="es-ES" sz="2000" b="1" u="sng" dirty="0">
                <a:solidFill>
                  <a:srgbClr val="320E04"/>
                </a:solidFill>
                <a:ea typeface="ＭＳ Ｐゴシック" panose="020B0600070205080204" pitchFamily="34" charset="-128"/>
              </a:rPr>
              <a:t>Formas de presupuestar</a:t>
            </a:r>
          </a:p>
          <a:p>
            <a:pPr marL="26988" eaLnBrk="1" hangingPunct="1"/>
            <a:r>
              <a:rPr lang="es-ES_tradnl" altLang="es-ES" sz="2000" b="1" dirty="0">
                <a:solidFill>
                  <a:srgbClr val="320E04"/>
                </a:solidFill>
                <a:ea typeface="ＭＳ Ｐゴシック" panose="020B0600070205080204" pitchFamily="34" charset="-128"/>
              </a:rPr>
              <a:t>2.  Por secciones homogéneas</a:t>
            </a:r>
          </a:p>
          <a:p>
            <a:pPr marL="26988" eaLnBrk="1" hangingPunct="1"/>
            <a:endParaRPr lang="es-ES_tradnl" altLang="es-ES" sz="2000" b="1" u="sng" dirty="0">
              <a:solidFill>
                <a:srgbClr val="320E04"/>
              </a:solidFill>
              <a:ea typeface="ＭＳ Ｐゴシック" panose="020B0600070205080204" pitchFamily="34" charset="-128"/>
            </a:endParaRPr>
          </a:p>
          <a:p>
            <a:pPr marL="26988" eaLnBrk="1" hangingPunct="1">
              <a:lnSpc>
                <a:spcPct val="90000"/>
              </a:lnSpc>
            </a:pPr>
            <a:r>
              <a:rPr lang="es-ES_tradnl" altLang="es-ES" sz="2400" b="1" dirty="0">
                <a:solidFill>
                  <a:srgbClr val="320E04"/>
                </a:solidFill>
                <a:latin typeface="Arial" panose="020B0604020202020204" pitchFamily="34" charset="0"/>
                <a:ea typeface="ＭＳ Ｐゴシック" panose="020B0600070205080204" pitchFamily="34" charset="-128"/>
              </a:rPr>
              <a:t>Presupuesto de contrata = </a:t>
            </a:r>
          </a:p>
          <a:p>
            <a:pPr marL="26988" eaLnBrk="1" hangingPunct="1">
              <a:lnSpc>
                <a:spcPct val="90000"/>
              </a:lnSpc>
            </a:pPr>
            <a:r>
              <a:rPr lang="es-ES_tradnl" altLang="es-ES" sz="2400" b="1" dirty="0">
                <a:solidFill>
                  <a:srgbClr val="320E04"/>
                </a:solidFill>
                <a:latin typeface="Arial" panose="020B0604020202020204" pitchFamily="34" charset="0"/>
                <a:ea typeface="ＭＳ Ｐゴシック" panose="020B0600070205080204" pitchFamily="34" charset="-128"/>
              </a:rPr>
              <a:t>	= (Materiales + Coste de las secciones)</a:t>
            </a:r>
            <a:endParaRPr lang="es-ES_tradnl" altLang="es-ES" sz="2000" b="1" dirty="0">
              <a:solidFill>
                <a:srgbClr val="320E04"/>
              </a:solidFill>
              <a:latin typeface="Arial" panose="020B0604020202020204" pitchFamily="34" charset="0"/>
              <a:ea typeface="ＭＳ Ｐゴシック" panose="020B0600070205080204" pitchFamily="34" charset="-128"/>
            </a:endParaRPr>
          </a:p>
          <a:p>
            <a:pPr marL="26988" eaLnBrk="1" hangingPunct="1">
              <a:lnSpc>
                <a:spcPct val="90000"/>
              </a:lnSpc>
            </a:pPr>
            <a:endParaRPr lang="es-ES_tradnl" altLang="es-ES" sz="2400" i="1" dirty="0">
              <a:solidFill>
                <a:srgbClr val="320E04"/>
              </a:solidFill>
              <a:latin typeface="Arial" panose="020B0604020202020204" pitchFamily="34" charset="0"/>
              <a:ea typeface="ＭＳ Ｐゴシック" panose="020B0600070205080204" pitchFamily="34" charset="-128"/>
            </a:endParaRPr>
          </a:p>
          <a:p>
            <a:pPr marL="26988" eaLnBrk="1" hangingPunct="1">
              <a:lnSpc>
                <a:spcPct val="90000"/>
              </a:lnSpc>
            </a:pPr>
            <a:r>
              <a:rPr lang="es-ES_tradnl" altLang="es-ES" sz="2800" i="1" dirty="0">
                <a:solidFill>
                  <a:srgbClr val="320E04"/>
                </a:solidFill>
                <a:latin typeface="Arial" panose="020B0604020202020204" pitchFamily="34" charset="0"/>
                <a:ea typeface="ＭＳ Ｐゴシック" panose="020B0600070205080204" pitchFamily="34" charset="-128"/>
              </a:rPr>
              <a:t>Materiales = </a:t>
            </a:r>
            <a:r>
              <a:rPr lang="es-ES_tradnl" altLang="es-ES" sz="2800" dirty="0" err="1">
                <a:solidFill>
                  <a:srgbClr val="320E04"/>
                </a:solidFill>
                <a:latin typeface="Arial" panose="020B0604020202020204" pitchFamily="34" charset="0"/>
                <a:ea typeface="ＭＳ Ｐゴシック" panose="020B0600070205080204" pitchFamily="34" charset="-128"/>
              </a:rPr>
              <a:t>Σ</a:t>
            </a:r>
            <a:r>
              <a:rPr lang="es-ES_tradnl" altLang="es-ES" sz="2800" i="1" dirty="0" err="1">
                <a:solidFill>
                  <a:srgbClr val="320E04"/>
                </a:solidFill>
                <a:latin typeface="Arial" panose="020B0604020202020204" pitchFamily="34" charset="0"/>
                <a:ea typeface="ＭＳ Ｐゴシック" panose="020B0600070205080204" pitchFamily="34" charset="-128"/>
              </a:rPr>
              <a:t>P</a:t>
            </a:r>
            <a:r>
              <a:rPr lang="es-ES_tradnl" altLang="es-ES" sz="2800" i="1" baseline="-25000" dirty="0" err="1">
                <a:solidFill>
                  <a:srgbClr val="320E04"/>
                </a:solidFill>
                <a:latin typeface="Arial" panose="020B0604020202020204" pitchFamily="34" charset="0"/>
                <a:ea typeface="ＭＳ Ｐゴシック" panose="020B0600070205080204" pitchFamily="34" charset="-128"/>
              </a:rPr>
              <a:t>j</a:t>
            </a:r>
            <a:r>
              <a:rPr lang="es-ES_tradnl" altLang="es-ES" sz="2800" i="1" dirty="0" err="1">
                <a:solidFill>
                  <a:srgbClr val="320E04"/>
                </a:solidFill>
                <a:latin typeface="Arial" panose="020B0604020202020204" pitchFamily="34" charset="0"/>
                <a:ea typeface="ＭＳ Ｐゴシック" panose="020B0600070205080204" pitchFamily="34" charset="-128"/>
              </a:rPr>
              <a:t>Q</a:t>
            </a:r>
            <a:r>
              <a:rPr lang="es-ES_tradnl" altLang="es-ES" sz="2800" i="1" baseline="-25000" dirty="0" err="1">
                <a:solidFill>
                  <a:srgbClr val="320E04"/>
                </a:solidFill>
                <a:latin typeface="Arial" panose="020B0604020202020204" pitchFamily="34" charset="0"/>
                <a:ea typeface="ＭＳ Ｐゴシック" panose="020B0600070205080204" pitchFamily="34" charset="-128"/>
              </a:rPr>
              <a:t>j</a:t>
            </a:r>
            <a:endParaRPr lang="es-ES_tradnl" altLang="es-ES" sz="2800"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lnSpc>
                <a:spcPct val="90000"/>
              </a:lnSpc>
            </a:pPr>
            <a:r>
              <a:rPr lang="es-ES_tradnl" altLang="es-ES" sz="2800" i="1" dirty="0">
                <a:solidFill>
                  <a:srgbClr val="320E04"/>
                </a:solidFill>
                <a:latin typeface="Arial" panose="020B0604020202020204" pitchFamily="34" charset="0"/>
                <a:ea typeface="ＭＳ Ｐゴシック" panose="020B0600070205080204" pitchFamily="34" charset="-128"/>
              </a:rPr>
              <a:t>Coste de las secciones = </a:t>
            </a:r>
            <a:r>
              <a:rPr lang="es-ES_tradnl" altLang="es-ES" sz="2800" dirty="0" err="1">
                <a:solidFill>
                  <a:srgbClr val="320E04"/>
                </a:solidFill>
                <a:latin typeface="Arial" panose="020B0604020202020204" pitchFamily="34" charset="0"/>
                <a:ea typeface="ＭＳ Ｐゴシック" panose="020B0600070205080204" pitchFamily="34" charset="-128"/>
              </a:rPr>
              <a:t>Σ</a:t>
            </a:r>
            <a:r>
              <a:rPr lang="es-ES_tradnl" altLang="es-ES" sz="2800" i="1" dirty="0" err="1">
                <a:solidFill>
                  <a:srgbClr val="320E04"/>
                </a:solidFill>
                <a:latin typeface="Arial" panose="020B0604020202020204" pitchFamily="34" charset="0"/>
                <a:ea typeface="ＭＳ Ｐゴシック" panose="020B0600070205080204" pitchFamily="34" charset="-128"/>
              </a:rPr>
              <a:t>s</a:t>
            </a:r>
            <a:r>
              <a:rPr lang="es-ES_tradnl" altLang="es-ES" sz="2800" i="1" baseline="-25000" dirty="0" err="1">
                <a:solidFill>
                  <a:srgbClr val="320E04"/>
                </a:solidFill>
                <a:latin typeface="Arial" panose="020B0604020202020204" pitchFamily="34" charset="0"/>
                <a:ea typeface="ＭＳ Ｐゴシック" panose="020B0600070205080204" pitchFamily="34" charset="-128"/>
              </a:rPr>
              <a:t>j</a:t>
            </a:r>
            <a:r>
              <a:rPr lang="es-ES_tradnl" altLang="es-ES" sz="2800" i="1" baseline="-25000" dirty="0">
                <a:solidFill>
                  <a:srgbClr val="320E04"/>
                </a:solidFill>
                <a:latin typeface="Arial" panose="020B0604020202020204" pitchFamily="34" charset="0"/>
                <a:ea typeface="ＭＳ Ｐゴシック" panose="020B0600070205080204" pitchFamily="34" charset="-128"/>
              </a:rPr>
              <a:t> </a:t>
            </a:r>
            <a:r>
              <a:rPr lang="es-ES_tradnl" altLang="es-ES" sz="2800" i="1" dirty="0" err="1">
                <a:solidFill>
                  <a:srgbClr val="320E04"/>
                </a:solidFill>
                <a:latin typeface="Arial" panose="020B0604020202020204" pitchFamily="34" charset="0"/>
                <a:ea typeface="ＭＳ Ｐゴシック" panose="020B0600070205080204" pitchFamily="34" charset="-128"/>
              </a:rPr>
              <a:t>t</a:t>
            </a:r>
            <a:r>
              <a:rPr lang="es-ES_tradnl" altLang="es-ES" sz="2800" i="1" baseline="-25000" dirty="0" err="1">
                <a:solidFill>
                  <a:srgbClr val="320E04"/>
                </a:solidFill>
                <a:latin typeface="Arial" panose="020B0604020202020204" pitchFamily="34" charset="0"/>
                <a:ea typeface="ＭＳ Ｐゴシック" panose="020B0600070205080204" pitchFamily="34" charset="-128"/>
              </a:rPr>
              <a:t>j</a:t>
            </a:r>
            <a:endParaRPr lang="es-ES_tradnl" altLang="es-ES" sz="2800"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lnSpc>
                <a:spcPct val="90000"/>
              </a:lnSpc>
            </a:pPr>
            <a:r>
              <a:rPr lang="es-ES_tradnl" altLang="es-ES" sz="2800" i="1" dirty="0" err="1">
                <a:solidFill>
                  <a:srgbClr val="320E04"/>
                </a:solidFill>
                <a:latin typeface="Arial" panose="020B0604020202020204" pitchFamily="34" charset="0"/>
                <a:ea typeface="ＭＳ Ｐゴシック" panose="020B0600070205080204" pitchFamily="34" charset="-128"/>
              </a:rPr>
              <a:t>s</a:t>
            </a:r>
            <a:r>
              <a:rPr lang="es-ES_tradnl" altLang="es-ES" sz="2800" i="1" baseline="-25000" dirty="0" err="1">
                <a:solidFill>
                  <a:srgbClr val="320E04"/>
                </a:solidFill>
                <a:latin typeface="Arial" panose="020B0604020202020204" pitchFamily="34" charset="0"/>
                <a:ea typeface="ＭＳ Ｐゴシック" panose="020B0600070205080204" pitchFamily="34" charset="-128"/>
              </a:rPr>
              <a:t>j</a:t>
            </a:r>
            <a:r>
              <a:rPr lang="es-ES_tradnl" altLang="es-ES" sz="2800" i="1" dirty="0">
                <a:solidFill>
                  <a:srgbClr val="320E04"/>
                </a:solidFill>
                <a:latin typeface="Arial" panose="020B0604020202020204" pitchFamily="34" charset="0"/>
                <a:ea typeface="ＭＳ Ｐゴシック" panose="020B0600070205080204" pitchFamily="34" charset="-128"/>
              </a:rPr>
              <a:t> = Coste de la sección ‘</a:t>
            </a:r>
            <a:r>
              <a:rPr lang="es-ES_tradnl" altLang="ja-JP" sz="2800" i="1" dirty="0">
                <a:solidFill>
                  <a:srgbClr val="320E04"/>
                </a:solidFill>
                <a:latin typeface="Arial" panose="020B0604020202020204" pitchFamily="34" charset="0"/>
                <a:ea typeface="ＭＳ Ｐゴシック" panose="020B0600070205080204" pitchFamily="34" charset="-128"/>
              </a:rPr>
              <a:t>j</a:t>
            </a:r>
            <a:r>
              <a:rPr lang="es-ES_tradnl" altLang="es-ES" sz="2800" i="1" dirty="0">
                <a:solidFill>
                  <a:srgbClr val="320E04"/>
                </a:solidFill>
                <a:latin typeface="Arial" panose="020B0604020202020204" pitchFamily="34" charset="0"/>
                <a:ea typeface="ＭＳ Ｐゴシック" panose="020B0600070205080204" pitchFamily="34" charset="-128"/>
              </a:rPr>
              <a:t>’</a:t>
            </a:r>
            <a:r>
              <a:rPr lang="es-ES_tradnl" altLang="ja-JP" sz="2800" i="1" dirty="0">
                <a:solidFill>
                  <a:srgbClr val="320E04"/>
                </a:solidFill>
                <a:latin typeface="Arial" panose="020B0604020202020204" pitchFamily="34" charset="0"/>
                <a:ea typeface="ＭＳ Ｐゴシック" panose="020B0600070205080204" pitchFamily="34" charset="-128"/>
              </a:rPr>
              <a:t> por unidad de tiempo</a:t>
            </a:r>
            <a:endParaRPr lang="es-ES_tradnl" altLang="ja-JP" sz="2800"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lnSpc>
                <a:spcPct val="90000"/>
              </a:lnSpc>
            </a:pPr>
            <a:r>
              <a:rPr lang="es-ES_tradnl" altLang="es-ES" sz="2800" i="1" dirty="0" err="1">
                <a:solidFill>
                  <a:srgbClr val="320E04"/>
                </a:solidFill>
                <a:latin typeface="Arial" panose="020B0604020202020204" pitchFamily="34" charset="0"/>
                <a:ea typeface="ＭＳ Ｐゴシック" panose="020B0600070205080204" pitchFamily="34" charset="-128"/>
              </a:rPr>
              <a:t>t</a:t>
            </a:r>
            <a:r>
              <a:rPr lang="es-ES_tradnl" altLang="es-ES" sz="2800" i="1" baseline="-25000" dirty="0" err="1">
                <a:solidFill>
                  <a:srgbClr val="320E04"/>
                </a:solidFill>
                <a:latin typeface="Arial" panose="020B0604020202020204" pitchFamily="34" charset="0"/>
                <a:ea typeface="ＭＳ Ｐゴシック" panose="020B0600070205080204" pitchFamily="34" charset="-128"/>
              </a:rPr>
              <a:t>j</a:t>
            </a:r>
            <a:r>
              <a:rPr lang="es-ES_tradnl" altLang="es-ES" sz="2800" i="1" baseline="-25000" dirty="0">
                <a:solidFill>
                  <a:srgbClr val="320E04"/>
                </a:solidFill>
                <a:latin typeface="Arial" panose="020B0604020202020204" pitchFamily="34" charset="0"/>
                <a:ea typeface="ＭＳ Ｐゴシック" panose="020B0600070205080204" pitchFamily="34" charset="-128"/>
              </a:rPr>
              <a:t> </a:t>
            </a:r>
            <a:r>
              <a:rPr lang="es-ES_tradnl" altLang="es-ES" sz="2800" i="1" dirty="0">
                <a:solidFill>
                  <a:srgbClr val="320E04"/>
                </a:solidFill>
                <a:latin typeface="Arial" panose="020B0604020202020204" pitchFamily="34" charset="0"/>
                <a:ea typeface="ＭＳ Ｐゴシック" panose="020B0600070205080204" pitchFamily="34" charset="-128"/>
              </a:rPr>
              <a:t>= tiempo de estancia en la sección ‘j’</a:t>
            </a:r>
            <a:endParaRPr lang="es-ES_tradnl" altLang="es-ES" sz="2800" i="1" baseline="-25000" dirty="0">
              <a:solidFill>
                <a:srgbClr val="320E04"/>
              </a:solidFill>
              <a:latin typeface="Arial" panose="020B0604020202020204" pitchFamily="34" charset="0"/>
              <a:ea typeface="ＭＳ Ｐゴシック" panose="020B0600070205080204" pitchFamily="34" charset="-128"/>
            </a:endParaRPr>
          </a:p>
        </p:txBody>
      </p:sp>
      <p:sp>
        <p:nvSpPr>
          <p:cNvPr id="6" name="1 Título">
            <a:extLst>
              <a:ext uri="{FF2B5EF4-FFF2-40B4-BE49-F238E27FC236}">
                <a16:creationId xmlns:a16="http://schemas.microsoft.com/office/drawing/2014/main" id="{AA4CBF3F-AC09-CA40-A9A2-1CB6C581CF2E}"/>
              </a:ext>
            </a:extLst>
          </p:cNvPr>
          <p:cNvSpPr>
            <a:spLocks noGrp="1"/>
          </p:cNvSpPr>
          <p:nvPr>
            <p:ph type="ctrTitle"/>
          </p:nvPr>
        </p:nvSpPr>
        <p:spPr>
          <a:xfrm>
            <a:off x="1187624"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2 Subtítulo">
            <a:extLst>
              <a:ext uri="{FF2B5EF4-FFF2-40B4-BE49-F238E27FC236}">
                <a16:creationId xmlns:a16="http://schemas.microsoft.com/office/drawing/2014/main" id="{62FCD453-7B0B-784A-AC0B-C810F5DC0071}"/>
              </a:ext>
            </a:extLst>
          </p:cNvPr>
          <p:cNvSpPr>
            <a:spLocks noGrp="1"/>
          </p:cNvSpPr>
          <p:nvPr>
            <p:ph type="subTitle" idx="1"/>
          </p:nvPr>
        </p:nvSpPr>
        <p:spPr>
          <a:xfrm>
            <a:off x="1042988" y="1341438"/>
            <a:ext cx="7921625" cy="5111750"/>
          </a:xfrm>
        </p:spPr>
        <p:txBody>
          <a:bodyPr/>
          <a:lstStyle/>
          <a:p>
            <a:pPr marL="26988" eaLnBrk="1" hangingPunct="1"/>
            <a:r>
              <a:rPr lang="es-ES_tradnl" altLang="es-ES" sz="2000" b="1" u="sng" dirty="0" err="1">
                <a:solidFill>
                  <a:srgbClr val="320E04"/>
                </a:solidFill>
                <a:ea typeface="ＭＳ Ｐゴシック" panose="020B0600070205080204" pitchFamily="34" charset="-128"/>
              </a:rPr>
              <a:t>Fomas</a:t>
            </a:r>
            <a:r>
              <a:rPr lang="es-ES_tradnl" altLang="es-ES" sz="2000" b="1" u="sng" dirty="0">
                <a:solidFill>
                  <a:srgbClr val="320E04"/>
                </a:solidFill>
                <a:ea typeface="ＭＳ Ｐゴシック" panose="020B0600070205080204" pitchFamily="34" charset="-128"/>
              </a:rPr>
              <a:t> de presupuestar</a:t>
            </a:r>
          </a:p>
          <a:p>
            <a:pPr marL="26988" eaLnBrk="1" hangingPunct="1"/>
            <a:r>
              <a:rPr lang="es-ES_tradnl" altLang="es-ES" sz="2000" b="1" dirty="0">
                <a:solidFill>
                  <a:srgbClr val="320E04"/>
                </a:solidFill>
                <a:ea typeface="ＭＳ Ｐゴシック" panose="020B0600070205080204" pitchFamily="34" charset="-128"/>
              </a:rPr>
              <a:t>3.  Por precios descompuestos</a:t>
            </a:r>
          </a:p>
          <a:p>
            <a:pPr marL="26988" eaLnBrk="1" hangingPunct="1"/>
            <a:endParaRPr lang="es-ES_tradnl" altLang="es-ES" sz="2000" b="1" u="sng" dirty="0">
              <a:solidFill>
                <a:srgbClr val="320E04"/>
              </a:solidFill>
              <a:ea typeface="ＭＳ Ｐゴシック" panose="020B0600070205080204" pitchFamily="34" charset="-128"/>
            </a:endParaRPr>
          </a:p>
          <a:p>
            <a:pPr marL="26988" eaLnBrk="1" hangingPunct="1"/>
            <a:r>
              <a:rPr lang="es-ES_tradnl" altLang="es-ES" sz="2800" b="1" dirty="0">
                <a:solidFill>
                  <a:srgbClr val="320E04"/>
                </a:solidFill>
                <a:latin typeface="Arial" panose="020B0604020202020204" pitchFamily="34" charset="0"/>
                <a:ea typeface="ＭＳ Ｐゴシック" panose="020B0600070205080204" pitchFamily="34" charset="-128"/>
              </a:rPr>
              <a:t>Presupuesto de ejecución material = </a:t>
            </a:r>
            <a:r>
              <a:rPr lang="es-ES_tradnl" altLang="es-ES" sz="2800" b="1" dirty="0" err="1">
                <a:solidFill>
                  <a:srgbClr val="320E04"/>
                </a:solidFill>
                <a:latin typeface="Arial" panose="020B0604020202020204" pitchFamily="34" charset="0"/>
                <a:ea typeface="ＭＳ Ｐゴシック" panose="020B0600070205080204" pitchFamily="34" charset="-128"/>
              </a:rPr>
              <a:t>Σ</a:t>
            </a:r>
            <a:r>
              <a:rPr lang="es-ES_tradnl" altLang="es-ES" sz="2800" b="1" i="1" dirty="0" err="1">
                <a:solidFill>
                  <a:srgbClr val="320E04"/>
                </a:solidFill>
                <a:latin typeface="Arial" panose="020B0604020202020204" pitchFamily="34" charset="0"/>
                <a:ea typeface="ＭＳ Ｐゴシック" panose="020B0600070205080204" pitchFamily="34" charset="-128"/>
              </a:rPr>
              <a:t>d</a:t>
            </a:r>
            <a:r>
              <a:rPr lang="es-ES_tradnl" altLang="es-ES" sz="2800" b="1" i="1" baseline="-25000" dirty="0" err="1">
                <a:solidFill>
                  <a:srgbClr val="320E04"/>
                </a:solidFill>
                <a:latin typeface="Arial" panose="020B0604020202020204" pitchFamily="34" charset="0"/>
                <a:ea typeface="ＭＳ Ｐゴシック" panose="020B0600070205080204" pitchFamily="34" charset="-128"/>
              </a:rPr>
              <a:t>i</a:t>
            </a:r>
            <a:r>
              <a:rPr lang="es-ES_tradnl" altLang="es-ES" sz="2800" b="1" i="1" dirty="0" err="1">
                <a:solidFill>
                  <a:srgbClr val="320E04"/>
                </a:solidFill>
                <a:latin typeface="Arial" panose="020B0604020202020204" pitchFamily="34" charset="0"/>
                <a:ea typeface="ＭＳ Ｐゴシック" panose="020B0600070205080204" pitchFamily="34" charset="-128"/>
              </a:rPr>
              <a:t>q</a:t>
            </a:r>
            <a:r>
              <a:rPr lang="es-ES_tradnl" altLang="es-ES" sz="2800" b="1" i="1" baseline="-25000" dirty="0" err="1">
                <a:solidFill>
                  <a:srgbClr val="320E04"/>
                </a:solidFill>
                <a:latin typeface="Arial" panose="020B0604020202020204" pitchFamily="34" charset="0"/>
                <a:ea typeface="ＭＳ Ｐゴシック" panose="020B0600070205080204" pitchFamily="34" charset="-128"/>
              </a:rPr>
              <a:t>i</a:t>
            </a:r>
            <a:endParaRPr lang="es-ES_tradnl" altLang="es-ES" sz="2800" b="1" i="1" baseline="-25000" dirty="0">
              <a:solidFill>
                <a:srgbClr val="320E04"/>
              </a:solidFill>
              <a:latin typeface="Arial" panose="020B0604020202020204" pitchFamily="34" charset="0"/>
              <a:ea typeface="ＭＳ Ｐゴシック" panose="020B0600070205080204" pitchFamily="34" charset="-128"/>
            </a:endParaRPr>
          </a:p>
          <a:p>
            <a:pPr marL="26988" eaLnBrk="1" hangingPunct="1"/>
            <a:endParaRPr lang="es-ES_tradnl" altLang="es-ES" sz="2800" i="1"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800" i="1" dirty="0">
                <a:solidFill>
                  <a:srgbClr val="320E04"/>
                </a:solidFill>
                <a:latin typeface="Arial" panose="020B0604020202020204" pitchFamily="34" charset="0"/>
                <a:ea typeface="ＭＳ Ｐゴシック" panose="020B0600070205080204" pitchFamily="34" charset="-128"/>
              </a:rPr>
              <a:t>d</a:t>
            </a:r>
            <a:r>
              <a:rPr lang="es-ES_tradnl" altLang="es-ES" sz="2800" i="1" baseline="-25000" dirty="0">
                <a:solidFill>
                  <a:srgbClr val="320E04"/>
                </a:solidFill>
                <a:latin typeface="Arial" panose="020B0604020202020204" pitchFamily="34" charset="0"/>
                <a:ea typeface="ＭＳ Ｐゴシック" panose="020B0600070205080204" pitchFamily="34" charset="-128"/>
              </a:rPr>
              <a:t>i</a:t>
            </a:r>
            <a:r>
              <a:rPr lang="es-ES_tradnl" altLang="es-ES" sz="2800" i="1" dirty="0">
                <a:solidFill>
                  <a:srgbClr val="320E04"/>
                </a:solidFill>
                <a:latin typeface="Arial" panose="020B0604020202020204" pitchFamily="34" charset="0"/>
                <a:ea typeface="ＭＳ Ｐゴシック" panose="020B0600070205080204" pitchFamily="34" charset="-128"/>
              </a:rPr>
              <a:t> = precio descompuesto ‘</a:t>
            </a:r>
            <a:r>
              <a:rPr lang="es-ES_tradnl" altLang="ja-JP" sz="2800" i="1" dirty="0">
                <a:solidFill>
                  <a:srgbClr val="320E04"/>
                </a:solidFill>
                <a:latin typeface="Arial" panose="020B0604020202020204" pitchFamily="34" charset="0"/>
                <a:ea typeface="ＭＳ Ｐゴシック" panose="020B0600070205080204" pitchFamily="34" charset="-128"/>
              </a:rPr>
              <a:t>i</a:t>
            </a:r>
            <a:r>
              <a:rPr lang="es-ES_tradnl" altLang="es-ES" sz="2800" i="1" dirty="0">
                <a:solidFill>
                  <a:srgbClr val="320E04"/>
                </a:solidFill>
                <a:latin typeface="Arial" panose="020B0604020202020204" pitchFamily="34" charset="0"/>
                <a:ea typeface="ＭＳ Ｐゴシック" panose="020B0600070205080204" pitchFamily="34" charset="-128"/>
              </a:rPr>
              <a:t>’</a:t>
            </a:r>
            <a:endParaRPr lang="es-ES_tradnl" altLang="ja-JP" sz="2800" i="1" dirty="0">
              <a:solidFill>
                <a:srgbClr val="320E04"/>
              </a:solidFill>
              <a:latin typeface="Arial" panose="020B0604020202020204" pitchFamily="34" charset="0"/>
              <a:ea typeface="ＭＳ Ｐゴシック" panose="020B0600070205080204" pitchFamily="34" charset="-128"/>
            </a:endParaRPr>
          </a:p>
          <a:p>
            <a:pPr marL="26988" eaLnBrk="1" hangingPunct="1"/>
            <a:r>
              <a:rPr lang="es-ES_tradnl" altLang="es-ES" sz="2800" i="1" dirty="0" err="1">
                <a:solidFill>
                  <a:srgbClr val="320E04"/>
                </a:solidFill>
                <a:latin typeface="Arial" panose="020B0604020202020204" pitchFamily="34" charset="0"/>
                <a:ea typeface="ＭＳ Ｐゴシック" panose="020B0600070205080204" pitchFamily="34" charset="-128"/>
              </a:rPr>
              <a:t>q</a:t>
            </a:r>
            <a:r>
              <a:rPr lang="es-ES_tradnl" altLang="es-ES" sz="2800" i="1" baseline="-25000" dirty="0" err="1">
                <a:solidFill>
                  <a:srgbClr val="320E04"/>
                </a:solidFill>
                <a:latin typeface="Arial" panose="020B0604020202020204" pitchFamily="34" charset="0"/>
                <a:ea typeface="ＭＳ Ｐゴシック" panose="020B0600070205080204" pitchFamily="34" charset="-128"/>
              </a:rPr>
              <a:t>i</a:t>
            </a:r>
            <a:r>
              <a:rPr lang="es-ES_tradnl" altLang="es-ES" sz="2800" i="1" dirty="0">
                <a:solidFill>
                  <a:srgbClr val="320E04"/>
                </a:solidFill>
                <a:latin typeface="Arial" panose="020B0604020202020204" pitchFamily="34" charset="0"/>
                <a:ea typeface="ＭＳ Ｐゴシック" panose="020B0600070205080204" pitchFamily="34" charset="-128"/>
              </a:rPr>
              <a:t> = número de unidades del tipo ‘</a:t>
            </a:r>
            <a:r>
              <a:rPr lang="es-ES_tradnl" altLang="ja-JP" sz="2800" i="1" dirty="0">
                <a:solidFill>
                  <a:srgbClr val="320E04"/>
                </a:solidFill>
                <a:latin typeface="Arial" panose="020B0604020202020204" pitchFamily="34" charset="0"/>
                <a:ea typeface="ＭＳ Ｐゴシック" panose="020B0600070205080204" pitchFamily="34" charset="-128"/>
              </a:rPr>
              <a:t>i</a:t>
            </a:r>
            <a:r>
              <a:rPr lang="es-ES_tradnl" altLang="es-ES" sz="2800" i="1" dirty="0">
                <a:solidFill>
                  <a:srgbClr val="320E04"/>
                </a:solidFill>
                <a:latin typeface="Arial" panose="020B0604020202020204" pitchFamily="34" charset="0"/>
                <a:ea typeface="ＭＳ Ｐゴシック" panose="020B0600070205080204" pitchFamily="34" charset="-128"/>
              </a:rPr>
              <a:t>’</a:t>
            </a:r>
          </a:p>
        </p:txBody>
      </p:sp>
      <p:sp>
        <p:nvSpPr>
          <p:cNvPr id="6" name="1 Título">
            <a:extLst>
              <a:ext uri="{FF2B5EF4-FFF2-40B4-BE49-F238E27FC236}">
                <a16:creationId xmlns:a16="http://schemas.microsoft.com/office/drawing/2014/main" id="{E6487A03-44EC-814E-B273-B355FEA7668F}"/>
              </a:ext>
            </a:extLst>
          </p:cNvPr>
          <p:cNvSpPr>
            <a:spLocks noGrp="1"/>
          </p:cNvSpPr>
          <p:nvPr>
            <p:ph type="ctrTitle"/>
          </p:nvPr>
        </p:nvSpPr>
        <p:spPr>
          <a:xfrm>
            <a:off x="1042988" y="188640"/>
            <a:ext cx="7407275" cy="936526"/>
          </a:xfrm>
        </p:spPr>
        <p:txBody>
          <a:bodyPr>
            <a:normAutofit fontScale="90000"/>
          </a:bodyPr>
          <a:lstStyle/>
          <a:p>
            <a:pPr eaLnBrk="1" hangingPunct="1">
              <a:defRPr/>
            </a:pPr>
            <a:r>
              <a:rPr lang="es-ES_tradnl" altLang="es-ES" sz="2800" dirty="0">
                <a:effectLst>
                  <a:outerShdw blurRad="38100" dist="38100" dir="2700000" algn="tl">
                    <a:srgbClr val="C0C0C0"/>
                  </a:outerShdw>
                </a:effectLst>
                <a:ea typeface="ＭＳ Ｐゴシック" panose="020B0600070205080204" pitchFamily="34" charset="-128"/>
              </a:rPr>
              <a:t>OFICINA TÉCNICA</a:t>
            </a:r>
            <a:br>
              <a:rPr lang="es-ES_tradnl" altLang="es-ES" sz="28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7. Documento 4: Presupuesto</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3DD726-9536-3747-9C5F-2D7AABB50485}"/>
              </a:ext>
            </a:extLst>
          </p:cNvPr>
          <p:cNvSpPr>
            <a:spLocks noGrp="1"/>
          </p:cNvSpPr>
          <p:nvPr>
            <p:ph type="title"/>
          </p:nvPr>
        </p:nvSpPr>
        <p:spPr>
          <a:xfrm>
            <a:off x="2555875" y="1844675"/>
            <a:ext cx="6400800" cy="2376488"/>
          </a:xfrm>
        </p:spPr>
        <p:txBody>
          <a:bodyPr/>
          <a:lstStyle/>
          <a:p>
            <a:pPr>
              <a:defRPr/>
            </a:pPr>
            <a:r>
              <a:rPr lang="es-ES_tradnl" altLang="es-ES" sz="3600" cap="none">
                <a:effectLst>
                  <a:outerShdw blurRad="38100" dist="38100" dir="2700000" algn="tl">
                    <a:srgbClr val="C0C0C0"/>
                  </a:outerShdw>
                </a:effectLst>
                <a:ea typeface="ＭＳ Ｐゴシック" panose="020B0600070205080204" pitchFamily="34" charset="-128"/>
              </a:rPr>
              <a:t>Tema 8:</a:t>
            </a:r>
            <a:br>
              <a:rPr lang="es-ES_tradnl" altLang="es-ES" sz="3600" cap="none">
                <a:effectLst>
                  <a:outerShdw blurRad="38100" dist="38100" dir="2700000" algn="tl">
                    <a:srgbClr val="C0C0C0"/>
                  </a:outerShdw>
                </a:effectLst>
                <a:ea typeface="ＭＳ Ｐゴシック" panose="020B0600070205080204" pitchFamily="34" charset="-128"/>
              </a:rPr>
            </a:br>
            <a:r>
              <a:rPr lang="es-ES_tradnl" altLang="es-ES" sz="3600" cap="none">
                <a:effectLst>
                  <a:outerShdw blurRad="38100" dist="38100" dir="2700000" algn="tl">
                    <a:srgbClr val="C0C0C0"/>
                  </a:outerShdw>
                </a:effectLst>
                <a:ea typeface="ＭＳ Ｐゴシック" panose="020B0600070205080204" pitchFamily="34" charset="-128"/>
              </a:rPr>
              <a:t>Estudio económico</a:t>
            </a:r>
          </a:p>
        </p:txBody>
      </p:sp>
      <p:sp>
        <p:nvSpPr>
          <p:cNvPr id="5" name="1 Título">
            <a:extLst>
              <a:ext uri="{FF2B5EF4-FFF2-40B4-BE49-F238E27FC236}">
                <a16:creationId xmlns:a16="http://schemas.microsoft.com/office/drawing/2014/main" id="{01AC09E3-7CDF-684A-B4E9-BAC6D88725B7}"/>
              </a:ext>
            </a:extLst>
          </p:cNvPr>
          <p:cNvSpPr txBox="1">
            <a:spLocks/>
          </p:cNvSpPr>
          <p:nvPr/>
        </p:nvSpPr>
        <p:spPr>
          <a:xfrm>
            <a:off x="2627313" y="836613"/>
            <a:ext cx="3571875" cy="720725"/>
          </a:xfrm>
          <a:prstGeom prst="rect">
            <a:avLst/>
          </a:prstGeom>
        </p:spPr>
        <p:txBody>
          <a:bodyPr>
            <a:normAutofit/>
          </a:bodyPr>
          <a:lstStyle>
            <a:lvl1pPr eaLnBrk="0" hangingPunct="0">
              <a:defRPr sz="24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defRPr sz="24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defRPr sz="2400">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defRPr sz="24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9pPr>
          </a:lstStyle>
          <a:p>
            <a:pPr eaLnBrk="1" hangingPunct="1">
              <a:lnSpc>
                <a:spcPts val="4500"/>
              </a:lnSpc>
              <a:defRPr/>
            </a:pPr>
            <a:r>
              <a:rPr lang="es-ES_tradnl" altLang="es-ES" sz="2700" b="1">
                <a:solidFill>
                  <a:srgbClr val="572314"/>
                </a:solidFill>
                <a:effectLst>
                  <a:outerShdw blurRad="38100" dist="38100" dir="2700000" algn="tl">
                    <a:srgbClr val="C0C0C0"/>
                  </a:outerShdw>
                </a:effectLst>
              </a:rPr>
              <a:t>OFICINA TÉCNICA</a:t>
            </a:r>
            <a:endParaRPr lang="es-ES" altLang="es-ES" sz="2700" b="1">
              <a:solidFill>
                <a:srgbClr val="572314"/>
              </a:solidFill>
              <a:effectLst>
                <a:outerShdw blurRad="38100" dist="38100" dir="2700000" algn="tl">
                  <a:srgbClr val="C0C0C0"/>
                </a:outerShdw>
              </a:effectLst>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22F154BC-FF22-484A-8F03-C17B8197B22B}"/>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
        <p:nvSpPr>
          <p:cNvPr id="173058" name="2 Subtítulo">
            <a:extLst>
              <a:ext uri="{FF2B5EF4-FFF2-40B4-BE49-F238E27FC236}">
                <a16:creationId xmlns:a16="http://schemas.microsoft.com/office/drawing/2014/main" id="{1D18226D-6FB2-B444-8D48-00C84E1CEBB3}"/>
              </a:ext>
            </a:extLst>
          </p:cNvPr>
          <p:cNvSpPr>
            <a:spLocks noGrp="1"/>
          </p:cNvSpPr>
          <p:nvPr>
            <p:ph type="subTitle" idx="1"/>
          </p:nvPr>
        </p:nvSpPr>
        <p:spPr>
          <a:xfrm>
            <a:off x="1042988" y="1844675"/>
            <a:ext cx="7921625" cy="4176713"/>
          </a:xfrm>
        </p:spPr>
        <p:txBody>
          <a:bodyPr/>
          <a:lstStyle/>
          <a:p>
            <a:pPr marL="26988" eaLnBrk="1" hangingPunct="1"/>
            <a:r>
              <a:rPr lang="es-ES_tradnl" altLang="es-ES" sz="2000" b="1" u="sng" dirty="0">
                <a:solidFill>
                  <a:srgbClr val="320E04"/>
                </a:solidFill>
                <a:ea typeface="ＭＳ Ｐゴシック" panose="020B0600070205080204" pitchFamily="34" charset="-128"/>
              </a:rPr>
              <a:t>Contenido:</a:t>
            </a:r>
            <a:endParaRPr lang="es-ES_tradnl" altLang="es-ES" sz="2000" dirty="0">
              <a:solidFill>
                <a:srgbClr val="320E04"/>
              </a:solidFill>
              <a:ea typeface="ＭＳ Ｐゴシック" panose="020B0600070205080204" pitchFamily="34" charset="-128"/>
            </a:endParaRPr>
          </a:p>
          <a:p>
            <a:pPr marL="11113" indent="-11113" eaLnBrk="1" hangingPunct="1">
              <a:tabLst>
                <a:tab pos="173038" algn="l"/>
              </a:tabLst>
            </a:pPr>
            <a:r>
              <a:rPr lang="es-ES_tradnl" altLang="es-ES" sz="2000" dirty="0">
                <a:solidFill>
                  <a:srgbClr val="320E04"/>
                </a:solidFill>
                <a:ea typeface="ＭＳ Ｐゴシック" panose="020B0600070205080204" pitchFamily="34" charset="-128"/>
              </a:rPr>
              <a:t>1 Introducción</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2 </a:t>
            </a:r>
            <a:r>
              <a:rPr lang="es-ES_tradnl" altLang="es-ES" sz="2000" u="sng" dirty="0">
                <a:solidFill>
                  <a:srgbClr val="320E04"/>
                </a:solidFill>
                <a:ea typeface="ＭＳ Ｐゴシック" panose="020B0600070205080204" pitchFamily="34" charset="-128"/>
              </a:rPr>
              <a:t>Método económico</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	2.1 Previsión de los costes de operación</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	2.2 Previsión de ingresos</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	2.3 Ratios de rentabilidad</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3 </a:t>
            </a:r>
            <a:r>
              <a:rPr lang="es-ES_tradnl" altLang="es-ES" sz="2000" u="sng" dirty="0">
                <a:solidFill>
                  <a:srgbClr val="320E04"/>
                </a:solidFill>
                <a:ea typeface="ＭＳ Ｐゴシック" panose="020B0600070205080204" pitchFamily="34" charset="-128"/>
              </a:rPr>
              <a:t>Método financiero</a:t>
            </a:r>
            <a:br>
              <a:rPr lang="es-ES_tradnl" altLang="es-ES" sz="2000" u="sng"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	3.1 Parámetros de la inversión</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	3.2 Valor actualizado neto (VAN)</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	3.3 Tasa de rentabilidad</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	3.4 Plazo de recuperación.</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	3.5 Tasa interna de rendimiento</a:t>
            </a:r>
          </a:p>
          <a:p>
            <a:pPr marL="26988" eaLnBrk="1" hangingPunct="1"/>
            <a:endParaRPr lang="es-ES_tradnl" altLang="es-ES" sz="2000" b="1" u="sng" dirty="0">
              <a:solidFill>
                <a:srgbClr val="320E04"/>
              </a:solidFill>
              <a:ea typeface="ＭＳ Ｐゴシック" panose="020B0600070205080204" pitchFamily="34" charset="-128"/>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2 Subtítulo">
            <a:extLst>
              <a:ext uri="{FF2B5EF4-FFF2-40B4-BE49-F238E27FC236}">
                <a16:creationId xmlns:a16="http://schemas.microsoft.com/office/drawing/2014/main" id="{1FC5F6D9-F2D0-2B45-BA2E-DC2A5D7A5E60}"/>
              </a:ext>
            </a:extLst>
          </p:cNvPr>
          <p:cNvSpPr>
            <a:spLocks noGrp="1"/>
          </p:cNvSpPr>
          <p:nvPr>
            <p:ph type="subTitle" idx="1"/>
          </p:nvPr>
        </p:nvSpPr>
        <p:spPr>
          <a:xfrm>
            <a:off x="1042988" y="1844675"/>
            <a:ext cx="7921625" cy="4176713"/>
          </a:xfrm>
        </p:spPr>
        <p:txBody>
          <a:bodyPr/>
          <a:lstStyle/>
          <a:p>
            <a:pPr marL="26988" eaLnBrk="1" hangingPunct="1"/>
            <a:r>
              <a:rPr lang="es-ES_tradnl" altLang="es-ES" sz="2000" b="1" u="sng" dirty="0">
                <a:solidFill>
                  <a:srgbClr val="320E04"/>
                </a:solidFill>
                <a:ea typeface="ＭＳ Ｐゴシック" panose="020B0600070205080204" pitchFamily="34" charset="-128"/>
              </a:rPr>
              <a:t>1 Introducción</a:t>
            </a:r>
            <a:br>
              <a:rPr lang="es-ES_tradnl" altLang="es-ES" sz="2000" dirty="0">
                <a:solidFill>
                  <a:srgbClr val="320E04"/>
                </a:solidFill>
                <a:ea typeface="ＭＳ Ｐゴシック" panose="020B0600070205080204" pitchFamily="34" charset="-128"/>
              </a:rPr>
            </a:br>
            <a:endParaRPr lang="es-ES_tradnl" altLang="es-ES" sz="2000" dirty="0">
              <a:solidFill>
                <a:srgbClr val="320E04"/>
              </a:solidFill>
              <a:ea typeface="ＭＳ Ｐゴシック" panose="020B0600070205080204" pitchFamily="34" charset="-128"/>
            </a:endParaRPr>
          </a:p>
          <a:p>
            <a:pPr marL="26988" eaLnBrk="1" hangingPunct="1"/>
            <a:r>
              <a:rPr lang="es-ES_tradnl" altLang="es-ES" sz="2000" dirty="0">
                <a:solidFill>
                  <a:srgbClr val="320E04"/>
                </a:solidFill>
                <a:ea typeface="ＭＳ Ｐゴシック" panose="020B0600070205080204" pitchFamily="34" charset="-128"/>
              </a:rPr>
              <a:t>El estudio estudio económico tiene por objeto prever el resultado de la explotación de un proyecto a lo largo de su vida útil.</a:t>
            </a:r>
          </a:p>
          <a:p>
            <a:pPr marL="26988" eaLnBrk="1" hangingPunct="1"/>
            <a:r>
              <a:rPr lang="es-ES_tradnl" altLang="es-ES" sz="2000" dirty="0">
                <a:solidFill>
                  <a:srgbClr val="320E04"/>
                </a:solidFill>
                <a:ea typeface="ＭＳ Ｐゴシック" panose="020B0600070205080204" pitchFamily="34" charset="-128"/>
              </a:rPr>
              <a:t>Se puede efectuar por dos métodos:</a:t>
            </a:r>
          </a:p>
          <a:p>
            <a:pPr marL="369888" indent="-342900" eaLnBrk="1" hangingPunct="1">
              <a:buFont typeface="Arial" panose="020B0604020202020204" pitchFamily="34" charset="0"/>
              <a:buChar char="•"/>
            </a:pPr>
            <a:r>
              <a:rPr lang="es-ES_tradnl" altLang="es-ES" sz="2000" b="1" dirty="0">
                <a:solidFill>
                  <a:srgbClr val="320E04"/>
                </a:solidFill>
                <a:ea typeface="ＭＳ Ｐゴシック" panose="020B0600070205080204" pitchFamily="34" charset="-128"/>
              </a:rPr>
              <a:t>Método económico. </a:t>
            </a:r>
            <a:r>
              <a:rPr lang="es-ES_tradnl" altLang="es-ES" sz="2000" dirty="0">
                <a:solidFill>
                  <a:srgbClr val="320E04"/>
                </a:solidFill>
                <a:ea typeface="ＭＳ Ｐゴシック" panose="020B0600070205080204" pitchFamily="34" charset="-128"/>
              </a:rPr>
              <a:t>Evalúa la relación costos – ingresos.</a:t>
            </a:r>
          </a:p>
          <a:p>
            <a:pPr marL="369888" indent="-342900" eaLnBrk="1" hangingPunct="1">
              <a:buFont typeface="Arial" panose="020B0604020202020204" pitchFamily="34" charset="0"/>
              <a:buChar char="•"/>
            </a:pPr>
            <a:r>
              <a:rPr lang="es-ES_tradnl" altLang="es-ES" sz="2000" b="1" dirty="0">
                <a:solidFill>
                  <a:srgbClr val="320E04"/>
                </a:solidFill>
                <a:ea typeface="ＭＳ Ｐゴシック" panose="020B0600070205080204" pitchFamily="34" charset="-128"/>
              </a:rPr>
              <a:t>Método financiero. </a:t>
            </a:r>
            <a:r>
              <a:rPr lang="es-ES_tradnl" altLang="es-ES" sz="2000" dirty="0">
                <a:solidFill>
                  <a:srgbClr val="320E04"/>
                </a:solidFill>
                <a:ea typeface="ＭＳ Ｐゴシック" panose="020B0600070205080204" pitchFamily="34" charset="-128"/>
              </a:rPr>
              <a:t>Evalúa la relación pagos – cobros.</a:t>
            </a:r>
          </a:p>
          <a:p>
            <a:pPr marL="26988" eaLnBrk="1" hangingPunct="1"/>
            <a:r>
              <a:rPr lang="es-ES_tradnl" altLang="es-ES" sz="2000" dirty="0">
                <a:solidFill>
                  <a:srgbClr val="320E04"/>
                </a:solidFill>
                <a:ea typeface="ＭＳ Ｐゴシック" panose="020B0600070205080204" pitchFamily="34" charset="-128"/>
              </a:rPr>
              <a:t>Debe diferenciarse con respecto al presupuesto del proyecto.</a:t>
            </a:r>
          </a:p>
          <a:p>
            <a:pPr marL="26988" eaLnBrk="1" hangingPunct="1"/>
            <a:r>
              <a:rPr lang="es-ES_tradnl" altLang="es-ES" sz="2000" dirty="0">
                <a:solidFill>
                  <a:srgbClr val="320E04"/>
                </a:solidFill>
                <a:ea typeface="ＭＳ Ｐゴシック" panose="020B0600070205080204" pitchFamily="34" charset="-128"/>
              </a:rPr>
              <a:t>En el estudio económico se efectúa una previsión de los costes de operación y en el presupuesto de los costes de ejecución.</a:t>
            </a:r>
          </a:p>
          <a:p>
            <a:pPr marL="26988" eaLnBrk="1" hangingPunct="1"/>
            <a:r>
              <a:rPr lang="es-ES_tradnl" altLang="es-ES" sz="2000" dirty="0">
                <a:solidFill>
                  <a:srgbClr val="320E04"/>
                </a:solidFill>
                <a:ea typeface="ＭＳ Ｐゴシック" panose="020B0600070205080204" pitchFamily="34" charset="-128"/>
              </a:rPr>
              <a:t>El estudio económico debe incluirse en los documentos de un proyecto como anexo a la memoria.</a:t>
            </a:r>
          </a:p>
        </p:txBody>
      </p:sp>
      <p:sp>
        <p:nvSpPr>
          <p:cNvPr id="9" name="1 Título">
            <a:extLst>
              <a:ext uri="{FF2B5EF4-FFF2-40B4-BE49-F238E27FC236}">
                <a16:creationId xmlns:a16="http://schemas.microsoft.com/office/drawing/2014/main" id="{4311E86D-3193-7C45-A0DF-CB5CB1232D1B}"/>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2 Subtítulo">
            <a:extLst>
              <a:ext uri="{FF2B5EF4-FFF2-40B4-BE49-F238E27FC236}">
                <a16:creationId xmlns:a16="http://schemas.microsoft.com/office/drawing/2014/main" id="{5995CD6B-6055-0F46-B010-6F063A53DD0A}"/>
              </a:ext>
            </a:extLst>
          </p:cNvPr>
          <p:cNvSpPr>
            <a:spLocks noGrp="1"/>
          </p:cNvSpPr>
          <p:nvPr>
            <p:ph type="subTitle" idx="1"/>
          </p:nvPr>
        </p:nvSpPr>
        <p:spPr>
          <a:xfrm>
            <a:off x="1042988" y="1844675"/>
            <a:ext cx="7921625" cy="4176713"/>
          </a:xfrm>
        </p:spPr>
        <p:txBody>
          <a:bodyPr/>
          <a:lstStyle/>
          <a:p>
            <a:pPr marL="26988" eaLnBrk="1" hangingPunct="1"/>
            <a:r>
              <a:rPr lang="es-ES_tradnl" altLang="es-ES" sz="2000" dirty="0">
                <a:solidFill>
                  <a:srgbClr val="320E04"/>
                </a:solidFill>
                <a:ea typeface="ＭＳ Ｐゴシック" panose="020B0600070205080204" pitchFamily="34" charset="-128"/>
              </a:rPr>
              <a:t>2. </a:t>
            </a:r>
            <a:r>
              <a:rPr lang="es-ES_tradnl" altLang="es-ES" sz="2000" b="1" u="sng" dirty="0">
                <a:solidFill>
                  <a:srgbClr val="320E04"/>
                </a:solidFill>
                <a:ea typeface="ＭＳ Ｐゴシック" panose="020B0600070205080204" pitchFamily="34" charset="-128"/>
              </a:rPr>
              <a:t>Método económico</a:t>
            </a:r>
            <a:br>
              <a:rPr lang="es-ES_tradnl" altLang="es-ES" sz="2000" dirty="0">
                <a:solidFill>
                  <a:srgbClr val="320E04"/>
                </a:solidFill>
                <a:ea typeface="ＭＳ Ｐゴシック" panose="020B0600070205080204" pitchFamily="34" charset="-128"/>
              </a:rPr>
            </a:br>
            <a:endParaRPr lang="es-ES_tradnl" altLang="es-ES" sz="2000" dirty="0">
              <a:solidFill>
                <a:srgbClr val="320E04"/>
              </a:solidFill>
              <a:ea typeface="ＭＳ Ｐゴシック" panose="020B0600070205080204" pitchFamily="34" charset="-128"/>
            </a:endParaRPr>
          </a:p>
          <a:p>
            <a:pPr marL="26988" eaLnBrk="1" hangingPunct="1"/>
            <a:r>
              <a:rPr lang="es-ES_tradnl" altLang="es-ES" sz="2000" dirty="0">
                <a:solidFill>
                  <a:srgbClr val="320E04"/>
                </a:solidFill>
                <a:ea typeface="ＭＳ Ｐゴシック" panose="020B0600070205080204" pitchFamily="34" charset="-128"/>
              </a:rPr>
              <a:t>Comprende:</a:t>
            </a:r>
          </a:p>
          <a:p>
            <a:pPr marL="26988" eaLnBrk="1" hangingPunct="1"/>
            <a:endParaRPr lang="es-ES_tradnl" altLang="es-ES" sz="2000" dirty="0">
              <a:solidFill>
                <a:srgbClr val="320E04"/>
              </a:solidFill>
              <a:ea typeface="ＭＳ Ｐゴシック" panose="020B0600070205080204" pitchFamily="34" charset="-128"/>
            </a:endParaRPr>
          </a:p>
          <a:p>
            <a:pPr marL="26988" eaLnBrk="1" hangingPunct="1">
              <a:buFont typeface="Gill Sans MT" panose="020B0502020104020203" pitchFamily="34" charset="77"/>
              <a:buAutoNum type="arabicPeriod"/>
            </a:pPr>
            <a:r>
              <a:rPr lang="es-ES_tradnl" altLang="es-ES" sz="2400" dirty="0">
                <a:solidFill>
                  <a:srgbClr val="320E04"/>
                </a:solidFill>
                <a:ea typeface="ＭＳ Ｐゴシック" panose="020B0600070205080204" pitchFamily="34" charset="-128"/>
              </a:rPr>
              <a:t>Estimación de los costes de operación</a:t>
            </a:r>
          </a:p>
          <a:p>
            <a:pPr marL="26988" eaLnBrk="1" hangingPunct="1">
              <a:buFont typeface="Gill Sans MT" panose="020B0502020104020203" pitchFamily="34" charset="77"/>
              <a:buAutoNum type="arabicPeriod"/>
            </a:pPr>
            <a:r>
              <a:rPr lang="es-ES_tradnl" altLang="es-ES" sz="2400" dirty="0">
                <a:solidFill>
                  <a:srgbClr val="320E04"/>
                </a:solidFill>
                <a:ea typeface="ＭＳ Ｐゴシック" panose="020B0600070205080204" pitchFamily="34" charset="-128"/>
              </a:rPr>
              <a:t>Estimación de ingresos</a:t>
            </a:r>
          </a:p>
          <a:p>
            <a:pPr marL="26988" eaLnBrk="1" hangingPunct="1">
              <a:buFont typeface="Gill Sans MT" panose="020B0502020104020203" pitchFamily="34" charset="77"/>
              <a:buAutoNum type="arabicPeriod"/>
            </a:pPr>
            <a:r>
              <a:rPr lang="es-ES_tradnl" altLang="es-ES" sz="2400" dirty="0">
                <a:solidFill>
                  <a:srgbClr val="320E04"/>
                </a:solidFill>
                <a:ea typeface="ＭＳ Ｐゴシック" panose="020B0600070205080204" pitchFamily="34" charset="-128"/>
              </a:rPr>
              <a:t>Cálculo de ratios de rentabilidad</a:t>
            </a:r>
          </a:p>
        </p:txBody>
      </p:sp>
      <p:sp>
        <p:nvSpPr>
          <p:cNvPr id="6" name="1 Título">
            <a:extLst>
              <a:ext uri="{FF2B5EF4-FFF2-40B4-BE49-F238E27FC236}">
                <a16:creationId xmlns:a16="http://schemas.microsoft.com/office/drawing/2014/main" id="{7266F0C6-9309-604C-8B71-E918C7BB6E56}"/>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BF44C461-9FC6-924F-9A03-A8E20130CA32}"/>
              </a:ext>
            </a:extLst>
          </p:cNvPr>
          <p:cNvSpPr>
            <a:spLocks noGrp="1"/>
          </p:cNvSpPr>
          <p:nvPr>
            <p:ph type="subTitle" idx="1"/>
          </p:nvPr>
        </p:nvSpPr>
        <p:spPr>
          <a:xfrm>
            <a:off x="1042988" y="1844675"/>
            <a:ext cx="7921625" cy="4176713"/>
          </a:xfrm>
        </p:spPr>
        <p:txBody>
          <a:bodyPr>
            <a:normAutofit/>
          </a:bodyPr>
          <a:lstStyle/>
          <a:p>
            <a:pPr eaLnBrk="1" fontAlgn="auto" hangingPunct="1">
              <a:spcAft>
                <a:spcPts val="0"/>
              </a:spcAft>
              <a:buFont typeface="Wingdings 2"/>
              <a:buNone/>
              <a:defRPr/>
            </a:pPr>
            <a:r>
              <a:rPr lang="es-ES_tradnl" sz="2000" b="1" dirty="0">
                <a:ea typeface="+mn-ea"/>
                <a:cs typeface="+mn-cs"/>
              </a:rPr>
              <a:t>2.1 </a:t>
            </a:r>
            <a:r>
              <a:rPr lang="es-ES_tradnl" sz="2000" b="1" u="sng" dirty="0">
                <a:ea typeface="+mn-ea"/>
                <a:cs typeface="+mn-cs"/>
              </a:rPr>
              <a:t>Estimación costes de operación</a:t>
            </a:r>
          </a:p>
          <a:p>
            <a:pPr eaLnBrk="1" fontAlgn="auto" hangingPunct="1">
              <a:spcAft>
                <a:spcPts val="0"/>
              </a:spcAft>
              <a:buFont typeface="Wingdings 2"/>
              <a:buNone/>
              <a:defRPr/>
            </a:pPr>
            <a:endParaRPr lang="es-ES_tradnl" sz="2000" b="1" u="sng" dirty="0">
              <a:ea typeface="+mn-ea"/>
              <a:cs typeface="+mn-cs"/>
            </a:endParaRPr>
          </a:p>
          <a:p>
            <a:pPr eaLnBrk="1" fontAlgn="auto" hangingPunct="1">
              <a:spcAft>
                <a:spcPts val="0"/>
              </a:spcAft>
              <a:buFont typeface="Wingdings 2"/>
              <a:buNone/>
              <a:defRPr/>
            </a:pPr>
            <a:r>
              <a:rPr lang="es-ES_tradnl" sz="2000" dirty="0">
                <a:ea typeface="+mn-ea"/>
                <a:cs typeface="+mn-cs"/>
              </a:rPr>
              <a:t>1.Determinación de los costes totales anuales por su naturaleza</a:t>
            </a:r>
          </a:p>
          <a:p>
            <a:pPr lvl="1" algn="l" eaLnBrk="1" fontAlgn="auto" hangingPunct="1">
              <a:spcAft>
                <a:spcPts val="0"/>
              </a:spcAft>
              <a:buFont typeface="Verdana"/>
              <a:buNone/>
              <a:defRPr/>
            </a:pPr>
            <a:r>
              <a:rPr lang="es-ES_tradnl" sz="2200" dirty="0">
                <a:ea typeface="+mn-ea"/>
              </a:rPr>
              <a:t>1.1 Materiales.</a:t>
            </a:r>
          </a:p>
          <a:p>
            <a:pPr lvl="1" algn="l" eaLnBrk="1" fontAlgn="auto" hangingPunct="1">
              <a:spcAft>
                <a:spcPts val="0"/>
              </a:spcAft>
              <a:buFont typeface="Verdana"/>
              <a:buNone/>
              <a:defRPr/>
            </a:pPr>
            <a:r>
              <a:rPr lang="es-ES_tradnl" sz="2200" dirty="0">
                <a:ea typeface="+mn-ea"/>
              </a:rPr>
              <a:t>1.2 Costes del trabajo.</a:t>
            </a:r>
          </a:p>
          <a:p>
            <a:pPr lvl="1" algn="l" eaLnBrk="1" fontAlgn="auto" hangingPunct="1">
              <a:spcAft>
                <a:spcPts val="0"/>
              </a:spcAft>
              <a:buFont typeface="Verdana"/>
              <a:buNone/>
              <a:defRPr/>
            </a:pPr>
            <a:r>
              <a:rPr lang="es-ES_tradnl" sz="2200" dirty="0">
                <a:ea typeface="+mn-ea"/>
              </a:rPr>
              <a:t>1.3 Costes por uso de equipos industriales.</a:t>
            </a:r>
          </a:p>
          <a:p>
            <a:pPr lvl="1" algn="l" eaLnBrk="1" fontAlgn="auto" hangingPunct="1">
              <a:spcAft>
                <a:spcPts val="0"/>
              </a:spcAft>
              <a:buFont typeface="Verdana"/>
              <a:buNone/>
              <a:defRPr/>
            </a:pPr>
            <a:r>
              <a:rPr lang="es-ES_tradnl" sz="2200" dirty="0">
                <a:ea typeface="+mn-ea"/>
              </a:rPr>
              <a:t>1.4 Resto de los costes según su naturaleza.</a:t>
            </a:r>
          </a:p>
          <a:p>
            <a:pPr eaLnBrk="1" fontAlgn="auto" hangingPunct="1">
              <a:spcAft>
                <a:spcPts val="0"/>
              </a:spcAft>
              <a:buFont typeface="Wingdings 2"/>
              <a:buNone/>
              <a:defRPr/>
            </a:pPr>
            <a:r>
              <a:rPr lang="es-ES_tradnl" sz="2000" dirty="0">
                <a:ea typeface="+mn-ea"/>
                <a:cs typeface="+mn-cs"/>
              </a:rPr>
              <a:t>2. Determinación del coste por secciones.</a:t>
            </a:r>
          </a:p>
          <a:p>
            <a:pPr eaLnBrk="1" fontAlgn="auto" hangingPunct="1">
              <a:spcAft>
                <a:spcPts val="0"/>
              </a:spcAft>
              <a:buFont typeface="Wingdings 2"/>
              <a:buNone/>
              <a:defRPr/>
            </a:pPr>
            <a:r>
              <a:rPr lang="es-ES_tradnl" sz="2000" dirty="0">
                <a:ea typeface="+mn-ea"/>
                <a:cs typeface="+mn-cs"/>
              </a:rPr>
              <a:t>3. Determinación del coste por productos.</a:t>
            </a:r>
          </a:p>
          <a:p>
            <a:pPr eaLnBrk="1" fontAlgn="auto" hangingPunct="1">
              <a:spcAft>
                <a:spcPts val="0"/>
              </a:spcAft>
              <a:buFont typeface="Wingdings 2"/>
              <a:buNone/>
              <a:defRPr/>
            </a:pPr>
            <a:endParaRPr lang="es-ES_tradnl" sz="2000" dirty="0">
              <a:ea typeface="+mn-ea"/>
              <a:cs typeface="+mn-cs"/>
            </a:endParaRPr>
          </a:p>
        </p:txBody>
      </p:sp>
      <p:sp>
        <p:nvSpPr>
          <p:cNvPr id="6" name="1 Título">
            <a:extLst>
              <a:ext uri="{FF2B5EF4-FFF2-40B4-BE49-F238E27FC236}">
                <a16:creationId xmlns:a16="http://schemas.microsoft.com/office/drawing/2014/main" id="{5AD4DBA5-37F1-A044-93B4-4D501FF5DAED}"/>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916FF268-3A13-2E4B-95E9-62CEF4B4D625}"/>
              </a:ext>
            </a:extLst>
          </p:cNvPr>
          <p:cNvSpPr>
            <a:spLocks noGrp="1"/>
          </p:cNvSpPr>
          <p:nvPr>
            <p:ph type="subTitle" idx="1"/>
          </p:nvPr>
        </p:nvSpPr>
        <p:spPr>
          <a:xfrm>
            <a:off x="1002456" y="1412727"/>
            <a:ext cx="7921625" cy="504205"/>
          </a:xfrm>
        </p:spPr>
        <p:txBody>
          <a:bodyPr>
            <a:normAutofit/>
          </a:bodyPr>
          <a:lstStyle/>
          <a:p>
            <a:pPr eaLnBrk="1" fontAlgn="auto" hangingPunct="1">
              <a:spcAft>
                <a:spcPts val="0"/>
              </a:spcAft>
              <a:buFont typeface="Wingdings 2"/>
              <a:buNone/>
              <a:defRPr/>
            </a:pPr>
            <a:r>
              <a:rPr lang="en-US" sz="2000" b="1" dirty="0">
                <a:ea typeface="+mn-ea"/>
                <a:cs typeface="+mn-cs"/>
              </a:rPr>
              <a:t>2.1 </a:t>
            </a:r>
            <a:r>
              <a:rPr lang="en-US" sz="2000" b="1" u="sng" dirty="0">
                <a:ea typeface="+mn-ea"/>
                <a:cs typeface="+mn-cs"/>
              </a:rPr>
              <a:t>Operating costs estimation</a:t>
            </a:r>
          </a:p>
          <a:p>
            <a:pPr eaLnBrk="1" fontAlgn="auto" hangingPunct="1">
              <a:spcAft>
                <a:spcPts val="0"/>
              </a:spcAft>
              <a:buFont typeface="Wingdings 2"/>
              <a:buNone/>
              <a:defRPr/>
            </a:pPr>
            <a:endParaRPr lang="en-US" sz="2000" b="1" u="sng" dirty="0">
              <a:ea typeface="+mn-ea"/>
              <a:cs typeface="+mn-cs"/>
            </a:endParaRPr>
          </a:p>
          <a:p>
            <a:pPr eaLnBrk="1" fontAlgn="auto" hangingPunct="1">
              <a:spcAft>
                <a:spcPts val="0"/>
              </a:spcAft>
              <a:buFont typeface="Wingdings 2"/>
              <a:buNone/>
              <a:defRPr/>
            </a:pPr>
            <a:endParaRPr lang="en-US" sz="2000" dirty="0">
              <a:ea typeface="+mn-ea"/>
              <a:cs typeface="+mn-cs"/>
            </a:endParaRPr>
          </a:p>
        </p:txBody>
      </p:sp>
      <p:pic>
        <p:nvPicPr>
          <p:cNvPr id="4" name="Picture 6">
            <a:extLst>
              <a:ext uri="{FF2B5EF4-FFF2-40B4-BE49-F238E27FC236}">
                <a16:creationId xmlns:a16="http://schemas.microsoft.com/office/drawing/2014/main" id="{EA09D1CD-5082-D542-8635-6FA917CEADFD}"/>
              </a:ext>
            </a:extLst>
          </p:cNvPr>
          <p:cNvPicPr>
            <a:picLocks noChangeAspect="1" noChangeArrowheads="1"/>
          </p:cNvPicPr>
          <p:nvPr/>
        </p:nvPicPr>
        <p:blipFill>
          <a:blip r:embed="rId2"/>
          <a:srcRect/>
          <a:stretch/>
        </p:blipFill>
        <p:spPr bwMode="auto">
          <a:xfrm>
            <a:off x="1928538" y="1916932"/>
            <a:ext cx="6213006" cy="469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1 Título">
            <a:extLst>
              <a:ext uri="{FF2B5EF4-FFF2-40B4-BE49-F238E27FC236}">
                <a16:creationId xmlns:a16="http://schemas.microsoft.com/office/drawing/2014/main" id="{FEC227CC-3D40-7B4F-938A-54E0144ACC63}"/>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2 Subtítulo">
            <a:extLst>
              <a:ext uri="{FF2B5EF4-FFF2-40B4-BE49-F238E27FC236}">
                <a16:creationId xmlns:a16="http://schemas.microsoft.com/office/drawing/2014/main" id="{75ADBCF2-9DD1-8F42-8227-1F129C25A9DB}"/>
              </a:ext>
            </a:extLst>
          </p:cNvPr>
          <p:cNvSpPr>
            <a:spLocks noGrp="1"/>
          </p:cNvSpPr>
          <p:nvPr>
            <p:ph type="subTitle" idx="1"/>
          </p:nvPr>
        </p:nvSpPr>
        <p:spPr>
          <a:xfrm>
            <a:off x="1115616" y="1484784"/>
            <a:ext cx="7921625" cy="4968552"/>
          </a:xfrm>
        </p:spPr>
        <p:txBody>
          <a:bodyPr/>
          <a:lstStyle/>
          <a:p>
            <a:pPr marL="26988" eaLnBrk="1" hangingPunct="1">
              <a:lnSpc>
                <a:spcPct val="80000"/>
              </a:lnSpc>
            </a:pPr>
            <a:r>
              <a:rPr lang="es-ES_tradnl" altLang="es-ES" sz="1900" b="1" dirty="0">
                <a:solidFill>
                  <a:srgbClr val="320E04"/>
                </a:solidFill>
                <a:ea typeface="ＭＳ Ｐゴシック" panose="020B0600070205080204" pitchFamily="34" charset="-128"/>
              </a:rPr>
              <a:t>2.1 </a:t>
            </a:r>
            <a:r>
              <a:rPr lang="es-ES_tradnl" altLang="es-ES" sz="1900" b="1" u="sng" dirty="0">
                <a:solidFill>
                  <a:srgbClr val="320E04"/>
                </a:solidFill>
                <a:ea typeface="ＭＳ Ｐゴシック" panose="020B0600070205080204" pitchFamily="34" charset="-128"/>
              </a:rPr>
              <a:t>Estimación costes según su naturaleza</a:t>
            </a:r>
          </a:p>
          <a:p>
            <a:pPr marL="26988" eaLnBrk="1" hangingPunct="1">
              <a:lnSpc>
                <a:spcPct val="80000"/>
              </a:lnSpc>
            </a:pPr>
            <a:endParaRPr lang="es-ES_tradnl" altLang="es-ES" sz="1900" dirty="0">
              <a:solidFill>
                <a:srgbClr val="320E04"/>
              </a:solidFill>
              <a:ea typeface="ＭＳ Ｐゴシック" panose="020B0600070205080204" pitchFamily="34" charset="-128"/>
            </a:endParaRP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Coste de materiales</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Costes del trabajo</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Coste de los equipos industriales</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Impuestos</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Transporte</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Comunicaciones</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Alquileres</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Suministros (gas, electricidad, agua,… )</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Gastos financieros</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Gastos de publicidad y representación</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Patentes y licencias</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Asesoramiento técnico.</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Seguros</a:t>
            </a:r>
          </a:p>
          <a:p>
            <a:pPr marL="541338" indent="-185738" eaLnBrk="1" hangingPunct="1">
              <a:lnSpc>
                <a:spcPct val="80000"/>
              </a:lnSpc>
              <a:buFont typeface="Arial" panose="020B0604020202020204" pitchFamily="34" charset="0"/>
              <a:buChar char="•"/>
            </a:pPr>
            <a:r>
              <a:rPr lang="es-ES_tradnl" altLang="es-ES" sz="1900" dirty="0">
                <a:solidFill>
                  <a:srgbClr val="320E04"/>
                </a:solidFill>
                <a:ea typeface="ＭＳ Ｐゴシック" panose="020B0600070205080204" pitchFamily="34" charset="-128"/>
              </a:rPr>
              <a:t>Otros</a:t>
            </a:r>
          </a:p>
          <a:p>
            <a:pPr marL="26988" eaLnBrk="1" hangingPunct="1">
              <a:lnSpc>
                <a:spcPct val="80000"/>
              </a:lnSpc>
            </a:pPr>
            <a:endParaRPr lang="es-ES_tradnl" altLang="es-ES" sz="19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79B7D865-A13E-7E45-866A-5151CFE83247}"/>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2 Subtítulo">
            <a:extLst>
              <a:ext uri="{FF2B5EF4-FFF2-40B4-BE49-F238E27FC236}">
                <a16:creationId xmlns:a16="http://schemas.microsoft.com/office/drawing/2014/main" id="{63D9EE56-13FC-3F44-9E7C-A8531B9E2492}"/>
              </a:ext>
            </a:extLst>
          </p:cNvPr>
          <p:cNvSpPr>
            <a:spLocks noGrp="1"/>
          </p:cNvSpPr>
          <p:nvPr>
            <p:ph type="subTitle" idx="1"/>
          </p:nvPr>
        </p:nvSpPr>
        <p:spPr>
          <a:xfrm>
            <a:off x="1042988" y="1844675"/>
            <a:ext cx="7921625" cy="4679950"/>
          </a:xfrm>
        </p:spPr>
        <p:txBody>
          <a:bodyPr/>
          <a:lstStyle/>
          <a:p>
            <a:pPr marL="26988" eaLnBrk="1" hangingPunct="1"/>
            <a:r>
              <a:rPr lang="es-ES_tradnl" altLang="es-ES" sz="2000" b="1" dirty="0">
                <a:solidFill>
                  <a:srgbClr val="320E04"/>
                </a:solidFill>
                <a:ea typeface="ＭＳ Ｐゴシック" panose="020B0600070205080204" pitchFamily="34" charset="-128"/>
              </a:rPr>
              <a:t>2.2 </a:t>
            </a:r>
            <a:r>
              <a:rPr lang="es-ES_tradnl" altLang="es-ES" sz="2000" b="1" u="sng" dirty="0">
                <a:solidFill>
                  <a:srgbClr val="320E04"/>
                </a:solidFill>
                <a:ea typeface="ＭＳ Ｐゴシック" panose="020B0600070205080204" pitchFamily="34" charset="-128"/>
              </a:rPr>
              <a:t>Estimación de los ingresos</a:t>
            </a:r>
            <a:endParaRPr lang="es-ES_tradnl" altLang="es-ES" sz="2000" dirty="0">
              <a:solidFill>
                <a:srgbClr val="320E04"/>
              </a:solidFill>
              <a:ea typeface="ＭＳ Ｐゴシック" panose="020B0600070205080204" pitchFamily="34" charset="-128"/>
            </a:endParaRPr>
          </a:p>
          <a:p>
            <a:pPr marL="357188" eaLnBrk="1" hangingPunct="1"/>
            <a:r>
              <a:rPr lang="es-ES_tradnl" altLang="es-ES" sz="2000" dirty="0">
                <a:solidFill>
                  <a:srgbClr val="320E04"/>
                </a:solidFill>
                <a:ea typeface="ＭＳ Ｐゴシック" panose="020B0600070205080204" pitchFamily="34" charset="-128"/>
              </a:rPr>
              <a:t>Depende de dos términos:</a:t>
            </a:r>
          </a:p>
          <a:p>
            <a:pPr marL="357188" eaLnBrk="1" hangingPunct="1"/>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1.  Precio de venta unitario</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2.  Volumen de ventas</a:t>
            </a:r>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3.  Ingresos = precio x ventas</a:t>
            </a:r>
          </a:p>
          <a:p>
            <a:pPr marL="357188" eaLnBrk="1" hangingPunct="1"/>
            <a:br>
              <a:rPr lang="es-ES_tradnl" altLang="es-ES" sz="2000" dirty="0">
                <a:solidFill>
                  <a:srgbClr val="320E04"/>
                </a:solidFill>
                <a:ea typeface="ＭＳ Ｐゴシック" panose="020B0600070205080204" pitchFamily="34" charset="-128"/>
              </a:rPr>
            </a:br>
            <a:r>
              <a:rPr lang="es-ES_tradnl" altLang="es-ES" sz="2000" dirty="0">
                <a:solidFill>
                  <a:srgbClr val="320E04"/>
                </a:solidFill>
                <a:ea typeface="ＭＳ Ｐゴシック" panose="020B0600070205080204" pitchFamily="34" charset="-128"/>
              </a:rPr>
              <a:t>El precio de venta puede estimarse en una economía de mercado libre por el precio de venta de productos similares.</a:t>
            </a:r>
          </a:p>
          <a:p>
            <a:pPr marL="357188" eaLnBrk="1" hangingPunct="1"/>
            <a:r>
              <a:rPr lang="es-ES_tradnl" altLang="es-ES" sz="2000" dirty="0">
                <a:solidFill>
                  <a:srgbClr val="320E04"/>
                </a:solidFill>
                <a:ea typeface="ＭＳ Ｐゴシック" panose="020B0600070205080204" pitchFamily="34" charset="-128"/>
              </a:rPr>
              <a:t>La principal dificultad consiste en estimar el volumen de ventas. </a:t>
            </a:r>
          </a:p>
          <a:p>
            <a:pPr marL="357188" eaLnBrk="1" hangingPunct="1"/>
            <a:r>
              <a:rPr lang="es-ES_tradnl" altLang="es-ES" sz="2000" dirty="0">
                <a:solidFill>
                  <a:srgbClr val="320E04"/>
                </a:solidFill>
                <a:ea typeface="ＭＳ Ｐゴシック" panose="020B0600070205080204" pitchFamily="34" charset="-128"/>
              </a:rPr>
              <a:t>En la mayoría de los casos, el estudio económico se efectúa condicionando los resultados al volumen de ventas. Lo que significa que en el estudio económico el volumen de ventas se tomaría como variable independiente.</a:t>
            </a:r>
          </a:p>
        </p:txBody>
      </p:sp>
      <p:sp>
        <p:nvSpPr>
          <p:cNvPr id="6" name="1 Título">
            <a:extLst>
              <a:ext uri="{FF2B5EF4-FFF2-40B4-BE49-F238E27FC236}">
                <a16:creationId xmlns:a16="http://schemas.microsoft.com/office/drawing/2014/main" id="{30C5D4C1-44CC-4A40-9C2D-F863348F06DF}"/>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2 Subtítulo">
            <a:extLst>
              <a:ext uri="{FF2B5EF4-FFF2-40B4-BE49-F238E27FC236}">
                <a16:creationId xmlns:a16="http://schemas.microsoft.com/office/drawing/2014/main" id="{B61E9137-7F7B-FE49-8AC6-887510418B16}"/>
              </a:ext>
            </a:extLst>
          </p:cNvPr>
          <p:cNvSpPr>
            <a:spLocks noGrp="1"/>
          </p:cNvSpPr>
          <p:nvPr>
            <p:ph type="subTitle" idx="1"/>
          </p:nvPr>
        </p:nvSpPr>
        <p:spPr>
          <a:xfrm>
            <a:off x="1042988" y="1556792"/>
            <a:ext cx="7921625" cy="4967833"/>
          </a:xfrm>
        </p:spPr>
        <p:txBody>
          <a:bodyPr/>
          <a:lstStyle/>
          <a:p>
            <a:pPr marL="26988" eaLnBrk="1" hangingPunct="1">
              <a:lnSpc>
                <a:spcPct val="80000"/>
              </a:lnSpc>
            </a:pPr>
            <a:r>
              <a:rPr lang="es-ES_tradnl" altLang="es-ES" sz="1700" b="1" dirty="0">
                <a:solidFill>
                  <a:srgbClr val="320E04"/>
                </a:solidFill>
                <a:ea typeface="ＭＳ Ｐゴシック" panose="020B0600070205080204" pitchFamily="34" charset="-128"/>
              </a:rPr>
              <a:t>2.3 </a:t>
            </a:r>
            <a:r>
              <a:rPr lang="es-ES_tradnl" altLang="es-ES" sz="1700" b="1" u="sng" dirty="0">
                <a:solidFill>
                  <a:srgbClr val="320E04"/>
                </a:solidFill>
                <a:ea typeface="ＭＳ Ｐゴシック" panose="020B0600070205080204" pitchFamily="34" charset="-128"/>
              </a:rPr>
              <a:t>Ratios de rentabilidad</a:t>
            </a:r>
          </a:p>
          <a:p>
            <a:pPr marL="26988" eaLnBrk="1" hangingPunct="1">
              <a:lnSpc>
                <a:spcPct val="80000"/>
              </a:lnSpc>
            </a:pPr>
            <a:endParaRPr lang="es-ES_tradnl" altLang="es-ES" sz="1700" dirty="0">
              <a:solidFill>
                <a:srgbClr val="320E04"/>
              </a:solidFill>
              <a:ea typeface="ＭＳ Ｐゴシック" panose="020B0600070205080204" pitchFamily="34" charset="-128"/>
            </a:endParaRPr>
          </a:p>
          <a:p>
            <a:pPr marL="357188" eaLnBrk="1" hangingPunct="1">
              <a:lnSpc>
                <a:spcPct val="80000"/>
              </a:lnSpc>
            </a:pPr>
            <a:r>
              <a:rPr lang="es-ES_tradnl" altLang="es-ES" sz="1700" b="1" dirty="0">
                <a:solidFill>
                  <a:srgbClr val="320E04"/>
                </a:solidFill>
                <a:ea typeface="ＭＳ Ｐゴシック" panose="020B0600070205080204" pitchFamily="34" charset="-128"/>
              </a:rPr>
              <a:t>1. Beneficio bruto (</a:t>
            </a:r>
            <a:r>
              <a:rPr lang="es-ES_tradnl" altLang="es-ES" sz="1700" b="1"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B</a:t>
            </a:r>
            <a:r>
              <a:rPr lang="es-ES_tradnl" altLang="es-ES" sz="1700" b="1" dirty="0">
                <a:solidFill>
                  <a:srgbClr val="320E04"/>
                </a:solidFill>
                <a:ea typeface="ＭＳ Ｐゴシック" panose="020B0600070205080204" pitchFamily="34" charset="-128"/>
              </a:rPr>
              <a:t>)</a:t>
            </a:r>
          </a:p>
          <a:p>
            <a:pPr marL="357188" eaLnBrk="1" hangingPunct="1">
              <a:lnSpc>
                <a:spcPct val="80000"/>
              </a:lnSpc>
            </a:pPr>
            <a:br>
              <a:rPr lang="es-ES_tradnl" altLang="es-ES" sz="1700" dirty="0">
                <a:solidFill>
                  <a:srgbClr val="320E04"/>
                </a:solidFill>
                <a:ea typeface="ＭＳ Ｐゴシック" panose="020B0600070205080204" pitchFamily="34" charset="-128"/>
              </a:rPr>
            </a:br>
            <a:r>
              <a:rPr lang="es-ES_tradnl" altLang="es-ES" sz="1700" dirty="0">
                <a:solidFill>
                  <a:srgbClr val="320E04"/>
                </a:solidFill>
                <a:ea typeface="ＭＳ Ｐゴシック" panose="020B0600070205080204" pitchFamily="34" charset="-128"/>
              </a:rPr>
              <a:t>	</a:t>
            </a:r>
            <a: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B = Ingresos (I) – Costes totales (</a:t>
            </a:r>
            <a:r>
              <a:rPr lang="es-ES_tradnl" altLang="es-ES" sz="1700" i="1" dirty="0" err="1">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Ct</a:t>
            </a:r>
            <a: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a:t>
            </a:r>
            <a:b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br>
            <a:br>
              <a:rPr lang="es-ES_tradnl" altLang="es-ES" sz="1700" dirty="0">
                <a:solidFill>
                  <a:srgbClr val="320E04"/>
                </a:solidFill>
                <a:ea typeface="ＭＳ Ｐゴシック" panose="020B0600070205080204" pitchFamily="34" charset="-128"/>
              </a:rPr>
            </a:br>
            <a:r>
              <a:rPr lang="es-ES_tradnl" altLang="es-ES" sz="1700" b="1" dirty="0">
                <a:solidFill>
                  <a:srgbClr val="320E04"/>
                </a:solidFill>
                <a:ea typeface="ＭＳ Ｐゴシック" panose="020B0600070205080204" pitchFamily="34" charset="-128"/>
              </a:rPr>
              <a:t>2. Tasa de rentabilidad (r)</a:t>
            </a:r>
            <a:endParaRPr lang="es-ES_tradnl" altLang="es-ES" sz="1700" dirty="0">
              <a:solidFill>
                <a:srgbClr val="320E04"/>
              </a:solidFill>
              <a:ea typeface="ＭＳ Ｐゴシック" panose="020B0600070205080204" pitchFamily="34" charset="-128"/>
            </a:endParaRPr>
          </a:p>
          <a:p>
            <a:pPr marL="357188" eaLnBrk="1" hangingPunct="1">
              <a:lnSpc>
                <a:spcPct val="80000"/>
              </a:lnSpc>
            </a:pPr>
            <a:br>
              <a:rPr lang="es-ES_tradnl" altLang="es-ES" sz="1700" dirty="0">
                <a:solidFill>
                  <a:srgbClr val="320E04"/>
                </a:solidFill>
                <a:ea typeface="ＭＳ Ｐゴシック" panose="020B0600070205080204" pitchFamily="34" charset="-128"/>
              </a:rPr>
            </a:br>
            <a:r>
              <a:rPr lang="es-ES_tradnl" altLang="es-ES" sz="1700" dirty="0">
                <a:solidFill>
                  <a:srgbClr val="320E04"/>
                </a:solidFill>
                <a:ea typeface="ＭＳ Ｐゴシック" panose="020B0600070205080204" pitchFamily="34" charset="-128"/>
              </a:rPr>
              <a:t>		</a:t>
            </a:r>
            <a: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B</a:t>
            </a:r>
            <a:br>
              <a:rPr lang="es-ES_tradnl" altLang="es-ES" sz="1700" dirty="0">
                <a:solidFill>
                  <a:srgbClr val="320E04"/>
                </a:solidFill>
                <a:ea typeface="ＭＳ Ｐゴシック" panose="020B0600070205080204" pitchFamily="34" charset="-128"/>
              </a:rPr>
            </a:br>
            <a:r>
              <a:rPr lang="es-ES_tradnl" altLang="es-ES" sz="1700" dirty="0">
                <a:solidFill>
                  <a:srgbClr val="320E04"/>
                </a:solidFill>
                <a:ea typeface="ＭＳ Ｐゴシック" panose="020B0600070205080204" pitchFamily="34" charset="-128"/>
              </a:rPr>
              <a:t>	</a:t>
            </a:r>
            <a: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r =   -------------- x 100</a:t>
            </a:r>
            <a:br>
              <a:rPr lang="es-ES_tradnl" altLang="es-ES" sz="1700" dirty="0">
                <a:solidFill>
                  <a:srgbClr val="320E04"/>
                </a:solidFill>
                <a:ea typeface="ＭＳ Ｐゴシック" panose="020B0600070205080204" pitchFamily="34" charset="-128"/>
              </a:rPr>
            </a:br>
            <a:r>
              <a:rPr lang="es-ES_tradnl" altLang="es-ES" sz="1700" dirty="0">
                <a:solidFill>
                  <a:srgbClr val="320E04"/>
                </a:solidFill>
                <a:ea typeface="ＭＳ Ｐゴシック" panose="020B0600070205080204" pitchFamily="34" charset="-128"/>
              </a:rPr>
              <a:t>	</a:t>
            </a:r>
            <a: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          Inversión</a:t>
            </a:r>
            <a:br>
              <a:rPr lang="es-ES_tradnl" altLang="es-ES" sz="1700" dirty="0">
                <a:solidFill>
                  <a:srgbClr val="320E04"/>
                </a:solidFill>
                <a:ea typeface="ＭＳ Ｐゴシック" panose="020B0600070205080204" pitchFamily="34" charset="-128"/>
              </a:rPr>
            </a:br>
            <a:br>
              <a:rPr lang="es-ES_tradnl" altLang="es-ES" sz="1700" dirty="0">
                <a:solidFill>
                  <a:srgbClr val="320E04"/>
                </a:solidFill>
                <a:ea typeface="ＭＳ Ｐゴシック" panose="020B0600070205080204" pitchFamily="34" charset="-128"/>
              </a:rPr>
            </a:br>
            <a:r>
              <a:rPr lang="es-ES_tradnl" altLang="es-ES" sz="1700" b="1" dirty="0">
                <a:solidFill>
                  <a:srgbClr val="320E04"/>
                </a:solidFill>
                <a:ea typeface="ＭＳ Ｐゴシック" panose="020B0600070205080204" pitchFamily="34" charset="-128"/>
              </a:rPr>
              <a:t>3. Punto de equilibrio (</a:t>
            </a:r>
            <a:r>
              <a:rPr lang="es-ES_tradnl" altLang="es-ES" sz="1700" b="1" i="1" dirty="0" err="1">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neq</a:t>
            </a:r>
            <a:r>
              <a:rPr lang="es-ES_tradnl" altLang="es-ES" sz="1700" b="1" dirty="0">
                <a:solidFill>
                  <a:srgbClr val="320E04"/>
                </a:solidFill>
                <a:ea typeface="ＭＳ Ｐゴシック" panose="020B0600070205080204" pitchFamily="34" charset="-128"/>
              </a:rPr>
              <a:t>)</a:t>
            </a:r>
          </a:p>
          <a:p>
            <a:pPr marL="587375" eaLnBrk="1" hangingPunct="1">
              <a:lnSpc>
                <a:spcPct val="80000"/>
              </a:lnSpc>
            </a:pPr>
            <a:r>
              <a:rPr lang="es-ES_tradnl" altLang="es-ES" sz="1700" dirty="0">
                <a:solidFill>
                  <a:srgbClr val="320E04"/>
                </a:solidFill>
                <a:ea typeface="ＭＳ Ｐゴシック" panose="020B0600070205080204" pitchFamily="34" charset="-128"/>
              </a:rPr>
              <a:t>Volumen de ventas necesario para equilibrar costes con ingresos.</a:t>
            </a:r>
            <a:br>
              <a:rPr lang="es-ES_tradnl" altLang="es-ES" sz="1700" dirty="0">
                <a:solidFill>
                  <a:srgbClr val="320E04"/>
                </a:solidFill>
                <a:ea typeface="ＭＳ Ｐゴシック" panose="020B0600070205080204" pitchFamily="34" charset="-128"/>
              </a:rPr>
            </a:br>
            <a:r>
              <a:rPr lang="es-ES_tradnl" altLang="es-ES" sz="1700" dirty="0">
                <a:solidFill>
                  <a:srgbClr val="320E04"/>
                </a:solidFill>
                <a:ea typeface="ＭＳ Ｐゴシック" panose="020B0600070205080204" pitchFamily="34" charset="-128"/>
              </a:rPr>
              <a:t>		  </a:t>
            </a:r>
            <a:r>
              <a:rPr lang="es-ES_tradnl" altLang="es-ES" sz="17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Cf</a:t>
            </a:r>
            <a:br>
              <a:rPr lang="es-ES_tradnl" altLang="es-ES" sz="1700" dirty="0">
                <a:solidFill>
                  <a:srgbClr val="320E04"/>
                </a:solidFill>
                <a:ea typeface="ＭＳ Ｐゴシック" panose="020B0600070205080204" pitchFamily="34" charset="-128"/>
              </a:rPr>
            </a:br>
            <a:r>
              <a:rPr lang="es-ES_tradnl" altLang="es-ES" sz="1700" dirty="0">
                <a:solidFill>
                  <a:srgbClr val="320E04"/>
                </a:solidFill>
                <a:ea typeface="ＭＳ Ｐゴシック" panose="020B0600070205080204" pitchFamily="34" charset="-128"/>
              </a:rPr>
              <a:t>	</a:t>
            </a:r>
            <a:r>
              <a:rPr lang="es-ES_tradnl" altLang="es-ES" sz="1700" i="1" dirty="0" err="1">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neq</a:t>
            </a:r>
            <a: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 = -------------</a:t>
            </a:r>
            <a:br>
              <a:rPr lang="es-ES_tradnl" altLang="es-ES" sz="1700" dirty="0">
                <a:solidFill>
                  <a:srgbClr val="320E04"/>
                </a:solidFill>
                <a:ea typeface="ＭＳ Ｐゴシック" panose="020B0600070205080204" pitchFamily="34" charset="-128"/>
              </a:rPr>
            </a:br>
            <a:r>
              <a:rPr lang="es-ES_tradnl" altLang="es-ES" sz="1700" dirty="0">
                <a:solidFill>
                  <a:srgbClr val="320E04"/>
                </a:solidFill>
                <a:ea typeface="ＭＳ Ｐゴシック" panose="020B0600070205080204" pitchFamily="34" charset="-128"/>
              </a:rPr>
              <a:t>		</a:t>
            </a:r>
            <a:r>
              <a:rPr lang="es-ES_tradnl" altLang="es-ES" sz="1700"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p - cv</a:t>
            </a:r>
            <a:br>
              <a:rPr lang="es-ES_tradnl" altLang="es-ES" sz="1700" dirty="0">
                <a:solidFill>
                  <a:srgbClr val="320E04"/>
                </a:solidFill>
                <a:ea typeface="ＭＳ Ｐゴシック" panose="020B0600070205080204" pitchFamily="34" charset="-128"/>
              </a:rPr>
            </a:br>
            <a:br>
              <a:rPr lang="es-ES_tradnl" altLang="es-ES" sz="1700" dirty="0">
                <a:solidFill>
                  <a:srgbClr val="320E04"/>
                </a:solidFill>
                <a:ea typeface="ＭＳ Ｐゴシック" panose="020B0600070205080204" pitchFamily="34" charset="-128"/>
              </a:rPr>
            </a:br>
            <a: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Cf:</a:t>
            </a:r>
            <a:r>
              <a:rPr lang="es-ES_tradnl" altLang="es-ES" sz="1700" dirty="0">
                <a:solidFill>
                  <a:srgbClr val="320E04"/>
                </a:solidFill>
                <a:ea typeface="ＭＳ Ｐゴシック" panose="020B0600070205080204" pitchFamily="34" charset="-128"/>
              </a:rPr>
              <a:t>  Total costes fijos</a:t>
            </a:r>
            <a:br>
              <a:rPr lang="es-ES_tradnl" altLang="es-ES" sz="1700" dirty="0">
                <a:solidFill>
                  <a:srgbClr val="320E04"/>
                </a:solidFill>
                <a:ea typeface="ＭＳ Ｐゴシック" panose="020B0600070205080204" pitchFamily="34" charset="-128"/>
              </a:rPr>
            </a:br>
            <a: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cv:</a:t>
            </a:r>
            <a:r>
              <a:rPr lang="es-ES_tradnl" altLang="es-ES" sz="1700" dirty="0">
                <a:solidFill>
                  <a:srgbClr val="320E04"/>
                </a:solidFill>
                <a:ea typeface="ＭＳ Ｐゴシック" panose="020B0600070205080204" pitchFamily="34" charset="-128"/>
              </a:rPr>
              <a:t>  coste variable unitario</a:t>
            </a:r>
            <a:br>
              <a:rPr lang="es-ES_tradnl" altLang="es-ES" sz="1700" dirty="0">
                <a:solidFill>
                  <a:srgbClr val="320E04"/>
                </a:solidFill>
                <a:ea typeface="ＭＳ Ｐゴシック" panose="020B0600070205080204" pitchFamily="34" charset="-128"/>
              </a:rPr>
            </a:br>
            <a:r>
              <a:rPr lang="es-ES_tradnl" altLang="es-ES" sz="1700"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p:</a:t>
            </a:r>
            <a:r>
              <a:rPr lang="es-ES_tradnl" altLang="es-ES" sz="1700" dirty="0">
                <a:solidFill>
                  <a:srgbClr val="320E04"/>
                </a:solidFill>
                <a:ea typeface="ＭＳ Ｐゴシック" panose="020B0600070205080204" pitchFamily="34" charset="-128"/>
              </a:rPr>
              <a:t>    precio de venta unitario</a:t>
            </a:r>
          </a:p>
          <a:p>
            <a:pPr marL="26988" eaLnBrk="1" hangingPunct="1">
              <a:lnSpc>
                <a:spcPct val="80000"/>
              </a:lnSpc>
            </a:pPr>
            <a:endParaRPr lang="es-ES_tradnl" altLang="es-ES" sz="1700" dirty="0">
              <a:solidFill>
                <a:srgbClr val="320E04"/>
              </a:solidFill>
              <a:ea typeface="ＭＳ Ｐゴシック" panose="020B0600070205080204" pitchFamily="34" charset="-128"/>
            </a:endParaRPr>
          </a:p>
        </p:txBody>
      </p:sp>
      <p:sp>
        <p:nvSpPr>
          <p:cNvPr id="6" name="1 Título">
            <a:extLst>
              <a:ext uri="{FF2B5EF4-FFF2-40B4-BE49-F238E27FC236}">
                <a16:creationId xmlns:a16="http://schemas.microsoft.com/office/drawing/2014/main" id="{F5D2831F-3250-474C-B5E3-E567D0DCEB40}"/>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D13E1272-E241-0746-AA74-C5E3D7385990}"/>
              </a:ext>
            </a:extLst>
          </p:cNvPr>
          <p:cNvSpPr>
            <a:spLocks noGrp="1"/>
          </p:cNvSpPr>
          <p:nvPr>
            <p:ph type="subTitle" idx="1"/>
          </p:nvPr>
        </p:nvSpPr>
        <p:spPr>
          <a:xfrm>
            <a:off x="1068635" y="1628800"/>
            <a:ext cx="7921625" cy="360363"/>
          </a:xfrm>
        </p:spPr>
        <p:txBody>
          <a:bodyPr>
            <a:normAutofit/>
          </a:bodyPr>
          <a:lstStyle/>
          <a:p>
            <a:pPr eaLnBrk="1" fontAlgn="auto" hangingPunct="1">
              <a:spcAft>
                <a:spcPts val="0"/>
              </a:spcAft>
              <a:buFont typeface="Wingdings 2"/>
              <a:buNone/>
              <a:defRPr/>
            </a:pPr>
            <a:r>
              <a:rPr lang="es-ES_tradnl" sz="2000" b="1" dirty="0">
                <a:ea typeface="+mn-ea"/>
                <a:cs typeface="+mn-cs"/>
              </a:rPr>
              <a:t>2.3 </a:t>
            </a:r>
            <a:r>
              <a:rPr lang="es-ES_tradnl" sz="2000" b="1" u="sng" dirty="0">
                <a:ea typeface="+mn-ea"/>
                <a:cs typeface="+mn-cs"/>
              </a:rPr>
              <a:t>Ratios de rentabilidad</a:t>
            </a:r>
            <a:r>
              <a:rPr lang="es-ES_tradnl" sz="2000" b="1" dirty="0">
                <a:ea typeface="+mn-ea"/>
                <a:cs typeface="+mn-cs"/>
              </a:rPr>
              <a:t> – Punto de equilibrio</a:t>
            </a:r>
            <a:endParaRPr lang="es-ES_tradnl" sz="2000" dirty="0">
              <a:ea typeface="+mn-ea"/>
              <a:cs typeface="+mn-cs"/>
            </a:endParaRPr>
          </a:p>
          <a:p>
            <a:pPr eaLnBrk="1" fontAlgn="auto" hangingPunct="1">
              <a:spcAft>
                <a:spcPts val="0"/>
              </a:spcAft>
              <a:buFont typeface="Wingdings 2"/>
              <a:buNone/>
              <a:defRPr/>
            </a:pPr>
            <a:endParaRPr lang="es-ES_tradnl" sz="2000" dirty="0">
              <a:ea typeface="+mn-ea"/>
              <a:cs typeface="+mn-cs"/>
            </a:endParaRPr>
          </a:p>
        </p:txBody>
      </p:sp>
      <p:pic>
        <p:nvPicPr>
          <p:cNvPr id="181251" name="Picture 4">
            <a:extLst>
              <a:ext uri="{FF2B5EF4-FFF2-40B4-BE49-F238E27FC236}">
                <a16:creationId xmlns:a16="http://schemas.microsoft.com/office/drawing/2014/main" id="{36010B47-922B-C940-9CF3-749BA3D48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013761"/>
            <a:ext cx="4752528" cy="4674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1 Título">
            <a:extLst>
              <a:ext uri="{FF2B5EF4-FFF2-40B4-BE49-F238E27FC236}">
                <a16:creationId xmlns:a16="http://schemas.microsoft.com/office/drawing/2014/main" id="{166B41CC-D4DE-37A1-7287-8F1C0EE5973D}"/>
              </a:ext>
            </a:extLst>
          </p:cNvPr>
          <p:cNvSpPr>
            <a:spLocks noGrp="1"/>
          </p:cNvSpPr>
          <p:nvPr>
            <p:ph type="ctrTitle"/>
          </p:nvPr>
        </p:nvSpPr>
        <p:spPr>
          <a:xfrm>
            <a:off x="1068635" y="431800"/>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2 Subtítulo">
                <a:extLst>
                  <a:ext uri="{FF2B5EF4-FFF2-40B4-BE49-F238E27FC236}">
                    <a16:creationId xmlns:a16="http://schemas.microsoft.com/office/drawing/2014/main" id="{1A300CCE-A634-E240-BFE8-8D15661199A8}"/>
                  </a:ext>
                </a:extLst>
              </p:cNvPr>
              <p:cNvSpPr>
                <a:spLocks noGrp="1"/>
              </p:cNvSpPr>
              <p:nvPr>
                <p:ph type="subTitle" idx="1"/>
              </p:nvPr>
            </p:nvSpPr>
            <p:spPr>
              <a:xfrm>
                <a:off x="1042988" y="1844674"/>
                <a:ext cx="7921625" cy="4752677"/>
              </a:xfrm>
            </p:spPr>
            <p:txBody>
              <a:bodyPr>
                <a:normAutofit fontScale="77500" lnSpcReduction="20000"/>
              </a:bodyPr>
              <a:lstStyle/>
              <a:p>
                <a:pPr eaLnBrk="1" fontAlgn="auto" hangingPunct="1">
                  <a:spcAft>
                    <a:spcPts val="0"/>
                  </a:spcAft>
                  <a:buFont typeface="Wingdings 2"/>
                  <a:buNone/>
                  <a:defRPr/>
                </a:pPr>
                <a:r>
                  <a:rPr lang="es-ES_tradnl" sz="2000" b="1" dirty="0">
                    <a:latin typeface="Arial" panose="020B0604020202020204" pitchFamily="34" charset="0"/>
                    <a:ea typeface="+mn-ea"/>
                    <a:cs typeface="Arial" panose="020B0604020202020204" pitchFamily="34" charset="0"/>
                  </a:rPr>
                  <a:t>3 </a:t>
                </a:r>
                <a:r>
                  <a:rPr lang="es-ES_tradnl" sz="2000" b="1" u="sng" dirty="0">
                    <a:latin typeface="Arial" panose="020B0604020202020204" pitchFamily="34" charset="0"/>
                    <a:ea typeface="+mn-ea"/>
                    <a:cs typeface="Arial" panose="020B0604020202020204" pitchFamily="34" charset="0"/>
                  </a:rPr>
                  <a:t>Método financiero</a:t>
                </a:r>
                <a:endParaRPr lang="es-ES_tradnl" sz="2000"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r>
                  <a:rPr lang="es-ES_tradnl" sz="2000" dirty="0">
                    <a:latin typeface="Arial" panose="020B0604020202020204" pitchFamily="34" charset="0"/>
                    <a:ea typeface="+mn-ea"/>
                    <a:cs typeface="Arial" panose="020B0604020202020204" pitchFamily="34" charset="0"/>
                  </a:rPr>
                  <a:t>En este método se analizan los flujos de caja: relación cobros-pagos.</a:t>
                </a:r>
              </a:p>
              <a:p>
                <a:pPr marL="449263" indent="-173038" eaLnBrk="1" fontAlgn="auto" hangingPunct="1">
                  <a:spcAft>
                    <a:spcPts val="0"/>
                  </a:spcAft>
                  <a:buFont typeface="Wingdings 2"/>
                  <a:buNone/>
                  <a:defRPr/>
                </a:pPr>
                <a:r>
                  <a:rPr lang="es-ES_tradnl" sz="2000" b="1" dirty="0">
                    <a:latin typeface="Arial" panose="020B0604020202020204" pitchFamily="34" charset="0"/>
                    <a:ea typeface="+mn-ea"/>
                    <a:cs typeface="Arial" panose="020B0604020202020204" pitchFamily="34" charset="0"/>
                  </a:rPr>
                  <a:t>3.1 Parámetros:</a:t>
                </a:r>
              </a:p>
              <a:p>
                <a:pPr marL="619125" indent="-215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Vida del Proyecto o periodo del estudio (</a:t>
                </a:r>
                <a:r>
                  <a:rPr lang="es-ES_tradnl" sz="2000" i="1" dirty="0">
                    <a:latin typeface="Times New Roman" panose="02020603050405020304" pitchFamily="18" charset="0"/>
                    <a:ea typeface="+mn-ea"/>
                    <a:cs typeface="Times New Roman" panose="02020603050405020304" pitchFamily="18" charset="0"/>
                  </a:rPr>
                  <a:t>n</a:t>
                </a:r>
                <a:r>
                  <a:rPr lang="es-ES_tradnl" sz="2000" dirty="0">
                    <a:latin typeface="Arial" panose="020B0604020202020204" pitchFamily="34" charset="0"/>
                    <a:ea typeface="+mn-ea"/>
                    <a:cs typeface="Arial" panose="020B0604020202020204" pitchFamily="34" charset="0"/>
                  </a:rPr>
                  <a:t>). Número de períodos de tiempo en la vida del proyecto o en el plazo de estudio de la inversión seleccionado.</a:t>
                </a:r>
              </a:p>
              <a:p>
                <a:pPr marL="619125" indent="-215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El flujo de caja en el periodo </a:t>
                </a:r>
                <a:r>
                  <a:rPr lang="es-ES_tradnl" sz="2000" i="1" dirty="0">
                    <a:latin typeface="Times New Roman" panose="02020603050405020304" pitchFamily="18" charset="0"/>
                    <a:ea typeface="+mn-ea"/>
                    <a:cs typeface="Times New Roman" panose="02020603050405020304" pitchFamily="18" charset="0"/>
                  </a:rPr>
                  <a:t>j</a:t>
                </a:r>
                <a:r>
                  <a:rPr lang="es-ES_tradnl" sz="2000" dirty="0">
                    <a:latin typeface="Arial" panose="020B0604020202020204" pitchFamily="34" charset="0"/>
                    <a:ea typeface="+mn-ea"/>
                    <a:cs typeface="Arial" panose="020B0604020202020204" pitchFamily="34" charset="0"/>
                  </a:rPr>
                  <a:t> (</a:t>
                </a:r>
                <a:r>
                  <a:rPr lang="es-ES_tradnl" sz="2000" i="1" dirty="0" err="1">
                    <a:latin typeface="Times New Roman" panose="02020603050405020304" pitchFamily="18" charset="0"/>
                    <a:ea typeface="+mn-ea"/>
                    <a:cs typeface="Times New Roman" panose="02020603050405020304" pitchFamily="18" charset="0"/>
                  </a:rPr>
                  <a:t>Q</a:t>
                </a:r>
                <a:r>
                  <a:rPr lang="es-ES_tradnl" sz="2000" i="1" baseline="-25000" dirty="0" err="1">
                    <a:latin typeface="Times New Roman" panose="02020603050405020304" pitchFamily="18" charset="0"/>
                    <a:ea typeface="+mn-ea"/>
                    <a:cs typeface="Times New Roman" panose="02020603050405020304" pitchFamily="18" charset="0"/>
                  </a:rPr>
                  <a:t>j</a:t>
                </a:r>
                <a:r>
                  <a:rPr lang="es-ES_tradnl" sz="2000" dirty="0">
                    <a:latin typeface="Arial" panose="020B0604020202020204" pitchFamily="34" charset="0"/>
                    <a:ea typeface="+mn-ea"/>
                    <a:cs typeface="Arial" panose="020B0604020202020204" pitchFamily="34" charset="0"/>
                  </a:rPr>
                  <a:t>) es la diferencia entre cobros (</a:t>
                </a:r>
                <a:r>
                  <a:rPr lang="es-ES_tradnl" sz="2000" i="1" dirty="0" err="1">
                    <a:latin typeface="Times New Roman" panose="02020603050405020304" pitchFamily="18" charset="0"/>
                    <a:ea typeface="+mn-ea"/>
                    <a:cs typeface="Times New Roman" panose="02020603050405020304" pitchFamily="18" charset="0"/>
                  </a:rPr>
                  <a:t>C</a:t>
                </a:r>
                <a:r>
                  <a:rPr lang="es-ES_tradnl" sz="2000" i="1" baseline="-25000" dirty="0" err="1">
                    <a:latin typeface="Times New Roman" panose="02020603050405020304" pitchFamily="18" charset="0"/>
                    <a:ea typeface="+mn-ea"/>
                    <a:cs typeface="Times New Roman" panose="02020603050405020304" pitchFamily="18" charset="0"/>
                  </a:rPr>
                  <a:t>j</a:t>
                </a:r>
                <a:r>
                  <a:rPr lang="es-ES_tradnl" sz="2000" dirty="0">
                    <a:latin typeface="Arial" panose="020B0604020202020204" pitchFamily="34" charset="0"/>
                    <a:ea typeface="+mn-ea"/>
                    <a:cs typeface="Arial" panose="020B0604020202020204" pitchFamily="34" charset="0"/>
                  </a:rPr>
                  <a:t>) y pagos (</a:t>
                </a:r>
                <a:r>
                  <a:rPr lang="es-ES_tradnl" sz="2000" i="1" dirty="0" err="1">
                    <a:latin typeface="Times New Roman" panose="02020603050405020304" pitchFamily="18" charset="0"/>
                    <a:ea typeface="+mn-ea"/>
                    <a:cs typeface="Times New Roman" panose="02020603050405020304" pitchFamily="18" charset="0"/>
                  </a:rPr>
                  <a:t>P</a:t>
                </a:r>
                <a:r>
                  <a:rPr lang="es-ES_tradnl" sz="2000" i="1" baseline="-25000" dirty="0" err="1">
                    <a:latin typeface="Times New Roman" panose="02020603050405020304" pitchFamily="18" charset="0"/>
                    <a:ea typeface="+mn-ea"/>
                    <a:cs typeface="Times New Roman" panose="02020603050405020304" pitchFamily="18" charset="0"/>
                  </a:rPr>
                  <a:t>j</a:t>
                </a:r>
                <a:r>
                  <a:rPr lang="es-ES_tradnl" sz="2000" dirty="0">
                    <a:latin typeface="Arial" panose="020B0604020202020204" pitchFamily="34" charset="0"/>
                    <a:ea typeface="+mn-ea"/>
                    <a:cs typeface="Arial" panose="020B0604020202020204" pitchFamily="34" charset="0"/>
                  </a:rPr>
                  <a:t>) de ese periodo.</a:t>
                </a:r>
              </a:p>
              <a:p>
                <a:pPr marL="619125" indent="-215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Desembolso de la inversión del periodo, </a:t>
                </a:r>
                <a:r>
                  <a:rPr lang="es-ES_tradnl" sz="2000" i="1" dirty="0" err="1">
                    <a:latin typeface="Times New Roman" panose="02020603050405020304" pitchFamily="18" charset="0"/>
                    <a:cs typeface="Times New Roman" panose="02020603050405020304" pitchFamily="18" charset="0"/>
                  </a:rPr>
                  <a:t>K</a:t>
                </a:r>
                <a:r>
                  <a:rPr lang="es-ES_tradnl" sz="2000" i="1" baseline="-25000" dirty="0" err="1">
                    <a:latin typeface="Times New Roman" panose="02020603050405020304" pitchFamily="18" charset="0"/>
                    <a:cs typeface="Times New Roman" panose="02020603050405020304" pitchFamily="18" charset="0"/>
                  </a:rPr>
                  <a:t>j</a:t>
                </a:r>
                <a:r>
                  <a:rPr lang="es-ES_tradnl" sz="2000" i="1" baseline="-25000" dirty="0">
                    <a:latin typeface="Arial" panose="020B0604020202020204" pitchFamily="34" charset="0"/>
                    <a:cs typeface="Arial" panose="020B0604020202020204" pitchFamily="34" charset="0"/>
                  </a:rPr>
                  <a:t> </a:t>
                </a:r>
                <a:r>
                  <a:rPr lang="es-ES_tradnl" sz="2000" i="1" dirty="0">
                    <a:latin typeface="Arial" panose="020B0604020202020204" pitchFamily="34" charset="0"/>
                    <a:cs typeface="Arial" panose="020B0604020202020204" pitchFamily="34" charset="0"/>
                  </a:rPr>
                  <a:t>,</a:t>
                </a:r>
                <a:r>
                  <a:rPr lang="es-ES_tradnl" sz="2000" dirty="0">
                    <a:latin typeface="Arial" panose="020B0604020202020204" pitchFamily="34" charset="0"/>
                    <a:ea typeface="+mn-ea"/>
                    <a:cs typeface="Arial" panose="020B0604020202020204" pitchFamily="34" charset="0"/>
                  </a:rPr>
                  <a:t> </a:t>
                </a:r>
                <a:r>
                  <a:rPr lang="es-ES_tradnl" sz="2000" i="1" dirty="0">
                    <a:latin typeface="Times New Roman" panose="02020603050405020304" pitchFamily="18" charset="0"/>
                    <a:ea typeface="+mn-ea"/>
                    <a:cs typeface="Times New Roman" panose="02020603050405020304" pitchFamily="18" charset="0"/>
                  </a:rPr>
                  <a:t>j</a:t>
                </a:r>
                <a:r>
                  <a:rPr lang="es-ES_tradnl" sz="2000" dirty="0">
                    <a:latin typeface="Arial" panose="020B0604020202020204" pitchFamily="34" charset="0"/>
                    <a:ea typeface="+mn-ea"/>
                    <a:cs typeface="Arial" panose="020B0604020202020204" pitchFamily="34" charset="0"/>
                  </a:rPr>
                  <a:t>.</a:t>
                </a:r>
              </a:p>
              <a:p>
                <a:pPr marL="619125" indent="-215900" eaLnBrk="1" fontAlgn="auto" hangingPunct="1">
                  <a:spcAft>
                    <a:spcPts val="0"/>
                  </a:spcAft>
                  <a:buFont typeface="Arial" panose="020B0604020202020204" pitchFamily="34" charset="0"/>
                  <a:buChar char="•"/>
                  <a:defRPr/>
                </a:pPr>
                <a:r>
                  <a:rPr lang="es-ES_tradnl" sz="2000" dirty="0">
                    <a:latin typeface="Arial" panose="020B0604020202020204" pitchFamily="34" charset="0"/>
                    <a:ea typeface="+mn-ea"/>
                    <a:cs typeface="Arial" panose="020B0604020202020204" pitchFamily="34" charset="0"/>
                  </a:rPr>
                  <a:t>Tasa de interés (</a:t>
                </a:r>
                <a:r>
                  <a:rPr lang="es-ES_tradnl" sz="2000" i="1" dirty="0">
                    <a:latin typeface="Times New Roman" panose="02020603050405020304" pitchFamily="18" charset="0"/>
                    <a:ea typeface="+mn-ea"/>
                    <a:cs typeface="Times New Roman" panose="02020603050405020304" pitchFamily="18" charset="0"/>
                  </a:rPr>
                  <a:t>i</a:t>
                </a:r>
                <a:r>
                  <a:rPr lang="es-ES_tradnl" sz="2000" dirty="0">
                    <a:latin typeface="Arial" panose="020B0604020202020204" pitchFamily="34" charset="0"/>
                    <a:ea typeface="+mn-ea"/>
                    <a:cs typeface="Arial" panose="020B0604020202020204" pitchFamily="34" charset="0"/>
                  </a:rPr>
                  <a:t>) o precio del dinero.</a:t>
                </a:r>
              </a:p>
              <a:p>
                <a:pPr marL="619125" indent="-215900" eaLnBrk="1" fontAlgn="auto" hangingPunct="1">
                  <a:spcAft>
                    <a:spcPts val="0"/>
                  </a:spcAft>
                  <a:buFont typeface="Arial" panose="020B0604020202020204" pitchFamily="34" charset="0"/>
                  <a:buChar char="•"/>
                  <a:defRPr/>
                </a:pPr>
                <a:r>
                  <a:rPr lang="es-ES_tradnl" sz="2000" i="1" dirty="0">
                    <a:latin typeface="Arial" panose="020B0604020202020204" pitchFamily="34" charset="0"/>
                    <a:ea typeface="+mn-ea"/>
                    <a:cs typeface="Arial" panose="020B0604020202020204" pitchFamily="34" charset="0"/>
                  </a:rPr>
                  <a:t>El valor presente, </a:t>
                </a:r>
                <a:r>
                  <a:rPr lang="es-ES_tradnl" sz="2000" i="1" dirty="0">
                    <a:latin typeface="Times New Roman" panose="02020603050405020304" pitchFamily="18" charset="0"/>
                    <a:ea typeface="+mn-ea"/>
                    <a:cs typeface="Times New Roman" panose="02020603050405020304" pitchFamily="18" charset="0"/>
                  </a:rPr>
                  <a:t>Po</a:t>
                </a:r>
                <a:r>
                  <a:rPr lang="es-ES_tradnl" sz="2000" i="1" dirty="0">
                    <a:latin typeface="Arial" panose="020B0604020202020204" pitchFamily="34" charset="0"/>
                    <a:ea typeface="+mn-ea"/>
                    <a:cs typeface="Arial" panose="020B0604020202020204" pitchFamily="34" charset="0"/>
                  </a:rPr>
                  <a:t>, </a:t>
                </a:r>
                <a:r>
                  <a:rPr lang="es-ES_tradnl" sz="2000" dirty="0">
                    <a:latin typeface="Arial" panose="020B0604020202020204" pitchFamily="34" charset="0"/>
                    <a:ea typeface="+mn-ea"/>
                    <a:cs typeface="Arial" panose="020B0604020202020204" pitchFamily="34" charset="0"/>
                  </a:rPr>
                  <a:t>y el valor futuro </a:t>
                </a:r>
                <a:r>
                  <a:rPr lang="es-ES_tradnl" sz="2000" i="1" dirty="0">
                    <a:latin typeface="Times New Roman" panose="02020603050405020304" pitchFamily="18" charset="0"/>
                    <a:ea typeface="+mn-ea"/>
                    <a:cs typeface="Times New Roman" panose="02020603050405020304" pitchFamily="18" charset="0"/>
                  </a:rPr>
                  <a:t>S</a:t>
                </a:r>
                <a:r>
                  <a:rPr lang="es-ES_tradnl" sz="2000" i="1" baseline="-25000" dirty="0">
                    <a:latin typeface="Times New Roman" panose="02020603050405020304" pitchFamily="18" charset="0"/>
                    <a:ea typeface="+mn-ea"/>
                    <a:cs typeface="Times New Roman" panose="02020603050405020304" pitchFamily="18" charset="0"/>
                  </a:rPr>
                  <a:t>n</a:t>
                </a:r>
                <a:r>
                  <a:rPr lang="es-ES_tradnl" sz="2000" dirty="0">
                    <a:latin typeface="Arial" panose="020B0604020202020204" pitchFamily="34" charset="0"/>
                    <a:ea typeface="+mn-ea"/>
                    <a:cs typeface="Arial" panose="020B0604020202020204" pitchFamily="34" charset="0"/>
                  </a:rPr>
                  <a:t> después de </a:t>
                </a:r>
                <a:r>
                  <a:rPr lang="es-ES_tradnl" sz="2000" i="1" dirty="0">
                    <a:latin typeface="Times New Roman" panose="02020603050405020304" pitchFamily="18" charset="0"/>
                    <a:ea typeface="+mn-ea"/>
                    <a:cs typeface="Times New Roman" panose="02020603050405020304" pitchFamily="18" charset="0"/>
                  </a:rPr>
                  <a:t>n</a:t>
                </a:r>
                <a:r>
                  <a:rPr lang="es-ES_tradnl" sz="2000" dirty="0">
                    <a:latin typeface="Arial" panose="020B0604020202020204" pitchFamily="34" charset="0"/>
                    <a:ea typeface="+mn-ea"/>
                    <a:cs typeface="Arial" panose="020B0604020202020204" pitchFamily="34" charset="0"/>
                  </a:rPr>
                  <a:t> periodos de tiempo están relacionados por:</a:t>
                </a:r>
              </a:p>
              <a:p>
                <a:pPr marL="449263" indent="-173038" eaLnBrk="1" fontAlgn="auto" hangingPunct="1">
                  <a:spcAft>
                    <a:spcPts val="0"/>
                  </a:spcAft>
                  <a:defRPr/>
                </a:pPr>
                <a:r>
                  <a:rPr lang="es-ES_tradnl" sz="2000" dirty="0">
                    <a:latin typeface="Arial" panose="020B0604020202020204" pitchFamily="34" charset="0"/>
                    <a:ea typeface="+mn-ea"/>
                    <a:cs typeface="Arial" panose="020B0604020202020204" pitchFamily="34" charset="0"/>
                  </a:rPr>
                  <a:t>			</a:t>
                </a:r>
                <a14:m>
                  <m:oMath xmlns:m="http://schemas.openxmlformats.org/officeDocument/2006/math">
                    <m:sSub>
                      <m:sSubPr>
                        <m:ctrlPr>
                          <a:rPr lang="es-ES_tradnl" sz="2000" i="1">
                            <a:latin typeface="Cambria Math" panose="02040503050406030204" pitchFamily="18" charset="0"/>
                            <a:cs typeface="Arial" panose="020B0604020202020204" pitchFamily="34" charset="0"/>
                          </a:rPr>
                        </m:ctrlPr>
                      </m:sSubPr>
                      <m:e>
                        <m:r>
                          <a:rPr lang="es-ES" sz="2000" b="0" i="1" smtClean="0">
                            <a:latin typeface="Cambria Math" panose="02040503050406030204" pitchFamily="18" charset="0"/>
                            <a:cs typeface="Arial" panose="020B0604020202020204" pitchFamily="34" charset="0"/>
                          </a:rPr>
                          <m:t>𝑆</m:t>
                        </m:r>
                      </m:e>
                      <m:sub>
                        <m:r>
                          <a:rPr lang="es-ES" sz="2000" b="0" i="1" smtClean="0">
                            <a:latin typeface="Cambria Math" panose="02040503050406030204" pitchFamily="18" charset="0"/>
                            <a:cs typeface="Arial" panose="020B0604020202020204" pitchFamily="34" charset="0"/>
                          </a:rPr>
                          <m:t>𝑛</m:t>
                        </m:r>
                      </m:sub>
                    </m:sSub>
                    <m:r>
                      <a:rPr lang="es-ES" sz="2000" i="1">
                        <a:latin typeface="Cambria Math" panose="02040503050406030204" pitchFamily="18" charset="0"/>
                        <a:cs typeface="Arial" panose="020B0604020202020204" pitchFamily="34" charset="0"/>
                      </a:rPr>
                      <m:t>=</m:t>
                    </m:r>
                    <m:sSub>
                      <m:sSubPr>
                        <m:ctrlPr>
                          <a:rPr lang="es-ES" sz="2000" i="1" smtClean="0">
                            <a:latin typeface="Cambria Math" panose="02040503050406030204" pitchFamily="18" charset="0"/>
                            <a:cs typeface="Arial" panose="020B0604020202020204" pitchFamily="34" charset="0"/>
                          </a:rPr>
                        </m:ctrlPr>
                      </m:sSubPr>
                      <m:e>
                        <m:r>
                          <a:rPr lang="es-ES" sz="2000" b="0" i="1" smtClean="0">
                            <a:latin typeface="Cambria Math" panose="02040503050406030204" pitchFamily="18" charset="0"/>
                            <a:cs typeface="Arial" panose="020B0604020202020204" pitchFamily="34" charset="0"/>
                          </a:rPr>
                          <m:t>𝑃</m:t>
                        </m:r>
                      </m:e>
                      <m:sub>
                        <m:r>
                          <a:rPr lang="es-ES" sz="2000" b="0" i="1" smtClean="0">
                            <a:latin typeface="Cambria Math" panose="02040503050406030204" pitchFamily="18" charset="0"/>
                            <a:cs typeface="Arial" panose="020B0604020202020204" pitchFamily="34" charset="0"/>
                          </a:rPr>
                          <m:t>0</m:t>
                        </m:r>
                      </m:sub>
                    </m:sSub>
                    <m:sSup>
                      <m:sSupPr>
                        <m:ctrlPr>
                          <a:rPr lang="es-ES" sz="2000" i="1">
                            <a:latin typeface="Cambria Math" panose="02040503050406030204" pitchFamily="18" charset="0"/>
                            <a:cs typeface="Arial" panose="020B0604020202020204" pitchFamily="34" charset="0"/>
                          </a:rPr>
                        </m:ctrlPr>
                      </m:sSupPr>
                      <m:e>
                        <m:d>
                          <m:dPr>
                            <m:ctrlPr>
                              <a:rPr lang="es-ES" sz="2000" i="1">
                                <a:latin typeface="Cambria Math" panose="02040503050406030204" pitchFamily="18" charset="0"/>
                                <a:cs typeface="Arial" panose="020B0604020202020204" pitchFamily="34" charset="0"/>
                              </a:rPr>
                            </m:ctrlPr>
                          </m:dPr>
                          <m:e>
                            <m:r>
                              <a:rPr lang="es-ES" sz="2000" i="1">
                                <a:latin typeface="Cambria Math" panose="02040503050406030204" pitchFamily="18" charset="0"/>
                                <a:cs typeface="Arial" panose="020B0604020202020204" pitchFamily="34" charset="0"/>
                              </a:rPr>
                              <m:t>1+</m:t>
                            </m:r>
                            <m:r>
                              <a:rPr lang="es-ES" sz="2000" i="1">
                                <a:latin typeface="Cambria Math" panose="02040503050406030204" pitchFamily="18" charset="0"/>
                                <a:cs typeface="Arial" panose="020B0604020202020204" pitchFamily="34" charset="0"/>
                              </a:rPr>
                              <m:t>𝑖</m:t>
                            </m:r>
                          </m:e>
                        </m:d>
                      </m:e>
                      <m:sup>
                        <m:r>
                          <a:rPr lang="es-ES" sz="2000" i="1">
                            <a:latin typeface="Cambria Math" panose="02040503050406030204" pitchFamily="18" charset="0"/>
                            <a:cs typeface="Arial" panose="020B0604020202020204" pitchFamily="34" charset="0"/>
                          </a:rPr>
                          <m:t>𝑛</m:t>
                        </m:r>
                      </m:sup>
                    </m:sSup>
                  </m:oMath>
                </a14:m>
                <a:endParaRPr lang="es-ES_tradnl" sz="2000" i="1" baseline="30000" dirty="0">
                  <a:latin typeface="Arial" panose="020B0604020202020204" pitchFamily="34" charset="0"/>
                  <a:ea typeface="+mn-ea"/>
                  <a:cs typeface="Arial" panose="020B0604020202020204" pitchFamily="34" charset="0"/>
                </a:endParaRPr>
              </a:p>
              <a:p>
                <a:pPr marL="449263" indent="-173038" eaLnBrk="1" fontAlgn="auto" hangingPunct="1">
                  <a:spcAft>
                    <a:spcPts val="0"/>
                  </a:spcAft>
                  <a:defRPr/>
                </a:pPr>
                <a:r>
                  <a:rPr lang="es-ES_tradnl" sz="2000" i="1" dirty="0">
                    <a:latin typeface="Arial" panose="020B0604020202020204" pitchFamily="34" charset="0"/>
                    <a:ea typeface="+mn-ea"/>
                    <a:cs typeface="Arial" panose="020B0604020202020204" pitchFamily="34" charset="0"/>
                  </a:rPr>
                  <a:t>			</a:t>
                </a:r>
                <a14:m>
                  <m:oMath xmlns:m="http://schemas.openxmlformats.org/officeDocument/2006/math">
                    <m:sSub>
                      <m:sSubPr>
                        <m:ctrlPr>
                          <a:rPr lang="es-ES_tradnl" sz="2000" i="1" smtClean="0">
                            <a:latin typeface="Cambria Math" panose="02040503050406030204" pitchFamily="18" charset="0"/>
                            <a:cs typeface="Arial" panose="020B0604020202020204" pitchFamily="34" charset="0"/>
                          </a:rPr>
                        </m:ctrlPr>
                      </m:sSubPr>
                      <m:e>
                        <m:r>
                          <a:rPr lang="es-ES" sz="2000" b="0" i="1" smtClean="0">
                            <a:latin typeface="Cambria Math" panose="02040503050406030204" pitchFamily="18" charset="0"/>
                            <a:cs typeface="Arial" panose="020B0604020202020204" pitchFamily="34" charset="0"/>
                          </a:rPr>
                          <m:t>𝑃</m:t>
                        </m:r>
                      </m:e>
                      <m:sub>
                        <m:r>
                          <a:rPr lang="es-ES" sz="2000" b="0" i="1" smtClean="0">
                            <a:latin typeface="Cambria Math" panose="02040503050406030204" pitchFamily="18" charset="0"/>
                            <a:cs typeface="Arial" panose="020B0604020202020204" pitchFamily="34" charset="0"/>
                          </a:rPr>
                          <m:t>𝑜</m:t>
                        </m:r>
                      </m:sub>
                    </m:sSub>
                    <m:r>
                      <a:rPr lang="es-ES" sz="2000" i="1">
                        <a:latin typeface="Cambria Math" panose="02040503050406030204" pitchFamily="18" charset="0"/>
                        <a:cs typeface="Arial" panose="020B0604020202020204" pitchFamily="34" charset="0"/>
                      </a:rPr>
                      <m:t>=</m:t>
                    </m:r>
                    <m:f>
                      <m:fPr>
                        <m:type m:val="lin"/>
                        <m:ctrlPr>
                          <a:rPr lang="es-ES" sz="2000" i="1">
                            <a:latin typeface="Cambria Math" panose="02040503050406030204" pitchFamily="18" charset="0"/>
                            <a:cs typeface="Arial" panose="020B0604020202020204" pitchFamily="34" charset="0"/>
                          </a:rPr>
                        </m:ctrlPr>
                      </m:fPr>
                      <m:num>
                        <m:sSub>
                          <m:sSubPr>
                            <m:ctrlPr>
                              <a:rPr lang="es-ES" sz="2000" i="1">
                                <a:latin typeface="Cambria Math" panose="02040503050406030204" pitchFamily="18" charset="0"/>
                                <a:cs typeface="Arial" panose="020B0604020202020204" pitchFamily="34" charset="0"/>
                              </a:rPr>
                            </m:ctrlPr>
                          </m:sSubPr>
                          <m:e>
                            <m:r>
                              <a:rPr lang="es-ES" sz="2000" b="0" i="1" smtClean="0">
                                <a:latin typeface="Cambria Math" panose="02040503050406030204" pitchFamily="18" charset="0"/>
                                <a:cs typeface="Arial" panose="020B0604020202020204" pitchFamily="34" charset="0"/>
                              </a:rPr>
                              <m:t>𝑆</m:t>
                            </m:r>
                          </m:e>
                          <m:sub>
                            <m:r>
                              <a:rPr lang="es-ES" sz="2000" b="0" i="1" smtClean="0">
                                <a:latin typeface="Cambria Math" panose="02040503050406030204" pitchFamily="18" charset="0"/>
                                <a:cs typeface="Arial" panose="020B0604020202020204" pitchFamily="34" charset="0"/>
                              </a:rPr>
                              <m:t>𝑛</m:t>
                            </m:r>
                          </m:sub>
                        </m:sSub>
                      </m:num>
                      <m:den>
                        <m:sSup>
                          <m:sSupPr>
                            <m:ctrlPr>
                              <a:rPr lang="es-ES" sz="2000" i="1">
                                <a:latin typeface="Cambria Math" panose="02040503050406030204" pitchFamily="18" charset="0"/>
                                <a:cs typeface="Arial" panose="020B0604020202020204" pitchFamily="34" charset="0"/>
                              </a:rPr>
                            </m:ctrlPr>
                          </m:sSupPr>
                          <m:e>
                            <m:d>
                              <m:dPr>
                                <m:ctrlPr>
                                  <a:rPr lang="es-ES" sz="2000" i="1">
                                    <a:latin typeface="Cambria Math" panose="02040503050406030204" pitchFamily="18" charset="0"/>
                                    <a:cs typeface="Arial" panose="020B0604020202020204" pitchFamily="34" charset="0"/>
                                  </a:rPr>
                                </m:ctrlPr>
                              </m:dPr>
                              <m:e>
                                <m:r>
                                  <a:rPr lang="es-ES" sz="2000" i="1">
                                    <a:latin typeface="Cambria Math" panose="02040503050406030204" pitchFamily="18" charset="0"/>
                                    <a:cs typeface="Arial" panose="020B0604020202020204" pitchFamily="34" charset="0"/>
                                  </a:rPr>
                                  <m:t>1+</m:t>
                                </m:r>
                                <m:r>
                                  <a:rPr lang="es-ES" sz="2000" i="1">
                                    <a:latin typeface="Cambria Math" panose="02040503050406030204" pitchFamily="18" charset="0"/>
                                    <a:cs typeface="Arial" panose="020B0604020202020204" pitchFamily="34" charset="0"/>
                                  </a:rPr>
                                  <m:t>𝑖</m:t>
                                </m:r>
                              </m:e>
                            </m:d>
                          </m:e>
                          <m:sup>
                            <m:r>
                              <a:rPr lang="es-ES" sz="2000" b="0" i="1" smtClean="0">
                                <a:latin typeface="Cambria Math" panose="02040503050406030204" pitchFamily="18" charset="0"/>
                                <a:cs typeface="Arial" panose="020B0604020202020204" pitchFamily="34" charset="0"/>
                              </a:rPr>
                              <m:t>𝑛</m:t>
                            </m:r>
                          </m:sup>
                        </m:sSup>
                      </m:den>
                    </m:f>
                  </m:oMath>
                </a14:m>
                <a:endParaRPr lang="es-ES_tradnl" sz="2000" i="1" baseline="30000" dirty="0">
                  <a:latin typeface="Arial" panose="020B0604020202020204" pitchFamily="34" charset="0"/>
                  <a:ea typeface="+mn-ea"/>
                  <a:cs typeface="Arial" panose="020B0604020202020204" pitchFamily="34" charset="0"/>
                </a:endParaRPr>
              </a:p>
              <a:p>
                <a:pPr marL="449263" indent="-173038" eaLnBrk="1" fontAlgn="auto" hangingPunct="1">
                  <a:spcAft>
                    <a:spcPts val="0"/>
                  </a:spcAft>
                  <a:defRPr/>
                </a:pPr>
                <a:r>
                  <a:rPr lang="es-ES_tradnl" sz="2000" i="1" baseline="30000" dirty="0">
                    <a:latin typeface="Arial" panose="020B0604020202020204" pitchFamily="34" charset="0"/>
                    <a:ea typeface="+mn-ea"/>
                    <a:cs typeface="Arial" panose="020B0604020202020204" pitchFamily="34" charset="0"/>
                  </a:rPr>
                  <a:t>	</a:t>
                </a:r>
                <a:r>
                  <a:rPr lang="es-ES_tradnl" sz="2000" i="1" dirty="0">
                    <a:latin typeface="Arial" panose="020B0604020202020204" pitchFamily="34" charset="0"/>
                    <a:ea typeface="+mn-ea"/>
                    <a:cs typeface="Arial" panose="020B0604020202020204" pitchFamily="34" charset="0"/>
                  </a:rPr>
                  <a:t>i</a:t>
                </a:r>
                <a:r>
                  <a:rPr lang="es-ES_tradnl" sz="2000" dirty="0">
                    <a:latin typeface="Arial" panose="020B0604020202020204" pitchFamily="34" charset="0"/>
                    <a:ea typeface="+mn-ea"/>
                    <a:cs typeface="Arial" panose="020B0604020202020204" pitchFamily="34" charset="0"/>
                  </a:rPr>
                  <a:t> expresado en tanto por uno. </a:t>
                </a:r>
              </a:p>
              <a:p>
                <a:pPr marL="449263" eaLnBrk="1" fontAlgn="auto" hangingPunct="1">
                  <a:spcAft>
                    <a:spcPts val="0"/>
                  </a:spcAft>
                  <a:defRPr/>
                </a:pPr>
                <a:r>
                  <a:rPr lang="es-ES_tradnl" sz="2000" dirty="0">
                    <a:latin typeface="Arial" panose="020B0604020202020204" pitchFamily="34" charset="0"/>
                    <a:ea typeface="+mn-ea"/>
                    <a:cs typeface="Arial" panose="020B0604020202020204" pitchFamily="34" charset="0"/>
                  </a:rPr>
                  <a:t>Los valores actualizados, </a:t>
                </a:r>
                <a:r>
                  <a:rPr lang="es-ES_tradnl" sz="2000" i="1" dirty="0" err="1">
                    <a:latin typeface="Times New Roman" panose="02020603050405020304" pitchFamily="18" charset="0"/>
                    <a:ea typeface="+mn-ea"/>
                    <a:cs typeface="Times New Roman" panose="02020603050405020304" pitchFamily="18" charset="0"/>
                  </a:rPr>
                  <a:t>q</a:t>
                </a:r>
                <a:r>
                  <a:rPr lang="es-ES_tradnl" sz="2000" i="1" baseline="-25000" dirty="0" err="1">
                    <a:latin typeface="Times New Roman" panose="02020603050405020304" pitchFamily="18" charset="0"/>
                    <a:ea typeface="+mn-ea"/>
                    <a:cs typeface="Times New Roman" panose="02020603050405020304" pitchFamily="18" charset="0"/>
                  </a:rPr>
                  <a:t>j</a:t>
                </a:r>
                <a:r>
                  <a:rPr lang="es-ES_tradnl" sz="2000" dirty="0">
                    <a:latin typeface="Arial" panose="020B0604020202020204" pitchFamily="34" charset="0"/>
                    <a:ea typeface="+mn-ea"/>
                    <a:cs typeface="Arial" panose="020B0604020202020204" pitchFamily="34" charset="0"/>
                  </a:rPr>
                  <a:t> y </a:t>
                </a:r>
                <a:r>
                  <a:rPr lang="es-ES_tradnl" sz="2000" i="1" dirty="0" err="1">
                    <a:latin typeface="Times New Roman" panose="02020603050405020304" pitchFamily="18" charset="0"/>
                    <a:ea typeface="+mn-ea"/>
                    <a:cs typeface="Times New Roman" panose="02020603050405020304" pitchFamily="18" charset="0"/>
                  </a:rPr>
                  <a:t>k</a:t>
                </a:r>
                <a:r>
                  <a:rPr lang="es-ES_tradnl" sz="2000" i="1" baseline="-25000" dirty="0" err="1">
                    <a:latin typeface="Times New Roman" panose="02020603050405020304" pitchFamily="18" charset="0"/>
                    <a:ea typeface="+mn-ea"/>
                    <a:cs typeface="Times New Roman" panose="02020603050405020304" pitchFamily="18" charset="0"/>
                  </a:rPr>
                  <a:t>j</a:t>
                </a:r>
                <a:r>
                  <a:rPr lang="es-ES_tradnl" sz="2000" dirty="0">
                    <a:latin typeface="Arial" panose="020B0604020202020204" pitchFamily="34" charset="0"/>
                    <a:ea typeface="+mn-ea"/>
                    <a:cs typeface="Arial" panose="020B0604020202020204" pitchFamily="34" charset="0"/>
                  </a:rPr>
                  <a:t> de </a:t>
                </a:r>
                <a:r>
                  <a:rPr lang="es-ES_tradnl" sz="2000" i="1" dirty="0" err="1">
                    <a:latin typeface="Times New Roman" panose="02020603050405020304" pitchFamily="18" charset="0"/>
                    <a:ea typeface="+mn-ea"/>
                    <a:cs typeface="Times New Roman" panose="02020603050405020304" pitchFamily="18" charset="0"/>
                  </a:rPr>
                  <a:t>Q</a:t>
                </a:r>
                <a:r>
                  <a:rPr lang="es-ES_tradnl" sz="2000" i="1" baseline="-25000" dirty="0" err="1">
                    <a:latin typeface="Times New Roman" panose="02020603050405020304" pitchFamily="18" charset="0"/>
                    <a:ea typeface="+mn-ea"/>
                    <a:cs typeface="Times New Roman" panose="02020603050405020304" pitchFamily="18" charset="0"/>
                  </a:rPr>
                  <a:t>j</a:t>
                </a:r>
                <a:r>
                  <a:rPr lang="es-ES_tradnl" sz="2000" dirty="0">
                    <a:latin typeface="Arial" panose="020B0604020202020204" pitchFamily="34" charset="0"/>
                    <a:ea typeface="+mn-ea"/>
                    <a:cs typeface="Arial" panose="020B0604020202020204" pitchFamily="34" charset="0"/>
                  </a:rPr>
                  <a:t> y </a:t>
                </a:r>
                <a:r>
                  <a:rPr lang="es-ES_tradnl" sz="2000" i="1" dirty="0" err="1">
                    <a:latin typeface="Times New Roman" panose="02020603050405020304" pitchFamily="18" charset="0"/>
                    <a:ea typeface="+mn-ea"/>
                    <a:cs typeface="Times New Roman" panose="02020603050405020304" pitchFamily="18" charset="0"/>
                  </a:rPr>
                  <a:t>K</a:t>
                </a:r>
                <a:r>
                  <a:rPr lang="es-ES_tradnl" sz="2000" i="1" baseline="-25000" dirty="0" err="1">
                    <a:latin typeface="Times New Roman" panose="02020603050405020304" pitchFamily="18" charset="0"/>
                    <a:ea typeface="+mn-ea"/>
                    <a:cs typeface="Times New Roman" panose="02020603050405020304" pitchFamily="18" charset="0"/>
                  </a:rPr>
                  <a:t>j</a:t>
                </a:r>
                <a:r>
                  <a:rPr lang="es-ES_tradnl" sz="2000" i="1" baseline="-25000" dirty="0">
                    <a:latin typeface="Arial" panose="020B0604020202020204" pitchFamily="34" charset="0"/>
                    <a:ea typeface="+mn-ea"/>
                    <a:cs typeface="Arial" panose="020B0604020202020204" pitchFamily="34" charset="0"/>
                  </a:rPr>
                  <a:t>  </a:t>
                </a:r>
                <a:r>
                  <a:rPr lang="es-ES_tradnl" sz="2000" i="1" dirty="0">
                    <a:latin typeface="Arial" panose="020B0604020202020204" pitchFamily="34" charset="0"/>
                    <a:ea typeface="+mn-ea"/>
                    <a:cs typeface="Arial" panose="020B0604020202020204" pitchFamily="34" charset="0"/>
                  </a:rPr>
                  <a:t>corresponderán con</a:t>
                </a:r>
                <a:r>
                  <a:rPr lang="es-ES_tradnl" sz="2000" dirty="0">
                    <a:latin typeface="Arial" panose="020B0604020202020204" pitchFamily="34" charset="0"/>
                    <a:ea typeface="+mn-ea"/>
                    <a:cs typeface="Arial" panose="020B0604020202020204" pitchFamily="34" charset="0"/>
                  </a:rPr>
                  <a:t>:</a:t>
                </a:r>
              </a:p>
              <a:p>
                <a:pPr marL="449263" eaLnBrk="1" fontAlgn="auto" hangingPunct="1">
                  <a:spcAft>
                    <a:spcPts val="0"/>
                  </a:spcAft>
                  <a:defRPr/>
                </a:pPr>
                <a:r>
                  <a:rPr lang="es-ES_tradnl" sz="2000" i="1" dirty="0">
                    <a:latin typeface="Arial" panose="020B0604020202020204" pitchFamily="34" charset="0"/>
                    <a:ea typeface="+mn-ea"/>
                    <a:cs typeface="Arial" panose="020B0604020202020204" pitchFamily="34" charset="0"/>
                  </a:rPr>
                  <a:t>		</a:t>
                </a:r>
                <a14:m>
                  <m:oMath xmlns:m="http://schemas.openxmlformats.org/officeDocument/2006/math">
                    <m:sSub>
                      <m:sSubPr>
                        <m:ctrlPr>
                          <a:rPr lang="es-ES_tradnl" sz="2000" i="1" smtClean="0">
                            <a:latin typeface="Cambria Math" panose="02040503050406030204" pitchFamily="18" charset="0"/>
                            <a:ea typeface="+mn-ea"/>
                            <a:cs typeface="Arial" panose="020B0604020202020204" pitchFamily="34" charset="0"/>
                          </a:rPr>
                        </m:ctrlPr>
                      </m:sSubPr>
                      <m:e>
                        <m:r>
                          <a:rPr lang="es-ES" sz="2000" b="0" i="1" smtClean="0">
                            <a:latin typeface="Cambria Math" panose="02040503050406030204" pitchFamily="18" charset="0"/>
                            <a:ea typeface="+mn-ea"/>
                            <a:cs typeface="Arial" panose="020B0604020202020204" pitchFamily="34" charset="0"/>
                          </a:rPr>
                          <m:t>𝑞</m:t>
                        </m:r>
                      </m:e>
                      <m:sub>
                        <m:r>
                          <a:rPr lang="es-ES" sz="2000" b="0" i="1" smtClean="0">
                            <a:latin typeface="Cambria Math" panose="02040503050406030204" pitchFamily="18" charset="0"/>
                            <a:ea typeface="+mn-ea"/>
                            <a:cs typeface="Arial" panose="020B0604020202020204" pitchFamily="34" charset="0"/>
                          </a:rPr>
                          <m:t>𝑗</m:t>
                        </m:r>
                      </m:sub>
                    </m:sSub>
                    <m:r>
                      <a:rPr lang="es-ES" sz="2000" b="0" i="1" smtClean="0">
                        <a:latin typeface="Cambria Math" panose="02040503050406030204" pitchFamily="18" charset="0"/>
                        <a:ea typeface="+mn-ea"/>
                        <a:cs typeface="Arial" panose="020B0604020202020204" pitchFamily="34" charset="0"/>
                      </a:rPr>
                      <m:t>=</m:t>
                    </m:r>
                    <m:f>
                      <m:fPr>
                        <m:type m:val="lin"/>
                        <m:ctrlPr>
                          <a:rPr lang="es-ES" sz="2000" b="0" i="1" smtClean="0">
                            <a:latin typeface="Cambria Math" panose="02040503050406030204" pitchFamily="18" charset="0"/>
                            <a:ea typeface="+mn-ea"/>
                            <a:cs typeface="Arial" panose="020B0604020202020204" pitchFamily="34" charset="0"/>
                          </a:rPr>
                        </m:ctrlPr>
                      </m:fPr>
                      <m:num>
                        <m:sSub>
                          <m:sSubPr>
                            <m:ctrlPr>
                              <a:rPr lang="es-ES" sz="2000" i="1">
                                <a:latin typeface="Cambria Math" panose="02040503050406030204" pitchFamily="18" charset="0"/>
                                <a:cs typeface="Arial" panose="020B0604020202020204" pitchFamily="34" charset="0"/>
                              </a:rPr>
                            </m:ctrlPr>
                          </m:sSubPr>
                          <m:e>
                            <m:r>
                              <a:rPr lang="es-ES" sz="2000" b="0" i="1" smtClean="0">
                                <a:latin typeface="Cambria Math" panose="02040503050406030204" pitchFamily="18" charset="0"/>
                                <a:cs typeface="Arial" panose="020B0604020202020204" pitchFamily="34" charset="0"/>
                              </a:rPr>
                              <m:t>𝑄</m:t>
                            </m:r>
                          </m:e>
                          <m:sub>
                            <m:r>
                              <a:rPr lang="es-ES" sz="2000" i="1">
                                <a:latin typeface="Cambria Math" panose="02040503050406030204" pitchFamily="18" charset="0"/>
                                <a:cs typeface="Arial" panose="020B0604020202020204" pitchFamily="34" charset="0"/>
                              </a:rPr>
                              <m:t>𝑗</m:t>
                            </m:r>
                          </m:sub>
                        </m:sSub>
                      </m:num>
                      <m:den>
                        <m:sSup>
                          <m:sSupPr>
                            <m:ctrlPr>
                              <a:rPr lang="es-ES" sz="2000" b="0" i="1" smtClean="0">
                                <a:latin typeface="Cambria Math" panose="02040503050406030204" pitchFamily="18" charset="0"/>
                                <a:ea typeface="+mn-ea"/>
                                <a:cs typeface="Arial" panose="020B0604020202020204" pitchFamily="34" charset="0"/>
                              </a:rPr>
                            </m:ctrlPr>
                          </m:sSupPr>
                          <m:e>
                            <m:d>
                              <m:dPr>
                                <m:ctrlPr>
                                  <a:rPr lang="es-ES" sz="2000" b="0" i="1" smtClean="0">
                                    <a:latin typeface="Cambria Math" panose="02040503050406030204" pitchFamily="18" charset="0"/>
                                    <a:ea typeface="+mn-ea"/>
                                    <a:cs typeface="Arial" panose="020B0604020202020204" pitchFamily="34" charset="0"/>
                                  </a:rPr>
                                </m:ctrlPr>
                              </m:dPr>
                              <m:e>
                                <m:r>
                                  <a:rPr lang="es-ES" sz="2000" b="0" i="1" smtClean="0">
                                    <a:latin typeface="Cambria Math" panose="02040503050406030204" pitchFamily="18" charset="0"/>
                                    <a:ea typeface="+mn-ea"/>
                                    <a:cs typeface="Arial" panose="020B0604020202020204" pitchFamily="34" charset="0"/>
                                  </a:rPr>
                                  <m:t>1+</m:t>
                                </m:r>
                                <m:r>
                                  <a:rPr lang="es-ES" sz="2000" b="0" i="1" smtClean="0">
                                    <a:latin typeface="Cambria Math" panose="02040503050406030204" pitchFamily="18" charset="0"/>
                                    <a:ea typeface="+mn-ea"/>
                                    <a:cs typeface="Arial" panose="020B0604020202020204" pitchFamily="34" charset="0"/>
                                  </a:rPr>
                                  <m:t>𝑖</m:t>
                                </m:r>
                              </m:e>
                            </m:d>
                          </m:e>
                          <m:sup>
                            <m:r>
                              <a:rPr lang="es-ES" sz="2000" b="0" i="1" smtClean="0">
                                <a:latin typeface="Cambria Math" panose="02040503050406030204" pitchFamily="18" charset="0"/>
                                <a:ea typeface="+mn-ea"/>
                                <a:cs typeface="Arial" panose="020B0604020202020204" pitchFamily="34" charset="0"/>
                              </a:rPr>
                              <m:t>𝑗</m:t>
                            </m:r>
                          </m:sup>
                        </m:sSup>
                      </m:den>
                    </m:f>
                  </m:oMath>
                </a14:m>
                <a:endParaRPr lang="es-ES_tradnl" sz="2000" i="1" baseline="30000" dirty="0">
                  <a:latin typeface="Arial" panose="020B0604020202020204" pitchFamily="34" charset="0"/>
                  <a:ea typeface="+mn-ea"/>
                  <a:cs typeface="Arial" panose="020B0604020202020204" pitchFamily="34" charset="0"/>
                </a:endParaRPr>
              </a:p>
              <a:p>
                <a:pPr marL="449263" eaLnBrk="1" fontAlgn="auto" hangingPunct="1">
                  <a:spcAft>
                    <a:spcPts val="0"/>
                  </a:spcAft>
                  <a:defRPr/>
                </a:pPr>
                <a:r>
                  <a:rPr lang="es-ES_tradnl" sz="2000" i="1" dirty="0">
                    <a:latin typeface="Arial" panose="020B0604020202020204" pitchFamily="34" charset="0"/>
                    <a:ea typeface="+mn-ea"/>
                    <a:cs typeface="Arial" panose="020B0604020202020204" pitchFamily="34" charset="0"/>
                  </a:rPr>
                  <a:t>		</a:t>
                </a:r>
                <a14:m>
                  <m:oMath xmlns:m="http://schemas.openxmlformats.org/officeDocument/2006/math">
                    <m:sSub>
                      <m:sSubPr>
                        <m:ctrlPr>
                          <a:rPr lang="es-ES_tradnl" sz="2000" i="1">
                            <a:latin typeface="Cambria Math" panose="02040503050406030204" pitchFamily="18" charset="0"/>
                            <a:cs typeface="Arial" panose="020B0604020202020204" pitchFamily="34" charset="0"/>
                          </a:rPr>
                        </m:ctrlPr>
                      </m:sSubPr>
                      <m:e>
                        <m:r>
                          <a:rPr lang="es-ES" sz="2000" b="0" i="1" smtClean="0">
                            <a:latin typeface="Cambria Math" panose="02040503050406030204" pitchFamily="18" charset="0"/>
                            <a:cs typeface="Arial" panose="020B0604020202020204" pitchFamily="34" charset="0"/>
                          </a:rPr>
                          <m:t>𝑘</m:t>
                        </m:r>
                      </m:e>
                      <m:sub>
                        <m:r>
                          <a:rPr lang="es-ES" sz="2000" i="1">
                            <a:latin typeface="Cambria Math" panose="02040503050406030204" pitchFamily="18" charset="0"/>
                            <a:cs typeface="Arial" panose="020B0604020202020204" pitchFamily="34" charset="0"/>
                          </a:rPr>
                          <m:t>𝑗</m:t>
                        </m:r>
                      </m:sub>
                    </m:sSub>
                    <m:r>
                      <a:rPr lang="es-ES" sz="2000" i="1">
                        <a:latin typeface="Cambria Math" panose="02040503050406030204" pitchFamily="18" charset="0"/>
                        <a:cs typeface="Arial" panose="020B0604020202020204" pitchFamily="34" charset="0"/>
                      </a:rPr>
                      <m:t>=</m:t>
                    </m:r>
                    <m:f>
                      <m:fPr>
                        <m:type m:val="lin"/>
                        <m:ctrlPr>
                          <a:rPr lang="es-ES" sz="2000" i="1">
                            <a:latin typeface="Cambria Math" panose="02040503050406030204" pitchFamily="18" charset="0"/>
                            <a:cs typeface="Arial" panose="020B0604020202020204" pitchFamily="34" charset="0"/>
                          </a:rPr>
                        </m:ctrlPr>
                      </m:fPr>
                      <m:num>
                        <m:sSub>
                          <m:sSubPr>
                            <m:ctrlPr>
                              <a:rPr lang="es-ES" sz="2000" i="1">
                                <a:latin typeface="Cambria Math" panose="02040503050406030204" pitchFamily="18" charset="0"/>
                                <a:cs typeface="Arial" panose="020B0604020202020204" pitchFamily="34" charset="0"/>
                              </a:rPr>
                            </m:ctrlPr>
                          </m:sSubPr>
                          <m:e>
                            <m:r>
                              <a:rPr lang="es-ES" sz="2000" b="0" i="1" smtClean="0">
                                <a:latin typeface="Cambria Math" panose="02040503050406030204" pitchFamily="18" charset="0"/>
                                <a:cs typeface="Arial" panose="020B0604020202020204" pitchFamily="34" charset="0"/>
                              </a:rPr>
                              <m:t>𝐾</m:t>
                            </m:r>
                          </m:e>
                          <m:sub>
                            <m:r>
                              <a:rPr lang="es-ES" sz="2000" i="1">
                                <a:latin typeface="Cambria Math" panose="02040503050406030204" pitchFamily="18" charset="0"/>
                                <a:cs typeface="Arial" panose="020B0604020202020204" pitchFamily="34" charset="0"/>
                              </a:rPr>
                              <m:t>𝑗</m:t>
                            </m:r>
                          </m:sub>
                        </m:sSub>
                      </m:num>
                      <m:den>
                        <m:sSup>
                          <m:sSupPr>
                            <m:ctrlPr>
                              <a:rPr lang="es-ES" sz="2000" i="1">
                                <a:latin typeface="Cambria Math" panose="02040503050406030204" pitchFamily="18" charset="0"/>
                                <a:cs typeface="Arial" panose="020B0604020202020204" pitchFamily="34" charset="0"/>
                              </a:rPr>
                            </m:ctrlPr>
                          </m:sSupPr>
                          <m:e>
                            <m:d>
                              <m:dPr>
                                <m:ctrlPr>
                                  <a:rPr lang="es-ES" sz="2000" i="1">
                                    <a:latin typeface="Cambria Math" panose="02040503050406030204" pitchFamily="18" charset="0"/>
                                    <a:cs typeface="Arial" panose="020B0604020202020204" pitchFamily="34" charset="0"/>
                                  </a:rPr>
                                </m:ctrlPr>
                              </m:dPr>
                              <m:e>
                                <m:r>
                                  <a:rPr lang="es-ES" sz="2000" i="1">
                                    <a:latin typeface="Cambria Math" panose="02040503050406030204" pitchFamily="18" charset="0"/>
                                    <a:cs typeface="Arial" panose="020B0604020202020204" pitchFamily="34" charset="0"/>
                                  </a:rPr>
                                  <m:t>1+</m:t>
                                </m:r>
                                <m:r>
                                  <a:rPr lang="es-ES" sz="2000" i="1">
                                    <a:latin typeface="Cambria Math" panose="02040503050406030204" pitchFamily="18" charset="0"/>
                                    <a:cs typeface="Arial" panose="020B0604020202020204" pitchFamily="34" charset="0"/>
                                  </a:rPr>
                                  <m:t>𝑖</m:t>
                                </m:r>
                              </m:e>
                            </m:d>
                          </m:e>
                          <m:sup>
                            <m:r>
                              <a:rPr lang="es-ES" sz="2000" i="1">
                                <a:latin typeface="Cambria Math" panose="02040503050406030204" pitchFamily="18" charset="0"/>
                                <a:cs typeface="Arial" panose="020B0604020202020204" pitchFamily="34" charset="0"/>
                              </a:rPr>
                              <m:t>𝑗</m:t>
                            </m:r>
                          </m:sup>
                        </m:sSup>
                      </m:den>
                    </m:f>
                  </m:oMath>
                </a14:m>
                <a:endParaRPr lang="es-ES_tradnl" sz="2000" i="1" baseline="30000" dirty="0">
                  <a:latin typeface="Arial" panose="020B0604020202020204" pitchFamily="34" charset="0"/>
                  <a:ea typeface="+mn-ea"/>
                  <a:cs typeface="Arial" panose="020B0604020202020204" pitchFamily="34" charset="0"/>
                </a:endParaRPr>
              </a:p>
            </p:txBody>
          </p:sp>
        </mc:Choice>
        <mc:Fallback>
          <p:sp>
            <p:nvSpPr>
              <p:cNvPr id="3" name="2 Subtítulo">
                <a:extLst>
                  <a:ext uri="{FF2B5EF4-FFF2-40B4-BE49-F238E27FC236}">
                    <a16:creationId xmlns:a16="http://schemas.microsoft.com/office/drawing/2014/main" id="{1A300CCE-A634-E240-BFE8-8D15661199A8}"/>
                  </a:ext>
                </a:extLst>
              </p:cNvPr>
              <p:cNvSpPr>
                <a:spLocks noGrp="1" noRot="1" noChangeAspect="1" noMove="1" noResize="1" noEditPoints="1" noAdjustHandles="1" noChangeArrowheads="1" noChangeShapeType="1" noTextEdit="1"/>
              </p:cNvSpPr>
              <p:nvPr>
                <p:ph type="subTitle" idx="1"/>
              </p:nvPr>
            </p:nvSpPr>
            <p:spPr>
              <a:xfrm>
                <a:off x="1042988" y="1844674"/>
                <a:ext cx="7921625" cy="4752677"/>
              </a:xfrm>
              <a:blipFill>
                <a:blip r:embed="rId2"/>
                <a:stretch>
                  <a:fillRect l="-160" t="-2400" b="-5600"/>
                </a:stretch>
              </a:blipFill>
            </p:spPr>
            <p:txBody>
              <a:bodyPr/>
              <a:lstStyle/>
              <a:p>
                <a:r>
                  <a:rPr lang="es-ES">
                    <a:noFill/>
                  </a:rPr>
                  <a:t> </a:t>
                </a:r>
              </a:p>
            </p:txBody>
          </p:sp>
        </mc:Fallback>
      </mc:AlternateContent>
      <p:sp>
        <p:nvSpPr>
          <p:cNvPr id="6" name="1 Título">
            <a:extLst>
              <a:ext uri="{FF2B5EF4-FFF2-40B4-BE49-F238E27FC236}">
                <a16:creationId xmlns:a16="http://schemas.microsoft.com/office/drawing/2014/main" id="{F68EB966-68AA-7040-92F1-0B7C1DA6D84B}"/>
              </a:ext>
            </a:extLst>
          </p:cNvPr>
          <p:cNvSpPr>
            <a:spLocks noGrp="1"/>
          </p:cNvSpPr>
          <p:nvPr>
            <p:ph type="ctrTitle"/>
          </p:nvPr>
        </p:nvSpPr>
        <p:spPr>
          <a:xfrm>
            <a:off x="1187624" y="294923"/>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2 Subtítulo">
                <a:extLst>
                  <a:ext uri="{FF2B5EF4-FFF2-40B4-BE49-F238E27FC236}">
                    <a16:creationId xmlns:a16="http://schemas.microsoft.com/office/drawing/2014/main" id="{CE6AF59A-B7A4-C549-B87D-984B6C986117}"/>
                  </a:ext>
                </a:extLst>
              </p:cNvPr>
              <p:cNvSpPr>
                <a:spLocks noGrp="1"/>
              </p:cNvSpPr>
              <p:nvPr>
                <p:ph type="subTitle" idx="1"/>
              </p:nvPr>
            </p:nvSpPr>
            <p:spPr>
              <a:xfrm>
                <a:off x="1042988" y="1844675"/>
                <a:ext cx="7921625" cy="4679950"/>
              </a:xfrm>
            </p:spPr>
            <p:txBody>
              <a:bodyPr>
                <a:normAutofit/>
              </a:bodyPr>
              <a:lstStyle/>
              <a:p>
                <a:pPr eaLnBrk="1" fontAlgn="auto" hangingPunct="1">
                  <a:spcAft>
                    <a:spcPts val="0"/>
                  </a:spcAft>
                  <a:buFont typeface="Wingdings 2"/>
                  <a:buNone/>
                  <a:defRPr/>
                </a:pPr>
                <a:r>
                  <a:rPr lang="es-ES_tradnl" sz="2000" b="1" dirty="0">
                    <a:ea typeface="+mn-ea"/>
                    <a:cs typeface="+mn-cs"/>
                  </a:rPr>
                  <a:t>3.2 Valor actualizado neto (</a:t>
                </a:r>
                <a:r>
                  <a:rPr lang="es-ES_tradnl" sz="2000" b="1" i="1" dirty="0">
                    <a:latin typeface="Times New Roman" panose="02020603050405020304" pitchFamily="18" charset="0"/>
                    <a:ea typeface="+mn-ea"/>
                    <a:cs typeface="Times New Roman" panose="02020603050405020304" pitchFamily="18" charset="0"/>
                  </a:rPr>
                  <a:t>VAN</a:t>
                </a:r>
                <a:r>
                  <a:rPr lang="es-ES_tradnl" sz="2000" b="1" dirty="0">
                    <a:ea typeface="+mn-ea"/>
                    <a:cs typeface="+mn-cs"/>
                  </a:rPr>
                  <a:t>):</a:t>
                </a:r>
              </a:p>
              <a:p>
                <a:pPr eaLnBrk="1" fontAlgn="auto" hangingPunct="1">
                  <a:spcAft>
                    <a:spcPts val="0"/>
                  </a:spcAft>
                  <a:buFont typeface="Wingdings 2"/>
                  <a:buNone/>
                  <a:defRPr/>
                </a:pPr>
                <a:endParaRPr lang="es-ES_tradnl" sz="2000" b="1" dirty="0">
                  <a:ea typeface="+mn-ea"/>
                  <a:cs typeface="+mn-cs"/>
                </a:endParaRPr>
              </a:p>
              <a:p>
                <a:pPr eaLnBrk="1" fontAlgn="auto" hangingPunct="1">
                  <a:spcAft>
                    <a:spcPts val="0"/>
                  </a:spcAft>
                  <a:defRPr/>
                </a:pPr>
                <a14:m>
                  <m:oMathPara xmlns:m="http://schemas.openxmlformats.org/officeDocument/2006/math">
                    <m:oMathParaPr>
                      <m:jc m:val="centerGroup"/>
                    </m:oMathParaPr>
                    <m:oMath xmlns:m="http://schemas.openxmlformats.org/officeDocument/2006/math">
                      <m:r>
                        <a:rPr lang="es-ES_tradnl" sz="2400" b="1" i="1" smtClean="0">
                          <a:latin typeface="Cambria Math" panose="02040503050406030204" pitchFamily="18" charset="0"/>
                          <a:ea typeface="+mn-ea"/>
                          <a:cs typeface="+mn-cs"/>
                        </a:rPr>
                        <m:t>𝑽𝑨𝑵</m:t>
                      </m:r>
                      <m:r>
                        <a:rPr lang="es-ES_tradnl" sz="2400" b="1" i="1" smtClean="0">
                          <a:latin typeface="Cambria Math" panose="02040503050406030204" pitchFamily="18" charset="0"/>
                          <a:ea typeface="+mn-ea"/>
                          <a:cs typeface="+mn-cs"/>
                        </a:rPr>
                        <m:t>= </m:t>
                      </m:r>
                      <m:nary>
                        <m:naryPr>
                          <m:chr m:val="∑"/>
                          <m:ctrlPr>
                            <a:rPr lang="es-ES_tradnl" sz="2400" b="1" i="1" smtClean="0">
                              <a:latin typeface="Cambria Math" panose="02040503050406030204" pitchFamily="18" charset="0"/>
                              <a:ea typeface="+mn-ea"/>
                              <a:cs typeface="+mn-cs"/>
                            </a:rPr>
                          </m:ctrlPr>
                        </m:naryPr>
                        <m:sub>
                          <m:r>
                            <m:rPr>
                              <m:brk m:alnAt="23"/>
                            </m:rPr>
                            <a:rPr lang="es-ES_tradnl" sz="2400" b="1" i="1" smtClean="0">
                              <a:latin typeface="Cambria Math" panose="02040503050406030204" pitchFamily="18" charset="0"/>
                              <a:ea typeface="+mn-ea"/>
                              <a:cs typeface="+mn-cs"/>
                            </a:rPr>
                            <m:t>𝒋</m:t>
                          </m:r>
                          <m:r>
                            <a:rPr lang="es-ES_tradnl" sz="2400" b="1" i="1" smtClean="0">
                              <a:latin typeface="Cambria Math" panose="02040503050406030204" pitchFamily="18" charset="0"/>
                              <a:ea typeface="+mn-ea"/>
                              <a:cs typeface="+mn-cs"/>
                            </a:rPr>
                            <m:t>=</m:t>
                          </m:r>
                          <m:r>
                            <a:rPr lang="es-ES_tradnl" sz="2400" b="1" i="1" smtClean="0">
                              <a:latin typeface="Cambria Math" panose="02040503050406030204" pitchFamily="18" charset="0"/>
                              <a:ea typeface="+mn-ea"/>
                              <a:cs typeface="+mn-cs"/>
                            </a:rPr>
                            <m:t>𝟎</m:t>
                          </m:r>
                        </m:sub>
                        <m:sup>
                          <m:r>
                            <a:rPr lang="es-ES_tradnl" sz="2400" b="1" i="1" smtClean="0">
                              <a:latin typeface="Cambria Math" panose="02040503050406030204" pitchFamily="18" charset="0"/>
                              <a:ea typeface="+mn-ea"/>
                              <a:cs typeface="+mn-cs"/>
                            </a:rPr>
                            <m:t>𝒏</m:t>
                          </m:r>
                        </m:sup>
                        <m:e>
                          <m:r>
                            <a:rPr lang="es-ES" sz="2400" b="1" i="1" smtClean="0">
                              <a:latin typeface="Cambria Math" panose="02040503050406030204" pitchFamily="18" charset="0"/>
                              <a:ea typeface="+mn-ea"/>
                              <a:cs typeface="+mn-cs"/>
                            </a:rPr>
                            <m:t>(</m:t>
                          </m:r>
                          <m:f>
                            <m:fPr>
                              <m:ctrlPr>
                                <a:rPr lang="es-ES_tradnl" sz="2400" b="1" i="1" smtClean="0">
                                  <a:latin typeface="Cambria Math" panose="02040503050406030204" pitchFamily="18" charset="0"/>
                                  <a:ea typeface="+mn-ea"/>
                                  <a:cs typeface="+mn-cs"/>
                                </a:rPr>
                              </m:ctrlPr>
                            </m:fPr>
                            <m:num>
                              <m:sSub>
                                <m:sSubPr>
                                  <m:ctrlPr>
                                    <a:rPr lang="es-ES_tradnl" sz="2400" b="1" i="1" smtClean="0">
                                      <a:latin typeface="Cambria Math" panose="02040503050406030204" pitchFamily="18" charset="0"/>
                                      <a:ea typeface="+mn-ea"/>
                                      <a:cs typeface="+mn-cs"/>
                                    </a:rPr>
                                  </m:ctrlPr>
                                </m:sSubPr>
                                <m:e>
                                  <m:r>
                                    <a:rPr lang="es-ES_tradnl" sz="2400" b="1" i="1" smtClean="0">
                                      <a:latin typeface="Cambria Math" panose="02040503050406030204" pitchFamily="18" charset="0"/>
                                      <a:ea typeface="+mn-ea"/>
                                      <a:cs typeface="+mn-cs"/>
                                    </a:rPr>
                                    <m:t>𝑸</m:t>
                                  </m:r>
                                </m:e>
                                <m:sub>
                                  <m:r>
                                    <a:rPr lang="es-ES_tradnl" sz="2400" b="1" i="1" smtClean="0">
                                      <a:latin typeface="Cambria Math" panose="02040503050406030204" pitchFamily="18" charset="0"/>
                                      <a:ea typeface="+mn-ea"/>
                                      <a:cs typeface="+mn-cs"/>
                                    </a:rPr>
                                    <m:t>𝒋</m:t>
                                  </m:r>
                                </m:sub>
                              </m:sSub>
                            </m:num>
                            <m:den>
                              <m:sSup>
                                <m:sSupPr>
                                  <m:ctrlPr>
                                    <a:rPr lang="es-ES_tradnl" sz="2400" b="1" i="1" smtClean="0">
                                      <a:latin typeface="Cambria Math" panose="02040503050406030204" pitchFamily="18" charset="0"/>
                                      <a:ea typeface="+mn-ea"/>
                                      <a:cs typeface="+mn-cs"/>
                                    </a:rPr>
                                  </m:ctrlPr>
                                </m:sSupPr>
                                <m:e>
                                  <m:d>
                                    <m:dPr>
                                      <m:ctrlPr>
                                        <a:rPr lang="es-ES_tradnl" sz="2400" b="1" i="1" smtClean="0">
                                          <a:latin typeface="Cambria Math" panose="02040503050406030204" pitchFamily="18" charset="0"/>
                                          <a:ea typeface="+mn-ea"/>
                                          <a:cs typeface="+mn-cs"/>
                                        </a:rPr>
                                      </m:ctrlPr>
                                    </m:dPr>
                                    <m:e>
                                      <m:r>
                                        <a:rPr lang="es-ES_tradnl" sz="2400" b="1" i="1" smtClean="0">
                                          <a:latin typeface="Cambria Math" panose="02040503050406030204" pitchFamily="18" charset="0"/>
                                          <a:ea typeface="+mn-ea"/>
                                          <a:cs typeface="+mn-cs"/>
                                        </a:rPr>
                                        <m:t>𝟏</m:t>
                                      </m:r>
                                      <m:r>
                                        <a:rPr lang="es-ES_tradnl" sz="2400" b="1" i="1" smtClean="0">
                                          <a:latin typeface="Cambria Math" panose="02040503050406030204" pitchFamily="18" charset="0"/>
                                          <a:ea typeface="+mn-ea"/>
                                          <a:cs typeface="+mn-cs"/>
                                        </a:rPr>
                                        <m:t>+</m:t>
                                      </m:r>
                                      <m:r>
                                        <a:rPr lang="es-ES_tradnl" sz="2400" b="1" i="1" smtClean="0">
                                          <a:latin typeface="Cambria Math" panose="02040503050406030204" pitchFamily="18" charset="0"/>
                                          <a:ea typeface="+mn-ea"/>
                                          <a:cs typeface="+mn-cs"/>
                                        </a:rPr>
                                        <m:t>𝒊</m:t>
                                      </m:r>
                                    </m:e>
                                  </m:d>
                                </m:e>
                                <m:sup>
                                  <m:r>
                                    <a:rPr lang="es-ES_tradnl" sz="2400" b="1" i="1" smtClean="0">
                                      <a:latin typeface="Cambria Math" panose="02040503050406030204" pitchFamily="18" charset="0"/>
                                      <a:ea typeface="+mn-ea"/>
                                      <a:cs typeface="+mn-cs"/>
                                    </a:rPr>
                                    <m:t>𝒋</m:t>
                                  </m:r>
                                </m:sup>
                              </m:sSup>
                            </m:den>
                          </m:f>
                          <m:r>
                            <a:rPr lang="es-ES_tradnl" sz="2400" b="1" i="1" smtClean="0">
                              <a:latin typeface="Cambria Math" panose="02040503050406030204" pitchFamily="18" charset="0"/>
                              <a:ea typeface="+mn-ea"/>
                              <a:cs typeface="+mn-cs"/>
                            </a:rPr>
                            <m:t>−</m:t>
                          </m:r>
                          <m:f>
                            <m:fPr>
                              <m:ctrlPr>
                                <a:rPr lang="es-ES_tradnl" sz="2400" b="1" i="1" smtClean="0">
                                  <a:latin typeface="Cambria Math" panose="02040503050406030204" pitchFamily="18" charset="0"/>
                                  <a:ea typeface="+mn-ea"/>
                                  <a:cs typeface="+mn-cs"/>
                                </a:rPr>
                              </m:ctrlPr>
                            </m:fPr>
                            <m:num>
                              <m:sSub>
                                <m:sSubPr>
                                  <m:ctrlPr>
                                    <a:rPr lang="es-ES_tradnl" sz="2400" b="1" i="1">
                                      <a:latin typeface="Cambria Math" panose="02040503050406030204" pitchFamily="18" charset="0"/>
                                    </a:rPr>
                                  </m:ctrlPr>
                                </m:sSubPr>
                                <m:e>
                                  <m:r>
                                    <a:rPr lang="es-ES_tradnl" sz="2400" b="1" i="1" smtClean="0">
                                      <a:latin typeface="Cambria Math" panose="02040503050406030204" pitchFamily="18" charset="0"/>
                                    </a:rPr>
                                    <m:t>𝑲</m:t>
                                  </m:r>
                                </m:e>
                                <m:sub>
                                  <m:r>
                                    <a:rPr lang="es-ES_tradnl" sz="2400" b="1" i="1">
                                      <a:latin typeface="Cambria Math" panose="02040503050406030204" pitchFamily="18" charset="0"/>
                                    </a:rPr>
                                    <m:t>𝒋</m:t>
                                  </m:r>
                                </m:sub>
                              </m:sSub>
                            </m:num>
                            <m:den>
                              <m:sSup>
                                <m:sSupPr>
                                  <m:ctrlPr>
                                    <a:rPr lang="es-ES_tradnl" sz="2400" b="1" i="1">
                                      <a:latin typeface="Cambria Math" panose="02040503050406030204" pitchFamily="18" charset="0"/>
                                    </a:rPr>
                                  </m:ctrlPr>
                                </m:sSupPr>
                                <m:e>
                                  <m:d>
                                    <m:dPr>
                                      <m:ctrlPr>
                                        <a:rPr lang="es-ES_tradnl" sz="2400" b="1" i="1">
                                          <a:latin typeface="Cambria Math" panose="02040503050406030204" pitchFamily="18" charset="0"/>
                                        </a:rPr>
                                      </m:ctrlPr>
                                    </m:dPr>
                                    <m:e>
                                      <m:r>
                                        <a:rPr lang="es-ES_tradnl" sz="2400" b="1" i="1">
                                          <a:latin typeface="Cambria Math" panose="02040503050406030204" pitchFamily="18" charset="0"/>
                                        </a:rPr>
                                        <m:t>𝟏</m:t>
                                      </m:r>
                                      <m:r>
                                        <a:rPr lang="es-ES_tradnl" sz="2400" b="1" i="1">
                                          <a:latin typeface="Cambria Math" panose="02040503050406030204" pitchFamily="18" charset="0"/>
                                        </a:rPr>
                                        <m:t>+</m:t>
                                      </m:r>
                                      <m:r>
                                        <a:rPr lang="es-ES_tradnl" sz="2400" b="1" i="1">
                                          <a:latin typeface="Cambria Math" panose="02040503050406030204" pitchFamily="18" charset="0"/>
                                        </a:rPr>
                                        <m:t>𝒊</m:t>
                                      </m:r>
                                    </m:e>
                                  </m:d>
                                </m:e>
                                <m:sup>
                                  <m:r>
                                    <a:rPr lang="es-ES_tradnl" sz="2400" b="1" i="1">
                                      <a:latin typeface="Cambria Math" panose="02040503050406030204" pitchFamily="18" charset="0"/>
                                    </a:rPr>
                                    <m:t>𝒋</m:t>
                                  </m:r>
                                </m:sup>
                              </m:sSup>
                            </m:den>
                          </m:f>
                          <m:r>
                            <a:rPr lang="es-ES" sz="2400" b="1" i="1" smtClean="0">
                              <a:latin typeface="Cambria Math" panose="02040503050406030204" pitchFamily="18" charset="0"/>
                            </a:rPr>
                            <m:t>)</m:t>
                          </m:r>
                        </m:e>
                      </m:nary>
                    </m:oMath>
                  </m:oMathPara>
                </a14:m>
                <a:endParaRPr lang="es-ES_tradnl" sz="2400" b="1" dirty="0">
                  <a:ea typeface="+mn-ea"/>
                  <a:cs typeface="+mn-cs"/>
                </a:endParaRPr>
              </a:p>
            </p:txBody>
          </p:sp>
        </mc:Choice>
        <mc:Fallback>
          <p:sp>
            <p:nvSpPr>
              <p:cNvPr id="3" name="2 Subtítulo">
                <a:extLst>
                  <a:ext uri="{FF2B5EF4-FFF2-40B4-BE49-F238E27FC236}">
                    <a16:creationId xmlns:a16="http://schemas.microsoft.com/office/drawing/2014/main" id="{CE6AF59A-B7A4-C549-B87D-984B6C986117}"/>
                  </a:ext>
                </a:extLst>
              </p:cNvPr>
              <p:cNvSpPr>
                <a:spLocks noGrp="1" noRot="1" noChangeAspect="1" noMove="1" noResize="1" noEditPoints="1" noAdjustHandles="1" noChangeArrowheads="1" noChangeShapeType="1" noTextEdit="1"/>
              </p:cNvSpPr>
              <p:nvPr>
                <p:ph type="subTitle" idx="1"/>
              </p:nvPr>
            </p:nvSpPr>
            <p:spPr>
              <a:xfrm>
                <a:off x="1042988" y="1844675"/>
                <a:ext cx="7921625" cy="4679950"/>
              </a:xfrm>
              <a:blipFill>
                <a:blip r:embed="rId2"/>
                <a:stretch>
                  <a:fillRect l="-480" t="-11653"/>
                </a:stretch>
              </a:blipFill>
            </p:spPr>
            <p:txBody>
              <a:bodyPr/>
              <a:lstStyle/>
              <a:p>
                <a:r>
                  <a:rPr lang="es-ES">
                    <a:noFill/>
                  </a:rPr>
                  <a:t> </a:t>
                </a:r>
              </a:p>
            </p:txBody>
          </p:sp>
        </mc:Fallback>
      </mc:AlternateContent>
      <p:sp>
        <p:nvSpPr>
          <p:cNvPr id="8" name="1 Título">
            <a:extLst>
              <a:ext uri="{FF2B5EF4-FFF2-40B4-BE49-F238E27FC236}">
                <a16:creationId xmlns:a16="http://schemas.microsoft.com/office/drawing/2014/main" id="{2CF2B6B5-2D4C-744D-92DC-29F27E519C89}"/>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pic>
        <p:nvPicPr>
          <p:cNvPr id="7" name="Imagen 6">
            <a:extLst>
              <a:ext uri="{FF2B5EF4-FFF2-40B4-BE49-F238E27FC236}">
                <a16:creationId xmlns:a16="http://schemas.microsoft.com/office/drawing/2014/main" id="{0D2470E3-93D9-BA41-A13C-501145947F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7394" y="4005064"/>
            <a:ext cx="6425006" cy="2304256"/>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2 Subtítulo">
                <a:extLst>
                  <a:ext uri="{FF2B5EF4-FFF2-40B4-BE49-F238E27FC236}">
                    <a16:creationId xmlns:a16="http://schemas.microsoft.com/office/drawing/2014/main" id="{3FF345AE-ECDA-C84F-B73E-010AC95BEB4B}"/>
                  </a:ext>
                </a:extLst>
              </p:cNvPr>
              <p:cNvSpPr>
                <a:spLocks noGrp="1"/>
              </p:cNvSpPr>
              <p:nvPr>
                <p:ph type="subTitle" idx="1"/>
              </p:nvPr>
            </p:nvSpPr>
            <p:spPr>
              <a:xfrm>
                <a:off x="1042988" y="1844675"/>
                <a:ext cx="7921625" cy="3240509"/>
              </a:xfrm>
            </p:spPr>
            <p:txBody>
              <a:bodyPr>
                <a:normAutofit/>
              </a:bodyPr>
              <a:lstStyle/>
              <a:p>
                <a:pPr eaLnBrk="1" fontAlgn="auto" hangingPunct="1">
                  <a:spcAft>
                    <a:spcPts val="0"/>
                  </a:spcAft>
                  <a:buFont typeface="Wingdings 2"/>
                  <a:buNone/>
                  <a:defRPr/>
                </a:pPr>
                <a:r>
                  <a:rPr lang="es-ES_tradnl" sz="2000" b="1" dirty="0">
                    <a:latin typeface="Arial" panose="020B0604020202020204" pitchFamily="34" charset="0"/>
                    <a:ea typeface="+mn-ea"/>
                    <a:cs typeface="Arial" panose="020B0604020202020204" pitchFamily="34" charset="0"/>
                  </a:rPr>
                  <a:t>3.2 Tasa de rentabilidad</a:t>
                </a:r>
              </a:p>
              <a:p>
                <a:pPr eaLnBrk="1" fontAlgn="auto" hangingPunct="1">
                  <a:spcAft>
                    <a:spcPts val="0"/>
                  </a:spcAft>
                  <a:buFont typeface="Wingdings 2"/>
                  <a:buNone/>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14:m>
                  <m:oMathPara xmlns:m="http://schemas.openxmlformats.org/officeDocument/2006/math">
                    <m:oMathParaPr>
                      <m:jc m:val="centerGroup"/>
                    </m:oMathParaPr>
                    <m:oMath xmlns:m="http://schemas.openxmlformats.org/officeDocument/2006/math">
                      <m:r>
                        <a:rPr lang="es-ES" sz="3200" b="1" i="1" smtClean="0">
                          <a:latin typeface="Cambria Math" panose="02040503050406030204" pitchFamily="18" charset="0"/>
                          <a:ea typeface="+mn-ea"/>
                          <a:cs typeface="Arial" panose="020B0604020202020204" pitchFamily="34" charset="0"/>
                        </a:rPr>
                        <m:t>𝒓</m:t>
                      </m:r>
                      <m:r>
                        <a:rPr lang="es-ES" sz="3200" b="1" i="1" smtClean="0">
                          <a:latin typeface="Cambria Math" panose="02040503050406030204" pitchFamily="18" charset="0"/>
                          <a:ea typeface="+mn-ea"/>
                          <a:cs typeface="Arial" panose="020B0604020202020204" pitchFamily="34" charset="0"/>
                        </a:rPr>
                        <m:t>= </m:t>
                      </m:r>
                      <m:f>
                        <m:fPr>
                          <m:ctrlPr>
                            <a:rPr lang="es-ES" sz="3200" b="1" i="1" smtClean="0">
                              <a:latin typeface="Cambria Math" panose="02040503050406030204" pitchFamily="18" charset="0"/>
                              <a:ea typeface="+mn-ea"/>
                              <a:cs typeface="Arial" panose="020B0604020202020204" pitchFamily="34" charset="0"/>
                            </a:rPr>
                          </m:ctrlPr>
                        </m:fPr>
                        <m:num>
                          <m:r>
                            <a:rPr lang="es-ES" sz="3200" b="1" i="1" smtClean="0">
                              <a:latin typeface="Cambria Math" panose="02040503050406030204" pitchFamily="18" charset="0"/>
                              <a:ea typeface="+mn-ea"/>
                              <a:cs typeface="Arial" panose="020B0604020202020204" pitchFamily="34" charset="0"/>
                            </a:rPr>
                            <m:t>𝑽𝑨𝑵</m:t>
                          </m:r>
                        </m:num>
                        <m:den>
                          <m:nary>
                            <m:naryPr>
                              <m:chr m:val="∑"/>
                              <m:ctrlPr>
                                <a:rPr lang="es-ES" sz="3200" b="1" i="1" smtClean="0">
                                  <a:latin typeface="Cambria Math" panose="02040503050406030204" pitchFamily="18" charset="0"/>
                                  <a:ea typeface="+mn-ea"/>
                                  <a:cs typeface="Arial" panose="020B0604020202020204" pitchFamily="34" charset="0"/>
                                </a:rPr>
                              </m:ctrlPr>
                            </m:naryPr>
                            <m:sub>
                              <m:r>
                                <m:rPr>
                                  <m:brk m:alnAt="23"/>
                                </m:rPr>
                                <a:rPr lang="es-ES" sz="3200" b="1" i="1" smtClean="0">
                                  <a:latin typeface="Cambria Math" panose="02040503050406030204" pitchFamily="18" charset="0"/>
                                  <a:ea typeface="+mn-ea"/>
                                  <a:cs typeface="Arial" panose="020B0604020202020204" pitchFamily="34" charset="0"/>
                                </a:rPr>
                                <m:t>𝒋</m:t>
                              </m:r>
                              <m:r>
                                <a:rPr lang="es-ES" sz="3200" b="1" i="1" smtClean="0">
                                  <a:latin typeface="Cambria Math" panose="02040503050406030204" pitchFamily="18" charset="0"/>
                                  <a:ea typeface="+mn-ea"/>
                                  <a:cs typeface="Arial" panose="020B0604020202020204" pitchFamily="34" charset="0"/>
                                </a:rPr>
                                <m:t>=</m:t>
                              </m:r>
                              <m:r>
                                <a:rPr lang="es-ES" sz="3200" b="1" i="1" smtClean="0">
                                  <a:latin typeface="Cambria Math" panose="02040503050406030204" pitchFamily="18" charset="0"/>
                                  <a:ea typeface="+mn-ea"/>
                                  <a:cs typeface="Arial" panose="020B0604020202020204" pitchFamily="34" charset="0"/>
                                </a:rPr>
                                <m:t>𝟎</m:t>
                              </m:r>
                            </m:sub>
                            <m:sup>
                              <m:r>
                                <a:rPr lang="es-ES" sz="3200" b="1" i="1" smtClean="0">
                                  <a:latin typeface="Cambria Math" panose="02040503050406030204" pitchFamily="18" charset="0"/>
                                  <a:ea typeface="+mn-ea"/>
                                  <a:cs typeface="Arial" panose="020B0604020202020204" pitchFamily="34" charset="0"/>
                                </a:rPr>
                                <m:t>𝒏</m:t>
                              </m:r>
                            </m:sup>
                            <m:e>
                              <m:f>
                                <m:fPr>
                                  <m:ctrlPr>
                                    <a:rPr lang="es-ES" sz="3200" b="1" i="1" smtClean="0">
                                      <a:latin typeface="Cambria Math" panose="02040503050406030204" pitchFamily="18" charset="0"/>
                                      <a:ea typeface="+mn-ea"/>
                                      <a:cs typeface="Arial" panose="020B0604020202020204" pitchFamily="34" charset="0"/>
                                    </a:rPr>
                                  </m:ctrlPr>
                                </m:fPr>
                                <m:num>
                                  <m:sSub>
                                    <m:sSubPr>
                                      <m:ctrlPr>
                                        <a:rPr lang="es-ES" sz="3200" b="1" i="1" smtClean="0">
                                          <a:latin typeface="Cambria Math" panose="02040503050406030204" pitchFamily="18" charset="0"/>
                                          <a:ea typeface="+mn-ea"/>
                                          <a:cs typeface="Arial" panose="020B0604020202020204" pitchFamily="34" charset="0"/>
                                        </a:rPr>
                                      </m:ctrlPr>
                                    </m:sSubPr>
                                    <m:e>
                                      <m:r>
                                        <a:rPr lang="es-ES" sz="3200" b="1" i="1" smtClean="0">
                                          <a:latin typeface="Cambria Math" panose="02040503050406030204" pitchFamily="18" charset="0"/>
                                          <a:ea typeface="+mn-ea"/>
                                          <a:cs typeface="Arial" panose="020B0604020202020204" pitchFamily="34" charset="0"/>
                                        </a:rPr>
                                        <m:t>𝑲</m:t>
                                      </m:r>
                                    </m:e>
                                    <m:sub>
                                      <m:r>
                                        <a:rPr lang="es-ES" sz="3200" b="1" i="1" smtClean="0">
                                          <a:latin typeface="Cambria Math" panose="02040503050406030204" pitchFamily="18" charset="0"/>
                                          <a:ea typeface="+mn-ea"/>
                                          <a:cs typeface="Arial" panose="020B0604020202020204" pitchFamily="34" charset="0"/>
                                        </a:rPr>
                                        <m:t>𝒋</m:t>
                                      </m:r>
                                    </m:sub>
                                  </m:sSub>
                                </m:num>
                                <m:den>
                                  <m:sSup>
                                    <m:sSupPr>
                                      <m:ctrlPr>
                                        <a:rPr lang="es-ES" sz="3200" b="1" i="1" smtClean="0">
                                          <a:latin typeface="Cambria Math" panose="02040503050406030204" pitchFamily="18" charset="0"/>
                                          <a:ea typeface="+mn-ea"/>
                                          <a:cs typeface="Arial" panose="020B0604020202020204" pitchFamily="34" charset="0"/>
                                        </a:rPr>
                                      </m:ctrlPr>
                                    </m:sSupPr>
                                    <m:e>
                                      <m:d>
                                        <m:dPr>
                                          <m:ctrlPr>
                                            <a:rPr lang="es-ES" sz="3200" b="1" i="1" smtClean="0">
                                              <a:latin typeface="Cambria Math" panose="02040503050406030204" pitchFamily="18" charset="0"/>
                                              <a:ea typeface="+mn-ea"/>
                                              <a:cs typeface="Arial" panose="020B0604020202020204" pitchFamily="34" charset="0"/>
                                            </a:rPr>
                                          </m:ctrlPr>
                                        </m:dPr>
                                        <m:e>
                                          <m:r>
                                            <a:rPr lang="es-ES" sz="3200" b="1" i="1" smtClean="0">
                                              <a:latin typeface="Cambria Math" panose="02040503050406030204" pitchFamily="18" charset="0"/>
                                              <a:ea typeface="+mn-ea"/>
                                              <a:cs typeface="Arial" panose="020B0604020202020204" pitchFamily="34" charset="0"/>
                                            </a:rPr>
                                            <m:t>𝟏</m:t>
                                          </m:r>
                                          <m:r>
                                            <a:rPr lang="es-ES" sz="3200" b="1" i="1" smtClean="0">
                                              <a:latin typeface="Cambria Math" panose="02040503050406030204" pitchFamily="18" charset="0"/>
                                              <a:ea typeface="+mn-ea"/>
                                              <a:cs typeface="Arial" panose="020B0604020202020204" pitchFamily="34" charset="0"/>
                                            </a:rPr>
                                            <m:t>+</m:t>
                                          </m:r>
                                          <m:r>
                                            <a:rPr lang="es-ES" sz="3200" b="1" i="1" smtClean="0">
                                              <a:latin typeface="Cambria Math" panose="02040503050406030204" pitchFamily="18" charset="0"/>
                                              <a:ea typeface="+mn-ea"/>
                                              <a:cs typeface="Arial" panose="020B0604020202020204" pitchFamily="34" charset="0"/>
                                            </a:rPr>
                                            <m:t>𝒊</m:t>
                                          </m:r>
                                        </m:e>
                                      </m:d>
                                    </m:e>
                                    <m:sup>
                                      <m:r>
                                        <a:rPr lang="es-ES" sz="3200" b="1" i="1" smtClean="0">
                                          <a:latin typeface="Cambria Math" panose="02040503050406030204" pitchFamily="18" charset="0"/>
                                          <a:ea typeface="+mn-ea"/>
                                          <a:cs typeface="Arial" panose="020B0604020202020204" pitchFamily="34" charset="0"/>
                                        </a:rPr>
                                        <m:t>𝒋</m:t>
                                      </m:r>
                                    </m:sup>
                                  </m:sSup>
                                </m:den>
                              </m:f>
                            </m:e>
                          </m:nary>
                        </m:den>
                      </m:f>
                    </m:oMath>
                  </m:oMathPara>
                </a14:m>
                <a:endParaRPr lang="es-ES_tradnl" sz="3200" b="1" dirty="0">
                  <a:latin typeface="Arial" panose="020B0604020202020204" pitchFamily="34" charset="0"/>
                  <a:ea typeface="+mn-ea"/>
                  <a:cs typeface="Arial" panose="020B0604020202020204" pitchFamily="34" charset="0"/>
                </a:endParaRPr>
              </a:p>
            </p:txBody>
          </p:sp>
        </mc:Choice>
        <mc:Fallback>
          <p:sp>
            <p:nvSpPr>
              <p:cNvPr id="3" name="2 Subtítulo">
                <a:extLst>
                  <a:ext uri="{FF2B5EF4-FFF2-40B4-BE49-F238E27FC236}">
                    <a16:creationId xmlns:a16="http://schemas.microsoft.com/office/drawing/2014/main" id="{3FF345AE-ECDA-C84F-B73E-010AC95BEB4B}"/>
                  </a:ext>
                </a:extLst>
              </p:cNvPr>
              <p:cNvSpPr>
                <a:spLocks noGrp="1" noRot="1" noChangeAspect="1" noMove="1" noResize="1" noEditPoints="1" noAdjustHandles="1" noChangeArrowheads="1" noChangeShapeType="1" noTextEdit="1"/>
              </p:cNvSpPr>
              <p:nvPr>
                <p:ph type="subTitle" idx="1"/>
              </p:nvPr>
            </p:nvSpPr>
            <p:spPr>
              <a:xfrm>
                <a:off x="1042988" y="1844675"/>
                <a:ext cx="7921625" cy="3240509"/>
              </a:xfrm>
              <a:blipFill>
                <a:blip r:embed="rId2"/>
                <a:stretch>
                  <a:fillRect l="-480" t="-2344" b="-10938"/>
                </a:stretch>
              </a:blipFill>
            </p:spPr>
            <p:txBody>
              <a:bodyPr/>
              <a:lstStyle/>
              <a:p>
                <a:r>
                  <a:rPr lang="es-ES">
                    <a:noFill/>
                  </a:rPr>
                  <a:t> </a:t>
                </a:r>
              </a:p>
            </p:txBody>
          </p:sp>
        </mc:Fallback>
      </mc:AlternateContent>
      <p:sp>
        <p:nvSpPr>
          <p:cNvPr id="7" name="1 Título">
            <a:extLst>
              <a:ext uri="{FF2B5EF4-FFF2-40B4-BE49-F238E27FC236}">
                <a16:creationId xmlns:a16="http://schemas.microsoft.com/office/drawing/2014/main" id="{D085BC4B-03B7-8448-BDB4-D99B42E607EE}"/>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4D0D2FCA-3ED0-254E-AE0E-9F2C1FE75F36}"/>
              </a:ext>
            </a:extLst>
          </p:cNvPr>
          <p:cNvSpPr>
            <a:spLocks noGrp="1"/>
          </p:cNvSpPr>
          <p:nvPr>
            <p:ph type="subTitle" idx="1"/>
          </p:nvPr>
        </p:nvSpPr>
        <p:spPr>
          <a:xfrm>
            <a:off x="1042988" y="1304740"/>
            <a:ext cx="7921625" cy="1728191"/>
          </a:xfrm>
        </p:spPr>
        <p:txBody>
          <a:bodyPr>
            <a:normAutofit/>
          </a:bodyPr>
          <a:lstStyle/>
          <a:p>
            <a:pPr eaLnBrk="1" fontAlgn="auto" hangingPunct="1">
              <a:spcAft>
                <a:spcPts val="0"/>
              </a:spcAft>
              <a:buFont typeface="Wingdings 2"/>
              <a:buNone/>
              <a:defRPr/>
            </a:pPr>
            <a:r>
              <a:rPr lang="es-ES_tradnl" sz="2200" b="1" dirty="0">
                <a:latin typeface="Arial" panose="020B0604020202020204" pitchFamily="34" charset="0"/>
                <a:ea typeface="+mn-ea"/>
                <a:cs typeface="Arial" panose="020B0604020202020204" pitchFamily="34" charset="0"/>
              </a:rPr>
              <a:t>3.2 Plazo de recuperación (</a:t>
            </a:r>
            <a:r>
              <a:rPr lang="es-ES_tradnl" sz="2200" b="1" i="1" dirty="0">
                <a:latin typeface="Arial" panose="020B0604020202020204" pitchFamily="34" charset="0"/>
                <a:ea typeface="+mn-ea"/>
                <a:cs typeface="Arial" panose="020B0604020202020204" pitchFamily="34" charset="0"/>
              </a:rPr>
              <a:t>T</a:t>
            </a:r>
            <a:r>
              <a:rPr lang="es-ES_tradnl" sz="2200" b="1" dirty="0">
                <a:latin typeface="Arial" panose="020B0604020202020204" pitchFamily="34" charset="0"/>
                <a:ea typeface="+mn-ea"/>
                <a:cs typeface="Arial" panose="020B0604020202020204" pitchFamily="34" charset="0"/>
              </a:rPr>
              <a:t>): </a:t>
            </a:r>
          </a:p>
          <a:p>
            <a:pPr eaLnBrk="1" fontAlgn="auto" hangingPunct="1">
              <a:spcAft>
                <a:spcPts val="0"/>
              </a:spcAft>
              <a:buFont typeface="Wingdings 2"/>
              <a:buNone/>
              <a:defRPr/>
            </a:pPr>
            <a:r>
              <a:rPr lang="es-ES_tradnl" sz="1700" dirty="0">
                <a:latin typeface="Arial" panose="020B0604020202020204" pitchFamily="34" charset="0"/>
                <a:ea typeface="+mn-ea"/>
                <a:cs typeface="Arial" panose="020B0604020202020204" pitchFamily="34" charset="0"/>
              </a:rPr>
              <a:t>Es el plazo necesario para recuperar la inversión.</a:t>
            </a:r>
          </a:p>
          <a:p>
            <a:pPr eaLnBrk="1" fontAlgn="auto" hangingPunct="1">
              <a:spcAft>
                <a:spcPts val="0"/>
              </a:spcAft>
              <a:buFont typeface="Wingdings 2"/>
              <a:buNone/>
              <a:defRPr/>
            </a:pPr>
            <a:r>
              <a:rPr lang="es-ES_tradnl" sz="1700" dirty="0">
                <a:latin typeface="Arial" panose="020B0604020202020204" pitchFamily="34" charset="0"/>
                <a:ea typeface="+mn-ea"/>
                <a:cs typeface="Arial" panose="020B0604020202020204" pitchFamily="34" charset="0"/>
              </a:rPr>
              <a:t>Si calculamos </a:t>
            </a:r>
            <a:r>
              <a:rPr lang="es-ES_tradnl" sz="1700" i="1" dirty="0">
                <a:latin typeface="Arial" panose="020B0604020202020204" pitchFamily="34" charset="0"/>
                <a:ea typeface="+mn-ea"/>
                <a:cs typeface="Arial" panose="020B0604020202020204" pitchFamily="34" charset="0"/>
              </a:rPr>
              <a:t>VAN(j)</a:t>
            </a:r>
            <a:r>
              <a:rPr lang="es-ES_tradnl" sz="1700" dirty="0">
                <a:latin typeface="Arial" panose="020B0604020202020204" pitchFamily="34" charset="0"/>
                <a:ea typeface="+mn-ea"/>
                <a:cs typeface="Arial" panose="020B0604020202020204" pitchFamily="34" charset="0"/>
              </a:rPr>
              <a:t> desde </a:t>
            </a:r>
            <a:r>
              <a:rPr lang="es-ES_tradnl" sz="1700" i="1" dirty="0">
                <a:latin typeface="Arial" panose="020B0604020202020204" pitchFamily="34" charset="0"/>
                <a:ea typeface="+mn-ea"/>
                <a:cs typeface="Arial" panose="020B0604020202020204" pitchFamily="34" charset="0"/>
              </a:rPr>
              <a:t>j = 0 a</a:t>
            </a:r>
            <a:r>
              <a:rPr lang="es-ES_tradnl" sz="1700" dirty="0">
                <a:latin typeface="Arial" panose="020B0604020202020204" pitchFamily="34" charset="0"/>
                <a:ea typeface="+mn-ea"/>
                <a:cs typeface="Arial" panose="020B0604020202020204" pitchFamily="34" charset="0"/>
              </a:rPr>
              <a:t> </a:t>
            </a:r>
            <a:r>
              <a:rPr lang="es-ES_tradnl" sz="1700" i="1" dirty="0">
                <a:latin typeface="Arial" panose="020B0604020202020204" pitchFamily="34" charset="0"/>
                <a:ea typeface="+mn-ea"/>
                <a:cs typeface="Arial" panose="020B0604020202020204" pitchFamily="34" charset="0"/>
              </a:rPr>
              <a:t>n</a:t>
            </a:r>
            <a:r>
              <a:rPr lang="es-ES_tradnl" sz="1700" dirty="0">
                <a:latin typeface="Arial" panose="020B0604020202020204" pitchFamily="34" charset="0"/>
                <a:ea typeface="+mn-ea"/>
                <a:cs typeface="Arial" panose="020B0604020202020204" pitchFamily="34" charset="0"/>
              </a:rPr>
              <a:t>. </a:t>
            </a:r>
            <a:r>
              <a:rPr lang="es-ES_tradnl" sz="1700" i="1" dirty="0">
                <a:latin typeface="Arial" panose="020B0604020202020204" pitchFamily="34" charset="0"/>
                <a:ea typeface="+mn-ea"/>
                <a:cs typeface="Arial" panose="020B0604020202020204" pitchFamily="34" charset="0"/>
              </a:rPr>
              <a:t>VAN(j)</a:t>
            </a:r>
            <a:r>
              <a:rPr lang="es-ES_tradnl" sz="1700" dirty="0">
                <a:latin typeface="Arial" panose="020B0604020202020204" pitchFamily="34" charset="0"/>
                <a:ea typeface="+mn-ea"/>
                <a:cs typeface="Arial" panose="020B0604020202020204" pitchFamily="34" charset="0"/>
              </a:rPr>
              <a:t> pasará de negativo a positivo.</a:t>
            </a:r>
          </a:p>
          <a:p>
            <a:pPr eaLnBrk="1" fontAlgn="auto" hangingPunct="1">
              <a:spcAft>
                <a:spcPts val="0"/>
              </a:spcAft>
              <a:buFont typeface="Wingdings 2"/>
              <a:buNone/>
              <a:defRPr/>
            </a:pPr>
            <a:r>
              <a:rPr lang="es-ES_tradnl" sz="1700" dirty="0">
                <a:latin typeface="Arial" panose="020B0604020202020204" pitchFamily="34" charset="0"/>
                <a:ea typeface="+mn-ea"/>
                <a:cs typeface="Arial" panose="020B0604020202020204" pitchFamily="34" charset="0"/>
              </a:rPr>
              <a:t>El plazo de recuperación, </a:t>
            </a:r>
            <a:r>
              <a:rPr lang="es-ES_tradnl" sz="1700" i="1" dirty="0">
                <a:latin typeface="Arial" panose="020B0604020202020204" pitchFamily="34" charset="0"/>
                <a:ea typeface="+mn-ea"/>
                <a:cs typeface="Arial" panose="020B0604020202020204" pitchFamily="34" charset="0"/>
              </a:rPr>
              <a:t>T</a:t>
            </a:r>
            <a:r>
              <a:rPr lang="es-ES_tradnl" sz="1700" dirty="0">
                <a:latin typeface="Arial" panose="020B0604020202020204" pitchFamily="34" charset="0"/>
                <a:ea typeface="+mn-ea"/>
                <a:cs typeface="Arial" panose="020B0604020202020204" pitchFamily="34" charset="0"/>
              </a:rPr>
              <a:t>, es el valor de </a:t>
            </a:r>
            <a:r>
              <a:rPr lang="es-ES_tradnl" sz="1700" i="1" dirty="0">
                <a:latin typeface="Arial" panose="020B0604020202020204" pitchFamily="34" charset="0"/>
                <a:ea typeface="+mn-ea"/>
                <a:cs typeface="Arial" panose="020B0604020202020204" pitchFamily="34" charset="0"/>
              </a:rPr>
              <a:t>j</a:t>
            </a:r>
            <a:r>
              <a:rPr lang="es-ES_tradnl" sz="1700" dirty="0">
                <a:latin typeface="Arial" panose="020B0604020202020204" pitchFamily="34" charset="0"/>
                <a:ea typeface="+mn-ea"/>
                <a:cs typeface="Arial" panose="020B0604020202020204" pitchFamily="34" charset="0"/>
              </a:rPr>
              <a:t> para el que se anula el </a:t>
            </a:r>
            <a:r>
              <a:rPr lang="es-ES_tradnl" sz="1700" i="1" dirty="0">
                <a:latin typeface="Arial" panose="020B0604020202020204" pitchFamily="34" charset="0"/>
                <a:ea typeface="+mn-ea"/>
                <a:cs typeface="Arial" panose="020B0604020202020204" pitchFamily="34" charset="0"/>
              </a:rPr>
              <a:t>VAN</a:t>
            </a:r>
            <a:r>
              <a:rPr lang="es-ES_tradnl" sz="1700" dirty="0">
                <a:latin typeface="Arial" panose="020B0604020202020204" pitchFamily="34" charset="0"/>
                <a:ea typeface="+mn-ea"/>
                <a:cs typeface="Arial" panose="020B0604020202020204" pitchFamily="34" charset="0"/>
              </a:rPr>
              <a:t>. Es decir, </a:t>
            </a:r>
            <a:r>
              <a:rPr lang="es-ES_tradnl" sz="1700" i="1" dirty="0">
                <a:latin typeface="Arial" panose="020B0604020202020204" pitchFamily="34" charset="0"/>
                <a:ea typeface="+mn-ea"/>
                <a:cs typeface="Arial" panose="020B0604020202020204" pitchFamily="34" charset="0"/>
              </a:rPr>
              <a:t>VAN(T)</a:t>
            </a:r>
            <a:r>
              <a:rPr lang="es-ES_tradnl" sz="1700" dirty="0">
                <a:latin typeface="Arial" panose="020B0604020202020204" pitchFamily="34" charset="0"/>
                <a:ea typeface="+mn-ea"/>
                <a:cs typeface="Arial" panose="020B0604020202020204" pitchFamily="34" charset="0"/>
              </a:rPr>
              <a:t> = 0</a:t>
            </a:r>
          </a:p>
          <a:p>
            <a:pPr eaLnBrk="1" fontAlgn="auto" hangingPunct="1">
              <a:spcAft>
                <a:spcPts val="0"/>
              </a:spcAft>
              <a:buFont typeface="Wingdings 2"/>
              <a:buNone/>
              <a:defRPr/>
            </a:pPr>
            <a:endParaRPr lang="es-ES_tradnl" sz="2400" dirty="0">
              <a:ea typeface="+mn-ea"/>
              <a:cs typeface="+mn-cs"/>
            </a:endParaRPr>
          </a:p>
        </p:txBody>
      </p:sp>
      <p:pic>
        <p:nvPicPr>
          <p:cNvPr id="185347" name="Picture 4">
            <a:extLst>
              <a:ext uri="{FF2B5EF4-FFF2-40B4-BE49-F238E27FC236}">
                <a16:creationId xmlns:a16="http://schemas.microsoft.com/office/drawing/2014/main" id="{2B2774BD-D1F5-6B4D-BB5A-EE4F1CDD5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3007556"/>
            <a:ext cx="4392488" cy="3681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1 Título">
            <a:extLst>
              <a:ext uri="{FF2B5EF4-FFF2-40B4-BE49-F238E27FC236}">
                <a16:creationId xmlns:a16="http://schemas.microsoft.com/office/drawing/2014/main" id="{9286DE47-4683-6046-A905-A25984D57CA2}"/>
              </a:ext>
            </a:extLst>
          </p:cNvPr>
          <p:cNvSpPr>
            <a:spLocks noGrp="1"/>
          </p:cNvSpPr>
          <p:nvPr>
            <p:ph type="ctrTitle"/>
          </p:nvPr>
        </p:nvSpPr>
        <p:spPr>
          <a:xfrm>
            <a:off x="1042988" y="188640"/>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2 Subtítulo">
            <a:extLst>
              <a:ext uri="{FF2B5EF4-FFF2-40B4-BE49-F238E27FC236}">
                <a16:creationId xmlns:a16="http://schemas.microsoft.com/office/drawing/2014/main" id="{2D8FC56E-E054-CE44-B901-F9556AA871A6}"/>
              </a:ext>
            </a:extLst>
          </p:cNvPr>
          <p:cNvSpPr>
            <a:spLocks noGrp="1"/>
          </p:cNvSpPr>
          <p:nvPr>
            <p:ph type="subTitle" idx="1"/>
          </p:nvPr>
        </p:nvSpPr>
        <p:spPr>
          <a:xfrm>
            <a:off x="1043608" y="1340768"/>
            <a:ext cx="7921625" cy="1152128"/>
          </a:xfrm>
        </p:spPr>
        <p:txBody>
          <a:bodyPr/>
          <a:lstStyle/>
          <a:p>
            <a:pPr marL="26988" eaLnBrk="1" hangingPunct="1">
              <a:lnSpc>
                <a:spcPct val="80000"/>
              </a:lnSpc>
            </a:pPr>
            <a:r>
              <a:rPr lang="es-ES_tradnl" altLang="es-ES" sz="2200" b="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3.2 Tasa interna de rendimiento </a:t>
            </a:r>
            <a:r>
              <a:rPr lang="es-ES_tradnl" altLang="es-ES" sz="22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a:t>
            </a:r>
            <a:r>
              <a:rPr lang="es-ES_tradnl" altLang="es-ES" sz="2200" b="1" i="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TIR</a:t>
            </a:r>
            <a:r>
              <a:rPr lang="es-ES_tradnl" altLang="es-ES" sz="2200" b="1" dirty="0">
                <a:solidFill>
                  <a:srgbClr val="320E04"/>
                </a:solidFill>
                <a:latin typeface="Times New Roman" panose="02020603050405020304" pitchFamily="18" charset="0"/>
                <a:ea typeface="ＭＳ Ｐゴシック" panose="020B0600070205080204" pitchFamily="34" charset="-128"/>
                <a:cs typeface="Times New Roman" panose="02020603050405020304" pitchFamily="18" charset="0"/>
              </a:rPr>
              <a:t>)</a:t>
            </a:r>
          </a:p>
          <a:p>
            <a:pPr marL="26988" eaLnBrk="1" hangingPunct="1">
              <a:lnSpc>
                <a:spcPct val="80000"/>
              </a:lnSpc>
            </a:pP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Corresponde con la tasa de interés, </a:t>
            </a:r>
            <a:r>
              <a:rPr lang="es-ES_tradnl" altLang="es-ES" sz="1600" i="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i</a:t>
            </a: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que anula el </a:t>
            </a:r>
            <a:r>
              <a:rPr lang="es-ES_tradnl" altLang="es-ES" sz="1600" i="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VAN</a:t>
            </a: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a:t>
            </a:r>
          </a:p>
          <a:p>
            <a:pPr marL="26988" eaLnBrk="1" hangingPunct="1">
              <a:lnSpc>
                <a:spcPct val="80000"/>
              </a:lnSpc>
            </a:pP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Cuando i tiende a infinito el </a:t>
            </a:r>
            <a:r>
              <a:rPr lang="es-ES_tradnl" altLang="es-ES" sz="1600" i="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VAN(i)</a:t>
            </a: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tiende a </a:t>
            </a:r>
            <a:r>
              <a:rPr lang="es-ES_tradnl" altLang="es-ES" sz="1600" i="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 </a:t>
            </a:r>
            <a:r>
              <a:rPr lang="es-ES_tradnl" altLang="es-ES" sz="1600" i="1" dirty="0" err="1">
                <a:solidFill>
                  <a:srgbClr val="320E04"/>
                </a:solidFill>
                <a:latin typeface="Arial" panose="020B0604020202020204" pitchFamily="34" charset="0"/>
                <a:ea typeface="ＭＳ Ｐゴシック" panose="020B0600070205080204" pitchFamily="34" charset="-128"/>
                <a:cs typeface="Arial" panose="020B0604020202020204" pitchFamily="34" charset="0"/>
              </a:rPr>
              <a:t>Ko</a:t>
            </a: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a:t>
            </a:r>
          </a:p>
          <a:p>
            <a:pPr marL="26988" eaLnBrk="1" hangingPunct="1">
              <a:lnSpc>
                <a:spcPct val="80000"/>
              </a:lnSpc>
            </a:pPr>
            <a:r>
              <a:rPr lang="es-ES_tradnl" altLang="es-ES" sz="1600"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Para </a:t>
            </a:r>
            <a:r>
              <a:rPr lang="es-ES_tradnl" altLang="es-ES" sz="1600" i="1" dirty="0">
                <a:solidFill>
                  <a:srgbClr val="320E04"/>
                </a:solidFill>
                <a:latin typeface="Arial" panose="020B0604020202020204" pitchFamily="34" charset="0"/>
                <a:ea typeface="ＭＳ Ｐゴシック" panose="020B0600070205080204" pitchFamily="34" charset="-128"/>
                <a:cs typeface="Arial" panose="020B0604020202020204" pitchFamily="34" charset="0"/>
              </a:rPr>
              <a:t>i = TIR,  VAN(TIR) = 0</a:t>
            </a:r>
          </a:p>
          <a:p>
            <a:pPr marL="26988" eaLnBrk="1" hangingPunct="1">
              <a:lnSpc>
                <a:spcPct val="80000"/>
              </a:lnSpc>
            </a:pPr>
            <a:endParaRPr lang="es-ES_tradnl" altLang="es-ES" sz="2200" dirty="0">
              <a:solidFill>
                <a:srgbClr val="320E04"/>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186371" name="Picture 5">
            <a:extLst>
              <a:ext uri="{FF2B5EF4-FFF2-40B4-BE49-F238E27FC236}">
                <a16:creationId xmlns:a16="http://schemas.microsoft.com/office/drawing/2014/main" id="{1C3D7443-C7C4-5E4F-A0AF-D3DE8836A0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8604" y="2475590"/>
            <a:ext cx="4896544" cy="4193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1 Título">
            <a:extLst>
              <a:ext uri="{FF2B5EF4-FFF2-40B4-BE49-F238E27FC236}">
                <a16:creationId xmlns:a16="http://schemas.microsoft.com/office/drawing/2014/main" id="{2CAD16D6-1869-0F4C-9FBA-4F686101DE9A}"/>
              </a:ext>
            </a:extLst>
          </p:cNvPr>
          <p:cNvSpPr>
            <a:spLocks noGrp="1"/>
          </p:cNvSpPr>
          <p:nvPr>
            <p:ph type="ctrTitle"/>
          </p:nvPr>
        </p:nvSpPr>
        <p:spPr>
          <a:xfrm>
            <a:off x="1023239" y="188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8. Estudio económico</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3DD726-9536-3747-9C5F-2D7AABB50485}"/>
              </a:ext>
            </a:extLst>
          </p:cNvPr>
          <p:cNvSpPr>
            <a:spLocks noGrp="1"/>
          </p:cNvSpPr>
          <p:nvPr>
            <p:ph type="title"/>
          </p:nvPr>
        </p:nvSpPr>
        <p:spPr>
          <a:xfrm>
            <a:off x="2555875" y="1844675"/>
            <a:ext cx="6400800" cy="2376488"/>
          </a:xfrm>
        </p:spPr>
        <p:txBody>
          <a:bodyPr/>
          <a:lstStyle/>
          <a:p>
            <a:pPr>
              <a:defRPr/>
            </a:pPr>
            <a:r>
              <a:rPr lang="es-ES_tradnl" altLang="es-ES" sz="3600" cap="none" dirty="0">
                <a:effectLst>
                  <a:outerShdw blurRad="38100" dist="38100" dir="2700000" algn="tl">
                    <a:srgbClr val="C0C0C0"/>
                  </a:outerShdw>
                </a:effectLst>
                <a:ea typeface="ＭＳ Ｐゴシック" panose="020B0600070205080204" pitchFamily="34" charset="-128"/>
              </a:rPr>
              <a:t>Tema 9:</a:t>
            </a:r>
            <a:br>
              <a:rPr lang="es-ES_tradnl" altLang="es-ES" sz="3600" cap="none" dirty="0">
                <a:effectLst>
                  <a:outerShdw blurRad="38100" dist="38100" dir="2700000" algn="tl">
                    <a:srgbClr val="C0C0C0"/>
                  </a:outerShdw>
                </a:effectLst>
                <a:ea typeface="ＭＳ Ｐゴシック" panose="020B0600070205080204" pitchFamily="34" charset="-128"/>
              </a:rPr>
            </a:br>
            <a:r>
              <a:rPr lang="es-ES_tradnl" altLang="es-ES" sz="3600" cap="none" dirty="0">
                <a:effectLst>
                  <a:outerShdw blurRad="38100" dist="38100" dir="2700000" algn="tl">
                    <a:srgbClr val="C0C0C0"/>
                  </a:outerShdw>
                </a:effectLst>
                <a:ea typeface="ＭＳ Ｐゴシック" panose="020B0600070205080204" pitchFamily="34" charset="-128"/>
              </a:rPr>
              <a:t>La oficina técnica como empresa de ingeniería</a:t>
            </a:r>
          </a:p>
        </p:txBody>
      </p:sp>
      <p:sp>
        <p:nvSpPr>
          <p:cNvPr id="5" name="1 Título">
            <a:extLst>
              <a:ext uri="{FF2B5EF4-FFF2-40B4-BE49-F238E27FC236}">
                <a16:creationId xmlns:a16="http://schemas.microsoft.com/office/drawing/2014/main" id="{01AC09E3-7CDF-684A-B4E9-BAC6D88725B7}"/>
              </a:ext>
            </a:extLst>
          </p:cNvPr>
          <p:cNvSpPr txBox="1">
            <a:spLocks/>
          </p:cNvSpPr>
          <p:nvPr/>
        </p:nvSpPr>
        <p:spPr>
          <a:xfrm>
            <a:off x="2627313" y="836613"/>
            <a:ext cx="3571875" cy="720725"/>
          </a:xfrm>
          <a:prstGeom prst="rect">
            <a:avLst/>
          </a:prstGeom>
        </p:spPr>
        <p:txBody>
          <a:bodyPr>
            <a:normAutofit/>
          </a:bodyPr>
          <a:lstStyle>
            <a:lvl1pPr eaLnBrk="0" hangingPunct="0">
              <a:defRPr sz="2400">
                <a:solidFill>
                  <a:schemeClr val="tx1"/>
                </a:solidFill>
                <a:latin typeface="Gill Sans MT" panose="020B0502020104020203" pitchFamily="34" charset="77"/>
                <a:ea typeface="ＭＳ Ｐゴシック" panose="020B0600070205080204" pitchFamily="34" charset="-128"/>
              </a:defRPr>
            </a:lvl1pPr>
            <a:lvl2pPr marL="742950" indent="-285750" eaLnBrk="0" hangingPunct="0">
              <a:defRPr sz="2400">
                <a:solidFill>
                  <a:schemeClr val="tx1"/>
                </a:solidFill>
                <a:latin typeface="Gill Sans MT" panose="020B0502020104020203" pitchFamily="34" charset="77"/>
                <a:ea typeface="ＭＳ Ｐゴシック" panose="020B0600070205080204" pitchFamily="34" charset="-128"/>
              </a:defRPr>
            </a:lvl2pPr>
            <a:lvl3pPr marL="1143000" indent="-228600" eaLnBrk="0" hangingPunct="0">
              <a:defRPr sz="2400">
                <a:solidFill>
                  <a:schemeClr val="tx1"/>
                </a:solidFill>
                <a:latin typeface="Gill Sans MT" panose="020B0502020104020203" pitchFamily="34" charset="77"/>
                <a:ea typeface="ＭＳ Ｐゴシック" panose="020B0600070205080204" pitchFamily="34" charset="-128"/>
              </a:defRPr>
            </a:lvl3pPr>
            <a:lvl4pPr marL="1600200" indent="-228600" eaLnBrk="0" hangingPunct="0">
              <a:defRPr sz="2400">
                <a:solidFill>
                  <a:schemeClr val="tx1"/>
                </a:solidFill>
                <a:latin typeface="Gill Sans MT" panose="020B0502020104020203" pitchFamily="34" charset="77"/>
                <a:ea typeface="ＭＳ Ｐゴシック" panose="020B0600070205080204" pitchFamily="34" charset="-128"/>
              </a:defRPr>
            </a:lvl4pPr>
            <a:lvl5pPr marL="2057400" indent="-228600" eaLnBrk="0" hangingPunct="0">
              <a:defRPr sz="24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Gill Sans MT" panose="020B0502020104020203" pitchFamily="34" charset="77"/>
                <a:ea typeface="ＭＳ Ｐゴシック" panose="020B0600070205080204" pitchFamily="34" charset="-128"/>
              </a:defRPr>
            </a:lvl9pPr>
          </a:lstStyle>
          <a:p>
            <a:pPr eaLnBrk="1" hangingPunct="1">
              <a:lnSpc>
                <a:spcPts val="4500"/>
              </a:lnSpc>
              <a:defRPr/>
            </a:pPr>
            <a:r>
              <a:rPr lang="es-ES_tradnl" altLang="es-ES" sz="2700" b="1">
                <a:solidFill>
                  <a:srgbClr val="572314"/>
                </a:solidFill>
                <a:effectLst>
                  <a:outerShdw blurRad="38100" dist="38100" dir="2700000" algn="tl">
                    <a:srgbClr val="C0C0C0"/>
                  </a:outerShdw>
                </a:effectLst>
              </a:rPr>
              <a:t>OFICINA TÉCNICA</a:t>
            </a:r>
            <a:endParaRPr lang="es-ES" altLang="es-ES" sz="2700" b="1">
              <a:solidFill>
                <a:srgbClr val="572314"/>
              </a:solidFill>
              <a:effectLst>
                <a:outerShdw blurRad="38100" dist="38100" dir="2700000" algn="tl">
                  <a:srgbClr val="C0C0C0"/>
                </a:outerShdw>
              </a:effectLst>
            </a:endParaRPr>
          </a:p>
        </p:txBody>
      </p:sp>
    </p:spTree>
    <p:extLst>
      <p:ext uri="{BB962C8B-B14F-4D97-AF65-F5344CB8AC3E}">
        <p14:creationId xmlns:p14="http://schemas.microsoft.com/office/powerpoint/2010/main" val="82295512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CE6AF59A-B7A4-C549-B87D-984B6C986117}"/>
              </a:ext>
            </a:extLst>
          </p:cNvPr>
          <p:cNvSpPr>
            <a:spLocks noGrp="1"/>
          </p:cNvSpPr>
          <p:nvPr>
            <p:ph type="subTitle" idx="1"/>
          </p:nvPr>
        </p:nvSpPr>
        <p:spPr>
          <a:xfrm>
            <a:off x="1043608" y="1556792"/>
            <a:ext cx="7921625" cy="5184576"/>
          </a:xfrm>
        </p:spPr>
        <p:txBody>
          <a:bodyPr>
            <a:normAutofit/>
          </a:bodyPr>
          <a:lstStyle/>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1. Áreas de actuación de las ingenierías.</a:t>
            </a:r>
          </a:p>
          <a:p>
            <a:pPr eaLnBrk="1" fontAlgn="auto" hangingPunct="1">
              <a:spcAft>
                <a:spcPts val="0"/>
              </a:spcAft>
              <a:defRPr/>
            </a:pPr>
            <a:r>
              <a:rPr lang="es-ES_tradnl" sz="1800" dirty="0">
                <a:latin typeface="Arial" panose="020B0604020202020204" pitchFamily="34" charset="0"/>
                <a:ea typeface="+mn-ea"/>
                <a:cs typeface="Arial" panose="020B0604020202020204" pitchFamily="34" charset="0"/>
              </a:rPr>
              <a:t>Tres áreas principales: técnica, económica y de gestión.</a:t>
            </a:r>
          </a:p>
          <a:p>
            <a:pPr eaLnBrk="1" fontAlgn="auto" hangingPunct="1">
              <a:spcAft>
                <a:spcPts val="0"/>
              </a:spcAft>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defRPr/>
            </a:pPr>
            <a:endParaRPr lang="es-ES_tradnl" sz="2400" b="1" dirty="0">
              <a:ea typeface="+mn-ea"/>
              <a:cs typeface="+mn-cs"/>
            </a:endParaRPr>
          </a:p>
        </p:txBody>
      </p:sp>
      <p:sp>
        <p:nvSpPr>
          <p:cNvPr id="8" name="1 Título">
            <a:extLst>
              <a:ext uri="{FF2B5EF4-FFF2-40B4-BE49-F238E27FC236}">
                <a16:creationId xmlns:a16="http://schemas.microsoft.com/office/drawing/2014/main" id="{2CF2B6B5-2D4C-744D-92DC-29F27E519C89}"/>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9. La empresa de ingeniería</a:t>
            </a:r>
          </a:p>
        </p:txBody>
      </p:sp>
      <p:pic>
        <p:nvPicPr>
          <p:cNvPr id="5" name="Picture 5">
            <a:extLst>
              <a:ext uri="{FF2B5EF4-FFF2-40B4-BE49-F238E27FC236}">
                <a16:creationId xmlns:a16="http://schemas.microsoft.com/office/drawing/2014/main" id="{20DAF91D-1A22-4547-96C6-B632156A2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413775" y="2454735"/>
            <a:ext cx="4100426" cy="3695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741191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CE6AF59A-B7A4-C549-B87D-984B6C986117}"/>
              </a:ext>
            </a:extLst>
          </p:cNvPr>
          <p:cNvSpPr>
            <a:spLocks noGrp="1"/>
          </p:cNvSpPr>
          <p:nvPr>
            <p:ph type="subTitle" idx="1"/>
          </p:nvPr>
        </p:nvSpPr>
        <p:spPr>
          <a:xfrm>
            <a:off x="1043608" y="1556792"/>
            <a:ext cx="7921625" cy="4896544"/>
          </a:xfrm>
        </p:spPr>
        <p:txBody>
          <a:bodyPr>
            <a:normAutofit/>
          </a:bodyPr>
          <a:lstStyle/>
          <a:p>
            <a:pPr eaLnBrk="1" fontAlgn="auto" hangingPunct="1">
              <a:spcAft>
                <a:spcPts val="0"/>
              </a:spcAft>
              <a:buFont typeface="Wingdings 2"/>
              <a:buNone/>
              <a:defRPr/>
            </a:pPr>
            <a:r>
              <a:rPr lang="es-ES_tradnl" sz="2000" b="1" dirty="0">
                <a:latin typeface="Arial" panose="020B0604020202020204" pitchFamily="34" charset="0"/>
                <a:ea typeface="+mn-ea"/>
                <a:cs typeface="Arial" panose="020B0604020202020204" pitchFamily="34" charset="0"/>
              </a:rPr>
              <a:t>Áreas de actuación de las ingenierías</a:t>
            </a:r>
          </a:p>
          <a:p>
            <a:pPr eaLnBrk="1" fontAlgn="auto" hangingPunct="1">
              <a:spcAft>
                <a:spcPts val="0"/>
              </a:spcAft>
              <a:defRPr/>
            </a:pPr>
            <a:r>
              <a:rPr lang="es-ES_tradnl" sz="1800" b="1" dirty="0">
                <a:latin typeface="Arial" panose="020B0604020202020204" pitchFamily="34" charset="0"/>
                <a:ea typeface="+mn-ea"/>
                <a:cs typeface="Arial" panose="020B0604020202020204" pitchFamily="34" charset="0"/>
              </a:rPr>
              <a:t>1. Intersección de Técnica, Económica y Gestión:</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Ejecución y dirección de proyectos</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Ejecución de anteproyectos</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Dirección de proyectos</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Redacción de ofertas</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Contratación en general</a:t>
            </a:r>
            <a:endParaRPr lang="es-ES_tradnl" sz="1800" b="1" dirty="0">
              <a:latin typeface="Arial" panose="020B0604020202020204" pitchFamily="34" charset="0"/>
              <a:ea typeface="+mn-ea"/>
              <a:cs typeface="Arial" panose="020B0604020202020204" pitchFamily="34" charset="0"/>
            </a:endParaRPr>
          </a:p>
          <a:p>
            <a:pPr eaLnBrk="1" fontAlgn="auto" hangingPunct="1">
              <a:spcAft>
                <a:spcPts val="0"/>
              </a:spcAft>
              <a:defRPr/>
            </a:pPr>
            <a:r>
              <a:rPr lang="es-ES_tradnl" sz="1800" b="1" dirty="0">
                <a:latin typeface="Arial" panose="020B0604020202020204" pitchFamily="34" charset="0"/>
                <a:ea typeface="+mn-ea"/>
                <a:cs typeface="Arial" panose="020B0604020202020204" pitchFamily="34" charset="0"/>
              </a:rPr>
              <a:t>2. Intersección de Técnica y Económica:</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Evaluación de alternativas</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Estudios de viabilidad</a:t>
            </a:r>
          </a:p>
          <a:p>
            <a:pPr eaLnBrk="1" fontAlgn="auto" hangingPunct="1">
              <a:spcAft>
                <a:spcPts val="0"/>
              </a:spcAft>
              <a:defRPr/>
            </a:pPr>
            <a:r>
              <a:rPr lang="es-ES_tradnl" sz="1800" b="1" dirty="0">
                <a:latin typeface="Arial" panose="020B0604020202020204" pitchFamily="34" charset="0"/>
                <a:ea typeface="+mn-ea"/>
                <a:cs typeface="Arial" panose="020B0604020202020204" pitchFamily="34" charset="0"/>
              </a:rPr>
              <a:t>3. Intersección de Gestión y Económica:</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Planificación económica y financiera</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Control de costos o de inversiones</a:t>
            </a:r>
          </a:p>
          <a:p>
            <a:pPr eaLnBrk="1" fontAlgn="auto" hangingPunct="1">
              <a:spcAft>
                <a:spcPts val="0"/>
              </a:spcAft>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defRPr/>
            </a:pPr>
            <a:endParaRPr lang="es-ES_tradnl" sz="2400" b="1" dirty="0">
              <a:latin typeface="Arial" panose="020B0604020202020204" pitchFamily="34" charset="0"/>
              <a:ea typeface="+mn-ea"/>
              <a:cs typeface="Arial" panose="020B0604020202020204" pitchFamily="34" charset="0"/>
            </a:endParaRPr>
          </a:p>
        </p:txBody>
      </p:sp>
      <p:sp>
        <p:nvSpPr>
          <p:cNvPr id="8" name="1 Título">
            <a:extLst>
              <a:ext uri="{FF2B5EF4-FFF2-40B4-BE49-F238E27FC236}">
                <a16:creationId xmlns:a16="http://schemas.microsoft.com/office/drawing/2014/main" id="{2CF2B6B5-2D4C-744D-92DC-29F27E519C89}"/>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9. La empresa de ingeniería</a:t>
            </a:r>
          </a:p>
        </p:txBody>
      </p:sp>
    </p:spTree>
    <p:extLst>
      <p:ext uri="{BB962C8B-B14F-4D97-AF65-F5344CB8AC3E}">
        <p14:creationId xmlns:p14="http://schemas.microsoft.com/office/powerpoint/2010/main" val="334552146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CE6AF59A-B7A4-C549-B87D-984B6C986117}"/>
              </a:ext>
            </a:extLst>
          </p:cNvPr>
          <p:cNvSpPr>
            <a:spLocks noGrp="1"/>
          </p:cNvSpPr>
          <p:nvPr>
            <p:ph type="subTitle" idx="1"/>
          </p:nvPr>
        </p:nvSpPr>
        <p:spPr>
          <a:xfrm>
            <a:off x="1043608" y="1556792"/>
            <a:ext cx="7921625" cy="4896544"/>
          </a:xfrm>
        </p:spPr>
        <p:txBody>
          <a:bodyPr>
            <a:normAutofit lnSpcReduction="10000"/>
          </a:bodyPr>
          <a:lstStyle/>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Áreas de actuación de las ingenierías</a:t>
            </a:r>
          </a:p>
          <a:p>
            <a:pPr eaLnBrk="1" fontAlgn="auto" hangingPunct="1">
              <a:spcAft>
                <a:spcPts val="0"/>
              </a:spcAft>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defRPr/>
            </a:pPr>
            <a:r>
              <a:rPr lang="es-ES_tradnl" sz="1800" b="1" dirty="0">
                <a:latin typeface="Arial" panose="020B0604020202020204" pitchFamily="34" charset="0"/>
                <a:ea typeface="+mn-ea"/>
                <a:cs typeface="Arial" panose="020B0604020202020204" pitchFamily="34" charset="0"/>
              </a:rPr>
              <a:t>4. Intersección de Técnica y Gestión:</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Inspección: control de calidad</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Supervisión</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Programas de seguridad</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Puesta en marcha y recepción</a:t>
            </a:r>
            <a:endParaRPr lang="es-ES_tradnl" sz="1800" b="1" dirty="0">
              <a:latin typeface="Arial" panose="020B0604020202020204" pitchFamily="34" charset="0"/>
              <a:ea typeface="+mn-ea"/>
              <a:cs typeface="Arial" panose="020B0604020202020204" pitchFamily="34" charset="0"/>
            </a:endParaRPr>
          </a:p>
          <a:p>
            <a:pPr eaLnBrk="1" fontAlgn="auto" hangingPunct="1">
              <a:spcAft>
                <a:spcPts val="0"/>
              </a:spcAft>
              <a:defRPr/>
            </a:pPr>
            <a:r>
              <a:rPr lang="es-ES_tradnl" sz="1800" b="1" dirty="0">
                <a:latin typeface="Arial" panose="020B0604020202020204" pitchFamily="34" charset="0"/>
                <a:ea typeface="+mn-ea"/>
                <a:cs typeface="Arial" panose="020B0604020202020204" pitchFamily="34" charset="0"/>
              </a:rPr>
              <a:t>5. Técnica:</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Investigación y desarrollo</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Estudios, informes técnicos</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Ejecución de planos</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Especificaciones técnicas</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Manual(es) de operaciones</a:t>
            </a:r>
          </a:p>
          <a:p>
            <a:pPr marL="622300" indent="-222250"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Manual(es) de mantenimiento y reparación</a:t>
            </a:r>
            <a:endParaRPr lang="es-ES_tradnl" sz="1800" b="1" dirty="0">
              <a:latin typeface="Arial" panose="020B0604020202020204" pitchFamily="34" charset="0"/>
              <a:ea typeface="+mn-ea"/>
              <a:cs typeface="Arial" panose="020B0604020202020204" pitchFamily="34" charset="0"/>
            </a:endParaRPr>
          </a:p>
          <a:p>
            <a:pPr eaLnBrk="1" fontAlgn="auto" hangingPunct="1">
              <a:spcAft>
                <a:spcPts val="0"/>
              </a:spcAft>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defRPr/>
            </a:pPr>
            <a:endParaRPr lang="es-ES_tradnl" sz="2400" b="1" dirty="0">
              <a:latin typeface="Arial" panose="020B0604020202020204" pitchFamily="34" charset="0"/>
              <a:ea typeface="+mn-ea"/>
              <a:cs typeface="Arial" panose="020B0604020202020204" pitchFamily="34" charset="0"/>
            </a:endParaRPr>
          </a:p>
        </p:txBody>
      </p:sp>
      <p:sp>
        <p:nvSpPr>
          <p:cNvPr id="8" name="1 Título">
            <a:extLst>
              <a:ext uri="{FF2B5EF4-FFF2-40B4-BE49-F238E27FC236}">
                <a16:creationId xmlns:a16="http://schemas.microsoft.com/office/drawing/2014/main" id="{2CF2B6B5-2D4C-744D-92DC-29F27E519C89}"/>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9. La empresa de ingeniería</a:t>
            </a:r>
          </a:p>
        </p:txBody>
      </p:sp>
    </p:spTree>
    <p:extLst>
      <p:ext uri="{BB962C8B-B14F-4D97-AF65-F5344CB8AC3E}">
        <p14:creationId xmlns:p14="http://schemas.microsoft.com/office/powerpoint/2010/main" val="39798014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CE6AF59A-B7A4-C549-B87D-984B6C986117}"/>
              </a:ext>
            </a:extLst>
          </p:cNvPr>
          <p:cNvSpPr>
            <a:spLocks noGrp="1"/>
          </p:cNvSpPr>
          <p:nvPr>
            <p:ph type="subTitle" idx="1"/>
          </p:nvPr>
        </p:nvSpPr>
        <p:spPr>
          <a:xfrm>
            <a:off x="1043608" y="1556792"/>
            <a:ext cx="7921625" cy="4896544"/>
          </a:xfrm>
        </p:spPr>
        <p:txBody>
          <a:bodyPr>
            <a:normAutofit/>
          </a:bodyPr>
          <a:lstStyle/>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Áreas de actuación de las ingenierías</a:t>
            </a:r>
          </a:p>
          <a:p>
            <a:pPr eaLnBrk="1" fontAlgn="auto" hangingPunct="1">
              <a:spcAft>
                <a:spcPts val="0"/>
              </a:spcAft>
              <a:defRPr/>
            </a:pPr>
            <a:endParaRPr lang="es-ES_tradnl" sz="2000" b="1" dirty="0">
              <a:latin typeface="Arial" panose="020B0604020202020204" pitchFamily="34" charset="0"/>
              <a:ea typeface="+mn-ea"/>
              <a:cs typeface="Arial" panose="020B0604020202020204" pitchFamily="34" charset="0"/>
            </a:endParaRPr>
          </a:p>
          <a:p>
            <a:pPr eaLnBrk="1" hangingPunct="1"/>
            <a:r>
              <a:rPr lang="es-ES" altLang="es-ES" sz="1800" b="1" dirty="0"/>
              <a:t>6. </a:t>
            </a:r>
            <a:r>
              <a:rPr lang="es-ES" altLang="es-ES" sz="1800" b="1" dirty="0">
                <a:latin typeface="Arial" panose="020B0604020202020204" pitchFamily="34" charset="0"/>
                <a:ea typeface="+mn-ea"/>
                <a:cs typeface="Arial" panose="020B0604020202020204" pitchFamily="34" charset="0"/>
              </a:rPr>
              <a:t>Económica:</a:t>
            </a:r>
          </a:p>
          <a:p>
            <a:pPr marL="622300" indent="-222250" eaLnBrk="1" fontAlgn="auto" hangingPunct="1">
              <a:spcAft>
                <a:spcPts val="0"/>
              </a:spcAft>
              <a:buFont typeface="Arial" panose="020B0604020202020204" pitchFamily="34" charset="0"/>
              <a:buChar char="•"/>
              <a:defRPr/>
            </a:pPr>
            <a:r>
              <a:rPr lang="es-ES" altLang="es-ES" sz="1800" dirty="0">
                <a:latin typeface="Arial" panose="020B0604020202020204" pitchFamily="34" charset="0"/>
                <a:ea typeface="+mn-ea"/>
                <a:cs typeface="Arial" panose="020B0604020202020204" pitchFamily="34" charset="0"/>
              </a:rPr>
              <a:t>Estudios económicos y financieros</a:t>
            </a:r>
          </a:p>
          <a:p>
            <a:pPr marL="622300" indent="-222250" eaLnBrk="1" fontAlgn="auto" hangingPunct="1">
              <a:spcAft>
                <a:spcPts val="0"/>
              </a:spcAft>
              <a:buFont typeface="Arial" panose="020B0604020202020204" pitchFamily="34" charset="0"/>
              <a:buChar char="•"/>
              <a:defRPr/>
            </a:pPr>
            <a:r>
              <a:rPr lang="es-ES" altLang="es-ES" sz="1800" dirty="0">
                <a:latin typeface="Arial" panose="020B0604020202020204" pitchFamily="34" charset="0"/>
                <a:ea typeface="+mn-ea"/>
                <a:cs typeface="Arial" panose="020B0604020202020204" pitchFamily="34" charset="0"/>
              </a:rPr>
              <a:t>Estudios de costes</a:t>
            </a:r>
          </a:p>
          <a:p>
            <a:pPr marL="622300" indent="-222250" eaLnBrk="1" fontAlgn="auto" hangingPunct="1">
              <a:spcAft>
                <a:spcPts val="0"/>
              </a:spcAft>
              <a:buFont typeface="Arial" panose="020B0604020202020204" pitchFamily="34" charset="0"/>
              <a:buChar char="•"/>
              <a:defRPr/>
            </a:pPr>
            <a:r>
              <a:rPr lang="es-ES" altLang="es-ES" sz="1800" dirty="0">
                <a:latin typeface="Arial" panose="020B0604020202020204" pitchFamily="34" charset="0"/>
                <a:ea typeface="+mn-ea"/>
                <a:cs typeface="Arial" panose="020B0604020202020204" pitchFamily="34" charset="0"/>
              </a:rPr>
              <a:t>Presupuestos</a:t>
            </a:r>
          </a:p>
          <a:p>
            <a:pPr eaLnBrk="1" hangingPunct="1"/>
            <a:r>
              <a:rPr lang="es-ES" altLang="es-ES" sz="1800" b="1" dirty="0"/>
              <a:t>7. </a:t>
            </a:r>
            <a:r>
              <a:rPr lang="es-ES" altLang="es-ES" sz="1800" b="1" dirty="0">
                <a:latin typeface="Arial" panose="020B0604020202020204" pitchFamily="34" charset="0"/>
                <a:ea typeface="+mn-ea"/>
                <a:cs typeface="Arial" panose="020B0604020202020204" pitchFamily="34" charset="0"/>
              </a:rPr>
              <a:t>Gestión:</a:t>
            </a:r>
          </a:p>
          <a:p>
            <a:pPr marL="622300" indent="-222250" eaLnBrk="1" fontAlgn="auto" hangingPunct="1">
              <a:spcAft>
                <a:spcPts val="0"/>
              </a:spcAft>
              <a:buFont typeface="Arial" panose="020B0604020202020204" pitchFamily="34" charset="0"/>
              <a:buChar char="•"/>
              <a:defRPr/>
            </a:pPr>
            <a:r>
              <a:rPr lang="es-ES" altLang="es-ES" sz="1800" dirty="0">
                <a:latin typeface="Arial" panose="020B0604020202020204" pitchFamily="34" charset="0"/>
                <a:ea typeface="+mn-ea"/>
                <a:cs typeface="Arial" panose="020B0604020202020204" pitchFamily="34" charset="0"/>
              </a:rPr>
              <a:t>Coordinación total</a:t>
            </a:r>
          </a:p>
          <a:p>
            <a:pPr marL="622300" indent="-222250" eaLnBrk="1" fontAlgn="auto" hangingPunct="1">
              <a:spcAft>
                <a:spcPts val="0"/>
              </a:spcAft>
              <a:buFont typeface="Arial" panose="020B0604020202020204" pitchFamily="34" charset="0"/>
              <a:buChar char="•"/>
              <a:defRPr/>
            </a:pPr>
            <a:r>
              <a:rPr lang="es-ES" altLang="es-ES" sz="1800" dirty="0">
                <a:latin typeface="Arial" panose="020B0604020202020204" pitchFamily="34" charset="0"/>
                <a:ea typeface="+mn-ea"/>
                <a:cs typeface="Arial" panose="020B0604020202020204" pitchFamily="34" charset="0"/>
              </a:rPr>
              <a:t>Programación</a:t>
            </a:r>
          </a:p>
          <a:p>
            <a:pPr marL="622300" indent="-222250" eaLnBrk="1" fontAlgn="auto" hangingPunct="1">
              <a:spcAft>
                <a:spcPts val="0"/>
              </a:spcAft>
              <a:buFont typeface="Arial" panose="020B0604020202020204" pitchFamily="34" charset="0"/>
              <a:buChar char="•"/>
              <a:defRPr/>
            </a:pPr>
            <a:r>
              <a:rPr lang="es-ES" altLang="es-ES" sz="1800" dirty="0">
                <a:latin typeface="Arial" panose="020B0604020202020204" pitchFamily="34" charset="0"/>
                <a:ea typeface="+mn-ea"/>
                <a:cs typeface="Arial" panose="020B0604020202020204" pitchFamily="34" charset="0"/>
              </a:rPr>
              <a:t>Seguimiento de pedidos</a:t>
            </a:r>
          </a:p>
          <a:p>
            <a:pPr marL="622300" indent="-222250" eaLnBrk="1" fontAlgn="auto" hangingPunct="1">
              <a:spcAft>
                <a:spcPts val="0"/>
              </a:spcAft>
              <a:buFont typeface="Arial" panose="020B0604020202020204" pitchFamily="34" charset="0"/>
              <a:buChar char="•"/>
              <a:defRPr/>
            </a:pPr>
            <a:r>
              <a:rPr lang="es-ES" altLang="es-ES" sz="1800" dirty="0">
                <a:latin typeface="Arial" panose="020B0604020202020204" pitchFamily="34" charset="0"/>
                <a:ea typeface="+mn-ea"/>
                <a:cs typeface="Arial" panose="020B0604020202020204" pitchFamily="34" charset="0"/>
              </a:rPr>
              <a:t>Obtención de permisos y licencias</a:t>
            </a: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defRPr/>
            </a:pPr>
            <a:endParaRPr lang="es-ES_tradnl" sz="2400" b="1" dirty="0">
              <a:latin typeface="Arial" panose="020B0604020202020204" pitchFamily="34" charset="0"/>
              <a:ea typeface="+mn-ea"/>
              <a:cs typeface="Arial" panose="020B0604020202020204" pitchFamily="34" charset="0"/>
            </a:endParaRPr>
          </a:p>
        </p:txBody>
      </p:sp>
      <p:sp>
        <p:nvSpPr>
          <p:cNvPr id="8" name="1 Título">
            <a:extLst>
              <a:ext uri="{FF2B5EF4-FFF2-40B4-BE49-F238E27FC236}">
                <a16:creationId xmlns:a16="http://schemas.microsoft.com/office/drawing/2014/main" id="{2CF2B6B5-2D4C-744D-92DC-29F27E519C89}"/>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9. La empresa de ingeniería</a:t>
            </a:r>
          </a:p>
        </p:txBody>
      </p:sp>
    </p:spTree>
    <p:extLst>
      <p:ext uri="{BB962C8B-B14F-4D97-AF65-F5344CB8AC3E}">
        <p14:creationId xmlns:p14="http://schemas.microsoft.com/office/powerpoint/2010/main" val="110691617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CE6AF59A-B7A4-C549-B87D-984B6C986117}"/>
              </a:ext>
            </a:extLst>
          </p:cNvPr>
          <p:cNvSpPr>
            <a:spLocks noGrp="1"/>
          </p:cNvSpPr>
          <p:nvPr>
            <p:ph type="subTitle" idx="1"/>
          </p:nvPr>
        </p:nvSpPr>
        <p:spPr>
          <a:xfrm>
            <a:off x="1043608" y="1556792"/>
            <a:ext cx="7921625" cy="5184576"/>
          </a:xfrm>
        </p:spPr>
        <p:txBody>
          <a:bodyPr>
            <a:normAutofit/>
          </a:bodyPr>
          <a:lstStyle/>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2</a:t>
            </a:r>
            <a:r>
              <a:rPr lang="es-ES_tradnl" sz="1800" b="1" dirty="0">
                <a:latin typeface="Arial" panose="020B0604020202020204" pitchFamily="34" charset="0"/>
                <a:ea typeface="+mn-ea"/>
                <a:cs typeface="Arial" panose="020B0604020202020204" pitchFamily="34" charset="0"/>
              </a:rPr>
              <a:t>. Organización de una empresa de ingeniería.</a:t>
            </a:r>
          </a:p>
          <a:p>
            <a:pPr eaLnBrk="1" fontAlgn="auto" hangingPunct="1">
              <a:spcAft>
                <a:spcPts val="0"/>
              </a:spcAft>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defRPr/>
            </a:pPr>
            <a:endParaRPr lang="es-ES_tradnl" sz="2400" b="1" dirty="0">
              <a:ea typeface="+mn-ea"/>
              <a:cs typeface="+mn-cs"/>
            </a:endParaRPr>
          </a:p>
        </p:txBody>
      </p:sp>
      <p:sp>
        <p:nvSpPr>
          <p:cNvPr id="8" name="1 Título">
            <a:extLst>
              <a:ext uri="{FF2B5EF4-FFF2-40B4-BE49-F238E27FC236}">
                <a16:creationId xmlns:a16="http://schemas.microsoft.com/office/drawing/2014/main" id="{2CF2B6B5-2D4C-744D-92DC-29F27E519C89}"/>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9. La empresa de ingeniería</a:t>
            </a:r>
          </a:p>
        </p:txBody>
      </p:sp>
      <p:pic>
        <p:nvPicPr>
          <p:cNvPr id="6" name="Picture 4">
            <a:extLst>
              <a:ext uri="{FF2B5EF4-FFF2-40B4-BE49-F238E27FC236}">
                <a16:creationId xmlns:a16="http://schemas.microsoft.com/office/drawing/2014/main" id="{80244B81-4B0C-AB43-A501-D8DC4F7847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477963" y="2132856"/>
            <a:ext cx="4188073" cy="3890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718572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CE6AF59A-B7A4-C549-B87D-984B6C986117}"/>
              </a:ext>
            </a:extLst>
          </p:cNvPr>
          <p:cNvSpPr>
            <a:spLocks noGrp="1"/>
          </p:cNvSpPr>
          <p:nvPr>
            <p:ph type="subTitle" idx="1"/>
          </p:nvPr>
        </p:nvSpPr>
        <p:spPr>
          <a:xfrm>
            <a:off x="1043608" y="1556792"/>
            <a:ext cx="7921624" cy="5184576"/>
          </a:xfrm>
        </p:spPr>
        <p:txBody>
          <a:bodyPr>
            <a:normAutofit/>
          </a:bodyPr>
          <a:lstStyle/>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2</a:t>
            </a:r>
            <a:r>
              <a:rPr lang="es-ES_tradnl" sz="1800" b="1" dirty="0">
                <a:latin typeface="Arial" panose="020B0604020202020204" pitchFamily="34" charset="0"/>
                <a:ea typeface="+mn-ea"/>
                <a:cs typeface="Arial" panose="020B0604020202020204" pitchFamily="34" charset="0"/>
              </a:rPr>
              <a:t>. Organización dinámica para la ejecución de proyectos</a:t>
            </a:r>
          </a:p>
          <a:p>
            <a:pPr eaLnBrk="1" fontAlgn="auto" hangingPunct="1">
              <a:spcAft>
                <a:spcPts val="0"/>
              </a:spcAft>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defRPr/>
            </a:pPr>
            <a:endParaRPr lang="es-ES_tradnl" sz="2400" b="1" dirty="0">
              <a:ea typeface="+mn-ea"/>
              <a:cs typeface="+mn-cs"/>
            </a:endParaRPr>
          </a:p>
        </p:txBody>
      </p:sp>
      <p:sp>
        <p:nvSpPr>
          <p:cNvPr id="8" name="1 Título">
            <a:extLst>
              <a:ext uri="{FF2B5EF4-FFF2-40B4-BE49-F238E27FC236}">
                <a16:creationId xmlns:a16="http://schemas.microsoft.com/office/drawing/2014/main" id="{2CF2B6B5-2D4C-744D-92DC-29F27E519C89}"/>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9. La empresa de ingeniería</a:t>
            </a:r>
          </a:p>
        </p:txBody>
      </p:sp>
      <p:pic>
        <p:nvPicPr>
          <p:cNvPr id="9" name="Imagen 8">
            <a:extLst>
              <a:ext uri="{FF2B5EF4-FFF2-40B4-BE49-F238E27FC236}">
                <a16:creationId xmlns:a16="http://schemas.microsoft.com/office/drawing/2014/main" id="{29D0946F-7469-0443-B037-30EAEC4CD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700" y="2132856"/>
            <a:ext cx="5054600" cy="4229100"/>
          </a:xfrm>
          <a:prstGeom prst="rect">
            <a:avLst/>
          </a:prstGeom>
        </p:spPr>
      </p:pic>
    </p:spTree>
    <p:extLst>
      <p:ext uri="{BB962C8B-B14F-4D97-AF65-F5344CB8AC3E}">
        <p14:creationId xmlns:p14="http://schemas.microsoft.com/office/powerpoint/2010/main" val="120411419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CE6AF59A-B7A4-C549-B87D-984B6C986117}"/>
              </a:ext>
            </a:extLst>
          </p:cNvPr>
          <p:cNvSpPr>
            <a:spLocks noGrp="1"/>
          </p:cNvSpPr>
          <p:nvPr>
            <p:ph type="subTitle" idx="1"/>
          </p:nvPr>
        </p:nvSpPr>
        <p:spPr>
          <a:xfrm>
            <a:off x="1043608" y="1556792"/>
            <a:ext cx="7921625" cy="5184576"/>
          </a:xfrm>
        </p:spPr>
        <p:txBody>
          <a:bodyPr>
            <a:normAutofit/>
          </a:bodyPr>
          <a:lstStyle/>
          <a:p>
            <a:pPr eaLnBrk="1" fontAlgn="auto" hangingPunct="1">
              <a:spcAft>
                <a:spcPts val="0"/>
              </a:spcAft>
              <a:defRPr/>
            </a:pPr>
            <a:r>
              <a:rPr lang="es-ES_tradnl" sz="2000" b="1" dirty="0">
                <a:latin typeface="Arial" panose="020B0604020202020204" pitchFamily="34" charset="0"/>
                <a:ea typeface="+mn-ea"/>
                <a:cs typeface="Arial" panose="020B0604020202020204" pitchFamily="34" charset="0"/>
              </a:rPr>
              <a:t>3</a:t>
            </a:r>
            <a:r>
              <a:rPr lang="es-ES_tradnl" sz="1800" b="1" dirty="0">
                <a:latin typeface="Arial" panose="020B0604020202020204" pitchFamily="34" charset="0"/>
                <a:ea typeface="+mn-ea"/>
                <a:cs typeface="Arial" panose="020B0604020202020204" pitchFamily="34" charset="0"/>
              </a:rPr>
              <a:t>. Formas de contratación de los servicios de ingeniería.</a:t>
            </a:r>
          </a:p>
          <a:p>
            <a:pPr marL="712788" indent="-401638"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Contratación exclusiva de los servicios de ingeniería.</a:t>
            </a:r>
          </a:p>
          <a:p>
            <a:pPr marL="712788" indent="-401638" eaLnBrk="1" fontAlgn="auto" hangingPunct="1">
              <a:spcAft>
                <a:spcPts val="0"/>
              </a:spcAft>
              <a:buFont typeface="Arial" panose="020B0604020202020204" pitchFamily="34" charset="0"/>
              <a:buChar char="•"/>
              <a:defRPr/>
            </a:pPr>
            <a:r>
              <a:rPr lang="es-ES_tradnl" sz="1800" dirty="0">
                <a:latin typeface="Arial" panose="020B0604020202020204" pitchFamily="34" charset="0"/>
                <a:ea typeface="+mn-ea"/>
                <a:cs typeface="Arial" panose="020B0604020202020204" pitchFamily="34" charset="0"/>
              </a:rPr>
              <a:t>Llave en mano</a:t>
            </a:r>
            <a:endParaRPr lang="es-ES_tradnl" sz="1800" b="1" dirty="0">
              <a:latin typeface="Arial" panose="020B0604020202020204" pitchFamily="34" charset="0"/>
              <a:ea typeface="+mn-ea"/>
              <a:cs typeface="Arial" panose="020B0604020202020204" pitchFamily="34" charset="0"/>
            </a:endParaRPr>
          </a:p>
          <a:p>
            <a:pPr eaLnBrk="1" fontAlgn="auto" hangingPunct="1">
              <a:spcAft>
                <a:spcPts val="0"/>
              </a:spcAft>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buFont typeface="Wingdings 2"/>
              <a:buNone/>
              <a:defRPr/>
            </a:pPr>
            <a:endParaRPr lang="es-ES_tradnl" sz="2000" b="1" dirty="0">
              <a:latin typeface="Arial" panose="020B0604020202020204" pitchFamily="34" charset="0"/>
              <a:ea typeface="+mn-ea"/>
              <a:cs typeface="Arial" panose="020B0604020202020204" pitchFamily="34" charset="0"/>
            </a:endParaRPr>
          </a:p>
          <a:p>
            <a:pPr eaLnBrk="1" fontAlgn="auto" hangingPunct="1">
              <a:spcAft>
                <a:spcPts val="0"/>
              </a:spcAft>
              <a:defRPr/>
            </a:pPr>
            <a:endParaRPr lang="es-ES_tradnl" sz="2400" b="1" dirty="0">
              <a:ea typeface="+mn-ea"/>
              <a:cs typeface="+mn-cs"/>
            </a:endParaRPr>
          </a:p>
        </p:txBody>
      </p:sp>
      <p:sp>
        <p:nvSpPr>
          <p:cNvPr id="8" name="1 Título">
            <a:extLst>
              <a:ext uri="{FF2B5EF4-FFF2-40B4-BE49-F238E27FC236}">
                <a16:creationId xmlns:a16="http://schemas.microsoft.com/office/drawing/2014/main" id="{2CF2B6B5-2D4C-744D-92DC-29F27E519C89}"/>
              </a:ext>
            </a:extLst>
          </p:cNvPr>
          <p:cNvSpPr>
            <a:spLocks noGrp="1"/>
          </p:cNvSpPr>
          <p:nvPr>
            <p:ph type="ctrTitle"/>
          </p:nvPr>
        </p:nvSpPr>
        <p:spPr>
          <a:xfrm>
            <a:off x="1259632" y="404664"/>
            <a:ext cx="7407275" cy="1008063"/>
          </a:xfrm>
        </p:spPr>
        <p:txBody>
          <a:bodyPr>
            <a:normAutofit fontScale="90000"/>
          </a:bodyPr>
          <a:lstStyle/>
          <a:p>
            <a:pPr eaLnBrk="1" hangingPunct="1">
              <a:defRPr/>
            </a:pPr>
            <a:r>
              <a:rPr lang="es-ES_tradnl" altLang="es-ES" sz="3900" dirty="0">
                <a:effectLst>
                  <a:outerShdw blurRad="38100" dist="38100" dir="2700000" algn="tl">
                    <a:srgbClr val="C0C0C0"/>
                  </a:outerShdw>
                </a:effectLst>
                <a:ea typeface="ＭＳ Ｐゴシック" panose="020B0600070205080204" pitchFamily="34" charset="-128"/>
              </a:rPr>
              <a:t>OFICINA TÉCNICA</a:t>
            </a:r>
            <a:br>
              <a:rPr lang="es-ES_tradnl" altLang="es-ES" sz="3900" dirty="0">
                <a:effectLst>
                  <a:outerShdw blurRad="38100" dist="38100" dir="2700000" algn="tl">
                    <a:srgbClr val="C0C0C0"/>
                  </a:outerShdw>
                </a:effectLst>
                <a:ea typeface="ＭＳ Ｐゴシック" panose="020B0600070205080204" pitchFamily="34" charset="-128"/>
              </a:rPr>
            </a:br>
            <a:r>
              <a:rPr lang="es-ES_tradnl" altLang="es-ES" sz="2800" dirty="0">
                <a:effectLst>
                  <a:outerShdw blurRad="38100" dist="38100" dir="2700000" algn="tl">
                    <a:srgbClr val="C0C0C0"/>
                  </a:outerShdw>
                </a:effectLst>
                <a:ea typeface="ＭＳ Ｐゴシック" panose="020B0600070205080204" pitchFamily="34" charset="-128"/>
              </a:rPr>
              <a:t>Tema 9. La empresa de ingeniería</a:t>
            </a:r>
          </a:p>
        </p:txBody>
      </p:sp>
      <p:pic>
        <p:nvPicPr>
          <p:cNvPr id="6" name="Picture 4">
            <a:extLst>
              <a:ext uri="{FF2B5EF4-FFF2-40B4-BE49-F238E27FC236}">
                <a16:creationId xmlns:a16="http://schemas.microsoft.com/office/drawing/2014/main" id="{2834C12F-C3C4-F947-91F6-C52853954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742571" y="3407776"/>
            <a:ext cx="2850172" cy="1868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a:extLst>
              <a:ext uri="{FF2B5EF4-FFF2-40B4-BE49-F238E27FC236}">
                <a16:creationId xmlns:a16="http://schemas.microsoft.com/office/drawing/2014/main" id="{60AA3AAC-9D3D-A64D-9B87-6B7803E03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5283181" y="3429000"/>
            <a:ext cx="2889219" cy="1893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34590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OURCEPROFILE" val="C:\WINDOWS\System32\spool\DRIVERS\COLOR\sRGB Color Space Profile.icm"/>
  <p:tag name="DESTINATIONPROFILE" val="C:\WINDOWS\System32\spool\DRIVERS\COLOR\Projector_01-12-2010_1.icc"/>
  <p:tag name="RI" val="0"/>
  <p:tag name="VIEW" val="MONITOR"/>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io">
  <a:themeElements>
    <a:clrScheme name="Solsticio">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i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io">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10636</TotalTime>
  <Words>16954</Words>
  <Application>Microsoft Macintosh PowerPoint</Application>
  <PresentationFormat>Presentación en pantalla (4:3)</PresentationFormat>
  <Paragraphs>2263</Paragraphs>
  <Slides>190</Slides>
  <Notes>3</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190</vt:i4>
      </vt:variant>
    </vt:vector>
  </HeadingPairs>
  <TitlesOfParts>
    <vt:vector size="201" baseType="lpstr">
      <vt:lpstr>ＭＳ Ｐゴシック</vt:lpstr>
      <vt:lpstr>Arial</vt:lpstr>
      <vt:lpstr>Arial Narrow</vt:lpstr>
      <vt:lpstr>ArialNarrow</vt:lpstr>
      <vt:lpstr>Calibri</vt:lpstr>
      <vt:lpstr>Cambria Math</vt:lpstr>
      <vt:lpstr>Gill Sans MT</vt:lpstr>
      <vt:lpstr>Times New Roman</vt:lpstr>
      <vt:lpstr>Verdana</vt:lpstr>
      <vt:lpstr>Wingdings 2</vt:lpstr>
      <vt:lpstr>Solsticio</vt:lpstr>
      <vt:lpstr>Tema  1: Planificación de la asignatura</vt:lpstr>
      <vt:lpstr>OFICINA TÉCNICA Planificación de la asignatura</vt:lpstr>
      <vt:lpstr>OFICINA TÉCNICA Planificación de la asignatura</vt:lpstr>
      <vt:lpstr>Presentación de PowerPoint</vt:lpstr>
      <vt:lpstr>OFICINA TÉCNICA Planificación de la asignatura</vt:lpstr>
      <vt:lpstr>OFICINA TÉCNICA Planificación de la asignatura</vt:lpstr>
      <vt:lpstr>OFICINA TÉCNICA Planificación de la asignatura</vt:lpstr>
      <vt:lpstr>OFICINA TÉCNICA Planificación de la asignatura</vt:lpstr>
      <vt:lpstr>OFICINA TÉCNICA Planificación de la asignatura</vt:lpstr>
      <vt:lpstr>OFICINA TÉCNICA Planificación de la asignatura</vt:lpstr>
      <vt:lpstr>Tema 2: El ingeniero en el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Evolución de las atribuciones de los graduados e ingenieros técnicos</vt:lpstr>
      <vt:lpstr>OFICINA TÉCNICA. Ejercicio libre de la profesión No todas las especialidades tienen reconocidas atribuciones</vt:lpstr>
      <vt:lpstr>Presentación de PowerPoint</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OFICINA TÉCNICA Tema 2. Ejercicio libre de la profesión</vt:lpstr>
      <vt:lpstr>Cálculo de honorarios profesionales. Baremo de precios mínimos  (aplicable antes de mayo 2002)</vt:lpstr>
      <vt:lpstr>Presentación de PowerPoint</vt:lpstr>
      <vt:lpstr>Presentación de PowerPoint</vt:lpstr>
      <vt:lpstr>Presentación de PowerPoint</vt:lpstr>
      <vt:lpstr>Ejemplo de cálculo de honorarios, como se hacía antes de mayo de 2002, para un proyecto de instalación eléctrica de baja tensión de uso industrial</vt:lpstr>
      <vt:lpstr>Presentación de PowerPoint</vt:lpstr>
      <vt:lpstr>Presentación de PowerPoint</vt:lpstr>
      <vt:lpstr>Presentación de PowerPoint</vt:lpstr>
      <vt:lpstr>Presentación de PowerPoint</vt:lpstr>
      <vt:lpstr>Tema 3:  El proyecto: conceptos y clasificación</vt:lpstr>
      <vt:lpstr>OFICINA TÉCNICA Tema 3. El proyecto: conceptos y clasificación</vt:lpstr>
      <vt:lpstr>OFICINA TÉCNICA Tema 3. El proyecto: conceptos y clasificación</vt:lpstr>
      <vt:lpstr>OFICINA TÉCNICA Tema 3. El proyecto: conceptos y clasificación</vt:lpstr>
      <vt:lpstr>OFICINA TÉCNICA Tema 3. El proyecto: conceptos y clasificación</vt:lpstr>
      <vt:lpstr>OFICINA TÉCNICA Tema 3. El proyecto: conceptos y clasificación</vt:lpstr>
      <vt:lpstr>OFICINA TÉCNICA Tema 3. El proyecto: conceptos y clasificación</vt:lpstr>
      <vt:lpstr>OFICINA TÉCNICA Tema 3. El proyecto: conceptos y clasificación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Tema 4: Documentos del Proyecto: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OFICINA TÉCNICA Tema 4. Documentos del proyecto. Redacción de la memoria</vt:lpstr>
      <vt:lpstr>Tema 5:  Planos</vt:lpstr>
      <vt:lpstr>OFICINA TÉCNICA Tema 5. Planos</vt:lpstr>
      <vt:lpstr>OFICINA TÉCNICA Tema 5. Planos</vt:lpstr>
      <vt:lpstr>OFICINA TÉCNICA Tema 5. Planos</vt:lpstr>
      <vt:lpstr>OFICINA TÉCNICA Tema 5. Planos</vt:lpstr>
      <vt:lpstr>OFICINA TÉCNICA Tema 5. Planos</vt:lpstr>
      <vt:lpstr>OFICINA TÉCNICA Tema 5. Planos</vt:lpstr>
      <vt:lpstr>OFICINA TÉCNICA Tema 5. Planos</vt:lpstr>
      <vt:lpstr>OFICINA TÉCNICA Tema 5. Planos</vt:lpstr>
      <vt:lpstr>OFICINA TÉCNICA Tema 5. Planos</vt:lpstr>
      <vt:lpstr>OFICINA TÉCNICA Tema 5. Planos</vt:lpstr>
      <vt:lpstr>OFICINA TÉCNICA Tema 5. Planos</vt:lpstr>
      <vt:lpstr>Presentación de PowerPoint</vt:lpstr>
      <vt:lpstr>OFICINA TÉCNICA Tema 5. Planos</vt:lpstr>
      <vt:lpstr>Presentación de PowerPoint</vt:lpstr>
      <vt:lpstr>Presentación de PowerPoint</vt:lpstr>
      <vt:lpstr>Presentación de PowerPoint</vt:lpstr>
      <vt:lpstr>Presentación de PowerPoint</vt:lpstr>
      <vt:lpstr>OFICINA TÉCNICA Tema 5. Planos</vt:lpstr>
      <vt:lpstr>Planos.  Consignación de tolerancias generales</vt:lpstr>
      <vt:lpstr>Planos.  Consignación de tolerancias generales</vt:lpstr>
      <vt:lpstr>Planos.  Consignación de tolerancias generales</vt:lpstr>
      <vt:lpstr>Planos.  Consignación de tolerancias generales</vt:lpstr>
      <vt:lpstr>Planos.  Consignación de tolerancias generales</vt:lpstr>
      <vt:lpstr>Presentación de PowerPoint</vt:lpstr>
      <vt:lpstr>Presentación de PowerPoint</vt:lpstr>
      <vt:lpstr>OFICINA TÉCNICA Tema 5. Planos</vt:lpstr>
      <vt:lpstr>OFICINA TÉCNICA Tema 5. Planos</vt:lpstr>
      <vt:lpstr>Presentación de PowerPoint</vt:lpstr>
      <vt:lpstr>OFICINA TÉCNICA Tema 5. Planos</vt:lpstr>
      <vt:lpstr>OFICINA TÉCNICA Tema 5. Planos</vt:lpstr>
      <vt:lpstr>OFICINA TÉCNICA Tema 5. Planos</vt:lpstr>
      <vt:lpstr>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OFICINA TÉCNICA Tema 6. Pliego de condiciones</vt:lpstr>
      <vt:lpstr>Tema 7: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OFICINA TÉCNICA Tema 7. Documento 4: Presupuesto</vt:lpstr>
      <vt:lpstr>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OFICINA TÉCNICA Tema 8. Estudio económico</vt:lpstr>
      <vt:lpstr>Tema 9: La oficina técnica como empresa de ingeniería</vt:lpstr>
      <vt:lpstr>OFICINA TÉCNICA Tema 9. La empresa de ingeniería</vt:lpstr>
      <vt:lpstr>OFICINA TÉCNICA Tema 9. La empresa de ingeniería</vt:lpstr>
      <vt:lpstr>OFICINA TÉCNICA Tema 9. La empresa de ingeniería</vt:lpstr>
      <vt:lpstr>OFICINA TÉCNICA Tema 9. La empresa de ingeniería</vt:lpstr>
      <vt:lpstr>OFICINA TÉCNICA Tema 9. La empresa de ingeniería</vt:lpstr>
      <vt:lpstr>OFICINA TÉCNICA Tema 9. La empresa de ingeniería</vt:lpstr>
      <vt:lpstr>OFICINA TÉCNICA Tema 9. La empresa de ingeniería</vt:lpstr>
    </vt:vector>
  </TitlesOfParts>
  <Company>UPV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OFICINA TÉCNICA Subject Descripion &amp; Planning</dc:title>
  <dc:creator>Fernando Brusola Simón</dc:creator>
  <cp:lastModifiedBy>Fernando Brusola Simón</cp:lastModifiedBy>
  <cp:revision>792</cp:revision>
  <dcterms:created xsi:type="dcterms:W3CDTF">2013-09-04T10:20:20Z</dcterms:created>
  <dcterms:modified xsi:type="dcterms:W3CDTF">2024-11-25T08:02:57Z</dcterms:modified>
</cp:coreProperties>
</file>